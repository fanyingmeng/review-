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0" r:id="rId1"/>
  </p:sldMasterIdLst>
  <p:notesMasterIdLst>
    <p:notesMasterId r:id="rId24"/>
  </p:notesMasterIdLst>
  <p:sldIdLst>
    <p:sldId id="256" r:id="rId2"/>
    <p:sldId id="424" r:id="rId3"/>
    <p:sldId id="391" r:id="rId4"/>
    <p:sldId id="393" r:id="rId5"/>
    <p:sldId id="392" r:id="rId6"/>
    <p:sldId id="394" r:id="rId7"/>
    <p:sldId id="396" r:id="rId8"/>
    <p:sldId id="395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  <p:sldId id="406" r:id="rId19"/>
    <p:sldId id="407" r:id="rId20"/>
    <p:sldId id="408" r:id="rId21"/>
    <p:sldId id="409" r:id="rId22"/>
    <p:sldId id="41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sack, Chris" initials="CC" lastIdx="1" clrIdx="0">
    <p:extLst>
      <p:ext uri="{19B8F6BF-5375-455C-9EA6-DF929625EA0E}">
        <p15:presenceInfo xmlns:p15="http://schemas.microsoft.com/office/powerpoint/2012/main" userId="S-1-5-21-606747145-1993962763-839522115-12291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C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8" autoAdjust="0"/>
    <p:restoredTop sz="88309" autoAdjust="0"/>
  </p:normalViewPr>
  <p:slideViewPr>
    <p:cSldViewPr snapToGrid="0">
      <p:cViewPr varScale="1">
        <p:scale>
          <a:sx n="118" d="100"/>
          <a:sy n="118" d="100"/>
        </p:scale>
        <p:origin x="9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FC83A-AE04-4291-858C-89975FF43DBC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B35CF-413F-4E89-B778-B111B9E6E4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2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34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52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86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919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577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24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912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30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18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93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74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02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5403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8677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09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016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514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479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16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129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721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8B35CF-413F-4E89-B778-B111B9E6E46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91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16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3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26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0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14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07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3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3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0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636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345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F997412-C0EA-48EA-88D8-DF08CC072BD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BDAF3D3-DC34-4A62-89D3-DF362488D2E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39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BE49-CD65-48C8-A4E7-588C46A51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Enterprise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B175E9-D318-4465-9B35-C9DAA9E5E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3379" y="2098676"/>
            <a:ext cx="10058400" cy="541556"/>
          </a:xfrm>
        </p:spPr>
        <p:txBody>
          <a:bodyPr/>
          <a:lstStyle/>
          <a:p>
            <a:r>
              <a:rPr lang="en-US" dirty="0"/>
              <a:t>Information Technology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70B7F-D742-4673-BF39-8C5BAD11BBB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572" y="758952"/>
            <a:ext cx="6949227" cy="12421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113FE0D-CFBA-429F-9B03-62E9AB18E0B1}"/>
              </a:ext>
            </a:extLst>
          </p:cNvPr>
          <p:cNvSpPr txBox="1">
            <a:spLocks/>
          </p:cNvSpPr>
          <p:nvPr/>
        </p:nvSpPr>
        <p:spPr>
          <a:xfrm>
            <a:off x="1195600" y="4373924"/>
            <a:ext cx="10058400" cy="541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access – </a:t>
            </a:r>
            <a:r>
              <a:rPr lang="en-US" dirty="0" err="1"/>
              <a:t>jPA</a:t>
            </a:r>
            <a:r>
              <a:rPr lang="en-US" dirty="0"/>
              <a:t>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8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3">
            <a:extLst>
              <a:ext uri="{FF2B5EF4-FFF2-40B4-BE49-F238E27FC236}">
                <a16:creationId xmlns:a16="http://schemas.microsoft.com/office/drawing/2014/main" id="{4744E858-2699-38FC-5DCC-D867BB541C52}"/>
              </a:ext>
            </a:extLst>
          </p:cNvPr>
          <p:cNvSpPr/>
          <p:nvPr/>
        </p:nvSpPr>
        <p:spPr>
          <a:xfrm>
            <a:off x="3840473" y="2800342"/>
            <a:ext cx="7842739" cy="1335179"/>
          </a:xfrm>
          <a:prstGeom prst="roundRect">
            <a:avLst/>
          </a:prstGeom>
          <a:solidFill>
            <a:schemeClr val="accent1"/>
          </a:solidFill>
          <a:ln w="63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JPA – Entity Relationships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F27327-EE93-A6E4-0825-CFD707B80E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7" y="27034"/>
            <a:ext cx="1511050" cy="16089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A2FEEA-BF41-9BF3-C386-6BD6ACC5E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967" y="1710721"/>
            <a:ext cx="3571631" cy="442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529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3B9DBB45-CE68-D231-FD7A-C1B968D3BE05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Entity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AF26274-406A-259F-8CCE-62B2C9569449}"/>
              </a:ext>
            </a:extLst>
          </p:cNvPr>
          <p:cNvSpPr txBox="1">
            <a:spLocks/>
          </p:cNvSpPr>
          <p:nvPr/>
        </p:nvSpPr>
        <p:spPr>
          <a:xfrm>
            <a:off x="601490" y="1639614"/>
            <a:ext cx="11003136" cy="463259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Entity relationship relates to the entities involved in the relationship and how they are related to each other.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every relationship there are two entities involved, one acting as the owning side and the other as non-owning or inverse side.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owning side refers to the side containing the corresponding foreign key.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inverse side is the other entity involved in the relationship.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894C07-16F0-6DA4-AEF0-549E822EBD4D}"/>
              </a:ext>
            </a:extLst>
          </p:cNvPr>
          <p:cNvSpPr/>
          <p:nvPr/>
        </p:nvSpPr>
        <p:spPr>
          <a:xfrm>
            <a:off x="2041634" y="4162097"/>
            <a:ext cx="2238704" cy="1395248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E6D5E2-76B3-2FA0-FBF5-96C2CC2FD590}"/>
              </a:ext>
            </a:extLst>
          </p:cNvPr>
          <p:cNvSpPr/>
          <p:nvPr/>
        </p:nvSpPr>
        <p:spPr>
          <a:xfrm>
            <a:off x="7357241" y="4162097"/>
            <a:ext cx="2238704" cy="1395248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BA84D7-F816-B30C-2CAF-EA026E989739}"/>
              </a:ext>
            </a:extLst>
          </p:cNvPr>
          <p:cNvSpPr txBox="1"/>
          <p:nvPr/>
        </p:nvSpPr>
        <p:spPr>
          <a:xfrm>
            <a:off x="2514600" y="4634409"/>
            <a:ext cx="15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B02F66-9735-2081-B97A-D8DADC775065}"/>
              </a:ext>
            </a:extLst>
          </p:cNvPr>
          <p:cNvSpPr txBox="1"/>
          <p:nvPr/>
        </p:nvSpPr>
        <p:spPr>
          <a:xfrm>
            <a:off x="8066690" y="4634409"/>
            <a:ext cx="1529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PAYROLL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D685A8-4A9D-930E-FBB2-42236751C546}"/>
              </a:ext>
            </a:extLst>
          </p:cNvPr>
          <p:cNvSpPr txBox="1"/>
          <p:nvPr/>
        </p:nvSpPr>
        <p:spPr>
          <a:xfrm>
            <a:off x="5449613" y="4548351"/>
            <a:ext cx="1552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HAS - 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DCF55A-D035-C78B-C8DA-AA9732A1DA5F}"/>
              </a:ext>
            </a:extLst>
          </p:cNvPr>
          <p:cNvSpPr txBox="1"/>
          <p:nvPr/>
        </p:nvSpPr>
        <p:spPr>
          <a:xfrm>
            <a:off x="2435772" y="5649481"/>
            <a:ext cx="145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Owning side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AA5D2B-55E5-7BB7-8658-E88C516A07BC}"/>
              </a:ext>
            </a:extLst>
          </p:cNvPr>
          <p:cNvSpPr txBox="1"/>
          <p:nvPr/>
        </p:nvSpPr>
        <p:spPr>
          <a:xfrm>
            <a:off x="7751379" y="5649481"/>
            <a:ext cx="1450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Inverse side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D5FF5E-437D-6982-4270-70ECBFF2B7AF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280338" y="4859721"/>
            <a:ext cx="3076903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0926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A93D9B-4E11-2AB2-F290-B3D87E8CDE7C}"/>
              </a:ext>
            </a:extLst>
          </p:cNvPr>
          <p:cNvSpPr txBox="1">
            <a:spLocks/>
          </p:cNvSpPr>
          <p:nvPr/>
        </p:nvSpPr>
        <p:spPr>
          <a:xfrm>
            <a:off x="594811" y="169027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Entity Relationship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7E87F5-76B9-91DD-E0BB-D688D40B8F6A}"/>
              </a:ext>
            </a:extLst>
          </p:cNvPr>
          <p:cNvSpPr txBox="1">
            <a:spLocks/>
          </p:cNvSpPr>
          <p:nvPr/>
        </p:nvSpPr>
        <p:spPr>
          <a:xfrm>
            <a:off x="594053" y="1088383"/>
            <a:ext cx="11003136" cy="501343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Entity Relationship is defined by direction of relationship and multiplicity of relationship.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Direction of relationship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determines whether a query can navigate from one entity to another.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Unidirectional – has only an owning side.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Bidirectional – has an owning side and an inverse side.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Multiplicity of relationship </a:t>
            </a: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defines how many objects participate in a relationship.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One-to-one – each entity instance is related to single instance of another entity.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One-to-many – an entity instance is related to multiple instances of other entities.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Many-to-one – multiple instances of an entity is related to a single instance of other entity.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Many-to-many – entity instances are related to multiple instances of each other.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kumimoji="0" lang="en-GB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540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621BC1D-7E4D-5444-79E2-6350B357EAD5}"/>
              </a:ext>
            </a:extLst>
          </p:cNvPr>
          <p:cNvSpPr txBox="1">
            <a:spLocks/>
          </p:cNvSpPr>
          <p:nvPr/>
        </p:nvSpPr>
        <p:spPr>
          <a:xfrm>
            <a:off x="594811" y="283326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Unidirectional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9EA3AE-3475-8B5C-0AFD-88DE35105C42}"/>
              </a:ext>
            </a:extLst>
          </p:cNvPr>
          <p:cNvSpPr/>
          <p:nvPr/>
        </p:nvSpPr>
        <p:spPr>
          <a:xfrm>
            <a:off x="1773535" y="1440673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C0EBFD-EC30-9ABE-DAFF-CAAEB2AB6DB8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4012239" y="2145273"/>
            <a:ext cx="429783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321A548-28F7-A9F3-C90D-4A48DCA52C06}"/>
              </a:ext>
            </a:extLst>
          </p:cNvPr>
          <p:cNvSpPr/>
          <p:nvPr/>
        </p:nvSpPr>
        <p:spPr>
          <a:xfrm>
            <a:off x="8310078" y="1440673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56BE8-1E56-1134-75CF-8F6C8BB1F981}"/>
              </a:ext>
            </a:extLst>
          </p:cNvPr>
          <p:cNvSpPr txBox="1"/>
          <p:nvPr/>
        </p:nvSpPr>
        <p:spPr>
          <a:xfrm>
            <a:off x="2341094" y="1958761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5E8B6-6E46-2D75-1A03-3B91EF0D950A}"/>
              </a:ext>
            </a:extLst>
          </p:cNvPr>
          <p:cNvSpPr txBox="1"/>
          <p:nvPr/>
        </p:nvSpPr>
        <p:spPr>
          <a:xfrm>
            <a:off x="8917051" y="1958761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PAYROLL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EF94AD-1055-7D9C-31F0-DBCE0CEE5606}"/>
              </a:ext>
            </a:extLst>
          </p:cNvPr>
          <p:cNvSpPr/>
          <p:nvPr/>
        </p:nvSpPr>
        <p:spPr>
          <a:xfrm>
            <a:off x="433138" y="3520138"/>
            <a:ext cx="4643806" cy="16312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873322-7220-D1E8-841C-84F55BBE3BEB}"/>
              </a:ext>
            </a:extLst>
          </p:cNvPr>
          <p:cNvSpPr/>
          <p:nvPr/>
        </p:nvSpPr>
        <p:spPr>
          <a:xfrm>
            <a:off x="7557562" y="3519903"/>
            <a:ext cx="4591285" cy="132343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Payroll{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float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hrlyRate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3B8D99-0CA1-CC30-4758-69BE69093E6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076944" y="4181623"/>
            <a:ext cx="2480618" cy="154123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F070CF5-5FBC-3F8A-3D48-255C1E08967A}"/>
              </a:ext>
            </a:extLst>
          </p:cNvPr>
          <p:cNvSpPr txBox="1"/>
          <p:nvPr/>
        </p:nvSpPr>
        <p:spPr>
          <a:xfrm>
            <a:off x="5515039" y="1825420"/>
            <a:ext cx="235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Unidirectional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C8A33C-F51E-8BF8-6059-1E409FD790AE}"/>
              </a:ext>
            </a:extLst>
          </p:cNvPr>
          <p:cNvSpPr txBox="1"/>
          <p:nvPr/>
        </p:nvSpPr>
        <p:spPr>
          <a:xfrm>
            <a:off x="5518516" y="3921471"/>
            <a:ext cx="235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Unidirectional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2A2A8C-9871-30B1-C9D5-7E21C07691F2}"/>
              </a:ext>
            </a:extLst>
          </p:cNvPr>
          <p:cNvSpPr txBox="1"/>
          <p:nvPr/>
        </p:nvSpPr>
        <p:spPr>
          <a:xfrm>
            <a:off x="1037316" y="5498453"/>
            <a:ext cx="11111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Note: Query can be navigated in one direction only. Given the employee, his/her payroll details can be retrieved.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But the other way is not possible.</a:t>
            </a:r>
          </a:p>
        </p:txBody>
      </p:sp>
    </p:spTree>
    <p:extLst>
      <p:ext uri="{BB962C8B-B14F-4D97-AF65-F5344CB8AC3E}">
        <p14:creationId xmlns:p14="http://schemas.microsoft.com/office/powerpoint/2010/main" val="405910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89534C41-CD70-E36B-D83D-B05EF1339988}"/>
              </a:ext>
            </a:extLst>
          </p:cNvPr>
          <p:cNvSpPr txBox="1">
            <a:spLocks/>
          </p:cNvSpPr>
          <p:nvPr/>
        </p:nvSpPr>
        <p:spPr>
          <a:xfrm>
            <a:off x="594811" y="2669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Bidirectional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4BCCE2-73F0-4181-7D81-9AD81808669D}"/>
              </a:ext>
            </a:extLst>
          </p:cNvPr>
          <p:cNvSpPr/>
          <p:nvPr/>
        </p:nvSpPr>
        <p:spPr>
          <a:xfrm>
            <a:off x="1773535" y="1455871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EFF17F-CAD1-B305-FB0F-CE1DE4AD92AB}"/>
              </a:ext>
            </a:extLst>
          </p:cNvPr>
          <p:cNvSpPr/>
          <p:nvPr/>
        </p:nvSpPr>
        <p:spPr>
          <a:xfrm>
            <a:off x="8310078" y="1455871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DCEC0-BF30-F436-4C46-5AF9BB7ED11C}"/>
              </a:ext>
            </a:extLst>
          </p:cNvPr>
          <p:cNvSpPr txBox="1"/>
          <p:nvPr/>
        </p:nvSpPr>
        <p:spPr>
          <a:xfrm>
            <a:off x="2341094" y="1973959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DAFDD1-8630-0451-FBBB-747D591CE849}"/>
              </a:ext>
            </a:extLst>
          </p:cNvPr>
          <p:cNvSpPr txBox="1"/>
          <p:nvPr/>
        </p:nvSpPr>
        <p:spPr>
          <a:xfrm>
            <a:off x="8917051" y="1973959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PAYROLL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EC2E20-281E-DFA9-D59C-3C399DC9A002}"/>
              </a:ext>
            </a:extLst>
          </p:cNvPr>
          <p:cNvSpPr/>
          <p:nvPr/>
        </p:nvSpPr>
        <p:spPr>
          <a:xfrm>
            <a:off x="277586" y="3535336"/>
            <a:ext cx="4799357" cy="16312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88D721-6854-5671-7151-C986741BC32C}"/>
              </a:ext>
            </a:extLst>
          </p:cNvPr>
          <p:cNvSpPr/>
          <p:nvPr/>
        </p:nvSpPr>
        <p:spPr>
          <a:xfrm>
            <a:off x="7115060" y="3535101"/>
            <a:ext cx="4482130" cy="163121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Payroll{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float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hrlyRate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Employee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 emp;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E3F166-98A7-E345-2F0A-1CC9C60CA3AC}"/>
              </a:ext>
            </a:extLst>
          </p:cNvPr>
          <p:cNvSpPr txBox="1"/>
          <p:nvPr/>
        </p:nvSpPr>
        <p:spPr>
          <a:xfrm>
            <a:off x="5515039" y="1840618"/>
            <a:ext cx="235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Bidirectional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1D9B77-73EF-F18A-06A1-3825B14DE38C}"/>
              </a:ext>
            </a:extLst>
          </p:cNvPr>
          <p:cNvSpPr txBox="1"/>
          <p:nvPr/>
        </p:nvSpPr>
        <p:spPr>
          <a:xfrm>
            <a:off x="5518516" y="3936669"/>
            <a:ext cx="2356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Bidirectional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8836C-8CB2-B9C4-7951-69340588ACE6}"/>
              </a:ext>
            </a:extLst>
          </p:cNvPr>
          <p:cNvSpPr txBox="1"/>
          <p:nvPr/>
        </p:nvSpPr>
        <p:spPr>
          <a:xfrm>
            <a:off x="895426" y="5511089"/>
            <a:ext cx="111115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Note: Query can be navigated in both directions. Given the employee details, his/her payroll details can be retrieved. Given the Payroll details, corresponding employee details can be retrieved.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9ADB95-8B11-6E70-A456-AE4FA12FF4D7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4012239" y="2160471"/>
            <a:ext cx="429783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30DE56-230E-14C3-F929-2BF8E6F98584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5076943" y="4350709"/>
            <a:ext cx="2038117" cy="235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86262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61791011-1E47-8155-49CA-02B40849E6DE}"/>
              </a:ext>
            </a:extLst>
          </p:cNvPr>
          <p:cNvSpPr txBox="1">
            <a:spLocks/>
          </p:cNvSpPr>
          <p:nvPr/>
        </p:nvSpPr>
        <p:spPr>
          <a:xfrm>
            <a:off x="594811" y="234340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Multiplicity of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BC344F-E8EA-B274-178A-80608E96221F}"/>
              </a:ext>
            </a:extLst>
          </p:cNvPr>
          <p:cNvSpPr/>
          <p:nvPr/>
        </p:nvSpPr>
        <p:spPr>
          <a:xfrm>
            <a:off x="1773535" y="2869293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451952-9397-599F-E561-F15B0B982FCB}"/>
              </a:ext>
            </a:extLst>
          </p:cNvPr>
          <p:cNvSpPr/>
          <p:nvPr/>
        </p:nvSpPr>
        <p:spPr>
          <a:xfrm>
            <a:off x="8310078" y="2869293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D9C868-AA1A-3C54-4E97-E0B87C9763FF}"/>
              </a:ext>
            </a:extLst>
          </p:cNvPr>
          <p:cNvSpPr txBox="1"/>
          <p:nvPr/>
        </p:nvSpPr>
        <p:spPr>
          <a:xfrm>
            <a:off x="2222853" y="3387381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86B40A-D48D-1FF1-2B82-A8A17A1F9379}"/>
              </a:ext>
            </a:extLst>
          </p:cNvPr>
          <p:cNvSpPr txBox="1"/>
          <p:nvPr/>
        </p:nvSpPr>
        <p:spPr>
          <a:xfrm>
            <a:off x="8751513" y="3387381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DEPARTMENT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8B7ADF8-D307-3458-DEB0-D06E3FF7097D}"/>
              </a:ext>
            </a:extLst>
          </p:cNvPr>
          <p:cNvSpPr/>
          <p:nvPr/>
        </p:nvSpPr>
        <p:spPr>
          <a:xfrm>
            <a:off x="1773535" y="4716732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063000A-D42C-8D69-BA45-90587DD03B9E}"/>
              </a:ext>
            </a:extLst>
          </p:cNvPr>
          <p:cNvSpPr/>
          <p:nvPr/>
        </p:nvSpPr>
        <p:spPr>
          <a:xfrm>
            <a:off x="8310078" y="4716732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7C60A7-F839-C9FD-9B4F-C204A8D7F68D}"/>
              </a:ext>
            </a:extLst>
          </p:cNvPr>
          <p:cNvSpPr txBox="1"/>
          <p:nvPr/>
        </p:nvSpPr>
        <p:spPr>
          <a:xfrm>
            <a:off x="2222853" y="5234820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BF50FC-7CF8-7E89-E109-F45788F590E1}"/>
              </a:ext>
            </a:extLst>
          </p:cNvPr>
          <p:cNvSpPr txBox="1"/>
          <p:nvPr/>
        </p:nvSpPr>
        <p:spPr>
          <a:xfrm>
            <a:off x="8751513" y="5234820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SKILL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6EF9DC-001F-1925-DCD8-AB5FD0CF0FD4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4012239" y="3573893"/>
            <a:ext cx="4297839" cy="0"/>
          </a:xfrm>
          <a:prstGeom prst="line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0A66C8C-5F27-E256-13E4-E7215A8FFD0C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4012239" y="5421332"/>
            <a:ext cx="4297839" cy="0"/>
          </a:xfrm>
          <a:prstGeom prst="line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</a:ln>
          <a:effectLst/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C508A695-77CE-BDC4-E6B9-3E81A8DF2724}"/>
              </a:ext>
            </a:extLst>
          </p:cNvPr>
          <p:cNvSpPr txBox="1"/>
          <p:nvPr/>
        </p:nvSpPr>
        <p:spPr>
          <a:xfrm>
            <a:off x="4083715" y="3175214"/>
            <a:ext cx="26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D6669C-A684-C592-C741-A49D65F4318B}"/>
              </a:ext>
            </a:extLst>
          </p:cNvPr>
          <p:cNvSpPr txBox="1"/>
          <p:nvPr/>
        </p:nvSpPr>
        <p:spPr>
          <a:xfrm>
            <a:off x="7873258" y="3155875"/>
            <a:ext cx="43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D91F0E-C207-8BC6-CC79-C079A8809CE8}"/>
              </a:ext>
            </a:extLst>
          </p:cNvPr>
          <p:cNvSpPr txBox="1"/>
          <p:nvPr/>
        </p:nvSpPr>
        <p:spPr>
          <a:xfrm>
            <a:off x="5534142" y="3632414"/>
            <a:ext cx="2238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many-to-one &amp;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one-to-many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6809A8-A45D-45F2-9312-86DE90FE5818}"/>
              </a:ext>
            </a:extLst>
          </p:cNvPr>
          <p:cNvSpPr txBox="1"/>
          <p:nvPr/>
        </p:nvSpPr>
        <p:spPr>
          <a:xfrm>
            <a:off x="4062690" y="5022645"/>
            <a:ext cx="26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439CC1-86BC-4732-6384-1B747D697844}"/>
              </a:ext>
            </a:extLst>
          </p:cNvPr>
          <p:cNvSpPr txBox="1"/>
          <p:nvPr/>
        </p:nvSpPr>
        <p:spPr>
          <a:xfrm>
            <a:off x="7852233" y="5003306"/>
            <a:ext cx="43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1B5104-8728-760D-4F56-5FF3041E4435}"/>
              </a:ext>
            </a:extLst>
          </p:cNvPr>
          <p:cNvSpPr txBox="1"/>
          <p:nvPr/>
        </p:nvSpPr>
        <p:spPr>
          <a:xfrm>
            <a:off x="5513117" y="5479845"/>
            <a:ext cx="223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many-to-many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7915C47-CD6B-9D21-C676-208ABC13F3BC}"/>
              </a:ext>
            </a:extLst>
          </p:cNvPr>
          <p:cNvSpPr/>
          <p:nvPr/>
        </p:nvSpPr>
        <p:spPr>
          <a:xfrm>
            <a:off x="1773535" y="1153151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87D6BD-CB2F-9BA7-B1FD-E8D63ABB7DC5}"/>
              </a:ext>
            </a:extLst>
          </p:cNvPr>
          <p:cNvSpPr/>
          <p:nvPr/>
        </p:nvSpPr>
        <p:spPr>
          <a:xfrm>
            <a:off x="8310078" y="1153151"/>
            <a:ext cx="2238704" cy="1409200"/>
          </a:xfrm>
          <a:prstGeom prst="rect">
            <a:avLst/>
          </a:prstGeom>
          <a:solidFill>
            <a:srgbClr val="009FE3"/>
          </a:solidFill>
          <a:ln w="12700" cap="flat" cmpd="sng" algn="ctr">
            <a:solidFill>
              <a:srgbClr val="009FE3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55305EA-FD50-E758-1019-B435652E4C7A}"/>
              </a:ext>
            </a:extLst>
          </p:cNvPr>
          <p:cNvSpPr txBox="1"/>
          <p:nvPr/>
        </p:nvSpPr>
        <p:spPr>
          <a:xfrm>
            <a:off x="2341094" y="1671239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C4D38C-E590-44A6-1780-41244FEF0697}"/>
              </a:ext>
            </a:extLst>
          </p:cNvPr>
          <p:cNvSpPr txBox="1"/>
          <p:nvPr/>
        </p:nvSpPr>
        <p:spPr>
          <a:xfrm>
            <a:off x="8917051" y="1671239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PAYROLL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1F64C8-0446-BD93-1A21-7EF783DE8648}"/>
              </a:ext>
            </a:extLst>
          </p:cNvPr>
          <p:cNvSpPr txBox="1"/>
          <p:nvPr/>
        </p:nvSpPr>
        <p:spPr>
          <a:xfrm>
            <a:off x="4077091" y="1505438"/>
            <a:ext cx="26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117159-3B6E-103C-22AE-6B9F3274842A}"/>
              </a:ext>
            </a:extLst>
          </p:cNvPr>
          <p:cNvSpPr txBox="1"/>
          <p:nvPr/>
        </p:nvSpPr>
        <p:spPr>
          <a:xfrm>
            <a:off x="7966606" y="1525318"/>
            <a:ext cx="268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D6AE26-A264-9178-06FE-A1E8FAC26779}"/>
              </a:ext>
            </a:extLst>
          </p:cNvPr>
          <p:cNvSpPr txBox="1"/>
          <p:nvPr/>
        </p:nvSpPr>
        <p:spPr>
          <a:xfrm>
            <a:off x="5534142" y="1879770"/>
            <a:ext cx="2238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one-to-one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832C9E4-9ED5-8E01-4A89-B7553A0F5846}"/>
              </a:ext>
            </a:extLst>
          </p:cNvPr>
          <p:cNvCxnSpPr>
            <a:cxnSpLocks/>
          </p:cNvCxnSpPr>
          <p:nvPr/>
        </p:nvCxnSpPr>
        <p:spPr>
          <a:xfrm>
            <a:off x="3998989" y="1851106"/>
            <a:ext cx="4297839" cy="0"/>
          </a:xfrm>
          <a:prstGeom prst="line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7896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E8DBDAA-7C45-C625-AD5F-89351A690F62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Annotations used in Entity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B6BD3F-8D2A-DE3C-539D-5584D435E1E3}"/>
              </a:ext>
            </a:extLst>
          </p:cNvPr>
          <p:cNvSpPr txBox="1">
            <a:spLocks/>
          </p:cNvSpPr>
          <p:nvPr/>
        </p:nvSpPr>
        <p:spPr>
          <a:xfrm>
            <a:off x="601490" y="1820917"/>
            <a:ext cx="11003136" cy="445129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Owning Side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@OneToOne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@ManyToOne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@OneToMany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@ManyToMany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Inverse Side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@OneToOne (mappedBy = “xxxx”)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@OneToMany (mappedBy = “xxxx”)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@ManyToMany (mappedBy = “xxxx”)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sz="1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“xxxx” is the property/field in the owning side entity that is holding the association.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920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E375ED8-267F-07A9-BA0B-486C97614249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Cascade Operations and Relationship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DF33B85-229B-FD7D-D11D-65F12183013B}"/>
              </a:ext>
            </a:extLst>
          </p:cNvPr>
          <p:cNvSpPr txBox="1">
            <a:spLocks/>
          </p:cNvSpPr>
          <p:nvPr/>
        </p:nvSpPr>
        <p:spPr>
          <a:xfrm>
            <a:off x="601490" y="1797269"/>
            <a:ext cx="11003136" cy="44749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Entities in the relationship often have dependencies on the existence of the other entity in the relationship.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 example, If Employee is persisted, payroll is also persisted. If Employee is removed, payroll of the employee is also removed.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operation applied on one entity will also be applied to the other entity in the relationship.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163883-4055-EA34-93B8-F7779816868E}"/>
              </a:ext>
            </a:extLst>
          </p:cNvPr>
          <p:cNvSpPr txBox="1"/>
          <p:nvPr/>
        </p:nvSpPr>
        <p:spPr>
          <a:xfrm>
            <a:off x="2088400" y="4161438"/>
            <a:ext cx="1529255" cy="373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EMPLOYEE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FB8F33-2C84-2B85-2B02-C69CF5240A18}"/>
              </a:ext>
            </a:extLst>
          </p:cNvPr>
          <p:cNvSpPr/>
          <p:nvPr/>
        </p:nvSpPr>
        <p:spPr>
          <a:xfrm>
            <a:off x="1455951" y="3787107"/>
            <a:ext cx="7451566" cy="255454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OneToOne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cascade=</a:t>
            </a:r>
            <a:r>
              <a:rPr kumimoji="0" lang="en-CA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CascadeType.ALL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Payroll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042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A1296-39F5-34B6-D0C8-197098A42191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/>
              <a:t>Cascade Operations</a:t>
            </a:r>
            <a:endParaRPr lang="en-CA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8FF9CEF-38BC-726B-E10B-E4EAD32F58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1437522"/>
              </p:ext>
            </p:extLst>
          </p:nvPr>
        </p:nvGraphicFramePr>
        <p:xfrm>
          <a:off x="602248" y="1844566"/>
          <a:ext cx="11002962" cy="3955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6392">
                  <a:extLst>
                    <a:ext uri="{9D8B030D-6E8A-4147-A177-3AD203B41FA5}">
                      <a16:colId xmlns:a16="http://schemas.microsoft.com/office/drawing/2014/main" val="2570054857"/>
                    </a:ext>
                  </a:extLst>
                </a:gridCol>
                <a:gridCol w="8246570">
                  <a:extLst>
                    <a:ext uri="{9D8B030D-6E8A-4147-A177-3AD203B41FA5}">
                      <a16:colId xmlns:a16="http://schemas.microsoft.com/office/drawing/2014/main" val="3158959505"/>
                    </a:ext>
                  </a:extLst>
                </a:gridCol>
              </a:tblGrid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CASCADE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9802966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is equivalent to specifying </a:t>
                      </a:r>
                      <a:r>
                        <a:rPr lang="en-US" dirty="0"/>
                        <a:t>cascade={DETACH, MERGE, PERSIST, REFRESH, REMOVE}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360561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DETACH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parent entity is detached from the persistence context, the related entity will also be detached. 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128155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parent entity is merged into the persistence context, the related entity will also be merged. 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298548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PERSIST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parent entity is persisted into the persistence context, the related entity will also be persisted. 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401130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parent entity is refreshed in the current persistence context, the related entity will also be refreshed.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9766530"/>
                  </a:ext>
                </a:extLst>
              </a:tr>
              <a:tr h="377386">
                <a:tc>
                  <a:txBody>
                    <a:bodyPr/>
                    <a:lstStyle/>
                    <a:p>
                      <a:r>
                        <a:rPr lang="en-CA" dirty="0"/>
                        <a:t>REMOVE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the parent entity is removed from the current persistence context, the related entity will also be removed. </a:t>
                      </a:r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951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648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F414088-E981-2C80-5069-8184CF7A025C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One to One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9BE04235-31CC-1CB2-0D30-311D5B9BA5B2}"/>
              </a:ext>
            </a:extLst>
          </p:cNvPr>
          <p:cNvSpPr txBox="1">
            <a:spLocks/>
          </p:cNvSpPr>
          <p:nvPr/>
        </p:nvSpPr>
        <p:spPr>
          <a:xfrm>
            <a:off x="602248" y="1237130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C4FAE1EC-B954-9ABB-1B76-728DA44AB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895584"/>
              </p:ext>
            </p:extLst>
          </p:nvPr>
        </p:nvGraphicFramePr>
        <p:xfrm>
          <a:off x="1748221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0AB19D5F-2FDE-2E51-6428-95F892D9B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336999"/>
              </p:ext>
            </p:extLst>
          </p:nvPr>
        </p:nvGraphicFramePr>
        <p:xfrm>
          <a:off x="7623504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Payroll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payrollNo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hrlyRate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1F7D75-BFCD-B971-1530-07E53DFA7B3B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3870435" y="2599410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D06494-E473-0F00-7E9D-AA94402CB7A7}"/>
              </a:ext>
            </a:extLst>
          </p:cNvPr>
          <p:cNvSpPr txBox="1"/>
          <p:nvPr/>
        </p:nvSpPr>
        <p:spPr>
          <a:xfrm>
            <a:off x="3870435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94853-C234-B5D2-58AF-E84D0AE6648D}"/>
              </a:ext>
            </a:extLst>
          </p:cNvPr>
          <p:cNvSpPr txBox="1"/>
          <p:nvPr/>
        </p:nvSpPr>
        <p:spPr>
          <a:xfrm>
            <a:off x="7323960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3E64B8-4DF9-C26F-5F52-23B4C0DF3DA1}"/>
              </a:ext>
            </a:extLst>
          </p:cNvPr>
          <p:cNvSpPr txBox="1"/>
          <p:nvPr/>
        </p:nvSpPr>
        <p:spPr>
          <a:xfrm>
            <a:off x="4918841" y="2695913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unidirectional</a:t>
            </a:r>
          </a:p>
        </p:txBody>
      </p:sp>
      <p:graphicFrame>
        <p:nvGraphicFramePr>
          <p:cNvPr id="22" name="Table 27">
            <a:extLst>
              <a:ext uri="{FF2B5EF4-FFF2-40B4-BE49-F238E27FC236}">
                <a16:creationId xmlns:a16="http://schemas.microsoft.com/office/drawing/2014/main" id="{C86B1CC8-7639-C42E-4299-560763537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539519"/>
              </p:ext>
            </p:extLst>
          </p:nvPr>
        </p:nvGraphicFramePr>
        <p:xfrm>
          <a:off x="1545021" y="4651684"/>
          <a:ext cx="435128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  <a:gridCol w="1860330">
                  <a:extLst>
                    <a:ext uri="{9D8B030D-6E8A-4147-A177-3AD203B41FA5}">
                      <a16:colId xmlns:a16="http://schemas.microsoft.com/office/drawing/2014/main" val="151114488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FK_PAYROLL_NO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3" name="Table 27">
            <a:extLst>
              <a:ext uri="{FF2B5EF4-FFF2-40B4-BE49-F238E27FC236}">
                <a16:creationId xmlns:a16="http://schemas.microsoft.com/office/drawing/2014/main" id="{17232F4E-C1A8-03C5-168E-4F6FF9ECC0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2297257"/>
              </p:ext>
            </p:extLst>
          </p:nvPr>
        </p:nvGraphicFramePr>
        <p:xfrm>
          <a:off x="6961352" y="4651684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PAYROLL_NO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HRLY_RATE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55.00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60.00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6F66EF92-721E-30F8-E489-DD6E57C3286A}"/>
              </a:ext>
            </a:extLst>
          </p:cNvPr>
          <p:cNvSpPr txBox="1"/>
          <p:nvPr/>
        </p:nvSpPr>
        <p:spPr>
          <a:xfrm>
            <a:off x="2435772" y="4264572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7CE493-B743-2227-DC19-B59E2ED4F57B}"/>
              </a:ext>
            </a:extLst>
          </p:cNvPr>
          <p:cNvSpPr txBox="1"/>
          <p:nvPr/>
        </p:nvSpPr>
        <p:spPr>
          <a:xfrm>
            <a:off x="7623504" y="4232306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PAYROLL TABLE</a:t>
            </a:r>
          </a:p>
        </p:txBody>
      </p:sp>
    </p:spTree>
    <p:extLst>
      <p:ext uri="{BB962C8B-B14F-4D97-AF65-F5344CB8AC3E}">
        <p14:creationId xmlns:p14="http://schemas.microsoft.com/office/powerpoint/2010/main" val="3489268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0A9AF91-2D03-17E7-6698-A6FBC6C8F055}"/>
              </a:ext>
            </a:extLst>
          </p:cNvPr>
          <p:cNvSpPr txBox="1">
            <a:spLocks/>
          </p:cNvSpPr>
          <p:nvPr/>
        </p:nvSpPr>
        <p:spPr>
          <a:xfrm>
            <a:off x="101184" y="609898"/>
            <a:ext cx="11503442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One to One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96A92-D532-2F3C-E8AD-C54528564CC6}"/>
              </a:ext>
            </a:extLst>
          </p:cNvPr>
          <p:cNvSpPr/>
          <p:nvPr/>
        </p:nvSpPr>
        <p:spPr>
          <a:xfrm>
            <a:off x="326571" y="2042946"/>
            <a:ext cx="6694715" cy="378565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OneToOne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 = </a:t>
            </a:r>
            <a:r>
              <a:rPr kumimoji="0" lang="en-CA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CascadeType.ALL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 = “FK_PAYROLL_NO”)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Payroll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A4113-3BB3-101A-7FD6-BF5007D49723}"/>
              </a:ext>
            </a:extLst>
          </p:cNvPr>
          <p:cNvSpPr/>
          <p:nvPr/>
        </p:nvSpPr>
        <p:spPr>
          <a:xfrm>
            <a:off x="7021286" y="2042290"/>
            <a:ext cx="5045528" cy="378565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Payroll{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“PAYROLL_NO”)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“HRLY_RATE”)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float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hrlyRate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80746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9A237BBA-70BA-4E1C-5C7D-BDA4FABC7B73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One to One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8B0DE2C0-62ED-8C42-4CBF-429E8B299D69}"/>
              </a:ext>
            </a:extLst>
          </p:cNvPr>
          <p:cNvSpPr txBox="1">
            <a:spLocks/>
          </p:cNvSpPr>
          <p:nvPr/>
        </p:nvSpPr>
        <p:spPr>
          <a:xfrm>
            <a:off x="602248" y="1237130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1665858B-3EA3-4683-4FB6-950833DA5989}"/>
              </a:ext>
            </a:extLst>
          </p:cNvPr>
          <p:cNvGraphicFramePr>
            <a:graphicFrameLocks noGrp="1"/>
          </p:cNvGraphicFramePr>
          <p:nvPr/>
        </p:nvGraphicFramePr>
        <p:xfrm>
          <a:off x="1748221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4BB26703-2893-02F3-6B1D-C32D4D99861C}"/>
              </a:ext>
            </a:extLst>
          </p:cNvPr>
          <p:cNvGraphicFramePr>
            <a:graphicFrameLocks noGrp="1"/>
          </p:cNvGraphicFramePr>
          <p:nvPr/>
        </p:nvGraphicFramePr>
        <p:xfrm>
          <a:off x="7623504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Payroll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payrollNo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hrlyRate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266872A-5A47-D112-0125-C69603FDD8B9}"/>
              </a:ext>
            </a:extLst>
          </p:cNvPr>
          <p:cNvSpPr txBox="1"/>
          <p:nvPr/>
        </p:nvSpPr>
        <p:spPr>
          <a:xfrm>
            <a:off x="3870435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534F5-450C-9462-94FE-A61AF85FBA23}"/>
              </a:ext>
            </a:extLst>
          </p:cNvPr>
          <p:cNvSpPr txBox="1"/>
          <p:nvPr/>
        </p:nvSpPr>
        <p:spPr>
          <a:xfrm>
            <a:off x="7323960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982FB1-42BF-361E-8661-A7B203F9D0B0}"/>
              </a:ext>
            </a:extLst>
          </p:cNvPr>
          <p:cNvSpPr txBox="1"/>
          <p:nvPr/>
        </p:nvSpPr>
        <p:spPr>
          <a:xfrm>
            <a:off x="4918841" y="2695913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Bidirectional</a:t>
            </a:r>
          </a:p>
        </p:txBody>
      </p:sp>
      <p:graphicFrame>
        <p:nvGraphicFramePr>
          <p:cNvPr id="21" name="Table 27">
            <a:extLst>
              <a:ext uri="{FF2B5EF4-FFF2-40B4-BE49-F238E27FC236}">
                <a16:creationId xmlns:a16="http://schemas.microsoft.com/office/drawing/2014/main" id="{D4738533-9D17-6B84-75BA-9EF659568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46435"/>
              </p:ext>
            </p:extLst>
          </p:nvPr>
        </p:nvGraphicFramePr>
        <p:xfrm>
          <a:off x="1545021" y="4651684"/>
          <a:ext cx="435128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  <a:gridCol w="1860330">
                  <a:extLst>
                    <a:ext uri="{9D8B030D-6E8A-4147-A177-3AD203B41FA5}">
                      <a16:colId xmlns:a16="http://schemas.microsoft.com/office/drawing/2014/main" val="151114488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FK_PAYROLL_NO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2" name="Table 27">
            <a:extLst>
              <a:ext uri="{FF2B5EF4-FFF2-40B4-BE49-F238E27FC236}">
                <a16:creationId xmlns:a16="http://schemas.microsoft.com/office/drawing/2014/main" id="{C5D1EC9C-6BAA-EE6A-0580-58309534F4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217322"/>
              </p:ext>
            </p:extLst>
          </p:nvPr>
        </p:nvGraphicFramePr>
        <p:xfrm>
          <a:off x="6961352" y="4651684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PAYROLL_NO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HRLY_RATE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55.00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60.00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52877430-BC64-267E-F20C-305F037540D8}"/>
              </a:ext>
            </a:extLst>
          </p:cNvPr>
          <p:cNvSpPr txBox="1"/>
          <p:nvPr/>
        </p:nvSpPr>
        <p:spPr>
          <a:xfrm>
            <a:off x="2435772" y="4264572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BFD0CA-FDF5-FDE7-8916-21FFEECB51D6}"/>
              </a:ext>
            </a:extLst>
          </p:cNvPr>
          <p:cNvSpPr txBox="1"/>
          <p:nvPr/>
        </p:nvSpPr>
        <p:spPr>
          <a:xfrm>
            <a:off x="7623504" y="4232306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PAYROLL TABLE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0858C7-72E8-4B18-B2F2-30EE12C89DD3}"/>
              </a:ext>
            </a:extLst>
          </p:cNvPr>
          <p:cNvCxnSpPr>
            <a:endCxn id="17" idx="1"/>
          </p:cNvCxnSpPr>
          <p:nvPr/>
        </p:nvCxnSpPr>
        <p:spPr>
          <a:xfrm>
            <a:off x="3870435" y="2599410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04416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0FBCF15-DC4D-E4DF-FE1C-828C2CBF0FCB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One to One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5621D8-F02E-FAF4-4AAF-C21894221DE8}"/>
              </a:ext>
            </a:extLst>
          </p:cNvPr>
          <p:cNvSpPr/>
          <p:nvPr/>
        </p:nvSpPr>
        <p:spPr>
          <a:xfrm>
            <a:off x="114300" y="2042946"/>
            <a:ext cx="6176141" cy="40934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OneToOne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 = </a:t>
            </a:r>
            <a:r>
              <a:rPr kumimoji="0" lang="en-CA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CascadeType.ALL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 = “FK_PAYROLL_NO”)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Payroll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payroll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A5EFA7-E130-A22F-E8E3-DB9E8E018AA6}"/>
              </a:ext>
            </a:extLst>
          </p:cNvPr>
          <p:cNvSpPr/>
          <p:nvPr/>
        </p:nvSpPr>
        <p:spPr>
          <a:xfrm>
            <a:off x="6400800" y="2042290"/>
            <a:ext cx="5676899" cy="40934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Payroll{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“PAYROLL_NO”)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payrollNo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“HRLY_RATE”)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float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hrlyRate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OneToOne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CA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mappedBy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 = “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payroll”)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private Employee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employee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2114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4CFF8731-EA45-6E67-9D66-9D28500DC287}"/>
              </a:ext>
            </a:extLst>
          </p:cNvPr>
          <p:cNvSpPr txBox="1">
            <a:spLocks/>
          </p:cNvSpPr>
          <p:nvPr/>
        </p:nvSpPr>
        <p:spPr>
          <a:xfrm>
            <a:off x="594811" y="332312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One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6" name="Content Placeholder 25">
            <a:extLst>
              <a:ext uri="{FF2B5EF4-FFF2-40B4-BE49-F238E27FC236}">
                <a16:creationId xmlns:a16="http://schemas.microsoft.com/office/drawing/2014/main" id="{061B4A7F-7E45-A8A7-5AD3-CB867D56FA08}"/>
              </a:ext>
            </a:extLst>
          </p:cNvPr>
          <p:cNvSpPr txBox="1">
            <a:spLocks/>
          </p:cNvSpPr>
          <p:nvPr/>
        </p:nvSpPr>
        <p:spPr>
          <a:xfrm>
            <a:off x="594811" y="959544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7CDCE090-91EC-F1C9-6B0C-A189F62F4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209723"/>
              </p:ext>
            </p:extLst>
          </p:nvPr>
        </p:nvGraphicFramePr>
        <p:xfrm>
          <a:off x="1740784" y="1765564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68229E53-D583-BBEC-4777-870C208451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454931"/>
              </p:ext>
            </p:extLst>
          </p:nvPr>
        </p:nvGraphicFramePr>
        <p:xfrm>
          <a:off x="7616067" y="1765564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Department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deptNo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deptName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1EAFA52-9DD4-756F-581A-EDEF3CCBEFE4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3862998" y="2321824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AE9F4FA-8A3F-B770-70B3-3CFC200B9B2B}"/>
              </a:ext>
            </a:extLst>
          </p:cNvPr>
          <p:cNvSpPr txBox="1"/>
          <p:nvPr/>
        </p:nvSpPr>
        <p:spPr>
          <a:xfrm>
            <a:off x="3862998" y="1952492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D272ED-EAED-ACBA-A13D-7AF31B75C252}"/>
              </a:ext>
            </a:extLst>
          </p:cNvPr>
          <p:cNvSpPr txBox="1"/>
          <p:nvPr/>
        </p:nvSpPr>
        <p:spPr>
          <a:xfrm>
            <a:off x="7316523" y="1952492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AFDCEF-45A1-AA1E-AAB6-4C2EC2BB060C}"/>
              </a:ext>
            </a:extLst>
          </p:cNvPr>
          <p:cNvSpPr txBox="1"/>
          <p:nvPr/>
        </p:nvSpPr>
        <p:spPr>
          <a:xfrm>
            <a:off x="4911404" y="2418327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unidirectional</a:t>
            </a:r>
          </a:p>
        </p:txBody>
      </p:sp>
      <p:graphicFrame>
        <p:nvGraphicFramePr>
          <p:cNvPr id="23" name="Table 27">
            <a:extLst>
              <a:ext uri="{FF2B5EF4-FFF2-40B4-BE49-F238E27FC236}">
                <a16:creationId xmlns:a16="http://schemas.microsoft.com/office/drawing/2014/main" id="{7B30DA06-7A2D-422C-4345-8BA651C7AE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486746"/>
              </p:ext>
            </p:extLst>
          </p:nvPr>
        </p:nvGraphicFramePr>
        <p:xfrm>
          <a:off x="1537584" y="4374098"/>
          <a:ext cx="435128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  <a:gridCol w="1860330">
                  <a:extLst>
                    <a:ext uri="{9D8B030D-6E8A-4147-A177-3AD203B41FA5}">
                      <a16:colId xmlns:a16="http://schemas.microsoft.com/office/drawing/2014/main" val="151114488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FK_DEPT_NO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4" name="Table 27">
            <a:extLst>
              <a:ext uri="{FF2B5EF4-FFF2-40B4-BE49-F238E27FC236}">
                <a16:creationId xmlns:a16="http://schemas.microsoft.com/office/drawing/2014/main" id="{CBEABA47-2479-B860-71DA-45784757A0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191381"/>
              </p:ext>
            </p:extLst>
          </p:nvPr>
        </p:nvGraphicFramePr>
        <p:xfrm>
          <a:off x="6953915" y="4374098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DEPT_NO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DEPT_NAME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Academy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Sales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2E378BF-B986-3512-55B8-47700E9E413D}"/>
              </a:ext>
            </a:extLst>
          </p:cNvPr>
          <p:cNvSpPr txBox="1"/>
          <p:nvPr/>
        </p:nvSpPr>
        <p:spPr>
          <a:xfrm>
            <a:off x="2428335" y="3986986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22AC1D-ECC9-0687-A832-41EF93DA0677}"/>
              </a:ext>
            </a:extLst>
          </p:cNvPr>
          <p:cNvSpPr txBox="1"/>
          <p:nvPr/>
        </p:nvSpPr>
        <p:spPr>
          <a:xfrm>
            <a:off x="7616067" y="3954720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DEPARTMENT 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3D889A-242A-F73B-5239-C674602CEE6D}"/>
              </a:ext>
            </a:extLst>
          </p:cNvPr>
          <p:cNvSpPr txBox="1"/>
          <p:nvPr/>
        </p:nvSpPr>
        <p:spPr>
          <a:xfrm>
            <a:off x="594811" y="5792138"/>
            <a:ext cx="1124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Note: In many-to-one and one-to-many, the owing side is usually defined on the ‘many’ side of the relationship</a:t>
            </a:r>
          </a:p>
        </p:txBody>
      </p:sp>
    </p:spTree>
    <p:extLst>
      <p:ext uri="{BB962C8B-B14F-4D97-AF65-F5344CB8AC3E}">
        <p14:creationId xmlns:p14="http://schemas.microsoft.com/office/powerpoint/2010/main" val="120907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819CAE-3B9C-6C24-7F05-0E832FB4D4AE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One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E514EF-D77A-137E-3D7E-79C33795826A}"/>
              </a:ext>
            </a:extLst>
          </p:cNvPr>
          <p:cNvSpPr/>
          <p:nvPr/>
        </p:nvSpPr>
        <p:spPr>
          <a:xfrm>
            <a:off x="176463" y="2042946"/>
            <a:ext cx="5830199" cy="378565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ManyToOne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3099D9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 = “FK_DEPT_NO”)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Department dept;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A1F92D-3A5E-DCFE-FBD1-1550E79407BA}"/>
              </a:ext>
            </a:extLst>
          </p:cNvPr>
          <p:cNvSpPr/>
          <p:nvPr/>
        </p:nvSpPr>
        <p:spPr>
          <a:xfrm>
            <a:off x="6424448" y="2042290"/>
            <a:ext cx="4958255" cy="378565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Department{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“DEPT_NO”)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deptNo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“DEPT_NAME”)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deptName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78996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C0DA7E8-B411-507D-0D2A-4E5F23DD62A8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One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5" name="Content Placeholder 25">
            <a:extLst>
              <a:ext uri="{FF2B5EF4-FFF2-40B4-BE49-F238E27FC236}">
                <a16:creationId xmlns:a16="http://schemas.microsoft.com/office/drawing/2014/main" id="{80F9628E-E724-1A31-0F23-1C0A0F4A4F7A}"/>
              </a:ext>
            </a:extLst>
          </p:cNvPr>
          <p:cNvSpPr txBox="1">
            <a:spLocks/>
          </p:cNvSpPr>
          <p:nvPr/>
        </p:nvSpPr>
        <p:spPr>
          <a:xfrm>
            <a:off x="602248" y="1237130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6" name="Table 10">
            <a:extLst>
              <a:ext uri="{FF2B5EF4-FFF2-40B4-BE49-F238E27FC236}">
                <a16:creationId xmlns:a16="http://schemas.microsoft.com/office/drawing/2014/main" id="{76F76289-A3B2-9C8E-3E9D-7A9896766DBA}"/>
              </a:ext>
            </a:extLst>
          </p:cNvPr>
          <p:cNvGraphicFramePr>
            <a:graphicFrameLocks noGrp="1"/>
          </p:cNvGraphicFramePr>
          <p:nvPr/>
        </p:nvGraphicFramePr>
        <p:xfrm>
          <a:off x="1748221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7" name="Table 10">
            <a:extLst>
              <a:ext uri="{FF2B5EF4-FFF2-40B4-BE49-F238E27FC236}">
                <a16:creationId xmlns:a16="http://schemas.microsoft.com/office/drawing/2014/main" id="{FE732FC1-0941-92F2-3DFF-618F6A85A83F}"/>
              </a:ext>
            </a:extLst>
          </p:cNvPr>
          <p:cNvGraphicFramePr>
            <a:graphicFrameLocks noGrp="1"/>
          </p:cNvGraphicFramePr>
          <p:nvPr/>
        </p:nvGraphicFramePr>
        <p:xfrm>
          <a:off x="7623504" y="20431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Department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deptNo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deptName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5745E1F-A6DB-4AF4-836C-2ECA8F6920EF}"/>
              </a:ext>
            </a:extLst>
          </p:cNvPr>
          <p:cNvSpPr txBox="1"/>
          <p:nvPr/>
        </p:nvSpPr>
        <p:spPr>
          <a:xfrm>
            <a:off x="3870435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D600C-8764-31FA-8986-F237BBFF698C}"/>
              </a:ext>
            </a:extLst>
          </p:cNvPr>
          <p:cNvSpPr txBox="1"/>
          <p:nvPr/>
        </p:nvSpPr>
        <p:spPr>
          <a:xfrm>
            <a:off x="7323960" y="22300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5294F8-16A9-A7EB-7032-639E0456C38C}"/>
              </a:ext>
            </a:extLst>
          </p:cNvPr>
          <p:cNvSpPr txBox="1"/>
          <p:nvPr/>
        </p:nvSpPr>
        <p:spPr>
          <a:xfrm>
            <a:off x="4918841" y="2695913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bidirectional</a:t>
            </a:r>
          </a:p>
        </p:txBody>
      </p:sp>
      <p:graphicFrame>
        <p:nvGraphicFramePr>
          <p:cNvPr id="21" name="Table 27">
            <a:extLst>
              <a:ext uri="{FF2B5EF4-FFF2-40B4-BE49-F238E27FC236}">
                <a16:creationId xmlns:a16="http://schemas.microsoft.com/office/drawing/2014/main" id="{738F895F-2AFA-9C49-B1ED-ABEE9C78187A}"/>
              </a:ext>
            </a:extLst>
          </p:cNvPr>
          <p:cNvGraphicFramePr>
            <a:graphicFrameLocks noGrp="1"/>
          </p:cNvGraphicFramePr>
          <p:nvPr/>
        </p:nvGraphicFramePr>
        <p:xfrm>
          <a:off x="1545021" y="4651684"/>
          <a:ext cx="435128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  <a:gridCol w="1860330">
                  <a:extLst>
                    <a:ext uri="{9D8B030D-6E8A-4147-A177-3AD203B41FA5}">
                      <a16:colId xmlns:a16="http://schemas.microsoft.com/office/drawing/2014/main" val="151114488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FK_DEPT_NO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2" name="Table 27">
            <a:extLst>
              <a:ext uri="{FF2B5EF4-FFF2-40B4-BE49-F238E27FC236}">
                <a16:creationId xmlns:a16="http://schemas.microsoft.com/office/drawing/2014/main" id="{57E76C34-28CB-6411-47D4-ADF6BE8D0C48}"/>
              </a:ext>
            </a:extLst>
          </p:cNvPr>
          <p:cNvGraphicFramePr>
            <a:graphicFrameLocks noGrp="1"/>
          </p:cNvGraphicFramePr>
          <p:nvPr/>
        </p:nvGraphicFramePr>
        <p:xfrm>
          <a:off x="6961352" y="4651684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DEPT_NO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DEPT_NAME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Academy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Sales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189EC5C-29AD-8461-961A-F76D37F25F03}"/>
              </a:ext>
            </a:extLst>
          </p:cNvPr>
          <p:cNvSpPr txBox="1"/>
          <p:nvPr/>
        </p:nvSpPr>
        <p:spPr>
          <a:xfrm>
            <a:off x="2435772" y="4264572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C94519-911A-E3A6-99C1-1994A4F6B722}"/>
              </a:ext>
            </a:extLst>
          </p:cNvPr>
          <p:cNvSpPr txBox="1"/>
          <p:nvPr/>
        </p:nvSpPr>
        <p:spPr>
          <a:xfrm>
            <a:off x="7623504" y="4232306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DEPARTMENT TABLE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9C230C6-8565-6BAE-5E9A-256F85DD5626}"/>
              </a:ext>
            </a:extLst>
          </p:cNvPr>
          <p:cNvCxnSpPr/>
          <p:nvPr/>
        </p:nvCxnSpPr>
        <p:spPr>
          <a:xfrm>
            <a:off x="3870435" y="2695913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249990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F55707-373A-29FD-7EF1-F6C0CB6418BC}"/>
              </a:ext>
            </a:extLst>
          </p:cNvPr>
          <p:cNvSpPr txBox="1">
            <a:spLocks/>
          </p:cNvSpPr>
          <p:nvPr/>
        </p:nvSpPr>
        <p:spPr>
          <a:xfrm>
            <a:off x="602248" y="6098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One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941B56-F5B9-22DC-20D9-0FCEE0FD0C29}"/>
              </a:ext>
            </a:extLst>
          </p:cNvPr>
          <p:cNvSpPr/>
          <p:nvPr/>
        </p:nvSpPr>
        <p:spPr>
          <a:xfrm>
            <a:off x="0" y="2042946"/>
            <a:ext cx="5896303" cy="40934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ManyToOne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3099D9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 = “FK_DEPT_NO”)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Department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dept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32D8B-811B-404C-A3C3-C020F6D2F958}"/>
              </a:ext>
            </a:extLst>
          </p:cNvPr>
          <p:cNvSpPr/>
          <p:nvPr/>
        </p:nvSpPr>
        <p:spPr>
          <a:xfrm>
            <a:off x="6295698" y="2044258"/>
            <a:ext cx="5896301" cy="409342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Department{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“DEPT_NO”)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deptNo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“DEPT_NAME”)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deptName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OneToMany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CA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mappedBy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 = “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dept”)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private List&lt;Employee&gt; employees;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6376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8717CA-CDE0-162F-817A-E10DBA07CDD7}"/>
              </a:ext>
            </a:extLst>
          </p:cNvPr>
          <p:cNvSpPr txBox="1">
            <a:spLocks/>
          </p:cNvSpPr>
          <p:nvPr/>
        </p:nvSpPr>
        <p:spPr>
          <a:xfrm>
            <a:off x="594811" y="1526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Many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7" name="Content Placeholder 25">
            <a:extLst>
              <a:ext uri="{FF2B5EF4-FFF2-40B4-BE49-F238E27FC236}">
                <a16:creationId xmlns:a16="http://schemas.microsoft.com/office/drawing/2014/main" id="{CFC42315-4C98-03F4-40D3-EBD388777ACD}"/>
              </a:ext>
            </a:extLst>
          </p:cNvPr>
          <p:cNvSpPr txBox="1">
            <a:spLocks/>
          </p:cNvSpPr>
          <p:nvPr/>
        </p:nvSpPr>
        <p:spPr>
          <a:xfrm>
            <a:off x="594811" y="779930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9A8A7191-7BC4-58FF-8B96-9C33EFA22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227820"/>
              </p:ext>
            </p:extLst>
          </p:nvPr>
        </p:nvGraphicFramePr>
        <p:xfrm>
          <a:off x="1740784" y="15859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B82DC5CF-AB7F-AC76-9B40-17EB4C2B77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21237"/>
              </p:ext>
            </p:extLst>
          </p:nvPr>
        </p:nvGraphicFramePr>
        <p:xfrm>
          <a:off x="7616067" y="15859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skillId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skillName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70CF56-1A40-AC24-72E7-FC87F89FB96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862998" y="2142210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22F18A5-10AE-CA46-74BE-416B7ECE6549}"/>
              </a:ext>
            </a:extLst>
          </p:cNvPr>
          <p:cNvSpPr txBox="1"/>
          <p:nvPr/>
        </p:nvSpPr>
        <p:spPr>
          <a:xfrm>
            <a:off x="3862998" y="17728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F01C0B-59C1-6A2C-0D8E-61F74D7469B9}"/>
              </a:ext>
            </a:extLst>
          </p:cNvPr>
          <p:cNvSpPr txBox="1"/>
          <p:nvPr/>
        </p:nvSpPr>
        <p:spPr>
          <a:xfrm>
            <a:off x="7316523" y="17728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6E4390-D55F-EE73-0E65-B47DC6F21A31}"/>
              </a:ext>
            </a:extLst>
          </p:cNvPr>
          <p:cNvSpPr txBox="1"/>
          <p:nvPr/>
        </p:nvSpPr>
        <p:spPr>
          <a:xfrm>
            <a:off x="4911404" y="2238713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unidirectional</a:t>
            </a:r>
          </a:p>
        </p:txBody>
      </p:sp>
      <p:graphicFrame>
        <p:nvGraphicFramePr>
          <p:cNvPr id="24" name="Table 27">
            <a:extLst>
              <a:ext uri="{FF2B5EF4-FFF2-40B4-BE49-F238E27FC236}">
                <a16:creationId xmlns:a16="http://schemas.microsoft.com/office/drawing/2014/main" id="{B183ADF4-6C83-FA6B-90ED-77FC255DF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35166"/>
              </p:ext>
            </p:extLst>
          </p:nvPr>
        </p:nvGraphicFramePr>
        <p:xfrm>
          <a:off x="970025" y="4212520"/>
          <a:ext cx="249095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5" name="Table 27">
            <a:extLst>
              <a:ext uri="{FF2B5EF4-FFF2-40B4-BE49-F238E27FC236}">
                <a16:creationId xmlns:a16="http://schemas.microsoft.com/office/drawing/2014/main" id="{4CCA6055-545F-0586-B6A8-770146182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86683"/>
              </p:ext>
            </p:extLst>
          </p:nvPr>
        </p:nvGraphicFramePr>
        <p:xfrm>
          <a:off x="3939199" y="4255308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SKILL_NAME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Java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Python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85DE1587-721F-777E-4468-9B08C4764566}"/>
              </a:ext>
            </a:extLst>
          </p:cNvPr>
          <p:cNvSpPr txBox="1"/>
          <p:nvPr/>
        </p:nvSpPr>
        <p:spPr>
          <a:xfrm>
            <a:off x="970025" y="3739957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428777-F983-F5F0-AB63-C66C68AA87FF}"/>
              </a:ext>
            </a:extLst>
          </p:cNvPr>
          <p:cNvSpPr txBox="1"/>
          <p:nvPr/>
        </p:nvSpPr>
        <p:spPr>
          <a:xfrm>
            <a:off x="3939199" y="3739957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SKILL TABLE</a:t>
            </a: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92AA7A9-D47C-DFF3-35A5-696330102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779369"/>
              </p:ext>
            </p:extLst>
          </p:nvPr>
        </p:nvGraphicFramePr>
        <p:xfrm>
          <a:off x="7944515" y="4223530"/>
          <a:ext cx="3262586" cy="185420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FK_EMP_ID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FK_SKILL_ID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88828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92833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D8DEBD7E-F690-47AB-66D1-A3C702A74622}"/>
              </a:ext>
            </a:extLst>
          </p:cNvPr>
          <p:cNvSpPr txBox="1"/>
          <p:nvPr/>
        </p:nvSpPr>
        <p:spPr>
          <a:xfrm>
            <a:off x="7944514" y="3739957"/>
            <a:ext cx="326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EMPLOYEE_SKILL TABLE</a:t>
            </a:r>
          </a:p>
        </p:txBody>
      </p:sp>
    </p:spTree>
    <p:extLst>
      <p:ext uri="{BB962C8B-B14F-4D97-AF65-F5344CB8AC3E}">
        <p14:creationId xmlns:p14="http://schemas.microsoft.com/office/powerpoint/2010/main" val="1596897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BB40D59-8DE9-D2E0-4514-459AAA007892}"/>
              </a:ext>
            </a:extLst>
          </p:cNvPr>
          <p:cNvSpPr txBox="1">
            <a:spLocks/>
          </p:cNvSpPr>
          <p:nvPr/>
        </p:nvSpPr>
        <p:spPr>
          <a:xfrm>
            <a:off x="594811" y="136370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Many Unidirectional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DB98B4-3D16-7E78-6F6A-A2047F2FBA9B}"/>
              </a:ext>
            </a:extLst>
          </p:cNvPr>
          <p:cNvSpPr/>
          <p:nvPr/>
        </p:nvSpPr>
        <p:spPr>
          <a:xfrm>
            <a:off x="0" y="1065116"/>
            <a:ext cx="6621963" cy="5016758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ManyToMany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3099D9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JoinTable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(name=“EMPLOYEE_SKILL”,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(name=“FK_EMP_ID”), 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inverseJoinColumns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(name=“FK_SKILL_ID”)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)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List&lt;Skill&gt; skills;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5730AD-5420-1EC2-977D-00619884AC5A}"/>
              </a:ext>
            </a:extLst>
          </p:cNvPr>
          <p:cNvSpPr/>
          <p:nvPr/>
        </p:nvSpPr>
        <p:spPr>
          <a:xfrm>
            <a:off x="6928500" y="1065116"/>
            <a:ext cx="5073000" cy="3170099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Skill{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“SKILL_ID”)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skillId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“SKILL_NAME”)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skillName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9713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8D09324D-AD84-84B5-E60D-4E0357D7411D}"/>
              </a:ext>
            </a:extLst>
          </p:cNvPr>
          <p:cNvSpPr txBox="1">
            <a:spLocks/>
          </p:cNvSpPr>
          <p:nvPr/>
        </p:nvSpPr>
        <p:spPr>
          <a:xfrm>
            <a:off x="594811" y="152698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Many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17" name="Content Placeholder 25">
            <a:extLst>
              <a:ext uri="{FF2B5EF4-FFF2-40B4-BE49-F238E27FC236}">
                <a16:creationId xmlns:a16="http://schemas.microsoft.com/office/drawing/2014/main" id="{AADC2F2E-C524-2B17-26A5-3C05AB903787}"/>
              </a:ext>
            </a:extLst>
          </p:cNvPr>
          <p:cNvSpPr txBox="1">
            <a:spLocks/>
          </p:cNvSpPr>
          <p:nvPr/>
        </p:nvSpPr>
        <p:spPr>
          <a:xfrm>
            <a:off x="594811" y="779930"/>
            <a:ext cx="11003136" cy="50109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Class Diagram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Relational Model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18" name="Table 10">
            <a:extLst>
              <a:ext uri="{FF2B5EF4-FFF2-40B4-BE49-F238E27FC236}">
                <a16:creationId xmlns:a16="http://schemas.microsoft.com/office/drawing/2014/main" id="{31CB8337-DEB8-5717-FB17-3E7FC05CB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780934"/>
              </p:ext>
            </p:extLst>
          </p:nvPr>
        </p:nvGraphicFramePr>
        <p:xfrm>
          <a:off x="1740784" y="15859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Employee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graphicFrame>
        <p:nvGraphicFramePr>
          <p:cNvPr id="19" name="Table 10">
            <a:extLst>
              <a:ext uri="{FF2B5EF4-FFF2-40B4-BE49-F238E27FC236}">
                <a16:creationId xmlns:a16="http://schemas.microsoft.com/office/drawing/2014/main" id="{E128E34D-F037-21D6-ABBC-961327D792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543606"/>
              </p:ext>
            </p:extLst>
          </p:nvPr>
        </p:nvGraphicFramePr>
        <p:xfrm>
          <a:off x="7616067" y="1585950"/>
          <a:ext cx="2122214" cy="1112520"/>
        </p:xfrm>
        <a:graphic>
          <a:graphicData uri="http://schemas.openxmlformats.org/drawingml/2006/table">
            <a:tbl>
              <a:tblPr firstRow="1" bandRow="1"/>
              <a:tblGrid>
                <a:gridCol w="2122214">
                  <a:extLst>
                    <a:ext uri="{9D8B030D-6E8A-4147-A177-3AD203B41FA5}">
                      <a16:colId xmlns:a16="http://schemas.microsoft.com/office/drawing/2014/main" val="151627593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4068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skillId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36299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- </a:t>
                      </a:r>
                      <a:r>
                        <a:rPr lang="en-CA" dirty="0" err="1"/>
                        <a:t>skillName</a:t>
                      </a:r>
                      <a:endParaRPr lang="en-CA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52351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965E4C3-3BC5-8344-51CD-8E37E44EFEE0}"/>
              </a:ext>
            </a:extLst>
          </p:cNvPr>
          <p:cNvSpPr txBox="1"/>
          <p:nvPr/>
        </p:nvSpPr>
        <p:spPr>
          <a:xfrm>
            <a:off x="3862998" y="17728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99F2B5-9450-590A-95D5-7090A3E08E68}"/>
              </a:ext>
            </a:extLst>
          </p:cNvPr>
          <p:cNvSpPr txBox="1"/>
          <p:nvPr/>
        </p:nvSpPr>
        <p:spPr>
          <a:xfrm>
            <a:off x="7316523" y="1772878"/>
            <a:ext cx="29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*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58C0AA-B0D8-2693-B6E3-5EA560FAA8FF}"/>
              </a:ext>
            </a:extLst>
          </p:cNvPr>
          <p:cNvSpPr txBox="1"/>
          <p:nvPr/>
        </p:nvSpPr>
        <p:spPr>
          <a:xfrm>
            <a:off x="4911404" y="2238713"/>
            <a:ext cx="1931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Bidirectional</a:t>
            </a:r>
          </a:p>
        </p:txBody>
      </p:sp>
      <p:graphicFrame>
        <p:nvGraphicFramePr>
          <p:cNvPr id="23" name="Table 27">
            <a:extLst>
              <a:ext uri="{FF2B5EF4-FFF2-40B4-BE49-F238E27FC236}">
                <a16:creationId xmlns:a16="http://schemas.microsoft.com/office/drawing/2014/main" id="{08794E0A-14CC-1048-4AD9-E3CFB9D24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7105139"/>
              </p:ext>
            </p:extLst>
          </p:nvPr>
        </p:nvGraphicFramePr>
        <p:xfrm>
          <a:off x="970025" y="4212520"/>
          <a:ext cx="2490951" cy="1112520"/>
        </p:xfrm>
        <a:graphic>
          <a:graphicData uri="http://schemas.openxmlformats.org/drawingml/2006/table">
            <a:tbl>
              <a:tblPr firstRow="1" bandRow="1"/>
              <a:tblGrid>
                <a:gridCol w="922282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568669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John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Jane Doe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graphicFrame>
        <p:nvGraphicFramePr>
          <p:cNvPr id="24" name="Table 27">
            <a:extLst>
              <a:ext uri="{FF2B5EF4-FFF2-40B4-BE49-F238E27FC236}">
                <a16:creationId xmlns:a16="http://schemas.microsoft.com/office/drawing/2014/main" id="{77EE8120-FE6E-4818-9117-7284A5E7E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450544"/>
              </p:ext>
            </p:extLst>
          </p:nvPr>
        </p:nvGraphicFramePr>
        <p:xfrm>
          <a:off x="3939199" y="4255308"/>
          <a:ext cx="3262586" cy="111252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SKILL_NAME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Java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Python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9A08FF4F-F5C3-181E-F349-9325CF594195}"/>
              </a:ext>
            </a:extLst>
          </p:cNvPr>
          <p:cNvSpPr txBox="1"/>
          <p:nvPr/>
        </p:nvSpPr>
        <p:spPr>
          <a:xfrm>
            <a:off x="970025" y="3739957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 TABLE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D67375-DB67-1F9C-203C-54FAE13E2DED}"/>
              </a:ext>
            </a:extLst>
          </p:cNvPr>
          <p:cNvSpPr txBox="1"/>
          <p:nvPr/>
        </p:nvSpPr>
        <p:spPr>
          <a:xfrm>
            <a:off x="3939199" y="3739957"/>
            <a:ext cx="2215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SKILL TABLE</a:t>
            </a:r>
          </a:p>
        </p:txBody>
      </p:sp>
      <p:graphicFrame>
        <p:nvGraphicFramePr>
          <p:cNvPr id="27" name="Table 27">
            <a:extLst>
              <a:ext uri="{FF2B5EF4-FFF2-40B4-BE49-F238E27FC236}">
                <a16:creationId xmlns:a16="http://schemas.microsoft.com/office/drawing/2014/main" id="{A245650F-DB26-5930-5866-EF1133652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295666"/>
              </p:ext>
            </p:extLst>
          </p:nvPr>
        </p:nvGraphicFramePr>
        <p:xfrm>
          <a:off x="7944515" y="4223530"/>
          <a:ext cx="3262586" cy="1854200"/>
        </p:xfrm>
        <a:graphic>
          <a:graphicData uri="http://schemas.openxmlformats.org/drawingml/2006/table">
            <a:tbl>
              <a:tblPr firstRow="1" bandRow="1"/>
              <a:tblGrid>
                <a:gridCol w="1631293">
                  <a:extLst>
                    <a:ext uri="{9D8B030D-6E8A-4147-A177-3AD203B41FA5}">
                      <a16:colId xmlns:a16="http://schemas.microsoft.com/office/drawing/2014/main" val="1937561263"/>
                    </a:ext>
                  </a:extLst>
                </a:gridCol>
                <a:gridCol w="1631293">
                  <a:extLst>
                    <a:ext uri="{9D8B030D-6E8A-4147-A177-3AD203B41FA5}">
                      <a16:colId xmlns:a16="http://schemas.microsoft.com/office/drawing/2014/main" val="1249479470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FK_EMP_ID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FK_SKILL_ID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08801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87065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6141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101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88828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10002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CA" dirty="0"/>
                        <a:t>102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3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492833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0D52A951-EC4E-C1ED-FFD7-F538AF25AA17}"/>
              </a:ext>
            </a:extLst>
          </p:cNvPr>
          <p:cNvSpPr txBox="1"/>
          <p:nvPr/>
        </p:nvSpPr>
        <p:spPr>
          <a:xfrm>
            <a:off x="7944514" y="3739957"/>
            <a:ext cx="3262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EMPLOYEE_SKILL TABLE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72D1AA-6771-6543-49DE-1B6E517784B7}"/>
              </a:ext>
            </a:extLst>
          </p:cNvPr>
          <p:cNvCxnSpPr/>
          <p:nvPr/>
        </p:nvCxnSpPr>
        <p:spPr>
          <a:xfrm>
            <a:off x="3862998" y="2238713"/>
            <a:ext cx="3753069" cy="0"/>
          </a:xfrm>
          <a:prstGeom prst="straightConnector1">
            <a:avLst/>
          </a:prstGeom>
          <a:noFill/>
          <a:ln w="6350" cap="flat" cmpd="sng" algn="ctr">
            <a:solidFill>
              <a:srgbClr val="009FE3"/>
            </a:solidFill>
            <a:prstDash val="solid"/>
            <a:miter lim="800000"/>
            <a:headEnd type="triangle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53905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56F836D-D763-077F-0DC9-52BF44BF0CD5}"/>
              </a:ext>
            </a:extLst>
          </p:cNvPr>
          <p:cNvSpPr txBox="1">
            <a:spLocks/>
          </p:cNvSpPr>
          <p:nvPr/>
        </p:nvSpPr>
        <p:spPr>
          <a:xfrm>
            <a:off x="594811" y="0"/>
            <a:ext cx="11002378" cy="111793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Many to Many Bidirectional</a:t>
            </a:r>
            <a:endParaRPr kumimoji="0" lang="en-CA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3A1529-1B3E-0CC2-9008-8323CD5B5A35}"/>
              </a:ext>
            </a:extLst>
          </p:cNvPr>
          <p:cNvSpPr/>
          <p:nvPr/>
        </p:nvSpPr>
        <p:spPr>
          <a:xfrm>
            <a:off x="0" y="928746"/>
            <a:ext cx="5823179" cy="470898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Employee{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id;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name;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ManyToMany</a:t>
            </a: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3099D9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JoinTable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(name=“EMPLOYEE_SKILL”,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(name=“FK_EMP_ID”), 	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inverseJoinColumns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=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@</a:t>
            </a: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JoinColumn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(name=“FK_SKILL_ID”)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	)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List&lt;Skill&gt; 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skills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2E210F-8254-7C3A-F66E-FE1236328D57}"/>
              </a:ext>
            </a:extLst>
          </p:cNvPr>
          <p:cNvSpPr/>
          <p:nvPr/>
        </p:nvSpPr>
        <p:spPr>
          <a:xfrm>
            <a:off x="6190508" y="928746"/>
            <a:ext cx="5823179" cy="440120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38100" cap="flat" cmpd="sng" algn="ctr">
            <a:solidFill>
              <a:srgbClr val="00A4F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@Entity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public class Skill{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@Id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“SKILL_ID”)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int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skillId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@Column(name = “SKILL_NAME”)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String 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skillName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;	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@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ManyToMany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(</a:t>
            </a:r>
            <a:r>
              <a:rPr kumimoji="0" lang="en-GB" sz="2000" b="1" i="0" u="none" strike="noStrike" kern="0" cap="none" spc="0" normalizeH="0" baseline="0" noProof="0" dirty="0" err="1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mappedBy</a:t>
            </a: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3099D9"/>
                </a:solidFill>
                <a:effectLst/>
                <a:uLnTx/>
                <a:uFillTx/>
                <a:latin typeface="Consolas" pitchFamily="49" charset="0"/>
              </a:rPr>
              <a:t> = “skills”)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	private List&lt;Employee&gt; employees;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endParaRPr kumimoji="0" lang="en-GB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Tx/>
              <a:buFontTx/>
              <a:buNone/>
              <a:tabLst/>
              <a:defRPr/>
            </a:pPr>
            <a:r>
              <a:rPr kumimoji="0" lang="en-GB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280687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25667</TotalTime>
  <Words>1700</Words>
  <Application>Microsoft Office PowerPoint</Application>
  <PresentationFormat>Widescreen</PresentationFormat>
  <Paragraphs>526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Black</vt:lpstr>
      <vt:lpstr>Calibri</vt:lpstr>
      <vt:lpstr>Calibri Light</vt:lpstr>
      <vt:lpstr>Consolas</vt:lpstr>
      <vt:lpstr>Retrospect</vt:lpstr>
      <vt:lpstr>Enterprise Java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Testing</dc:title>
  <dc:creator>Cusack, Chris</dc:creator>
  <cp:lastModifiedBy>Boudreau, Andre (NBCC)</cp:lastModifiedBy>
  <cp:revision>586</cp:revision>
  <dcterms:created xsi:type="dcterms:W3CDTF">2018-06-09T00:51:46Z</dcterms:created>
  <dcterms:modified xsi:type="dcterms:W3CDTF">2026-09-23T15:38:07Z</dcterms:modified>
</cp:coreProperties>
</file>