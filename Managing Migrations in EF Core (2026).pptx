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13"/>
  </p:notesMasterIdLst>
  <p:handoutMasterIdLst>
    <p:handoutMasterId r:id="rId14"/>
  </p:handoutMasterIdLst>
  <p:sldIdLst>
    <p:sldId id="256" r:id="rId5"/>
    <p:sldId id="264" r:id="rId6"/>
    <p:sldId id="265" r:id="rId7"/>
    <p:sldId id="268" r:id="rId8"/>
    <p:sldId id="269" r:id="rId9"/>
    <p:sldId id="266" r:id="rId10"/>
    <p:sldId id="267" r:id="rId11"/>
    <p:sldId id="26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0" autoAdjust="0"/>
    <p:restoredTop sz="94605" autoAdjust="0"/>
  </p:normalViewPr>
  <p:slideViewPr>
    <p:cSldViewPr snapToGrid="0">
      <p:cViewPr varScale="1">
        <p:scale>
          <a:sx n="159" d="100"/>
          <a:sy n="159" d="100"/>
        </p:scale>
        <p:origin x="156" y="162"/>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AEF700-9B0B-4359-8356-DCE7EE4E41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B9BF05B-06DB-4EC8-B476-CF95F9BD85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3D6361-1E3C-4214-95E1-B8DE93421F8F}" type="datetimeFigureOut">
              <a:rPr lang="en-US" smtClean="0"/>
              <a:t>9/16/2024</a:t>
            </a:fld>
            <a:endParaRPr lang="en-US" dirty="0"/>
          </a:p>
        </p:txBody>
      </p:sp>
      <p:sp>
        <p:nvSpPr>
          <p:cNvPr id="4" name="Footer Placeholder 3">
            <a:extLst>
              <a:ext uri="{FF2B5EF4-FFF2-40B4-BE49-F238E27FC236}">
                <a16:creationId xmlns:a16="http://schemas.microsoft.com/office/drawing/2014/main" id="{6321952E-79CD-4E03-AAEB-C22680419E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3DCA65F-8548-4E36-8331-FD471638BD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CE0281-66A0-46B8-BDE2-AEF0C7453753}" type="slidenum">
              <a:rPr lang="en-US" smtClean="0"/>
              <a:t>‹#›</a:t>
            </a:fld>
            <a:endParaRPr lang="en-US" dirty="0"/>
          </a:p>
        </p:txBody>
      </p:sp>
    </p:spTree>
    <p:extLst>
      <p:ext uri="{BB962C8B-B14F-4D97-AF65-F5344CB8AC3E}">
        <p14:creationId xmlns:p14="http://schemas.microsoft.com/office/powerpoint/2010/main" val="655735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9CFFA-1E2F-4435-8DD6-9B5CC3FF4505}" type="datetimeFigureOut">
              <a:rPr lang="en-US" smtClean="0"/>
              <a:t>9/16/2024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ED1C-4656-4CF8-AD34-DC4A65BB3913}" type="slidenum">
              <a:rPr lang="en-US" smtClean="0"/>
              <a:t>‹#›</a:t>
            </a:fld>
            <a:endParaRPr lang="en-US" dirty="0"/>
          </a:p>
        </p:txBody>
      </p:sp>
    </p:spTree>
    <p:extLst>
      <p:ext uri="{BB962C8B-B14F-4D97-AF65-F5344CB8AC3E}">
        <p14:creationId xmlns:p14="http://schemas.microsoft.com/office/powerpoint/2010/main" val="3895429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a:t>
            </a:fld>
            <a:endParaRPr lang="en-US" dirty="0"/>
          </a:p>
        </p:txBody>
      </p:sp>
    </p:spTree>
    <p:extLst>
      <p:ext uri="{BB962C8B-B14F-4D97-AF65-F5344CB8AC3E}">
        <p14:creationId xmlns:p14="http://schemas.microsoft.com/office/powerpoint/2010/main" val="204084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2</a:t>
            </a:fld>
            <a:endParaRPr lang="en-US" dirty="0"/>
          </a:p>
        </p:txBody>
      </p:sp>
    </p:spTree>
    <p:extLst>
      <p:ext uri="{BB962C8B-B14F-4D97-AF65-F5344CB8AC3E}">
        <p14:creationId xmlns:p14="http://schemas.microsoft.com/office/powerpoint/2010/main" val="643230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3</a:t>
            </a:fld>
            <a:endParaRPr lang="en-US" dirty="0"/>
          </a:p>
        </p:txBody>
      </p:sp>
    </p:spTree>
    <p:extLst>
      <p:ext uri="{BB962C8B-B14F-4D97-AF65-F5344CB8AC3E}">
        <p14:creationId xmlns:p14="http://schemas.microsoft.com/office/powerpoint/2010/main" val="3453078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8</a:t>
            </a:fld>
            <a:endParaRPr lang="en-US" dirty="0"/>
          </a:p>
        </p:txBody>
      </p:sp>
    </p:spTree>
    <p:extLst>
      <p:ext uri="{BB962C8B-B14F-4D97-AF65-F5344CB8AC3E}">
        <p14:creationId xmlns:p14="http://schemas.microsoft.com/office/powerpoint/2010/main" val="39291776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87403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6270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75351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164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024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13326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53794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5185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82491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76979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2422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31610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213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8399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7418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39669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5640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24972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9/16/2024</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5226178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705"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hyperlink" Target="http://msdn.microsoft.com/en-us/data/jj591617.aspx"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391C69-E52F-4DC0-B51A-0DABC548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2">
            <a:extLst>
              <a:ext uri="{FF2B5EF4-FFF2-40B4-BE49-F238E27FC236}">
                <a16:creationId xmlns:a16="http://schemas.microsoft.com/office/drawing/2014/main" id="{C3C7ED6A-DE7F-4002-9699-B659DE5512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048390FD-448E-4FF2-AEE8-C46960568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59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Petri Dish">
            <a:extLst>
              <a:ext uri="{FF2B5EF4-FFF2-40B4-BE49-F238E27FC236}">
                <a16:creationId xmlns:a16="http://schemas.microsoft.com/office/drawing/2014/main" id="{D16B27C4-A9C2-4AC4-9DD3-88F63F48E83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357274" y="10"/>
            <a:ext cx="4834726" cy="6857990"/>
          </a:xfrm>
          <a:prstGeom prst="rect">
            <a:avLst/>
          </a:prstGeom>
        </p:spPr>
      </p:pic>
      <p:pic>
        <p:nvPicPr>
          <p:cNvPr id="16" name="Picture 15">
            <a:extLst>
              <a:ext uri="{FF2B5EF4-FFF2-40B4-BE49-F238E27FC236}">
                <a16:creationId xmlns:a16="http://schemas.microsoft.com/office/drawing/2014/main" id="{0BD259F2-A289-4420-B3EB-BBC6A904FC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BE7596B-F237-47DD-989E-9D8B0B49B4BB}"/>
              </a:ext>
            </a:extLst>
          </p:cNvPr>
          <p:cNvSpPr>
            <a:spLocks noGrp="1"/>
          </p:cNvSpPr>
          <p:nvPr>
            <p:ph type="ctrTitle"/>
          </p:nvPr>
        </p:nvSpPr>
        <p:spPr>
          <a:xfrm>
            <a:off x="981075" y="1358901"/>
            <a:ext cx="5280026" cy="2730498"/>
          </a:xfrm>
        </p:spPr>
        <p:txBody>
          <a:bodyPr>
            <a:normAutofit/>
          </a:bodyPr>
          <a:lstStyle/>
          <a:p>
            <a:r>
              <a:rPr lang="en-US" dirty="0">
                <a:solidFill>
                  <a:schemeClr val="tx1">
                    <a:lumMod val="65000"/>
                    <a:lumOff val="35000"/>
                  </a:schemeClr>
                </a:solidFill>
              </a:rPr>
              <a:t>ENTITY FRAMEWORK CORE</a:t>
            </a:r>
          </a:p>
        </p:txBody>
      </p:sp>
      <p:sp>
        <p:nvSpPr>
          <p:cNvPr id="3" name="Subtitle 2">
            <a:extLst>
              <a:ext uri="{FF2B5EF4-FFF2-40B4-BE49-F238E27FC236}">
                <a16:creationId xmlns:a16="http://schemas.microsoft.com/office/drawing/2014/main" id="{6063915B-82A1-4F1C-B5C6-3E18DDD97232}"/>
              </a:ext>
            </a:extLst>
          </p:cNvPr>
          <p:cNvSpPr>
            <a:spLocks noGrp="1"/>
          </p:cNvSpPr>
          <p:nvPr>
            <p:ph type="subTitle" idx="1"/>
          </p:nvPr>
        </p:nvSpPr>
        <p:spPr>
          <a:xfrm>
            <a:off x="981075" y="4165600"/>
            <a:ext cx="5280027" cy="1371599"/>
          </a:xfrm>
        </p:spPr>
        <p:txBody>
          <a:bodyPr>
            <a:normAutofit/>
          </a:bodyPr>
          <a:lstStyle/>
          <a:p>
            <a:r>
              <a:rPr lang="en-US" dirty="0"/>
              <a:t>Managing migrations within a </a:t>
            </a:r>
            <a:br>
              <a:rPr lang="en-US" dirty="0"/>
            </a:br>
            <a:r>
              <a:rPr lang="en-US" dirty="0"/>
              <a:t>Code-first environment</a:t>
            </a:r>
          </a:p>
        </p:txBody>
      </p:sp>
    </p:spTree>
    <p:extLst>
      <p:ext uri="{BB962C8B-B14F-4D97-AF65-F5344CB8AC3E}">
        <p14:creationId xmlns:p14="http://schemas.microsoft.com/office/powerpoint/2010/main" val="264202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48FE65CB-EFD8-497D-A30A-093E20EAC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5" name="Picture 114">
            <a:extLst>
              <a:ext uri="{FF2B5EF4-FFF2-40B4-BE49-F238E27FC236}">
                <a16:creationId xmlns:a16="http://schemas.microsoft.com/office/drawing/2014/main" id="{E3265C2A-0A58-43AD-A406-8F4478E287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850B972-0B7A-40CD-9E79-07E8A87AB03C}"/>
              </a:ext>
            </a:extLst>
          </p:cNvPr>
          <p:cNvSpPr>
            <a:spLocks noGrp="1"/>
          </p:cNvSpPr>
          <p:nvPr>
            <p:ph type="title"/>
          </p:nvPr>
        </p:nvSpPr>
        <p:spPr>
          <a:xfrm>
            <a:off x="1367243" y="863118"/>
            <a:ext cx="8420775" cy="1222152"/>
          </a:xfrm>
        </p:spPr>
        <p:txBody>
          <a:bodyPr>
            <a:normAutofit fontScale="90000"/>
          </a:bodyPr>
          <a:lstStyle/>
          <a:p>
            <a:pPr algn="l"/>
            <a:r>
              <a:rPr lang="en-US" sz="5300" dirty="0"/>
              <a:t>REVIEW</a:t>
            </a:r>
            <a:br>
              <a:rPr lang="en-US" sz="5300" dirty="0"/>
            </a:br>
            <a:r>
              <a:rPr lang="en-US" b="1" dirty="0"/>
              <a:t>(Dbcontext</a:t>
            </a:r>
            <a:r>
              <a:rPr lang="en-US" dirty="0"/>
              <a:t> </a:t>
            </a:r>
            <a:r>
              <a:rPr lang="en-US" sz="2000" dirty="0"/>
              <a:t>&amp;</a:t>
            </a:r>
            <a:r>
              <a:rPr lang="en-US" dirty="0"/>
              <a:t> </a:t>
            </a:r>
            <a:r>
              <a:rPr lang="en-US" b="1" dirty="0"/>
              <a:t>dbset)</a:t>
            </a:r>
          </a:p>
        </p:txBody>
      </p:sp>
      <p:sp>
        <p:nvSpPr>
          <p:cNvPr id="3" name="TextBox 2">
            <a:extLst>
              <a:ext uri="{FF2B5EF4-FFF2-40B4-BE49-F238E27FC236}">
                <a16:creationId xmlns:a16="http://schemas.microsoft.com/office/drawing/2014/main" id="{1679A0C4-5714-4B03-7F65-D9503ED496A8}"/>
              </a:ext>
            </a:extLst>
          </p:cNvPr>
          <p:cNvSpPr txBox="1"/>
          <p:nvPr/>
        </p:nvSpPr>
        <p:spPr>
          <a:xfrm>
            <a:off x="1367243" y="2332216"/>
            <a:ext cx="8866618" cy="3139321"/>
          </a:xfrm>
          <a:prstGeom prst="rect">
            <a:avLst/>
          </a:prstGeom>
          <a:noFill/>
        </p:spPr>
        <p:txBody>
          <a:bodyPr wrap="square" rtlCol="0">
            <a:spAutoFit/>
          </a:bodyPr>
          <a:lstStyle/>
          <a:p>
            <a:r>
              <a:rPr lang="en-CA" dirty="0"/>
              <a:t>The class </a:t>
            </a:r>
            <a:r>
              <a:rPr lang="en-CA" b="1" dirty="0"/>
              <a:t>DbContext </a:t>
            </a:r>
            <a:r>
              <a:rPr lang="en-CA" dirty="0"/>
              <a:t>is provided within </a:t>
            </a:r>
            <a:r>
              <a:rPr lang="en-CA" b="1" dirty="0">
                <a:solidFill>
                  <a:srgbClr val="00B0F0"/>
                </a:solidFill>
              </a:rPr>
              <a:t>Microsoft.EntityFrameworkCore</a:t>
            </a:r>
            <a:r>
              <a:rPr lang="en-CA" dirty="0">
                <a:solidFill>
                  <a:srgbClr val="00B0F0"/>
                </a:solidFill>
              </a:rPr>
              <a:t> </a:t>
            </a:r>
            <a:r>
              <a:rPr lang="en-CA" dirty="0"/>
              <a:t>and is the base class used to define our own project-specific context(s) that provide integration with EF Core. </a:t>
            </a:r>
          </a:p>
          <a:p>
            <a:endParaRPr lang="en-CA" dirty="0"/>
          </a:p>
          <a:p>
            <a:r>
              <a:rPr lang="en-CA" dirty="0"/>
              <a:t>Within our derived context, we define one or more properties that of the type </a:t>
            </a:r>
            <a:r>
              <a:rPr lang="en-CA" b="1" dirty="0"/>
              <a:t>DbSet&lt;</a:t>
            </a:r>
            <a:r>
              <a:rPr lang="en-CA" b="1" dirty="0">
                <a:solidFill>
                  <a:srgbClr val="00B050"/>
                </a:solidFill>
              </a:rPr>
              <a:t>T</a:t>
            </a:r>
            <a:r>
              <a:rPr lang="en-CA" b="1" dirty="0"/>
              <a:t>&gt; </a:t>
            </a:r>
            <a:r>
              <a:rPr lang="en-CA" dirty="0"/>
              <a:t>for each model we are managing via EF Core. </a:t>
            </a:r>
          </a:p>
          <a:p>
            <a:endParaRPr lang="en-CA" dirty="0"/>
          </a:p>
          <a:p>
            <a:r>
              <a:rPr lang="en-CA" dirty="0"/>
              <a:t>The </a:t>
            </a:r>
            <a:r>
              <a:rPr lang="en-CA" b="1" dirty="0"/>
              <a:t>DbSet</a:t>
            </a:r>
            <a:r>
              <a:rPr lang="en-CA" dirty="0"/>
              <a:t> class provides the ability to utilize </a:t>
            </a:r>
            <a:r>
              <a:rPr lang="en-CA" b="1" dirty="0"/>
              <a:t>LINQ</a:t>
            </a:r>
            <a:r>
              <a:rPr lang="en-CA" dirty="0"/>
              <a:t> (</a:t>
            </a:r>
            <a:r>
              <a:rPr lang="en-CA" b="1" dirty="0"/>
              <a:t>L</a:t>
            </a:r>
            <a:r>
              <a:rPr lang="en-CA" dirty="0"/>
              <a:t>anguage-</a:t>
            </a:r>
            <a:r>
              <a:rPr lang="en-CA" b="1" dirty="0"/>
              <a:t>IN</a:t>
            </a:r>
            <a:r>
              <a:rPr lang="en-CA" dirty="0"/>
              <a:t>tegrated </a:t>
            </a:r>
            <a:r>
              <a:rPr lang="en-CA" b="1" dirty="0"/>
              <a:t>Q</a:t>
            </a:r>
            <a:r>
              <a:rPr lang="en-CA" dirty="0"/>
              <a:t>uery) actions that will be translated into CRUD queries against the database.</a:t>
            </a:r>
          </a:p>
          <a:p>
            <a:endParaRPr lang="en-CA" dirty="0"/>
          </a:p>
          <a:p>
            <a:r>
              <a:rPr lang="en-CA" dirty="0"/>
              <a:t>The </a:t>
            </a:r>
            <a:r>
              <a:rPr lang="en-CA" b="1" dirty="0"/>
              <a:t>DbSet</a:t>
            </a:r>
            <a:r>
              <a:rPr lang="en-CA" dirty="0"/>
              <a:t> represents an entity set that is used to perform create, read, update and delete operations</a:t>
            </a:r>
          </a:p>
        </p:txBody>
      </p:sp>
    </p:spTree>
    <p:extLst>
      <p:ext uri="{BB962C8B-B14F-4D97-AF65-F5344CB8AC3E}">
        <p14:creationId xmlns:p14="http://schemas.microsoft.com/office/powerpoint/2010/main" val="2026403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22"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useBgFill="1">
        <p:nvSpPr>
          <p:cNvPr id="26" name="Rectangle 25">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
            <a:extLst>
              <a:ext uri="{FF2B5EF4-FFF2-40B4-BE49-F238E27FC236}">
                <a16:creationId xmlns:a16="http://schemas.microsoft.com/office/drawing/2014/main" id="{F5B52056-26AD-4841-8A16-C1D9E3C099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descr="Formula">
            <a:extLst>
              <a:ext uri="{FF2B5EF4-FFF2-40B4-BE49-F238E27FC236}">
                <a16:creationId xmlns:a16="http://schemas.microsoft.com/office/drawing/2014/main" id="{29B78601-F415-4A48-AB86-2F6B81FA9136}"/>
              </a:ext>
            </a:extLst>
          </p:cNvPr>
          <p:cNvPicPr>
            <a:picLocks noGrp="1" noChangeAspect="1"/>
          </p:cNvPicPr>
          <p:nvPr>
            <p:ph sz="quarter" idx="13"/>
          </p:nvPr>
        </p:nvPicPr>
        <p:blipFill rotWithShape="1">
          <a:blip r:embed="rId5" cstate="email">
            <a:extLst>
              <a:ext uri="{28A0092B-C50C-407E-A947-70E740481C1C}">
                <a14:useLocalDpi xmlns:a14="http://schemas.microsoft.com/office/drawing/2010/main"/>
              </a:ext>
            </a:extLst>
          </a:blip>
          <a:srcRect b="-2"/>
          <a:stretch/>
        </p:blipFill>
        <p:spPr>
          <a:xfrm>
            <a:off x="20" y="10"/>
            <a:ext cx="4024741" cy="6857990"/>
          </a:xfrm>
          <a:prstGeom prst="rect">
            <a:avLst/>
          </a:prstGeom>
        </p:spPr>
      </p:pic>
      <p:sp>
        <p:nvSpPr>
          <p:cNvPr id="30" name="Rectangle 29">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58B2B72-EB44-4428-96AA-8636E4A4ADFD}"/>
              </a:ext>
            </a:extLst>
          </p:cNvPr>
          <p:cNvSpPr>
            <a:spLocks noGrp="1"/>
          </p:cNvSpPr>
          <p:nvPr>
            <p:ph type="title"/>
          </p:nvPr>
        </p:nvSpPr>
        <p:spPr>
          <a:xfrm>
            <a:off x="4563373" y="618518"/>
            <a:ext cx="6672886" cy="797328"/>
          </a:xfrm>
        </p:spPr>
        <p:txBody>
          <a:bodyPr vert="horz" lIns="91440" tIns="45720" rIns="91440" bIns="45720" rtlCol="0" anchor="ctr">
            <a:normAutofit fontScale="90000"/>
          </a:bodyPr>
          <a:lstStyle/>
          <a:p>
            <a:r>
              <a:rPr lang="en-US" sz="4400" dirty="0">
                <a:solidFill>
                  <a:schemeClr val="tx1">
                    <a:lumMod val="65000"/>
                    <a:lumOff val="35000"/>
                  </a:schemeClr>
                </a:solidFill>
              </a:rPr>
              <a:t>A new approach to database generation</a:t>
            </a:r>
          </a:p>
        </p:txBody>
      </p:sp>
      <p:sp>
        <p:nvSpPr>
          <p:cNvPr id="4" name="Content Placeholder 3">
            <a:extLst>
              <a:ext uri="{FF2B5EF4-FFF2-40B4-BE49-F238E27FC236}">
                <a16:creationId xmlns:a16="http://schemas.microsoft.com/office/drawing/2014/main" id="{75D5040A-11D2-0684-9822-70FC15BCC250}"/>
              </a:ext>
            </a:extLst>
          </p:cNvPr>
          <p:cNvSpPr>
            <a:spLocks noGrp="1"/>
          </p:cNvSpPr>
          <p:nvPr>
            <p:ph sz="quarter" idx="14"/>
          </p:nvPr>
        </p:nvSpPr>
        <p:spPr>
          <a:xfrm>
            <a:off x="4563373" y="1785978"/>
            <a:ext cx="6672885" cy="4546455"/>
          </a:xfrm>
        </p:spPr>
        <p:txBody>
          <a:bodyPr>
            <a:normAutofit fontScale="70000" lnSpcReduction="20000"/>
          </a:bodyPr>
          <a:lstStyle/>
          <a:p>
            <a:r>
              <a:rPr lang="en-CA" dirty="0"/>
              <a:t>We have previously seen how the </a:t>
            </a:r>
            <a:r>
              <a:rPr lang="en-CA" b="1" dirty="0"/>
              <a:t>Entity Framework core </a:t>
            </a:r>
            <a:r>
              <a:rPr lang="en-CA" dirty="0"/>
              <a:t>and the </a:t>
            </a:r>
            <a:r>
              <a:rPr lang="en-CA" b="1" dirty="0">
                <a:solidFill>
                  <a:srgbClr val="00B050"/>
                </a:solidFill>
              </a:rPr>
              <a:t>Code-First approach </a:t>
            </a:r>
            <a:r>
              <a:rPr lang="en-CA" dirty="0"/>
              <a:t>can automatically generate a database in our SQL SERVER Instance for us</a:t>
            </a:r>
          </a:p>
          <a:p>
            <a:r>
              <a:rPr lang="en-CA" dirty="0"/>
              <a:t>It uses many separate </a:t>
            </a:r>
            <a:r>
              <a:rPr lang="en-CA" b="1" dirty="0">
                <a:solidFill>
                  <a:srgbClr val="FF0000"/>
                </a:solidFill>
              </a:rPr>
              <a:t>conventions</a:t>
            </a:r>
            <a:r>
              <a:rPr lang="en-CA" dirty="0"/>
              <a:t> within our code to do this:</a:t>
            </a:r>
          </a:p>
          <a:p>
            <a:pPr lvl="1"/>
            <a:r>
              <a:rPr lang="en-CA" dirty="0"/>
              <a:t>The table names originate from the model class collection names</a:t>
            </a:r>
          </a:p>
          <a:p>
            <a:pPr lvl="1"/>
            <a:r>
              <a:rPr lang="en-CA" dirty="0"/>
              <a:t>The column names in the table are the property names from our code</a:t>
            </a:r>
          </a:p>
          <a:p>
            <a:r>
              <a:rPr lang="en-CA" dirty="0"/>
              <a:t>When you look at the table that was created it also created a primary key for the table although we didn’t specify this with any code of our own</a:t>
            </a:r>
          </a:p>
          <a:p>
            <a:r>
              <a:rPr lang="en-CA" dirty="0"/>
              <a:t>This is because we followed the appropriate ef core </a:t>
            </a:r>
            <a:r>
              <a:rPr lang="en-CA" b="1" dirty="0">
                <a:solidFill>
                  <a:srgbClr val="FF0000"/>
                </a:solidFill>
              </a:rPr>
              <a:t>convention</a:t>
            </a:r>
            <a:r>
              <a:rPr lang="en-CA" dirty="0"/>
              <a:t>: </a:t>
            </a:r>
          </a:p>
          <a:p>
            <a:pPr lvl="1"/>
            <a:r>
              <a:rPr lang="en-CA" dirty="0"/>
              <a:t>If we have an integer property within the model that uses the name pattern &lt;</a:t>
            </a:r>
            <a:r>
              <a:rPr lang="en-CA" dirty="0">
                <a:solidFill>
                  <a:srgbClr val="00B050"/>
                </a:solidFill>
              </a:rPr>
              <a:t>modelNAME</a:t>
            </a:r>
            <a:r>
              <a:rPr lang="en-CA" dirty="0"/>
              <a:t>&gt;</a:t>
            </a:r>
            <a:r>
              <a:rPr lang="en-CA" b="1" dirty="0">
                <a:solidFill>
                  <a:srgbClr val="00B050"/>
                </a:solidFill>
              </a:rPr>
              <a:t>Id</a:t>
            </a:r>
            <a:r>
              <a:rPr lang="en-CA" dirty="0"/>
              <a:t>,  this property will be used as the primary key of the table that is generated</a:t>
            </a:r>
          </a:p>
          <a:p>
            <a:pPr lvl="2"/>
            <a:r>
              <a:rPr lang="en-CA" dirty="0"/>
              <a:t>i.e.: </a:t>
            </a:r>
            <a:r>
              <a:rPr lang="en-CA" b="1" dirty="0"/>
              <a:t>Book.</a:t>
            </a:r>
            <a:r>
              <a:rPr lang="en-CA" b="1" dirty="0">
                <a:solidFill>
                  <a:srgbClr val="00B050"/>
                </a:solidFill>
              </a:rPr>
              <a:t>bookid</a:t>
            </a:r>
            <a:endParaRPr lang="en-CA" dirty="0"/>
          </a:p>
          <a:p>
            <a:pPr lvl="1"/>
            <a:r>
              <a:rPr lang="en-CA" dirty="0"/>
              <a:t>You can also just use the property name </a:t>
            </a:r>
            <a:r>
              <a:rPr lang="en-CA" b="1" dirty="0">
                <a:solidFill>
                  <a:srgbClr val="00B050"/>
                </a:solidFill>
              </a:rPr>
              <a:t>Id</a:t>
            </a:r>
            <a:r>
              <a:rPr lang="en-CA" b="1" dirty="0"/>
              <a:t>,</a:t>
            </a:r>
            <a:r>
              <a:rPr lang="en-CA" dirty="0"/>
              <a:t> and this will also define a primary key (if this is an integer-typed property)</a:t>
            </a:r>
          </a:p>
          <a:p>
            <a:pPr lvl="2"/>
            <a:r>
              <a:rPr lang="en-CA" dirty="0"/>
              <a:t>i.e.: </a:t>
            </a:r>
            <a:r>
              <a:rPr lang="en-CA" b="1" dirty="0"/>
              <a:t>Book</a:t>
            </a:r>
            <a:r>
              <a:rPr lang="en-CA" b="1" dirty="0">
                <a:solidFill>
                  <a:srgbClr val="00B050"/>
                </a:solidFill>
              </a:rPr>
              <a:t>.id</a:t>
            </a:r>
          </a:p>
        </p:txBody>
      </p:sp>
    </p:spTree>
    <p:extLst>
      <p:ext uri="{BB962C8B-B14F-4D97-AF65-F5344CB8AC3E}">
        <p14:creationId xmlns:p14="http://schemas.microsoft.com/office/powerpoint/2010/main" val="3069036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3050-D485-4A54-9A62-473E45EF9330}"/>
              </a:ext>
            </a:extLst>
          </p:cNvPr>
          <p:cNvSpPr>
            <a:spLocks noGrp="1"/>
          </p:cNvSpPr>
          <p:nvPr>
            <p:ph type="title"/>
          </p:nvPr>
        </p:nvSpPr>
        <p:spPr/>
        <p:txBody>
          <a:bodyPr/>
          <a:lstStyle/>
          <a:p>
            <a:r>
              <a:rPr lang="en-US" dirty="0"/>
              <a:t>Bending (and Breaking) </a:t>
            </a:r>
            <a:br>
              <a:rPr lang="en-US" dirty="0"/>
            </a:br>
            <a:r>
              <a:rPr lang="en-US" dirty="0"/>
              <a:t>the ef core conventions</a:t>
            </a:r>
            <a:br>
              <a:rPr lang="en-US" dirty="0"/>
            </a:br>
            <a:r>
              <a:rPr lang="en-US" sz="1800" dirty="0"/>
              <a:t>(for the less travelled path)</a:t>
            </a:r>
          </a:p>
        </p:txBody>
      </p:sp>
      <p:sp>
        <p:nvSpPr>
          <p:cNvPr id="3" name="Content Placeholder 2">
            <a:extLst>
              <a:ext uri="{FF2B5EF4-FFF2-40B4-BE49-F238E27FC236}">
                <a16:creationId xmlns:a16="http://schemas.microsoft.com/office/drawing/2014/main" id="{4802ADD5-D88D-DCCE-723C-BDC42F66766E}"/>
              </a:ext>
            </a:extLst>
          </p:cNvPr>
          <p:cNvSpPr>
            <a:spLocks noGrp="1"/>
          </p:cNvSpPr>
          <p:nvPr>
            <p:ph sz="quarter" idx="13"/>
          </p:nvPr>
        </p:nvSpPr>
        <p:spPr>
          <a:xfrm>
            <a:off x="913774" y="2367092"/>
            <a:ext cx="10268576" cy="3424107"/>
          </a:xfrm>
        </p:spPr>
        <p:txBody>
          <a:bodyPr>
            <a:normAutofit fontScale="77500" lnSpcReduction="20000"/>
          </a:bodyPr>
          <a:lstStyle/>
          <a:p>
            <a:r>
              <a:rPr lang="en-CA" dirty="0"/>
              <a:t>using the conventions that ASP.NET MVC provides does often make our job easy and quick...but there will be times when you must go against these conventions.  There are ways to do that:</a:t>
            </a:r>
          </a:p>
          <a:p>
            <a:pPr lvl="1"/>
            <a:endParaRPr lang="en-CA" dirty="0"/>
          </a:p>
          <a:p>
            <a:pPr lvl="1"/>
            <a:r>
              <a:rPr lang="en-CA" dirty="0"/>
              <a:t>Let’s say, that we had a model for users of our application, and instead of having a primary key of </a:t>
            </a:r>
            <a:r>
              <a:rPr lang="en-CA" b="1" dirty="0">
                <a:solidFill>
                  <a:srgbClr val="00B050"/>
                </a:solidFill>
              </a:rPr>
              <a:t>UserId</a:t>
            </a:r>
            <a:r>
              <a:rPr lang="en-CA" dirty="0"/>
              <a:t>, we want their </a:t>
            </a:r>
            <a:r>
              <a:rPr lang="en-CA" b="1" dirty="0">
                <a:solidFill>
                  <a:srgbClr val="00B050"/>
                </a:solidFill>
              </a:rPr>
              <a:t>UserName</a:t>
            </a:r>
            <a:r>
              <a:rPr lang="en-CA" dirty="0"/>
              <a:t> to be the primary key... We can use [</a:t>
            </a:r>
            <a:r>
              <a:rPr lang="en-CA" b="1" dirty="0">
                <a:solidFill>
                  <a:srgbClr val="FF0000"/>
                </a:solidFill>
              </a:rPr>
              <a:t>Data Annotations</a:t>
            </a:r>
            <a:r>
              <a:rPr lang="en-CA" b="1" dirty="0"/>
              <a:t>]</a:t>
            </a:r>
            <a:r>
              <a:rPr lang="en-CA" dirty="0"/>
              <a:t> to ACHIEVE THIS.</a:t>
            </a:r>
          </a:p>
          <a:p>
            <a:pPr lvl="1"/>
            <a:r>
              <a:rPr lang="en-CA" dirty="0"/>
              <a:t>The [</a:t>
            </a:r>
            <a:r>
              <a:rPr lang="en-CA" b="1" dirty="0">
                <a:solidFill>
                  <a:srgbClr val="FF0000"/>
                </a:solidFill>
              </a:rPr>
              <a:t>Key</a:t>
            </a:r>
            <a:r>
              <a:rPr lang="en-CA" dirty="0"/>
              <a:t>] Annotation can be used just above the </a:t>
            </a:r>
            <a:r>
              <a:rPr lang="en-CA" b="1" dirty="0">
                <a:solidFill>
                  <a:srgbClr val="00B050"/>
                </a:solidFill>
              </a:rPr>
              <a:t>UserName</a:t>
            </a:r>
            <a:r>
              <a:rPr lang="en-CA" dirty="0"/>
              <a:t> property to indicate that MVC should use </a:t>
            </a:r>
            <a:r>
              <a:rPr lang="en-CA" b="1" dirty="0">
                <a:solidFill>
                  <a:srgbClr val="00B050"/>
                </a:solidFill>
              </a:rPr>
              <a:t>UserName</a:t>
            </a:r>
            <a:r>
              <a:rPr lang="en-CA" dirty="0"/>
              <a:t> as the primary key (remember to add the using statement for DataAnnotations)</a:t>
            </a:r>
          </a:p>
          <a:p>
            <a:pPr lvl="1"/>
            <a:r>
              <a:rPr lang="en-CA" dirty="0"/>
              <a:t>What next? You would then need to Create a migration and apply it to the database as you did with the other changes...</a:t>
            </a:r>
          </a:p>
          <a:p>
            <a:r>
              <a:rPr lang="en-CA" dirty="0"/>
              <a:t>DataAnnotations can do a lot to help you go either bend or break conventions. Anything that it can’t do can be achieved using a more advanced technique – </a:t>
            </a:r>
            <a:r>
              <a:rPr lang="en-CA" dirty="0">
                <a:hlinkClick r:id="rId2"/>
              </a:rPr>
              <a:t>The Fluent API</a:t>
            </a:r>
            <a:r>
              <a:rPr lang="en-CA" dirty="0"/>
              <a:t> .  We will look more at the Fluent API in </a:t>
            </a:r>
            <a:r>
              <a:rPr lang="en-US" dirty="0"/>
              <a:t>future lessons</a:t>
            </a:r>
          </a:p>
          <a:p>
            <a:endParaRPr lang="en-US" dirty="0"/>
          </a:p>
        </p:txBody>
      </p:sp>
    </p:spTree>
    <p:extLst>
      <p:ext uri="{BB962C8B-B14F-4D97-AF65-F5344CB8AC3E}">
        <p14:creationId xmlns:p14="http://schemas.microsoft.com/office/powerpoint/2010/main" val="3619972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B660-7348-A742-B297-B3444C45E996}"/>
              </a:ext>
            </a:extLst>
          </p:cNvPr>
          <p:cNvSpPr>
            <a:spLocks noGrp="1"/>
          </p:cNvSpPr>
          <p:nvPr>
            <p:ph type="title"/>
          </p:nvPr>
        </p:nvSpPr>
        <p:spPr>
          <a:xfrm>
            <a:off x="913775" y="618517"/>
            <a:ext cx="10364451" cy="1283089"/>
          </a:xfrm>
        </p:spPr>
        <p:txBody>
          <a:bodyPr/>
          <a:lstStyle/>
          <a:p>
            <a:pPr algn="l"/>
            <a:r>
              <a:rPr lang="en-US" dirty="0"/>
              <a:t>Managing changes within the database</a:t>
            </a:r>
            <a:br>
              <a:rPr lang="en-US" dirty="0"/>
            </a:br>
            <a:r>
              <a:rPr lang="en-US" sz="2000" dirty="0"/>
              <a:t>using ef core migrations</a:t>
            </a:r>
            <a:endParaRPr lang="en-US" dirty="0"/>
          </a:p>
        </p:txBody>
      </p:sp>
      <p:sp>
        <p:nvSpPr>
          <p:cNvPr id="3" name="Content Placeholder 2">
            <a:extLst>
              <a:ext uri="{FF2B5EF4-FFF2-40B4-BE49-F238E27FC236}">
                <a16:creationId xmlns:a16="http://schemas.microsoft.com/office/drawing/2014/main" id="{215821B1-EB46-6BAE-BD3D-9606A508315E}"/>
              </a:ext>
            </a:extLst>
          </p:cNvPr>
          <p:cNvSpPr>
            <a:spLocks noGrp="1"/>
          </p:cNvSpPr>
          <p:nvPr>
            <p:ph sz="quarter" idx="13"/>
          </p:nvPr>
        </p:nvSpPr>
        <p:spPr>
          <a:xfrm>
            <a:off x="913774" y="1848867"/>
            <a:ext cx="7540382" cy="4548771"/>
          </a:xfrm>
        </p:spPr>
        <p:txBody>
          <a:bodyPr>
            <a:normAutofit fontScale="77500" lnSpcReduction="20000"/>
          </a:bodyPr>
          <a:lstStyle/>
          <a:p>
            <a:r>
              <a:rPr lang="en-CA" dirty="0"/>
              <a:t>Over time, the structure of our project &amp; models will evolve - which in turn will mean changes may be required within our database</a:t>
            </a:r>
          </a:p>
          <a:p>
            <a:r>
              <a:rPr lang="en-CA" dirty="0"/>
              <a:t>To Accomplish this, we take advantage of </a:t>
            </a:r>
            <a:r>
              <a:rPr lang="en-CA" dirty="0">
                <a:solidFill>
                  <a:srgbClr val="FF0000"/>
                </a:solidFill>
              </a:rPr>
              <a:t>Code First Migrations </a:t>
            </a:r>
            <a:r>
              <a:rPr lang="en-CA" dirty="0"/>
              <a:t>ability to modify the structures within our database in using a series of iterative &amp; incremental migrations.</a:t>
            </a:r>
          </a:p>
          <a:p>
            <a:r>
              <a:rPr lang="en-CA" dirty="0"/>
              <a:t>Migrations are supported within our project once we install our ef core nuget packages, but you require </a:t>
            </a:r>
            <a:r>
              <a:rPr lang="en-CA" b="1" dirty="0"/>
              <a:t>Microsoft.entityframeworkcore.tools </a:t>
            </a:r>
            <a:r>
              <a:rPr lang="en-CA" dirty="0"/>
              <a:t>to run these commands</a:t>
            </a:r>
          </a:p>
          <a:p>
            <a:r>
              <a:rPr lang="en-CA" dirty="0"/>
              <a:t>We will manage these changes by executing commands within the </a:t>
            </a:r>
            <a:r>
              <a:rPr lang="en-CA" b="1" dirty="0"/>
              <a:t>Package Manager Console:</a:t>
            </a:r>
            <a:endParaRPr lang="en-CA" dirty="0"/>
          </a:p>
          <a:p>
            <a:pPr lvl="1"/>
            <a:r>
              <a:rPr lang="en-CA" b="1" dirty="0"/>
              <a:t>Add-Migration &lt;</a:t>
            </a:r>
            <a:r>
              <a:rPr lang="en-CA" b="1" dirty="0">
                <a:solidFill>
                  <a:srgbClr val="00B050"/>
                </a:solidFill>
              </a:rPr>
              <a:t>MigrationName</a:t>
            </a:r>
            <a:r>
              <a:rPr lang="en-CA" b="1" dirty="0"/>
              <a:t>&gt;   </a:t>
            </a:r>
            <a:r>
              <a:rPr lang="en-CA" dirty="0"/>
              <a:t>(for example:   </a:t>
            </a:r>
            <a:r>
              <a:rPr lang="en-CA" b="1" dirty="0"/>
              <a:t>initialdb</a:t>
            </a:r>
            <a:r>
              <a:rPr lang="en-CA" dirty="0"/>
              <a:t>)</a:t>
            </a:r>
          </a:p>
          <a:p>
            <a:pPr lvl="1"/>
            <a:r>
              <a:rPr lang="en-CA" dirty="0"/>
              <a:t>This will generate a new file  within  /migrations/ </a:t>
            </a:r>
          </a:p>
          <a:p>
            <a:r>
              <a:rPr lang="en-CA" dirty="0"/>
              <a:t>A timestamp is added to the name of the migrations to track</a:t>
            </a:r>
            <a:br>
              <a:rPr lang="en-CA" dirty="0"/>
            </a:br>
            <a:r>
              <a:rPr lang="en-CA" dirty="0"/>
              <a:t>the correct order in which multiple migrations are applied:</a:t>
            </a:r>
          </a:p>
          <a:p>
            <a:endParaRPr lang="en-CA" dirty="0"/>
          </a:p>
        </p:txBody>
      </p:sp>
      <p:sp>
        <p:nvSpPr>
          <p:cNvPr id="7" name="Rectangle: Rounded Corners 6">
            <a:extLst>
              <a:ext uri="{FF2B5EF4-FFF2-40B4-BE49-F238E27FC236}">
                <a16:creationId xmlns:a16="http://schemas.microsoft.com/office/drawing/2014/main" id="{4B81AFB5-CA43-82A5-A61C-538B5E83F14D}"/>
              </a:ext>
            </a:extLst>
          </p:cNvPr>
          <p:cNvSpPr/>
          <p:nvPr/>
        </p:nvSpPr>
        <p:spPr>
          <a:xfrm>
            <a:off x="8509281" y="2633331"/>
            <a:ext cx="804857" cy="2309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initialDb</a:t>
            </a:r>
            <a:endParaRPr lang="en-US" sz="1200" dirty="0"/>
          </a:p>
        </p:txBody>
      </p:sp>
      <p:sp>
        <p:nvSpPr>
          <p:cNvPr id="8" name="Arrow: Bent 7">
            <a:extLst>
              <a:ext uri="{FF2B5EF4-FFF2-40B4-BE49-F238E27FC236}">
                <a16:creationId xmlns:a16="http://schemas.microsoft.com/office/drawing/2014/main" id="{A8429851-446F-70B4-5C89-8A0067550F9B}"/>
              </a:ext>
            </a:extLst>
          </p:cNvPr>
          <p:cNvSpPr/>
          <p:nvPr/>
        </p:nvSpPr>
        <p:spPr>
          <a:xfrm rot="10800000" flipH="1">
            <a:off x="8911709" y="2976458"/>
            <a:ext cx="282011" cy="40174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Rectangle: Rounded Corners 8">
            <a:extLst>
              <a:ext uri="{FF2B5EF4-FFF2-40B4-BE49-F238E27FC236}">
                <a16:creationId xmlns:a16="http://schemas.microsoft.com/office/drawing/2014/main" id="{21672AAF-9613-DF48-D689-8662F133B387}"/>
              </a:ext>
            </a:extLst>
          </p:cNvPr>
          <p:cNvSpPr/>
          <p:nvPr/>
        </p:nvSpPr>
        <p:spPr>
          <a:xfrm>
            <a:off x="9302872" y="3177331"/>
            <a:ext cx="1275123" cy="304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addedAddressFields</a:t>
            </a:r>
            <a:endParaRPr lang="en-US" sz="1400" dirty="0"/>
          </a:p>
        </p:txBody>
      </p:sp>
      <p:sp>
        <p:nvSpPr>
          <p:cNvPr id="10" name="Arrow: Bent 9">
            <a:extLst>
              <a:ext uri="{FF2B5EF4-FFF2-40B4-BE49-F238E27FC236}">
                <a16:creationId xmlns:a16="http://schemas.microsoft.com/office/drawing/2014/main" id="{3134DAA6-3AC6-68F1-4D10-977AA2F846E8}"/>
              </a:ext>
            </a:extLst>
          </p:cNvPr>
          <p:cNvSpPr/>
          <p:nvPr/>
        </p:nvSpPr>
        <p:spPr>
          <a:xfrm rot="10800000" flipH="1">
            <a:off x="9799429" y="3617810"/>
            <a:ext cx="282011" cy="40174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Rounded Corners 10">
            <a:extLst>
              <a:ext uri="{FF2B5EF4-FFF2-40B4-BE49-F238E27FC236}">
                <a16:creationId xmlns:a16="http://schemas.microsoft.com/office/drawing/2014/main" id="{7E0F6E58-EB9C-23A4-AE85-7239F6DBA24D}"/>
              </a:ext>
            </a:extLst>
          </p:cNvPr>
          <p:cNvSpPr/>
          <p:nvPr/>
        </p:nvSpPr>
        <p:spPr>
          <a:xfrm>
            <a:off x="10304156" y="3794772"/>
            <a:ext cx="1275123" cy="328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definedJobModel</a:t>
            </a:r>
            <a:endParaRPr lang="en-US" dirty="0"/>
          </a:p>
        </p:txBody>
      </p:sp>
      <p:sp>
        <p:nvSpPr>
          <p:cNvPr id="12" name="Arrow: Bent 11">
            <a:extLst>
              <a:ext uri="{FF2B5EF4-FFF2-40B4-BE49-F238E27FC236}">
                <a16:creationId xmlns:a16="http://schemas.microsoft.com/office/drawing/2014/main" id="{CFB3E885-026D-A18F-ED45-D71D0A3D03EF}"/>
              </a:ext>
            </a:extLst>
          </p:cNvPr>
          <p:cNvSpPr/>
          <p:nvPr/>
        </p:nvSpPr>
        <p:spPr>
          <a:xfrm rot="10800000" flipH="1">
            <a:off x="10941718" y="4209523"/>
            <a:ext cx="282011" cy="40174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538AEE97-DEB1-BE62-6FF0-B115E2E624AB}"/>
              </a:ext>
            </a:extLst>
          </p:cNvPr>
          <p:cNvSpPr txBox="1"/>
          <p:nvPr/>
        </p:nvSpPr>
        <p:spPr>
          <a:xfrm>
            <a:off x="11397868" y="4406430"/>
            <a:ext cx="615297" cy="369332"/>
          </a:xfrm>
          <a:prstGeom prst="rect">
            <a:avLst/>
          </a:prstGeom>
          <a:noFill/>
        </p:spPr>
        <p:txBody>
          <a:bodyPr wrap="square" rtlCol="0">
            <a:spAutoFit/>
          </a:bodyPr>
          <a:lstStyle/>
          <a:p>
            <a:r>
              <a:rPr lang="en-US" dirty="0"/>
              <a:t>…</a:t>
            </a:r>
          </a:p>
        </p:txBody>
      </p:sp>
      <p:pic>
        <p:nvPicPr>
          <p:cNvPr id="17" name="Picture 16">
            <a:extLst>
              <a:ext uri="{FF2B5EF4-FFF2-40B4-BE49-F238E27FC236}">
                <a16:creationId xmlns:a16="http://schemas.microsoft.com/office/drawing/2014/main" id="{5C988DF0-8D50-4C88-17C6-6C88A561A49C}"/>
              </a:ext>
            </a:extLst>
          </p:cNvPr>
          <p:cNvPicPr>
            <a:picLocks noChangeAspect="1"/>
          </p:cNvPicPr>
          <p:nvPr/>
        </p:nvPicPr>
        <p:blipFill>
          <a:blip r:embed="rId2"/>
          <a:stretch>
            <a:fillRect/>
          </a:stretch>
        </p:blipFill>
        <p:spPr>
          <a:xfrm>
            <a:off x="7351877" y="5390680"/>
            <a:ext cx="2913833" cy="488965"/>
          </a:xfrm>
          <a:prstGeom prst="rect">
            <a:avLst/>
          </a:prstGeom>
        </p:spPr>
      </p:pic>
      <p:pic>
        <p:nvPicPr>
          <p:cNvPr id="5" name="Picture 4">
            <a:extLst>
              <a:ext uri="{FF2B5EF4-FFF2-40B4-BE49-F238E27FC236}">
                <a16:creationId xmlns:a16="http://schemas.microsoft.com/office/drawing/2014/main" id="{906BB570-6F94-6F75-AB99-28FFF42D5E31}"/>
              </a:ext>
            </a:extLst>
          </p:cNvPr>
          <p:cNvPicPr>
            <a:picLocks noChangeAspect="1"/>
          </p:cNvPicPr>
          <p:nvPr/>
        </p:nvPicPr>
        <p:blipFill>
          <a:blip r:embed="rId3"/>
          <a:stretch>
            <a:fillRect/>
          </a:stretch>
        </p:blipFill>
        <p:spPr>
          <a:xfrm>
            <a:off x="7359881" y="5390680"/>
            <a:ext cx="2896176" cy="488965"/>
          </a:xfrm>
          <a:prstGeom prst="rect">
            <a:avLst/>
          </a:prstGeom>
        </p:spPr>
      </p:pic>
    </p:spTree>
    <p:extLst>
      <p:ext uri="{BB962C8B-B14F-4D97-AF65-F5344CB8AC3E}">
        <p14:creationId xmlns:p14="http://schemas.microsoft.com/office/powerpoint/2010/main" val="3545535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27A31-182D-02A9-F0F9-9030EFB431A5}"/>
              </a:ext>
            </a:extLst>
          </p:cNvPr>
          <p:cNvSpPr>
            <a:spLocks noGrp="1"/>
          </p:cNvSpPr>
          <p:nvPr>
            <p:ph type="title"/>
          </p:nvPr>
        </p:nvSpPr>
        <p:spPr/>
        <p:txBody>
          <a:bodyPr/>
          <a:lstStyle/>
          <a:p>
            <a:r>
              <a:rPr lang="en-US" dirty="0"/>
              <a:t>APPLYING MIGRATIONS</a:t>
            </a:r>
            <a:br>
              <a:rPr lang="en-US" dirty="0"/>
            </a:br>
            <a:r>
              <a:rPr lang="en-US" sz="1800" b="1" dirty="0"/>
              <a:t>(in both directions)</a:t>
            </a:r>
            <a:endParaRPr lang="en-US" b="1" dirty="0"/>
          </a:p>
        </p:txBody>
      </p:sp>
      <p:sp>
        <p:nvSpPr>
          <p:cNvPr id="3" name="Content Placeholder 2">
            <a:extLst>
              <a:ext uri="{FF2B5EF4-FFF2-40B4-BE49-F238E27FC236}">
                <a16:creationId xmlns:a16="http://schemas.microsoft.com/office/drawing/2014/main" id="{CACBF900-7A8B-DE50-F3EF-CD27EFFB3D47}"/>
              </a:ext>
            </a:extLst>
          </p:cNvPr>
          <p:cNvSpPr>
            <a:spLocks noGrp="1"/>
          </p:cNvSpPr>
          <p:nvPr>
            <p:ph sz="quarter" idx="13"/>
          </p:nvPr>
        </p:nvSpPr>
        <p:spPr>
          <a:xfrm>
            <a:off x="913774" y="2367092"/>
            <a:ext cx="9868526" cy="3424107"/>
          </a:xfrm>
        </p:spPr>
        <p:txBody>
          <a:bodyPr>
            <a:normAutofit fontScale="92500" lnSpcReduction="20000"/>
          </a:bodyPr>
          <a:lstStyle/>
          <a:p>
            <a:r>
              <a:rPr lang="en-CA" dirty="0"/>
              <a:t>migrations have the ability to both apply and revert the model changes:</a:t>
            </a:r>
          </a:p>
          <a:p>
            <a:pPr lvl="1"/>
            <a:r>
              <a:rPr lang="en-CA" dirty="0"/>
              <a:t>the </a:t>
            </a:r>
            <a:r>
              <a:rPr lang="en-CA" b="1" dirty="0"/>
              <a:t>up() </a:t>
            </a:r>
            <a:r>
              <a:rPr lang="en-CA" dirty="0"/>
              <a:t>method will have the code to migrate the database to apply new changes to your new model</a:t>
            </a:r>
          </a:p>
          <a:p>
            <a:pPr lvl="1"/>
            <a:r>
              <a:rPr lang="en-CA" dirty="0"/>
              <a:t>the </a:t>
            </a:r>
            <a:r>
              <a:rPr lang="en-CA" b="1" dirty="0"/>
              <a:t>down() </a:t>
            </a:r>
            <a:r>
              <a:rPr lang="en-CA" dirty="0"/>
              <a:t>method will contain code to undo the change and revert back to the previous version of the model</a:t>
            </a:r>
          </a:p>
          <a:p>
            <a:r>
              <a:rPr lang="en-CA" dirty="0"/>
              <a:t>Migrations keep track of which code-files have been applied to the database using a System Table added to the database called </a:t>
            </a:r>
            <a:r>
              <a:rPr lang="en-CA" b="1" dirty="0">
                <a:solidFill>
                  <a:srgbClr val="00B0F0"/>
                </a:solidFill>
              </a:rPr>
              <a:t>__EFMigrationsHistory</a:t>
            </a:r>
          </a:p>
          <a:p>
            <a:r>
              <a:rPr lang="en-CA" dirty="0"/>
              <a:t>This table will always be updated to indicate:</a:t>
            </a:r>
          </a:p>
          <a:p>
            <a:pPr lvl="1"/>
            <a:r>
              <a:rPr lang="en-CA" dirty="0"/>
              <a:t>Which migrations have been currently applied to your database</a:t>
            </a:r>
          </a:p>
          <a:p>
            <a:pPr lvl="1"/>
            <a:r>
              <a:rPr lang="en-CA" dirty="0"/>
              <a:t>Which version of the EF Core architecture generated each specific migration</a:t>
            </a:r>
          </a:p>
          <a:p>
            <a:endParaRPr lang="en-US" dirty="0"/>
          </a:p>
        </p:txBody>
      </p:sp>
    </p:spTree>
    <p:extLst>
      <p:ext uri="{BB962C8B-B14F-4D97-AF65-F5344CB8AC3E}">
        <p14:creationId xmlns:p14="http://schemas.microsoft.com/office/powerpoint/2010/main" val="3677879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9359E-50A5-5F82-92C5-ED87BDA40857}"/>
              </a:ext>
            </a:extLst>
          </p:cNvPr>
          <p:cNvSpPr>
            <a:spLocks noGrp="1"/>
          </p:cNvSpPr>
          <p:nvPr>
            <p:ph type="title"/>
          </p:nvPr>
        </p:nvSpPr>
        <p:spPr>
          <a:xfrm>
            <a:off x="913773" y="351818"/>
            <a:ext cx="10364451" cy="705458"/>
          </a:xfrm>
        </p:spPr>
        <p:txBody>
          <a:bodyPr/>
          <a:lstStyle/>
          <a:p>
            <a:r>
              <a:rPr lang="en-CA" dirty="0"/>
              <a:t>Let’s change our model</a:t>
            </a:r>
            <a:endParaRPr lang="en-US" dirty="0"/>
          </a:p>
        </p:txBody>
      </p:sp>
      <p:sp>
        <p:nvSpPr>
          <p:cNvPr id="3" name="Content Placeholder 2">
            <a:extLst>
              <a:ext uri="{FF2B5EF4-FFF2-40B4-BE49-F238E27FC236}">
                <a16:creationId xmlns:a16="http://schemas.microsoft.com/office/drawing/2014/main" id="{2AABD336-D5AE-8CA6-5786-A0BA05C6D949}"/>
              </a:ext>
            </a:extLst>
          </p:cNvPr>
          <p:cNvSpPr>
            <a:spLocks noGrp="1"/>
          </p:cNvSpPr>
          <p:nvPr>
            <p:ph sz="quarter" idx="13"/>
          </p:nvPr>
        </p:nvSpPr>
        <p:spPr>
          <a:xfrm>
            <a:off x="913773" y="1333499"/>
            <a:ext cx="10563851" cy="4714876"/>
          </a:xfrm>
        </p:spPr>
        <p:txBody>
          <a:bodyPr>
            <a:normAutofit fontScale="62500" lnSpcReduction="20000"/>
          </a:bodyPr>
          <a:lstStyle/>
          <a:p>
            <a:r>
              <a:rPr lang="en-CA" dirty="0"/>
              <a:t>Let’s say we want to make a change to our model.:</a:t>
            </a:r>
          </a:p>
          <a:p>
            <a:pPr lvl="1"/>
            <a:r>
              <a:rPr lang="en-CA" dirty="0"/>
              <a:t>We could add properties, remove them, change datatypes or apply more data annotations and validations that affect the database</a:t>
            </a:r>
          </a:p>
          <a:p>
            <a:pPr lvl="1"/>
            <a:r>
              <a:rPr lang="en-CA" dirty="0"/>
              <a:t>When we finish modifying the model, we need to generate a new migration to capture these changes</a:t>
            </a:r>
          </a:p>
          <a:p>
            <a:r>
              <a:rPr lang="en-CA" dirty="0"/>
              <a:t>we would create a new migration via </a:t>
            </a:r>
          </a:p>
          <a:p>
            <a:pPr marL="0" indent="0">
              <a:buNone/>
            </a:pPr>
            <a:r>
              <a:rPr lang="en-CA" b="1" dirty="0"/>
              <a:t>	</a:t>
            </a:r>
            <a:r>
              <a:rPr lang="en-CA" sz="3800" b="1" dirty="0"/>
              <a:t>add-migration</a:t>
            </a:r>
            <a:r>
              <a:rPr lang="en-CA" sz="3800" dirty="0"/>
              <a:t> &lt;</a:t>
            </a:r>
            <a:r>
              <a:rPr lang="en-CA" sz="3800" b="1" dirty="0">
                <a:solidFill>
                  <a:srgbClr val="00B0F0"/>
                </a:solidFill>
              </a:rPr>
              <a:t>migrationname</a:t>
            </a:r>
            <a:r>
              <a:rPr lang="en-CA" sz="3800" dirty="0"/>
              <a:t>&gt;</a:t>
            </a:r>
          </a:p>
          <a:p>
            <a:r>
              <a:rPr lang="en-CA" dirty="0"/>
              <a:t>NOTE: Each &lt;</a:t>
            </a:r>
            <a:r>
              <a:rPr lang="en-CA" b="1" dirty="0">
                <a:solidFill>
                  <a:srgbClr val="00B0F0"/>
                </a:solidFill>
              </a:rPr>
              <a:t>migrationname</a:t>
            </a:r>
            <a:r>
              <a:rPr lang="en-CA" dirty="0"/>
              <a:t>&gt; must be unique (Irregardless of the prepended timestamp)</a:t>
            </a:r>
          </a:p>
          <a:p>
            <a:r>
              <a:rPr lang="en-CA" dirty="0"/>
              <a:t>Always review the contents of your migration(s) to ensure they capture expected changes (and nothing else):</a:t>
            </a:r>
          </a:p>
          <a:p>
            <a:pPr lvl="1"/>
            <a:r>
              <a:rPr lang="en-CA" dirty="0"/>
              <a:t>If there are errors, delete this migration using the command </a:t>
            </a:r>
            <a:r>
              <a:rPr lang="en-CA" b="1" dirty="0"/>
              <a:t>remove-migration,</a:t>
            </a:r>
            <a:r>
              <a:rPr lang="en-CA" dirty="0"/>
              <a:t> correct your model changes and then regenerate the migration re-using the same name</a:t>
            </a:r>
          </a:p>
          <a:p>
            <a:pPr lvl="1"/>
            <a:r>
              <a:rPr lang="en-CA" b="1" dirty="0"/>
              <a:t>NOTE:</a:t>
            </a:r>
            <a:r>
              <a:rPr lang="en-CA" dirty="0"/>
              <a:t> You cannot remove a migration that has already been deployed to your database.  If this occurs, you will either need to:</a:t>
            </a:r>
          </a:p>
          <a:p>
            <a:pPr lvl="2"/>
            <a:r>
              <a:rPr lang="en-CA" dirty="0"/>
              <a:t>revert that specific migration and try again</a:t>
            </a:r>
          </a:p>
          <a:p>
            <a:pPr lvl="2"/>
            <a:r>
              <a:rPr lang="en-CA" dirty="0"/>
              <a:t>Create a new migration to purposefully undo that change</a:t>
            </a:r>
          </a:p>
          <a:p>
            <a:pPr lvl="2"/>
            <a:r>
              <a:rPr lang="en-CA" dirty="0"/>
              <a:t>drop the entire database that ef core is referencing</a:t>
            </a:r>
          </a:p>
          <a:p>
            <a:pPr lvl="1"/>
            <a:r>
              <a:rPr lang="en-CA" dirty="0"/>
              <a:t>If it looks ok, then we use </a:t>
            </a:r>
            <a:r>
              <a:rPr lang="en-CA" b="1" dirty="0"/>
              <a:t>update-database</a:t>
            </a:r>
            <a:r>
              <a:rPr lang="en-CA" dirty="0"/>
              <a:t> to apply these changes to the database</a:t>
            </a:r>
            <a:endParaRPr lang="en-CA" b="1" dirty="0"/>
          </a:p>
          <a:p>
            <a:pPr lvl="1"/>
            <a:r>
              <a:rPr lang="en-CA" dirty="0"/>
              <a:t>NOTE: Update-Database will apply </a:t>
            </a:r>
            <a:r>
              <a:rPr lang="en-CA" b="1" u="sng" dirty="0">
                <a:solidFill>
                  <a:srgbClr val="FF0000"/>
                </a:solidFill>
              </a:rPr>
              <a:t>all pending changes </a:t>
            </a:r>
            <a:r>
              <a:rPr lang="en-CA" dirty="0"/>
              <a:t>to the database...so if you have previous migration(s) that weren’t deployed yet… they will be performed first (within order of generation) and then the last one.</a:t>
            </a:r>
          </a:p>
          <a:p>
            <a:pPr lvl="2"/>
            <a:endParaRPr lang="en-CA" dirty="0"/>
          </a:p>
          <a:p>
            <a:endParaRPr lang="en-US" dirty="0"/>
          </a:p>
        </p:txBody>
      </p:sp>
    </p:spTree>
    <p:extLst>
      <p:ext uri="{BB962C8B-B14F-4D97-AF65-F5344CB8AC3E}">
        <p14:creationId xmlns:p14="http://schemas.microsoft.com/office/powerpoint/2010/main" val="625995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61"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62">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65" name="Rectangle 64">
            <a:extLst>
              <a:ext uri="{FF2B5EF4-FFF2-40B4-BE49-F238E27FC236}">
                <a16:creationId xmlns:a16="http://schemas.microsoft.com/office/drawing/2014/main" id="{A6F4DB63-A191-45D9-8A53-9B18F8FE2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7" name="Rectangle 66">
            <a:extLst>
              <a:ext uri="{FF2B5EF4-FFF2-40B4-BE49-F238E27FC236}">
                <a16:creationId xmlns:a16="http://schemas.microsoft.com/office/drawing/2014/main" id="{C0BB8E50-9569-495A-A548-A5AD5055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D6F26545-4582-4DBE-973B-ED1BC9CB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91"/>
            <a:ext cx="12188952" cy="2286002"/>
          </a:xfrm>
          <a:prstGeom prst="rect">
            <a:avLst/>
          </a:prstGeom>
          <a:solidFill>
            <a:schemeClr val="tx1"/>
          </a:solidFill>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8" name="Picture 70">
            <a:extLst>
              <a:ext uri="{FF2B5EF4-FFF2-40B4-BE49-F238E27FC236}">
                <a16:creationId xmlns:a16="http://schemas.microsoft.com/office/drawing/2014/main" id="{E47A6981-7EBF-4F2B-BD20-3124170BF8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77037" b="73004"/>
          <a:stretch/>
        </p:blipFill>
        <p:spPr>
          <a:xfrm>
            <a:off x="77277" y="-1"/>
            <a:ext cx="1272021" cy="841175"/>
          </a:xfrm>
          <a:prstGeom prst="rect">
            <a:avLst/>
          </a:prstGeom>
        </p:spPr>
      </p:pic>
      <p:pic>
        <p:nvPicPr>
          <p:cNvPr id="79" name="Picture 72">
            <a:extLst>
              <a:ext uri="{FF2B5EF4-FFF2-40B4-BE49-F238E27FC236}">
                <a16:creationId xmlns:a16="http://schemas.microsoft.com/office/drawing/2014/main" id="{6497DCFF-C2AA-4065-BFCF-1E7535B0D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924" t="86960" r="29150"/>
          <a:stretch/>
        </p:blipFill>
        <p:spPr>
          <a:xfrm>
            <a:off x="11061755" y="-1"/>
            <a:ext cx="1127197" cy="553967"/>
          </a:xfrm>
          <a:prstGeom prst="rect">
            <a:avLst/>
          </a:prstGeom>
        </p:spPr>
      </p:pic>
      <p:pic>
        <p:nvPicPr>
          <p:cNvPr id="80" name="Picture 74">
            <a:extLst>
              <a:ext uri="{FF2B5EF4-FFF2-40B4-BE49-F238E27FC236}">
                <a16:creationId xmlns:a16="http://schemas.microsoft.com/office/drawing/2014/main" id="{15E1159C-5B31-49A8-A933-C1179723C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89959" t="72411" r="-74" b="13790"/>
          <a:stretch/>
        </p:blipFill>
        <p:spPr>
          <a:xfrm>
            <a:off x="77277" y="1444827"/>
            <a:ext cx="1096303" cy="841175"/>
          </a:xfrm>
          <a:custGeom>
            <a:avLst/>
            <a:gdLst>
              <a:gd name="connsiteX0" fmla="*/ 0 w 915864"/>
              <a:gd name="connsiteY0" fmla="*/ 0 h 702727"/>
              <a:gd name="connsiteX1" fmla="*/ 915864 w 915864"/>
              <a:gd name="connsiteY1" fmla="*/ 0 h 702727"/>
              <a:gd name="connsiteX2" fmla="*/ 915864 w 915864"/>
              <a:gd name="connsiteY2" fmla="*/ 702727 h 702727"/>
              <a:gd name="connsiteX3" fmla="*/ 176126 w 915864"/>
              <a:gd name="connsiteY3" fmla="*/ 702727 h 702727"/>
              <a:gd name="connsiteX4" fmla="*/ 175195 w 915864"/>
              <a:gd name="connsiteY4" fmla="*/ 702179 h 702727"/>
              <a:gd name="connsiteX5" fmla="*/ 45222 w 915864"/>
              <a:gd name="connsiteY5" fmla="*/ 592499 h 702727"/>
              <a:gd name="connsiteX6" fmla="*/ 0 w 915864"/>
              <a:gd name="connsiteY6" fmla="*/ 531614 h 70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864" h="702727">
                <a:moveTo>
                  <a:pt x="0" y="0"/>
                </a:moveTo>
                <a:lnTo>
                  <a:pt x="915864" y="0"/>
                </a:lnTo>
                <a:lnTo>
                  <a:pt x="915864" y="702727"/>
                </a:lnTo>
                <a:lnTo>
                  <a:pt x="176126" y="702727"/>
                </a:lnTo>
                <a:lnTo>
                  <a:pt x="175195" y="702179"/>
                </a:lnTo>
                <a:cubicBezTo>
                  <a:pt x="126139" y="669596"/>
                  <a:pt x="82453" y="632772"/>
                  <a:pt x="45222" y="592499"/>
                </a:cubicBezTo>
                <a:lnTo>
                  <a:pt x="0" y="531614"/>
                </a:lnTo>
                <a:close/>
              </a:path>
            </a:pathLst>
          </a:custGeom>
        </p:spPr>
      </p:pic>
      <p:pic>
        <p:nvPicPr>
          <p:cNvPr id="77" name="Picture 76">
            <a:extLst>
              <a:ext uri="{FF2B5EF4-FFF2-40B4-BE49-F238E27FC236}">
                <a16:creationId xmlns:a16="http://schemas.microsoft.com/office/drawing/2014/main" id="{DA9BD01A-0D38-48EA-98E5-BB66386F39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82524" t="71774" r="2564"/>
          <a:stretch/>
        </p:blipFill>
        <p:spPr>
          <a:xfrm>
            <a:off x="11036686" y="1071807"/>
            <a:ext cx="1155314" cy="1230086"/>
          </a:xfrm>
          <a:prstGeom prst="rect">
            <a:avLst/>
          </a:prstGeom>
        </p:spPr>
      </p:pic>
      <p:sp>
        <p:nvSpPr>
          <p:cNvPr id="8" name="Title 7">
            <a:extLst>
              <a:ext uri="{FF2B5EF4-FFF2-40B4-BE49-F238E27FC236}">
                <a16:creationId xmlns:a16="http://schemas.microsoft.com/office/drawing/2014/main" id="{EB6CACE5-F2D0-6DF9-3FB5-648642AA752D}"/>
              </a:ext>
            </a:extLst>
          </p:cNvPr>
          <p:cNvSpPr>
            <a:spLocks noGrp="1"/>
          </p:cNvSpPr>
          <p:nvPr>
            <p:ph type="title"/>
          </p:nvPr>
        </p:nvSpPr>
        <p:spPr>
          <a:xfrm>
            <a:off x="913775" y="439924"/>
            <a:ext cx="10364451" cy="1437937"/>
          </a:xfrm>
        </p:spPr>
        <p:txBody>
          <a:bodyPr vert="horz" lIns="91440" tIns="45720" rIns="91440" bIns="45720" rtlCol="0" anchor="ctr">
            <a:normAutofit/>
          </a:bodyPr>
          <a:lstStyle/>
          <a:p>
            <a:r>
              <a:rPr lang="en-US" sz="3600">
                <a:solidFill>
                  <a:schemeClr val="bg1"/>
                </a:solidFill>
              </a:rPr>
              <a:t>Manage migration to specific versions (and rollbacks)</a:t>
            </a:r>
          </a:p>
        </p:txBody>
      </p:sp>
      <p:sp>
        <p:nvSpPr>
          <p:cNvPr id="11" name="Content Placeholder 2">
            <a:extLst>
              <a:ext uri="{FF2B5EF4-FFF2-40B4-BE49-F238E27FC236}">
                <a16:creationId xmlns:a16="http://schemas.microsoft.com/office/drawing/2014/main" id="{DC177B7F-AC83-21BC-1C1A-E86ED583B5D0}"/>
              </a:ext>
            </a:extLst>
          </p:cNvPr>
          <p:cNvSpPr>
            <a:spLocks noGrp="1"/>
          </p:cNvSpPr>
          <p:nvPr>
            <p:ph type="body" sz="half" idx="2"/>
          </p:nvPr>
        </p:nvSpPr>
        <p:spPr>
          <a:xfrm>
            <a:off x="913774" y="2705877"/>
            <a:ext cx="10363826" cy="3856847"/>
          </a:xfrm>
        </p:spPr>
        <p:txBody>
          <a:bodyPr vert="horz" lIns="91440" tIns="45720" rIns="91440" bIns="45720" rtlCol="0" anchor="ctr">
            <a:normAutofit/>
          </a:bodyPr>
          <a:lstStyle/>
          <a:p>
            <a:pPr indent="-228600" algn="l">
              <a:buFont typeface="Arial" panose="020B0604020202020204" pitchFamily="34" charset="0"/>
              <a:buChar char="•"/>
            </a:pPr>
            <a:r>
              <a:rPr lang="en-US" sz="2000" dirty="0"/>
              <a:t>You can use the optional -</a:t>
            </a:r>
            <a:r>
              <a:rPr lang="en-US" sz="2000" b="1" dirty="0"/>
              <a:t>migration</a:t>
            </a:r>
            <a:r>
              <a:rPr lang="en-US" sz="2000" dirty="0"/>
              <a:t> switch to go update the database to a specific point in your migration history (and all previous changes):</a:t>
            </a:r>
          </a:p>
          <a:p>
            <a:pPr algn="l"/>
            <a:r>
              <a:rPr lang="en-US" sz="2000" b="1" dirty="0"/>
              <a:t>	</a:t>
            </a:r>
            <a:r>
              <a:rPr lang="en-US" sz="2400" b="1" dirty="0"/>
              <a:t>update-database</a:t>
            </a:r>
            <a:r>
              <a:rPr lang="en-US" sz="2400" dirty="0"/>
              <a:t> -migration &lt;</a:t>
            </a:r>
            <a:r>
              <a:rPr lang="en-US" sz="2400" b="1" dirty="0">
                <a:solidFill>
                  <a:srgbClr val="00B0F0"/>
                </a:solidFill>
              </a:rPr>
              <a:t>MigrationName</a:t>
            </a:r>
            <a:r>
              <a:rPr lang="en-US" sz="2400" b="1" dirty="0"/>
              <a:t>&gt;</a:t>
            </a:r>
          </a:p>
          <a:p>
            <a:pPr marL="342900" indent="-342900" algn="l">
              <a:buFont typeface="Arial" panose="020B0604020202020204" pitchFamily="34" charset="0"/>
              <a:buChar char="•"/>
            </a:pPr>
            <a:r>
              <a:rPr lang="en-US" sz="2000" dirty="0"/>
              <a:t>The above command will run the </a:t>
            </a:r>
            <a:r>
              <a:rPr lang="en-US" sz="2000" b="1" dirty="0"/>
              <a:t>down</a:t>
            </a:r>
            <a:r>
              <a:rPr lang="en-US" sz="2000" dirty="0"/>
              <a:t>() script for any migrations that come </a:t>
            </a:r>
            <a:r>
              <a:rPr lang="en-US" sz="2000" b="1" dirty="0"/>
              <a:t>after</a:t>
            </a:r>
            <a:r>
              <a:rPr lang="en-US" sz="2000" dirty="0"/>
              <a:t> the one indicated by name in the command.</a:t>
            </a:r>
          </a:p>
          <a:p>
            <a:pPr marL="342900" indent="-342900" algn="l">
              <a:buFont typeface="Arial" panose="020B0604020202020204" pitchFamily="34" charset="0"/>
              <a:buChar char="•"/>
            </a:pPr>
            <a:r>
              <a:rPr lang="en-US" sz="2000" dirty="0"/>
              <a:t>If you want to roll back all the way to an empty database you can use the following command:</a:t>
            </a:r>
          </a:p>
          <a:p>
            <a:pPr marL="228600" lvl="1"/>
            <a:r>
              <a:rPr lang="en-US" sz="1800" b="1" dirty="0"/>
              <a:t>	</a:t>
            </a:r>
            <a:r>
              <a:rPr lang="en-US" sz="2400" b="1" dirty="0"/>
              <a:t>Update-Database</a:t>
            </a:r>
            <a:r>
              <a:rPr lang="en-US" sz="2400" dirty="0"/>
              <a:t>  -migration </a:t>
            </a:r>
            <a:r>
              <a:rPr lang="en-US" sz="2400" b="1" dirty="0">
                <a:solidFill>
                  <a:srgbClr val="00B0F0"/>
                </a:solidFill>
              </a:rPr>
              <a:t>0</a:t>
            </a:r>
            <a:endParaRPr lang="en-US" sz="1800" b="1" dirty="0">
              <a:solidFill>
                <a:srgbClr val="00B0F0"/>
              </a:solidFill>
            </a:endParaRPr>
          </a:p>
        </p:txBody>
      </p:sp>
    </p:spTree>
    <p:extLst>
      <p:ext uri="{BB962C8B-B14F-4D97-AF65-F5344CB8AC3E}">
        <p14:creationId xmlns:p14="http://schemas.microsoft.com/office/powerpoint/2010/main" val="298461031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8E52988-C458-4121-9BF8-864CDB291D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C9275B-1E7E-409A-9467-302622C468D2}">
  <ds:schemaRefs>
    <ds:schemaRef ds:uri="http://schemas.microsoft.com/sharepoint/v3/contenttype/forms"/>
  </ds:schemaRefs>
</ds:datastoreItem>
</file>

<file path=customXml/itemProps3.xml><?xml version="1.0" encoding="utf-8"?>
<ds:datastoreItem xmlns:ds="http://schemas.openxmlformats.org/officeDocument/2006/customXml" ds:itemID="{AABA7D41-7EBD-45D7-AFB8-22EF4BFA6BA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{50339C59-12D2-4963-BEFF-D315293FF432}tf33443810_win32</Template>
  <TotalTime>1783</TotalTime>
  <Words>1107</Words>
  <Application>Microsoft Office PowerPoint</Application>
  <PresentationFormat>Widescreen</PresentationFormat>
  <Paragraphs>73</Paragraphs>
  <Slides>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Tw Cen MT</vt:lpstr>
      <vt:lpstr>Droplet</vt:lpstr>
      <vt:lpstr>ENTITY FRAMEWORK CORE</vt:lpstr>
      <vt:lpstr>REVIEW (Dbcontext &amp; dbset)</vt:lpstr>
      <vt:lpstr>A new approach to database generation</vt:lpstr>
      <vt:lpstr>Bending (and Breaking)  the ef core conventions (for the less travelled path)</vt:lpstr>
      <vt:lpstr>Managing changes within the database using ef core migrations</vt:lpstr>
      <vt:lpstr>APPLYING MIGRATIONS (in both directions)</vt:lpstr>
      <vt:lpstr>Let’s change our model</vt:lpstr>
      <vt:lpstr>Manage migration to specific versions (and rollbacks)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ENTITY FRAMEWORK CORE</dc:title>
  <dc:creator>Murray, Judson (NBCC)</dc:creator>
  <cp:lastModifiedBy>Murray, Judson (NBCC)</cp:lastModifiedBy>
  <cp:revision>8</cp:revision>
  <dcterms:created xsi:type="dcterms:W3CDTF">2023-09-14T13:45:16Z</dcterms:created>
  <dcterms:modified xsi:type="dcterms:W3CDTF">2024-09-16T10:59:41Z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