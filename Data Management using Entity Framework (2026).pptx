
<file path=[Content_Types].xml><?xml version="1.0" encoding="utf-8"?>
<Types xmlns="http://schemas.openxmlformats.org/package/2006/content-types">
  <Default Extension="gif" ContentType="image/gif"/>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comments/comment1.xml" ContentType="application/vnd.openxmlformats-officedocument.presentationml.comments+xml"/>
  <Override PartName="/ppt/notesSlides/notesSlide2.xml" ContentType="application/vnd.openxmlformats-officedocument.presentationml.notesSlide+xml"/>
  <Override PartName="/ppt/comments/comment2.xml" ContentType="application/vnd.openxmlformats-officedocument.presentationml.comments+xml"/>
  <Override PartName="/ppt/comments/comment3.xml" ContentType="application/vnd.openxmlformats-officedocument.presentationml.comments+xml"/>
  <Override PartName="/ppt/notesSlides/notesSlide3.xml" ContentType="application/vnd.openxmlformats-officedocument.presentationml.notesSlide+xml"/>
  <Override PartName="/ppt/comments/comment4.xml" ContentType="application/vnd.openxmlformats-officedocument.presentationml.comments+xml"/>
  <Override PartName="/ppt/comments/comment5.xml" ContentType="application/vnd.openxmlformats-officedocument.presentationml.comments+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28"/>
  </p:notesMasterIdLst>
  <p:sldIdLst>
    <p:sldId id="304" r:id="rId5"/>
    <p:sldId id="317" r:id="rId6"/>
    <p:sldId id="318" r:id="rId7"/>
    <p:sldId id="319" r:id="rId8"/>
    <p:sldId id="320" r:id="rId9"/>
    <p:sldId id="262" r:id="rId10"/>
    <p:sldId id="325" r:id="rId11"/>
    <p:sldId id="326" r:id="rId12"/>
    <p:sldId id="327" r:id="rId13"/>
    <p:sldId id="328" r:id="rId14"/>
    <p:sldId id="329" r:id="rId15"/>
    <p:sldId id="323" r:id="rId16"/>
    <p:sldId id="322" r:id="rId17"/>
    <p:sldId id="332" r:id="rId18"/>
    <p:sldId id="330" r:id="rId19"/>
    <p:sldId id="331" r:id="rId20"/>
    <p:sldId id="261" r:id="rId21"/>
    <p:sldId id="333" r:id="rId22"/>
    <p:sldId id="334" r:id="rId23"/>
    <p:sldId id="264" r:id="rId24"/>
    <p:sldId id="265" r:id="rId25"/>
    <p:sldId id="266" r:id="rId26"/>
    <p:sldId id="267" r:id="rId27"/>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4" name="Author" initials="A" lastIdx="0" clrIdx="3"/>
  <p:cmAuthor id="5" name="Judson Murray" initials="JM" lastIdx="9" clrIdx="4">
    <p:extLst>
      <p:ext uri="{19B8F6BF-5375-455C-9EA6-DF929625EA0E}">
        <p15:presenceInfo xmlns:p15="http://schemas.microsoft.com/office/powerpoint/2012/main" userId="S::Judson.Murray@nbcc.ca::633a1c6a-fe48-4eb8-96e8-36ac4a008766"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7980" autoAdjust="0"/>
    <p:restoredTop sz="93750" autoAdjust="0"/>
  </p:normalViewPr>
  <p:slideViewPr>
    <p:cSldViewPr snapToGrid="0">
      <p:cViewPr varScale="1">
        <p:scale>
          <a:sx n="159" d="100"/>
          <a:sy n="159" d="100"/>
        </p:scale>
        <p:origin x="156" y="138"/>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 Type="http://schemas.openxmlformats.org/officeDocument/2006/relationships/customXml" Target="../customXml/item3.xml"/><Relationship Id="rId21" Type="http://schemas.openxmlformats.org/officeDocument/2006/relationships/slide" Target="slides/slide17.xml"/><Relationship Id="rId34" Type="http://schemas.microsoft.com/office/2018/10/relationships/authors" Target="authors.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tableStyles" Target="tableStyle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commentAuthors" Target="commentAuthor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theme" Target="theme/theme1.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notesMaster" Target="notesMasters/notesMaster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presProps" Target="presProps.xml"/><Relationship Id="rId8" Type="http://schemas.openxmlformats.org/officeDocument/2006/relationships/slide" Target="slides/slide4.xml"/></Relationships>
</file>

<file path=ppt/comments/comment1.xml><?xml version="1.0" encoding="utf-8"?>
<p:cmLst xmlns:a="http://schemas.openxmlformats.org/drawingml/2006/main" xmlns:r="http://schemas.openxmlformats.org/officeDocument/2006/relationships" xmlns:p="http://schemas.openxmlformats.org/presentationml/2006/main">
  <p:cm authorId="5" dt="2021-11-18T15:07:13.607" idx="1">
    <p:pos x="7444" y="41"/>
    <p:text>Updated Version # for Packages</p:text>
    <p:extLst>
      <p:ext uri="{C676402C-5697-4E1C-873F-D02D1690AC5C}">
        <p15:threadingInfo xmlns:p15="http://schemas.microsoft.com/office/powerpoint/2012/main" timeZoneBias="240"/>
      </p:ext>
    </p:extLst>
  </p:cm>
  <p:cm authorId="5" dt="2022-11-25T04:58:57.375" idx="2">
    <p:pos x="7450" y="31"/>
    <p:text>Updated Version # for .NET 6 packages</p:text>
    <p:extLst>
      <p:ext uri="{C676402C-5697-4E1C-873F-D02D1690AC5C}">
        <p15:threadingInfo xmlns:p15="http://schemas.microsoft.com/office/powerpoint/2012/main" timeZoneBias="240"/>
      </p:ext>
    </p:extLst>
  </p:cm>
</p:cmLst>
</file>

<file path=ppt/comments/comment2.xml><?xml version="1.0" encoding="utf-8"?>
<p:cmLst xmlns:a="http://schemas.openxmlformats.org/drawingml/2006/main" xmlns:r="http://schemas.openxmlformats.org/officeDocument/2006/relationships" xmlns:p="http://schemas.openxmlformats.org/presentationml/2006/main">
  <p:cm authorId="5" dt="2020-11-09T16:00:50.144" idx="3">
    <p:pos x="7453" y="55"/>
    <p:text>FIX SQLEXPRESS line (from old Laptop</p:text>
    <p:extLst>
      <p:ext uri="{C676402C-5697-4E1C-873F-D02D1690AC5C}">
        <p15:threadingInfo xmlns:p15="http://schemas.microsoft.com/office/powerpoint/2012/main" timeZoneBias="240"/>
      </p:ext>
    </p:extLst>
  </p:cm>
</p:cmLst>
</file>

<file path=ppt/comments/comment3.xml><?xml version="1.0" encoding="utf-8"?>
<p:cmLst xmlns:a="http://schemas.openxmlformats.org/drawingml/2006/main" xmlns:r="http://schemas.openxmlformats.org/officeDocument/2006/relationships" xmlns:p="http://schemas.openxmlformats.org/presentationml/2006/main">
  <p:cm authorId="5" dt="2022-11-25T10:28:48.213" idx="4">
    <p:pos x="7436" y="55"/>
    <p:text>Created updated slide for .NET 6 implementation</p:text>
    <p:extLst>
      <p:ext uri="{C676402C-5697-4E1C-873F-D02D1690AC5C}">
        <p15:threadingInfo xmlns:p15="http://schemas.microsoft.com/office/powerpoint/2012/main" timeZoneBias="240"/>
      </p:ext>
    </p:extLst>
  </p:cm>
</p:cmLst>
</file>

<file path=ppt/comments/comment4.xml><?xml version="1.0" encoding="utf-8"?>
<p:cmLst xmlns:a="http://schemas.openxmlformats.org/drawingml/2006/main" xmlns:r="http://schemas.openxmlformats.org/officeDocument/2006/relationships" xmlns:p="http://schemas.openxmlformats.org/presentationml/2006/main">
  <p:cm authorId="5" dt="2023-09-13T17:38:38.137" idx="7">
    <p:pos x="10" y="10"/>
    <p:text>Sr A</p:text>
    <p:extLst>
      <p:ext uri="{C676402C-5697-4E1C-873F-D02D1690AC5C}">
        <p15:threadingInfo xmlns:p15="http://schemas.microsoft.com/office/powerpoint/2012/main" timeZoneBias="180"/>
      </p:ext>
    </p:extLst>
  </p:cm>
  <p:cm authorId="5" dt="2023-09-13T17:38:48.534" idx="8">
    <p:pos x="106" y="106"/>
    <p:text>Sr B</p:text>
    <p:extLst>
      <p:ext uri="{C676402C-5697-4E1C-873F-D02D1690AC5C}">
        <p15:threadingInfo xmlns:p15="http://schemas.microsoft.com/office/powerpoint/2012/main" timeZoneBias="180"/>
      </p:ext>
    </p:extLst>
  </p:cm>
  <p:cm authorId="5" dt="2025-09-16T10:24:05.695" idx="9">
    <p:pos x="202" y="202"/>
    <p:text>Sr A/B/C (End of Session 1)</p:text>
    <p:extLst>
      <p:ext uri="{C676402C-5697-4E1C-873F-D02D1690AC5C}">
        <p15:threadingInfo xmlns:p15="http://schemas.microsoft.com/office/powerpoint/2012/main" timeZoneBias="180"/>
      </p:ext>
    </p:extLst>
  </p:cm>
</p:cmLst>
</file>

<file path=ppt/comments/comment5.xml><?xml version="1.0" encoding="utf-8"?>
<p:cmLst xmlns:a="http://schemas.openxmlformats.org/drawingml/2006/main" xmlns:r="http://schemas.openxmlformats.org/officeDocument/2006/relationships" xmlns:p="http://schemas.openxmlformats.org/presentationml/2006/main">
  <p:cm authorId="5" dt="2021-11-18T15:07:58.888" idx="6">
    <p:pos x="7432" y="64"/>
    <p:text>Updated Screenshots for new Wizard</p:text>
    <p:extLst>
      <p:ext uri="{C676402C-5697-4E1C-873F-D02D1690AC5C}">
        <p15:threadingInfo xmlns:p15="http://schemas.microsoft.com/office/powerpoint/2012/main" timeZoneBias="240"/>
      </p:ext>
    </p:extLst>
  </p:cm>
</p:cmLst>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7D16CA8-7DCC-4F2C-A1EF-C632B9D3E96D}" type="datetimeFigureOut">
              <a:rPr lang="en-US" smtClean="0"/>
              <a:t>9/20/2026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B990660-4B7D-4C11-96DB-B19FFA8CA93C}" type="slidenum">
              <a:rPr lang="en-US" smtClean="0"/>
              <a:t>‹#›</a:t>
            </a:fld>
            <a:endParaRPr lang="en-US" dirty="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If they have never used the Package Manager Console to install packages before, they can try it now:</a:t>
            </a:r>
          </a:p>
          <a:p>
            <a:pPr marL="171450" indent="-171450">
              <a:buFontTx/>
              <a:buChar char="-"/>
            </a:pPr>
            <a:r>
              <a:rPr lang="en-US" sz="1200" kern="1200" dirty="0">
                <a:solidFill>
                  <a:schemeClr val="tx1"/>
                </a:solidFill>
                <a:latin typeface="+mn-lt"/>
                <a:ea typeface="+mn-ea"/>
                <a:cs typeface="+mn-cs"/>
              </a:rPr>
              <a:t>install-package </a:t>
            </a:r>
            <a:r>
              <a:rPr lang="en-US" sz="1200" kern="1200" dirty="0" err="1">
                <a:solidFill>
                  <a:schemeClr val="tx1"/>
                </a:solidFill>
                <a:latin typeface="+mn-lt"/>
                <a:ea typeface="+mn-ea"/>
                <a:cs typeface="+mn-cs"/>
              </a:rPr>
              <a:t>microsoft.entityframeworkcore</a:t>
            </a:r>
            <a:r>
              <a:rPr lang="en-US" sz="1200" kern="1200" dirty="0">
                <a:solidFill>
                  <a:schemeClr val="tx1"/>
                </a:solidFill>
                <a:latin typeface="+mn-lt"/>
                <a:ea typeface="+mn-ea"/>
                <a:cs typeface="+mn-cs"/>
              </a:rPr>
              <a:t> -version 3.1.10</a:t>
            </a:r>
          </a:p>
          <a:p>
            <a:pPr marL="171450" indent="-171450">
              <a:buFontTx/>
              <a:buChar char="-"/>
            </a:pPr>
            <a:r>
              <a:rPr lang="en-US" sz="1200" kern="1200" dirty="0">
                <a:solidFill>
                  <a:schemeClr val="tx1"/>
                </a:solidFill>
                <a:latin typeface="+mn-lt"/>
                <a:ea typeface="+mn-ea"/>
                <a:cs typeface="+mn-cs"/>
              </a:rPr>
              <a:t>install-package </a:t>
            </a:r>
            <a:r>
              <a:rPr lang="en-US" sz="1200" kern="1200" dirty="0" err="1">
                <a:solidFill>
                  <a:schemeClr val="tx1"/>
                </a:solidFill>
                <a:latin typeface="+mn-lt"/>
                <a:ea typeface="+mn-ea"/>
                <a:cs typeface="+mn-cs"/>
              </a:rPr>
              <a:t>microsoft.entityframeworkcore.sqlserver</a:t>
            </a:r>
            <a:r>
              <a:rPr lang="en-US" sz="1200" kern="1200" dirty="0">
                <a:solidFill>
                  <a:schemeClr val="tx1"/>
                </a:solidFill>
                <a:latin typeface="+mn-lt"/>
                <a:ea typeface="+mn-ea"/>
                <a:cs typeface="+mn-cs"/>
              </a:rPr>
              <a:t> -version 3.1.10</a:t>
            </a:r>
          </a:p>
          <a:p>
            <a:pPr marL="171450" indent="-171450">
              <a:buFontTx/>
              <a:buChar char="-"/>
            </a:pPr>
            <a:r>
              <a:rPr lang="en-US" sz="1200" kern="1200" dirty="0">
                <a:solidFill>
                  <a:schemeClr val="tx1"/>
                </a:solidFill>
                <a:latin typeface="+mn-lt"/>
                <a:ea typeface="+mn-ea"/>
                <a:cs typeface="+mn-cs"/>
              </a:rPr>
              <a:t>install-package </a:t>
            </a:r>
            <a:r>
              <a:rPr lang="en-US" sz="1200" kern="1200" dirty="0" err="1">
                <a:solidFill>
                  <a:schemeClr val="tx1"/>
                </a:solidFill>
                <a:latin typeface="+mn-lt"/>
                <a:ea typeface="+mn-ea"/>
                <a:cs typeface="+mn-cs"/>
              </a:rPr>
              <a:t>microsoft.entityframeworkcore.tools</a:t>
            </a:r>
            <a:r>
              <a:rPr lang="en-US" sz="1200" kern="1200" dirty="0">
                <a:solidFill>
                  <a:schemeClr val="tx1"/>
                </a:solidFill>
                <a:latin typeface="+mn-lt"/>
                <a:ea typeface="+mn-ea"/>
                <a:cs typeface="+mn-cs"/>
              </a:rPr>
              <a:t> -version 3.1.10</a:t>
            </a:r>
          </a:p>
          <a:p>
            <a:pPr marL="171450" indent="-171450">
              <a:buFontTx/>
              <a:buChar char="-"/>
            </a:pPr>
            <a:endParaRPr lang="en-US" sz="1200" kern="1200" dirty="0">
              <a:solidFill>
                <a:schemeClr val="tx1"/>
              </a:solidFill>
              <a:latin typeface="+mn-lt"/>
              <a:ea typeface="+mn-ea"/>
              <a:cs typeface="+mn-cs"/>
            </a:endParaRPr>
          </a:p>
          <a:p>
            <a:pPr marL="171450" indent="-171450">
              <a:buFontTx/>
              <a:buChar char="-"/>
            </a:pPr>
            <a:endParaRPr lang="en-US" dirty="0"/>
          </a:p>
        </p:txBody>
      </p:sp>
      <p:sp>
        <p:nvSpPr>
          <p:cNvPr id="4" name="Slide Number Placeholder 3"/>
          <p:cNvSpPr>
            <a:spLocks noGrp="1"/>
          </p:cNvSpPr>
          <p:nvPr>
            <p:ph type="sldNum" sz="quarter" idx="10"/>
          </p:nvPr>
        </p:nvSpPr>
        <p:spPr/>
        <p:txBody>
          <a:bodyPr/>
          <a:lstStyle/>
          <a:p>
            <a:fld id="{BFCA172D-8A64-4661-80C7-9AA500D4D07A}" type="slidenum">
              <a:rPr lang="en-US" smtClean="0"/>
              <a:t>17</a:t>
            </a:fld>
            <a:endParaRPr lang="en-US"/>
          </a:p>
        </p:txBody>
      </p:sp>
    </p:spTree>
    <p:extLst>
      <p:ext uri="{BB962C8B-B14F-4D97-AF65-F5344CB8AC3E}">
        <p14:creationId xmlns:p14="http://schemas.microsoft.com/office/powerpoint/2010/main" val="307038921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highlight>
                  <a:srgbClr val="FFFF00"/>
                </a:highlight>
                <a:latin typeface="+mn-lt"/>
                <a:ea typeface="+mn-ea"/>
                <a:cs typeface="+mn-cs"/>
              </a:rPr>
              <a:t> "</a:t>
            </a:r>
            <a:r>
              <a:rPr lang="en-US" sz="1200" kern="1200" dirty="0" err="1">
                <a:solidFill>
                  <a:schemeClr val="tx1"/>
                </a:solidFill>
                <a:highlight>
                  <a:srgbClr val="FFFF00"/>
                </a:highlight>
                <a:latin typeface="+mn-lt"/>
                <a:ea typeface="+mn-ea"/>
                <a:cs typeface="+mn-cs"/>
              </a:rPr>
              <a:t>ConnectionStrings</a:t>
            </a:r>
            <a:r>
              <a:rPr lang="en-US" sz="1200" kern="1200" dirty="0">
                <a:solidFill>
                  <a:schemeClr val="tx1"/>
                </a:solidFill>
                <a:highlight>
                  <a:srgbClr val="FFFF00"/>
                </a:highlight>
                <a:latin typeface="+mn-lt"/>
                <a:ea typeface="+mn-ea"/>
                <a:cs typeface="+mn-cs"/>
              </a:rPr>
              <a:t>": {</a:t>
            </a:r>
          </a:p>
          <a:p>
            <a:r>
              <a:rPr lang="en-US" sz="1200" kern="1200" dirty="0">
                <a:solidFill>
                  <a:schemeClr val="tx1"/>
                </a:solidFill>
                <a:highlight>
                  <a:srgbClr val="FFFF00"/>
                </a:highlight>
                <a:latin typeface="+mn-lt"/>
                <a:ea typeface="+mn-ea"/>
                <a:cs typeface="+mn-cs"/>
              </a:rPr>
              <a:t>      "</a:t>
            </a:r>
            <a:r>
              <a:rPr lang="en-US" sz="1200" kern="1200" dirty="0" err="1">
                <a:solidFill>
                  <a:schemeClr val="tx1"/>
                </a:solidFill>
                <a:highlight>
                  <a:srgbClr val="FFFF00"/>
                </a:highlight>
                <a:latin typeface="+mn-lt"/>
                <a:ea typeface="+mn-ea"/>
                <a:cs typeface="+mn-cs"/>
              </a:rPr>
              <a:t>DefaultConnection</a:t>
            </a:r>
            <a:r>
              <a:rPr lang="en-US" sz="1200" kern="1200" dirty="0">
                <a:solidFill>
                  <a:schemeClr val="tx1"/>
                </a:solidFill>
                <a:highlight>
                  <a:srgbClr val="FFFF00"/>
                </a:highlight>
                <a:latin typeface="+mn-lt"/>
                <a:ea typeface="+mn-ea"/>
                <a:cs typeface="+mn-cs"/>
              </a:rPr>
              <a:t>" :  "Server=(local);Database=School2DB;Trusted_Connection=</a:t>
            </a:r>
            <a:r>
              <a:rPr lang="en-US" sz="1200" kern="1200" dirty="0" err="1">
                <a:solidFill>
                  <a:schemeClr val="tx1"/>
                </a:solidFill>
                <a:highlight>
                  <a:srgbClr val="FFFF00"/>
                </a:highlight>
                <a:latin typeface="+mn-lt"/>
                <a:ea typeface="+mn-ea"/>
                <a:cs typeface="+mn-cs"/>
              </a:rPr>
              <a:t>True;MultipleActiveResultSets</a:t>
            </a:r>
            <a:r>
              <a:rPr lang="en-US" sz="1200" kern="1200" dirty="0">
                <a:solidFill>
                  <a:schemeClr val="tx1"/>
                </a:solidFill>
                <a:highlight>
                  <a:srgbClr val="FFFF00"/>
                </a:highlight>
                <a:latin typeface="+mn-lt"/>
                <a:ea typeface="+mn-ea"/>
                <a:cs typeface="+mn-cs"/>
              </a:rPr>
              <a:t>=true"</a:t>
            </a:r>
          </a:p>
          <a:p>
            <a:r>
              <a:rPr lang="en-US" sz="1200" kern="1200" dirty="0">
                <a:solidFill>
                  <a:schemeClr val="tx1"/>
                </a:solidFill>
                <a:highlight>
                  <a:srgbClr val="FFFF00"/>
                </a:highlight>
                <a:latin typeface="+mn-lt"/>
                <a:ea typeface="+mn-ea"/>
                <a:cs typeface="+mn-cs"/>
              </a:rPr>
              <a:t>  }</a:t>
            </a:r>
            <a:endParaRPr lang="en-US" dirty="0">
              <a:highlight>
                <a:srgbClr val="FFFF00"/>
              </a:highlight>
            </a:endParaRPr>
          </a:p>
        </p:txBody>
      </p:sp>
      <p:sp>
        <p:nvSpPr>
          <p:cNvPr id="4" name="Slide Number Placeholder 3"/>
          <p:cNvSpPr>
            <a:spLocks noGrp="1"/>
          </p:cNvSpPr>
          <p:nvPr>
            <p:ph type="sldNum" sz="quarter" idx="5"/>
          </p:nvPr>
        </p:nvSpPr>
        <p:spPr/>
        <p:txBody>
          <a:bodyPr/>
          <a:lstStyle/>
          <a:p>
            <a:fld id="{BFCA172D-8A64-4661-80C7-9AA500D4D07A}" type="slidenum">
              <a:rPr lang="en-US" smtClean="0"/>
              <a:t>20</a:t>
            </a:fld>
            <a:endParaRPr lang="en-US"/>
          </a:p>
        </p:txBody>
      </p:sp>
    </p:spTree>
    <p:extLst>
      <p:ext uri="{BB962C8B-B14F-4D97-AF65-F5344CB8AC3E}">
        <p14:creationId xmlns:p14="http://schemas.microsoft.com/office/powerpoint/2010/main" val="360629140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now have the addition of Remove-Migration to </a:t>
            </a:r>
          </a:p>
        </p:txBody>
      </p:sp>
      <p:sp>
        <p:nvSpPr>
          <p:cNvPr id="4" name="Slide Number Placeholder 3"/>
          <p:cNvSpPr>
            <a:spLocks noGrp="1"/>
          </p:cNvSpPr>
          <p:nvPr>
            <p:ph type="sldNum" sz="quarter" idx="10"/>
          </p:nvPr>
        </p:nvSpPr>
        <p:spPr/>
        <p:txBody>
          <a:bodyPr/>
          <a:lstStyle/>
          <a:p>
            <a:fld id="{BFCA172D-8A64-4661-80C7-9AA500D4D07A}" type="slidenum">
              <a:rPr lang="en-US" smtClean="0"/>
              <a:t>22</a:t>
            </a:fld>
            <a:endParaRPr lang="en-US"/>
          </a:p>
        </p:txBody>
      </p:sp>
    </p:spTree>
    <p:extLst>
      <p:ext uri="{BB962C8B-B14F-4D97-AF65-F5344CB8AC3E}">
        <p14:creationId xmlns:p14="http://schemas.microsoft.com/office/powerpoint/2010/main" val="427368982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6.53</a:t>
            </a:r>
          </a:p>
          <a:p>
            <a:pPr algn="ctr"/>
            <a:endParaRPr lang="en-US" dirty="0"/>
          </a:p>
        </p:txBody>
      </p:sp>
      <p:sp>
        <p:nvSpPr>
          <p:cNvPr id="2" name="Titl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anchor="b">
            <a:normAutofit/>
          </a:bodyPr>
          <a:lstStyle>
            <a:lvl1pPr algn="l">
              <a:defRPr sz="3800" b="1" baseline="0"/>
            </a:lvl1pPr>
          </a:lstStyle>
          <a:p>
            <a:r>
              <a:rPr lang="en-US" dirty="0"/>
              <a:t>CLICK TO EDIT TITLE</a:t>
            </a:r>
          </a:p>
        </p:txBody>
      </p:sp>
      <p:sp>
        <p:nvSpPr>
          <p:cNvPr id="3" name="Subtitle 2">
            <a:extLst>
              <a:ext uri="{FF2B5EF4-FFF2-40B4-BE49-F238E27FC236}">
                <a16:creationId xmlns:a16="http://schemas.microsoft.com/office/drawing/2014/main" id="{43D32955-BB06-40DE-A14A-2170FD41AD52}"/>
              </a:ext>
            </a:extLst>
          </p:cNvPr>
          <p:cNvSpPr>
            <a:spLocks noGrp="1"/>
          </p:cNvSpPr>
          <p:nvPr>
            <p:ph type="subTitle" idx="1"/>
          </p:nvPr>
        </p:nvSpPr>
        <p:spPr>
          <a:xfrm>
            <a:off x="6437376" y="3483864"/>
            <a:ext cx="4379976" cy="613370"/>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grpSp>
        <p:nvGrpSpPr>
          <p:cNvPr id="10" name="Picture Placeholder 16" descr="abstract colo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endParaRPr lang="en-US" dirty="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a:lstStyle>
            <a:lvl1pPr algn="r">
              <a:defRPr/>
            </a:lvl1p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971" name="Picture Placeholder 986" descr="abstract colo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endParaRPr lang="en-US" dirty="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endParaRPr lang="en-US" dirty="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endParaRPr lang="en-US" dirty="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endParaRPr lang="en-US" dirty="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endParaRPr lang="en-US" dirty="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endParaRPr lang="en-US" dirty="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endParaRPr lang="en-US" dirty="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endParaRPr lang="en-US" dirty="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endParaRPr lang="en-US" dirty="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endParaRPr lang="en-US" dirty="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endParaRPr lang="en-US" dirty="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endParaRPr lang="en-US" dirty="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endParaRPr lang="en-US" dirty="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endParaRPr lang="en-US" dirty="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endParaRPr lang="en-US" dirty="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endParaRPr lang="en-US" dirty="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endParaRPr lang="en-US" dirty="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endParaRPr lang="en-US" dirty="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endParaRPr lang="en-US" dirty="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endParaRPr lang="en-US" dirty="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endParaRPr lang="en-US" dirty="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endParaRPr lang="en-US" dirty="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endParaRPr lang="en-US" dirty="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endParaRPr lang="en-US" dirty="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endParaRPr lang="en-US" dirty="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endParaRPr lang="en-US" dirty="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endParaRPr lang="en-US" dirty="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endParaRPr lang="en-US" dirty="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endParaRPr lang="en-US" dirty="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endParaRPr lang="en-US" dirty="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endParaRPr lang="en-US" dirty="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endParaRPr lang="en-US" dirty="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endParaRPr lang="en-US" dirty="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endParaRPr lang="en-US" dirty="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endParaRPr lang="en-US" dirty="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endParaRPr lang="en-US" dirty="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endParaRPr lang="en-US" dirty="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endParaRPr lang="en-US" dirty="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endParaRPr lang="en-US" dirty="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endParaRPr lang="en-US" dirty="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endParaRPr lang="en-US" dirty="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endParaRPr lang="en-US" dirty="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endParaRPr lang="en-US" dirty="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a:lstStyle>
            <a:lvl1pPr algn="l">
              <a:defRPr/>
            </a:lvl1pPr>
          </a:lstStyle>
          <a:p>
            <a:r>
              <a:rPr lang="en-US" dirty="0"/>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lvl1pPr>
              <a:defRPr b="0">
                <a:solidFill>
                  <a:schemeClr val="bg1"/>
                </a:solidFill>
              </a:defRPr>
            </a:lvl1pPr>
          </a:lstStyle>
          <a:p>
            <a:r>
              <a:rPr lang="en-US" dirty="0"/>
              <a:t>Pitch deck title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anchor="b">
            <a:normAutofit/>
          </a:bodyPr>
          <a:lstStyle>
            <a:lvl1pPr>
              <a:defRPr sz="4000"/>
            </a:lvl1pPr>
          </a:lstStyle>
          <a:p>
            <a:r>
              <a:rPr lang="en-US" dirty="0"/>
              <a:t>CLICK TO EDIT TITLE</a:t>
            </a:r>
          </a:p>
        </p:txBody>
      </p:sp>
      <p:grpSp>
        <p:nvGrpSpPr>
          <p:cNvPr id="7" name="Picture Placeholder 795" descr="abstract colo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2</a:t>
            </a:r>
            <a:endParaRPr lang="en-ZA" dirty="0"/>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3</a:t>
            </a:r>
            <a:endParaRPr lang="en-ZA" dirty="0"/>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4</a:t>
            </a:r>
            <a:endParaRPr lang="en-ZA" dirty="0"/>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a:lstStyle>
            <a:lvl1pPr algn="ctr">
              <a:defRPr baseline="0">
                <a:solidFill>
                  <a:schemeClr val="tx1"/>
                </a:solidFill>
              </a:defRPr>
            </a:lvl1pPr>
          </a:lstStyle>
          <a:p>
            <a:r>
              <a:rPr lang="en-US" dirty="0"/>
              <a:t>CLICK TO EDIT TITLE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a:lstStyle>
            <a:lvl1pP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a:lstStyle>
            <a:lvl1pPr algn="ctr">
              <a:defRPr baseline="0"/>
            </a:lvl1pPr>
          </a:lstStyle>
          <a:p>
            <a:r>
              <a:rPr lang="en-US" dirty="0"/>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grpSp>
        <p:nvGrpSpPr>
          <p:cNvPr id="956" name="Picture Placeholder 1925" descr="abstract colo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endParaRPr lang="en-US" dirty="0"/>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a:lstStyle>
            <a:lvl1pPr>
              <a:defRPr>
                <a:solidFill>
                  <a:schemeClr val="bg1"/>
                </a:solidFill>
              </a:defRPr>
            </a:lvl1pPr>
          </a:lstStyle>
          <a:p>
            <a:r>
              <a:rPr lang="en-US" dirty="0"/>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a:lstStyle>
            <a:lvl1pPr algn="ct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normAutofit/>
          </a:bodyPr>
          <a:lstStyle>
            <a:lvl1pPr>
              <a:defRPr sz="3800" cap="all"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a:r>
              <a:rPr lang="en-US" dirty="0"/>
              <a:t>Item Title</a:t>
            </a:r>
            <a:endParaRPr lang="en-ZA" dirty="0"/>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a:noAutofit/>
          </a:bodyPr>
          <a:lstStyle>
            <a:lvl1pPr marL="0" indent="0" algn="ctr">
              <a:buNone/>
              <a:defRPr sz="1100">
                <a:solidFill>
                  <a:schemeClr val="tx1">
                    <a:lumMod val="75000"/>
                    <a:lumOff val="25000"/>
                  </a:schemeClr>
                </a:solidFill>
              </a:defRPr>
            </a:lvl1pPr>
          </a:lstStyle>
          <a:p>
            <a:pPr lvl="0"/>
            <a:r>
              <a:rPr lang="en-US" dirty="0"/>
              <a:t>Month, Year</a:t>
            </a:r>
            <a:endParaRPr lang="en-ZA" dirty="0"/>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Picture Placeholder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Picture Placeholder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Picture Placeholder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5" name="Text Placeholder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6" name="Text Placeholder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9" name="Text Placeholder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0" name="Text Placeholder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3" name="Text Placeholder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4" name="Text Placeholder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7" name="Text Placeholder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8" name="Text Placeholder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Picture Placeholder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Picture Placeholder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Picture Placeholder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Picture Placeholder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anchor="b" anchorCtr="0"/>
          <a:lstStyle/>
          <a:p>
            <a:r>
              <a:rPr lang="en-US" dirty="0"/>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dirty="0"/>
              <a:t>Click to edit text</a:t>
            </a:r>
          </a:p>
        </p:txBody>
      </p:sp>
      <p:grpSp>
        <p:nvGrpSpPr>
          <p:cNvPr id="10" name="Picture Placeholder 44" descr="abstract colo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endParaRPr lang="en-US" dirty="0"/>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298881390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cSld name="Section Header">
    <p:bg>
      <p:bgPr>
        <a:gradFill>
          <a:gsLst>
            <a:gs pos="100000">
              <a:schemeClr val="accent4"/>
            </a:gs>
            <a:gs pos="0">
              <a:schemeClr val="accent2"/>
            </a:gs>
          </a:gsLst>
          <a:lin ang="2700000" scaled="1"/>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640AAD-80AF-40E7-BE3F-43D32FC68ED4}"/>
              </a:ext>
            </a:extLst>
          </p:cNvPr>
          <p:cNvSpPr>
            <a:spLocks noGrp="1"/>
          </p:cNvSpPr>
          <p:nvPr>
            <p:ph type="ctrTitle"/>
          </p:nvPr>
        </p:nvSpPr>
        <p:spPr>
          <a:xfrm>
            <a:off x="1524000" y="1463040"/>
            <a:ext cx="9144000" cy="2340864"/>
          </a:xfrm>
        </p:spPr>
        <p:txBody>
          <a:bodyPr anchor="b">
            <a:normAutofit/>
          </a:bodyPr>
          <a:lstStyle>
            <a:lvl1pPr algn="ctr">
              <a:defRPr sz="6000" b="1" i="0" cap="all" baseline="0">
                <a:solidFill>
                  <a:schemeClr val="bg1"/>
                </a:solidFill>
              </a:defRPr>
            </a:lvl1pPr>
          </a:lstStyle>
          <a:p>
            <a:r>
              <a:rPr lang="en-US"/>
              <a:t>Click to edit Master title style</a:t>
            </a:r>
            <a:endParaRPr lang="en-US" dirty="0"/>
          </a:p>
        </p:txBody>
      </p:sp>
      <p:sp>
        <p:nvSpPr>
          <p:cNvPr id="3" name="Subtitle 2">
            <a:extLst>
              <a:ext uri="{FF2B5EF4-FFF2-40B4-BE49-F238E27FC236}">
                <a16:creationId xmlns:a16="http://schemas.microsoft.com/office/drawing/2014/main" id="{EC80FBD9-0977-4B2B-9318-30774BB0947C}"/>
              </a:ext>
            </a:extLst>
          </p:cNvPr>
          <p:cNvSpPr>
            <a:spLocks noGrp="1"/>
          </p:cNvSpPr>
          <p:nvPr>
            <p:ph type="subTitle" idx="1"/>
          </p:nvPr>
        </p:nvSpPr>
        <p:spPr>
          <a:xfrm>
            <a:off x="1527048" y="3858768"/>
            <a:ext cx="9144000" cy="1325880"/>
          </a:xfrm>
        </p:spPr>
        <p:txBody>
          <a:bodyPr>
            <a:normAutofit/>
          </a:bodyPr>
          <a:lstStyle>
            <a:lvl1pPr marL="0" indent="0" algn="ctr">
              <a:buNone/>
              <a:defRPr sz="20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Graphic 12">
            <a:extLst>
              <a:ext uri="{FF2B5EF4-FFF2-40B4-BE49-F238E27FC236}">
                <a16:creationId xmlns:a16="http://schemas.microsoft.com/office/drawing/2014/main" id="{8A41917E-4B97-447C-98AB-970D625F1DE6}"/>
              </a:ext>
            </a:extLst>
          </p:cNvPr>
          <p:cNvSpPr/>
          <p:nvPr userDrawn="1"/>
        </p:nvSpPr>
        <p:spPr>
          <a:xfrm>
            <a:off x="10772266" y="3054359"/>
            <a:ext cx="91138" cy="91138"/>
          </a:xfrm>
          <a:custGeom>
            <a:avLst/>
            <a:gdLst>
              <a:gd name="connsiteX0" fmla="*/ 91138 w 91138"/>
              <a:gd name="connsiteY0" fmla="*/ 45569 h 91138"/>
              <a:gd name="connsiteX1" fmla="*/ 45569 w 91138"/>
              <a:gd name="connsiteY1" fmla="*/ 91138 h 91138"/>
              <a:gd name="connsiteX2" fmla="*/ 0 w 91138"/>
              <a:gd name="connsiteY2" fmla="*/ 45569 h 91138"/>
              <a:gd name="connsiteX3" fmla="*/ 45569 w 91138"/>
              <a:gd name="connsiteY3" fmla="*/ 0 h 91138"/>
              <a:gd name="connsiteX4" fmla="*/ 91138 w 91138"/>
              <a:gd name="connsiteY4" fmla="*/ 45569 h 91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38" h="91138">
                <a:moveTo>
                  <a:pt x="91138" y="45569"/>
                </a:moveTo>
                <a:cubicBezTo>
                  <a:pt x="91138" y="70736"/>
                  <a:pt x="70736" y="91138"/>
                  <a:pt x="45569" y="91138"/>
                </a:cubicBezTo>
                <a:cubicBezTo>
                  <a:pt x="20402" y="91138"/>
                  <a:pt x="0" y="70736"/>
                  <a:pt x="0" y="45569"/>
                </a:cubicBezTo>
                <a:cubicBezTo>
                  <a:pt x="0" y="20402"/>
                  <a:pt x="20402" y="0"/>
                  <a:pt x="45569" y="0"/>
                </a:cubicBezTo>
                <a:cubicBezTo>
                  <a:pt x="70736" y="0"/>
                  <a:pt x="91138" y="20402"/>
                  <a:pt x="91138" y="45569"/>
                </a:cubicBezTo>
                <a:close/>
              </a:path>
            </a:pathLst>
          </a:custGeom>
          <a:solidFill>
            <a:schemeClr val="bg1"/>
          </a:solidFill>
          <a:ln w="422" cap="flat">
            <a:noFill/>
            <a:prstDash val="solid"/>
            <a:miter/>
          </a:ln>
        </p:spPr>
        <p:txBody>
          <a:bodyPr rtlCol="0" anchor="ctr"/>
          <a:lstStyle/>
          <a:p>
            <a:endParaRPr lang="en-US" dirty="0"/>
          </a:p>
        </p:txBody>
      </p:sp>
      <p:sp>
        <p:nvSpPr>
          <p:cNvPr id="5" name="Graphic 13">
            <a:extLst>
              <a:ext uri="{FF2B5EF4-FFF2-40B4-BE49-F238E27FC236}">
                <a16:creationId xmlns:a16="http://schemas.microsoft.com/office/drawing/2014/main" id="{3B3FD238-4561-4AF8-A1F1-185B0CAFE2AC}"/>
              </a:ext>
            </a:extLst>
          </p:cNvPr>
          <p:cNvSpPr/>
          <p:nvPr userDrawn="1"/>
        </p:nvSpPr>
        <p:spPr>
          <a:xfrm>
            <a:off x="10724364" y="2515838"/>
            <a:ext cx="139039" cy="139039"/>
          </a:xfrm>
          <a:custGeom>
            <a:avLst/>
            <a:gdLst>
              <a:gd name="connsiteX0" fmla="*/ 129602 w 139039"/>
              <a:gd name="connsiteY0" fmla="*/ 60082 h 139039"/>
              <a:gd name="connsiteX1" fmla="*/ 78957 w 139039"/>
              <a:gd name="connsiteY1" fmla="*/ 60082 h 139039"/>
              <a:gd name="connsiteX2" fmla="*/ 78957 w 139039"/>
              <a:gd name="connsiteY2" fmla="*/ 9437 h 139039"/>
              <a:gd name="connsiteX3" fmla="*/ 69520 w 139039"/>
              <a:gd name="connsiteY3" fmla="*/ 0 h 139039"/>
              <a:gd name="connsiteX4" fmla="*/ 60082 w 139039"/>
              <a:gd name="connsiteY4" fmla="*/ 9437 h 139039"/>
              <a:gd name="connsiteX5" fmla="*/ 60082 w 139039"/>
              <a:gd name="connsiteY5" fmla="*/ 60082 h 139039"/>
              <a:gd name="connsiteX6" fmla="*/ 9437 w 139039"/>
              <a:gd name="connsiteY6" fmla="*/ 60082 h 139039"/>
              <a:gd name="connsiteX7" fmla="*/ 0 w 139039"/>
              <a:gd name="connsiteY7" fmla="*/ 69520 h 139039"/>
              <a:gd name="connsiteX8" fmla="*/ 9437 w 139039"/>
              <a:gd name="connsiteY8" fmla="*/ 78957 h 139039"/>
              <a:gd name="connsiteX9" fmla="*/ 60082 w 139039"/>
              <a:gd name="connsiteY9" fmla="*/ 78957 h 139039"/>
              <a:gd name="connsiteX10" fmla="*/ 60082 w 139039"/>
              <a:gd name="connsiteY10" fmla="*/ 129602 h 139039"/>
              <a:gd name="connsiteX11" fmla="*/ 69520 w 139039"/>
              <a:gd name="connsiteY11" fmla="*/ 139039 h 139039"/>
              <a:gd name="connsiteX12" fmla="*/ 78957 w 139039"/>
              <a:gd name="connsiteY12" fmla="*/ 129602 h 139039"/>
              <a:gd name="connsiteX13" fmla="*/ 78957 w 139039"/>
              <a:gd name="connsiteY13" fmla="*/ 78957 h 139039"/>
              <a:gd name="connsiteX14" fmla="*/ 129602 w 139039"/>
              <a:gd name="connsiteY14" fmla="*/ 78957 h 139039"/>
              <a:gd name="connsiteX15" fmla="*/ 139039 w 139039"/>
              <a:gd name="connsiteY15" fmla="*/ 69520 h 139039"/>
              <a:gd name="connsiteX16" fmla="*/ 129602 w 139039"/>
              <a:gd name="connsiteY16" fmla="*/ 60082 h 139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9039" h="139039">
                <a:moveTo>
                  <a:pt x="129602" y="60082"/>
                </a:moveTo>
                <a:lnTo>
                  <a:pt x="78957" y="60082"/>
                </a:lnTo>
                <a:lnTo>
                  <a:pt x="78957" y="9437"/>
                </a:lnTo>
                <a:cubicBezTo>
                  <a:pt x="78957" y="4225"/>
                  <a:pt x="74731" y="0"/>
                  <a:pt x="69520" y="0"/>
                </a:cubicBezTo>
                <a:cubicBezTo>
                  <a:pt x="64308" y="0"/>
                  <a:pt x="60082" y="4225"/>
                  <a:pt x="60082" y="9437"/>
                </a:cubicBezTo>
                <a:lnTo>
                  <a:pt x="60082" y="60082"/>
                </a:lnTo>
                <a:lnTo>
                  <a:pt x="9437" y="60082"/>
                </a:lnTo>
                <a:cubicBezTo>
                  <a:pt x="4225" y="60082"/>
                  <a:pt x="0" y="64308"/>
                  <a:pt x="0" y="69520"/>
                </a:cubicBezTo>
                <a:cubicBezTo>
                  <a:pt x="0" y="74731"/>
                  <a:pt x="4225" y="78957"/>
                  <a:pt x="9437" y="78957"/>
                </a:cubicBezTo>
                <a:lnTo>
                  <a:pt x="60082" y="78957"/>
                </a:lnTo>
                <a:lnTo>
                  <a:pt x="60082" y="129602"/>
                </a:lnTo>
                <a:cubicBezTo>
                  <a:pt x="60082" y="134814"/>
                  <a:pt x="64308" y="139039"/>
                  <a:pt x="69520" y="139039"/>
                </a:cubicBezTo>
                <a:cubicBezTo>
                  <a:pt x="74731" y="139039"/>
                  <a:pt x="78957" y="134814"/>
                  <a:pt x="78957" y="129602"/>
                </a:cubicBezTo>
                <a:lnTo>
                  <a:pt x="78957" y="78957"/>
                </a:lnTo>
                <a:lnTo>
                  <a:pt x="129602" y="78957"/>
                </a:lnTo>
                <a:cubicBezTo>
                  <a:pt x="134814" y="78957"/>
                  <a:pt x="139039" y="74731"/>
                  <a:pt x="139039" y="69520"/>
                </a:cubicBezTo>
                <a:cubicBezTo>
                  <a:pt x="139039" y="64308"/>
                  <a:pt x="134814" y="60082"/>
                  <a:pt x="129602" y="60082"/>
                </a:cubicBezTo>
                <a:close/>
              </a:path>
            </a:pathLst>
          </a:custGeom>
          <a:solidFill>
            <a:schemeClr val="bg1"/>
          </a:solidFill>
          <a:ln w="603" cap="flat">
            <a:noFill/>
            <a:prstDash val="solid"/>
            <a:miter/>
          </a:ln>
        </p:spPr>
        <p:txBody>
          <a:bodyPr rtlCol="0" anchor="ctr"/>
          <a:lstStyle/>
          <a:p>
            <a:endParaRPr lang="en-US" dirty="0"/>
          </a:p>
        </p:txBody>
      </p:sp>
      <p:sp>
        <p:nvSpPr>
          <p:cNvPr id="6" name="Graphic 15">
            <a:extLst>
              <a:ext uri="{FF2B5EF4-FFF2-40B4-BE49-F238E27FC236}">
                <a16:creationId xmlns:a16="http://schemas.microsoft.com/office/drawing/2014/main" id="{BAB9414C-AE69-4648-873E-9CE6B2DF8A71}"/>
              </a:ext>
            </a:extLst>
          </p:cNvPr>
          <p:cNvSpPr/>
          <p:nvPr userDrawn="1"/>
        </p:nvSpPr>
        <p:spPr>
          <a:xfrm>
            <a:off x="11024834" y="2787572"/>
            <a:ext cx="127714" cy="127714"/>
          </a:xfrm>
          <a:custGeom>
            <a:avLst/>
            <a:gdLst>
              <a:gd name="connsiteX0" fmla="*/ 63857 w 127714"/>
              <a:gd name="connsiteY0" fmla="*/ 18874 h 127714"/>
              <a:gd name="connsiteX1" fmla="*/ 108840 w 127714"/>
              <a:gd name="connsiteY1" fmla="*/ 63857 h 127714"/>
              <a:gd name="connsiteX2" fmla="*/ 63857 w 127714"/>
              <a:gd name="connsiteY2" fmla="*/ 108840 h 127714"/>
              <a:gd name="connsiteX3" fmla="*/ 18874 w 127714"/>
              <a:gd name="connsiteY3" fmla="*/ 63857 h 127714"/>
              <a:gd name="connsiteX4" fmla="*/ 63857 w 127714"/>
              <a:gd name="connsiteY4" fmla="*/ 18874 h 127714"/>
              <a:gd name="connsiteX5" fmla="*/ 63857 w 127714"/>
              <a:gd name="connsiteY5" fmla="*/ 0 h 127714"/>
              <a:gd name="connsiteX6" fmla="*/ 0 w 127714"/>
              <a:gd name="connsiteY6" fmla="*/ 63857 h 127714"/>
              <a:gd name="connsiteX7" fmla="*/ 63857 w 127714"/>
              <a:gd name="connsiteY7" fmla="*/ 127714 h 127714"/>
              <a:gd name="connsiteX8" fmla="*/ 127714 w 127714"/>
              <a:gd name="connsiteY8" fmla="*/ 63857 h 127714"/>
              <a:gd name="connsiteX9" fmla="*/ 63857 w 127714"/>
              <a:gd name="connsiteY9" fmla="*/ 0 h 127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14" h="127714">
                <a:moveTo>
                  <a:pt x="63857" y="18874"/>
                </a:moveTo>
                <a:cubicBezTo>
                  <a:pt x="88700" y="18874"/>
                  <a:pt x="108840" y="39014"/>
                  <a:pt x="108840" y="63857"/>
                </a:cubicBezTo>
                <a:cubicBezTo>
                  <a:pt x="108840" y="88700"/>
                  <a:pt x="88700" y="108840"/>
                  <a:pt x="63857" y="108840"/>
                </a:cubicBezTo>
                <a:cubicBezTo>
                  <a:pt x="39014" y="108840"/>
                  <a:pt x="18874" y="88700"/>
                  <a:pt x="18874" y="63857"/>
                </a:cubicBezTo>
                <a:cubicBezTo>
                  <a:pt x="18898" y="39024"/>
                  <a:pt x="39024" y="18898"/>
                  <a:pt x="63857" y="18874"/>
                </a:cubicBezTo>
                <a:moveTo>
                  <a:pt x="63857" y="0"/>
                </a:moveTo>
                <a:cubicBezTo>
                  <a:pt x="28590" y="0"/>
                  <a:pt x="0" y="28590"/>
                  <a:pt x="0" y="63857"/>
                </a:cubicBezTo>
                <a:cubicBezTo>
                  <a:pt x="0" y="99124"/>
                  <a:pt x="28590" y="127714"/>
                  <a:pt x="63857" y="127714"/>
                </a:cubicBezTo>
                <a:cubicBezTo>
                  <a:pt x="99124" y="127714"/>
                  <a:pt x="127714" y="99124"/>
                  <a:pt x="127714" y="63857"/>
                </a:cubicBezTo>
                <a:cubicBezTo>
                  <a:pt x="127714" y="28590"/>
                  <a:pt x="99124" y="0"/>
                  <a:pt x="63857" y="0"/>
                </a:cubicBezTo>
                <a:close/>
              </a:path>
            </a:pathLst>
          </a:custGeom>
          <a:solidFill>
            <a:schemeClr val="bg1"/>
          </a:solidFill>
          <a:ln w="610" cap="flat">
            <a:noFill/>
            <a:prstDash val="solid"/>
            <a:miter/>
          </a:ln>
        </p:spPr>
        <p:txBody>
          <a:bodyPr rtlCol="0" anchor="ctr"/>
          <a:lstStyle/>
          <a:p>
            <a:endParaRPr lang="en-US" dirty="0"/>
          </a:p>
        </p:txBody>
      </p:sp>
      <p:sp>
        <p:nvSpPr>
          <p:cNvPr id="7" name="Graphic 22">
            <a:extLst>
              <a:ext uri="{FF2B5EF4-FFF2-40B4-BE49-F238E27FC236}">
                <a16:creationId xmlns:a16="http://schemas.microsoft.com/office/drawing/2014/main" id="{3BF75235-4E6E-4184-82A5-EE6FE7993BBC}"/>
              </a:ext>
            </a:extLst>
          </p:cNvPr>
          <p:cNvSpPr/>
          <p:nvPr userDrawn="1"/>
        </p:nvSpPr>
        <p:spPr>
          <a:xfrm>
            <a:off x="1261869" y="2633448"/>
            <a:ext cx="151536" cy="151536"/>
          </a:xfrm>
          <a:custGeom>
            <a:avLst/>
            <a:gdLst>
              <a:gd name="connsiteX0" fmla="*/ 141251 w 151536"/>
              <a:gd name="connsiteY0" fmla="*/ 65483 h 151536"/>
              <a:gd name="connsiteX1" fmla="*/ 86053 w 151536"/>
              <a:gd name="connsiteY1" fmla="*/ 65483 h 151536"/>
              <a:gd name="connsiteX2" fmla="*/ 86053 w 151536"/>
              <a:gd name="connsiteY2" fmla="*/ 10285 h 151536"/>
              <a:gd name="connsiteX3" fmla="*/ 75768 w 151536"/>
              <a:gd name="connsiteY3" fmla="*/ 0 h 151536"/>
              <a:gd name="connsiteX4" fmla="*/ 65483 w 151536"/>
              <a:gd name="connsiteY4" fmla="*/ 10285 h 151536"/>
              <a:gd name="connsiteX5" fmla="*/ 65483 w 151536"/>
              <a:gd name="connsiteY5" fmla="*/ 65483 h 151536"/>
              <a:gd name="connsiteX6" fmla="*/ 10285 w 151536"/>
              <a:gd name="connsiteY6" fmla="*/ 65483 h 151536"/>
              <a:gd name="connsiteX7" fmla="*/ 0 w 151536"/>
              <a:gd name="connsiteY7" fmla="*/ 75768 h 151536"/>
              <a:gd name="connsiteX8" fmla="*/ 10285 w 151536"/>
              <a:gd name="connsiteY8" fmla="*/ 86053 h 151536"/>
              <a:gd name="connsiteX9" fmla="*/ 65483 w 151536"/>
              <a:gd name="connsiteY9" fmla="*/ 86053 h 151536"/>
              <a:gd name="connsiteX10" fmla="*/ 65483 w 151536"/>
              <a:gd name="connsiteY10" fmla="*/ 141251 h 151536"/>
              <a:gd name="connsiteX11" fmla="*/ 75768 w 151536"/>
              <a:gd name="connsiteY11" fmla="*/ 151536 h 151536"/>
              <a:gd name="connsiteX12" fmla="*/ 86053 w 151536"/>
              <a:gd name="connsiteY12" fmla="*/ 141251 h 151536"/>
              <a:gd name="connsiteX13" fmla="*/ 86053 w 151536"/>
              <a:gd name="connsiteY13" fmla="*/ 86053 h 151536"/>
              <a:gd name="connsiteX14" fmla="*/ 141251 w 151536"/>
              <a:gd name="connsiteY14" fmla="*/ 86053 h 151536"/>
              <a:gd name="connsiteX15" fmla="*/ 151536 w 151536"/>
              <a:gd name="connsiteY15" fmla="*/ 75768 h 151536"/>
              <a:gd name="connsiteX16" fmla="*/ 141251 w 151536"/>
              <a:gd name="connsiteY16" fmla="*/ 65483 h 15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1536" h="151536">
                <a:moveTo>
                  <a:pt x="141251" y="65483"/>
                </a:moveTo>
                <a:lnTo>
                  <a:pt x="86053" y="65483"/>
                </a:lnTo>
                <a:lnTo>
                  <a:pt x="86053" y="10285"/>
                </a:lnTo>
                <a:cubicBezTo>
                  <a:pt x="86053" y="4605"/>
                  <a:pt x="81448" y="0"/>
                  <a:pt x="75768" y="0"/>
                </a:cubicBezTo>
                <a:cubicBezTo>
                  <a:pt x="70088" y="0"/>
                  <a:pt x="65483" y="4605"/>
                  <a:pt x="65483" y="10285"/>
                </a:cubicBezTo>
                <a:lnTo>
                  <a:pt x="65483" y="65483"/>
                </a:lnTo>
                <a:lnTo>
                  <a:pt x="10285" y="65483"/>
                </a:lnTo>
                <a:cubicBezTo>
                  <a:pt x="4605" y="65483"/>
                  <a:pt x="0" y="70088"/>
                  <a:pt x="0" y="75768"/>
                </a:cubicBezTo>
                <a:cubicBezTo>
                  <a:pt x="0" y="81448"/>
                  <a:pt x="4605" y="86053"/>
                  <a:pt x="10285" y="86053"/>
                </a:cubicBezTo>
                <a:lnTo>
                  <a:pt x="65483" y="86053"/>
                </a:lnTo>
                <a:lnTo>
                  <a:pt x="65483" y="141251"/>
                </a:lnTo>
                <a:cubicBezTo>
                  <a:pt x="65483" y="146931"/>
                  <a:pt x="70088" y="151536"/>
                  <a:pt x="75768" y="151536"/>
                </a:cubicBezTo>
                <a:cubicBezTo>
                  <a:pt x="81448" y="151536"/>
                  <a:pt x="86053" y="146931"/>
                  <a:pt x="86053" y="141251"/>
                </a:cubicBezTo>
                <a:lnTo>
                  <a:pt x="86053" y="86053"/>
                </a:lnTo>
                <a:lnTo>
                  <a:pt x="141251" y="86053"/>
                </a:lnTo>
                <a:cubicBezTo>
                  <a:pt x="146931" y="86053"/>
                  <a:pt x="151536" y="81448"/>
                  <a:pt x="151536" y="75768"/>
                </a:cubicBezTo>
                <a:cubicBezTo>
                  <a:pt x="151536" y="70088"/>
                  <a:pt x="146931" y="65483"/>
                  <a:pt x="141251" y="65483"/>
                </a:cubicBezTo>
                <a:close/>
              </a:path>
            </a:pathLst>
          </a:custGeom>
          <a:solidFill>
            <a:schemeClr val="bg1"/>
          </a:solidFill>
          <a:ln w="646" cap="flat">
            <a:noFill/>
            <a:prstDash val="solid"/>
            <a:miter/>
          </a:ln>
        </p:spPr>
        <p:txBody>
          <a:bodyPr rtlCol="0" anchor="ctr"/>
          <a:lstStyle/>
          <a:p>
            <a:endParaRPr lang="en-US" dirty="0"/>
          </a:p>
        </p:txBody>
      </p:sp>
      <p:sp>
        <p:nvSpPr>
          <p:cNvPr id="11" name="Graphic 21">
            <a:extLst>
              <a:ext uri="{FF2B5EF4-FFF2-40B4-BE49-F238E27FC236}">
                <a16:creationId xmlns:a16="http://schemas.microsoft.com/office/drawing/2014/main" id="{E66FE37C-2F4B-42DA-BFF6-92DD00BDC49B}"/>
              </a:ext>
            </a:extLst>
          </p:cNvPr>
          <p:cNvSpPr/>
          <p:nvPr userDrawn="1"/>
        </p:nvSpPr>
        <p:spPr>
          <a:xfrm>
            <a:off x="1064053" y="3083338"/>
            <a:ext cx="95759" cy="95759"/>
          </a:xfrm>
          <a:custGeom>
            <a:avLst/>
            <a:gdLst>
              <a:gd name="connsiteX0" fmla="*/ 95759 w 95759"/>
              <a:gd name="connsiteY0" fmla="*/ 47880 h 95759"/>
              <a:gd name="connsiteX1" fmla="*/ 47880 w 95759"/>
              <a:gd name="connsiteY1" fmla="*/ 95759 h 95759"/>
              <a:gd name="connsiteX2" fmla="*/ 0 w 95759"/>
              <a:gd name="connsiteY2" fmla="*/ 47880 h 95759"/>
              <a:gd name="connsiteX3" fmla="*/ 47880 w 95759"/>
              <a:gd name="connsiteY3" fmla="*/ 0 h 95759"/>
              <a:gd name="connsiteX4" fmla="*/ 95759 w 95759"/>
              <a:gd name="connsiteY4" fmla="*/ 47880 h 95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59" h="95759">
                <a:moveTo>
                  <a:pt x="95759" y="47880"/>
                </a:moveTo>
                <a:cubicBezTo>
                  <a:pt x="95759" y="74323"/>
                  <a:pt x="74323" y="95759"/>
                  <a:pt x="47880" y="95759"/>
                </a:cubicBezTo>
                <a:cubicBezTo>
                  <a:pt x="21436" y="95759"/>
                  <a:pt x="0" y="74323"/>
                  <a:pt x="0" y="47880"/>
                </a:cubicBezTo>
                <a:cubicBezTo>
                  <a:pt x="0" y="21436"/>
                  <a:pt x="21436" y="0"/>
                  <a:pt x="47880" y="0"/>
                </a:cubicBezTo>
                <a:cubicBezTo>
                  <a:pt x="74323" y="0"/>
                  <a:pt x="95759" y="21436"/>
                  <a:pt x="95759" y="47880"/>
                </a:cubicBezTo>
                <a:close/>
              </a:path>
            </a:pathLst>
          </a:custGeom>
          <a:solidFill>
            <a:schemeClr val="bg1"/>
          </a:solidFill>
          <a:ln w="469" cap="flat">
            <a:noFill/>
            <a:prstDash val="solid"/>
            <a:miter/>
          </a:ln>
        </p:spPr>
        <p:txBody>
          <a:bodyPr rtlCol="0" anchor="ctr"/>
          <a:lstStyle/>
          <a:p>
            <a:endParaRPr lang="en-US" dirty="0"/>
          </a:p>
        </p:txBody>
      </p:sp>
      <p:sp>
        <p:nvSpPr>
          <p:cNvPr id="13" name="Graphic 23">
            <a:extLst>
              <a:ext uri="{FF2B5EF4-FFF2-40B4-BE49-F238E27FC236}">
                <a16:creationId xmlns:a16="http://schemas.microsoft.com/office/drawing/2014/main" id="{DDD38822-731A-48DA-A8A0-FBBAF7A6D65D}"/>
              </a:ext>
            </a:extLst>
          </p:cNvPr>
          <p:cNvSpPr/>
          <p:nvPr userDrawn="1"/>
        </p:nvSpPr>
        <p:spPr>
          <a:xfrm>
            <a:off x="1413405" y="3492870"/>
            <a:ext cx="108625" cy="108625"/>
          </a:xfrm>
          <a:custGeom>
            <a:avLst/>
            <a:gdLst>
              <a:gd name="connsiteX0" fmla="*/ 54313 w 108625"/>
              <a:gd name="connsiteY0" fmla="*/ 16053 h 108625"/>
              <a:gd name="connsiteX1" fmla="*/ 92572 w 108625"/>
              <a:gd name="connsiteY1" fmla="*/ 54313 h 108625"/>
              <a:gd name="connsiteX2" fmla="*/ 54313 w 108625"/>
              <a:gd name="connsiteY2" fmla="*/ 92572 h 108625"/>
              <a:gd name="connsiteX3" fmla="*/ 16053 w 108625"/>
              <a:gd name="connsiteY3" fmla="*/ 54313 h 108625"/>
              <a:gd name="connsiteX4" fmla="*/ 54313 w 108625"/>
              <a:gd name="connsiteY4" fmla="*/ 16053 h 108625"/>
              <a:gd name="connsiteX5" fmla="*/ 54313 w 108625"/>
              <a:gd name="connsiteY5" fmla="*/ 0 h 108625"/>
              <a:gd name="connsiteX6" fmla="*/ 0 w 108625"/>
              <a:gd name="connsiteY6" fmla="*/ 54313 h 108625"/>
              <a:gd name="connsiteX7" fmla="*/ 54313 w 108625"/>
              <a:gd name="connsiteY7" fmla="*/ 108625 h 108625"/>
              <a:gd name="connsiteX8" fmla="*/ 108625 w 108625"/>
              <a:gd name="connsiteY8" fmla="*/ 54313 h 108625"/>
              <a:gd name="connsiteX9" fmla="*/ 54313 w 108625"/>
              <a:gd name="connsiteY9" fmla="*/ 0 h 10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625" h="108625">
                <a:moveTo>
                  <a:pt x="54313" y="16053"/>
                </a:moveTo>
                <a:cubicBezTo>
                  <a:pt x="75442" y="16053"/>
                  <a:pt x="92572" y="33182"/>
                  <a:pt x="92572" y="54313"/>
                </a:cubicBezTo>
                <a:cubicBezTo>
                  <a:pt x="92572" y="75442"/>
                  <a:pt x="75442" y="92572"/>
                  <a:pt x="54313" y="92572"/>
                </a:cubicBezTo>
                <a:cubicBezTo>
                  <a:pt x="33182" y="92572"/>
                  <a:pt x="16053" y="75442"/>
                  <a:pt x="16053" y="54313"/>
                </a:cubicBezTo>
                <a:cubicBezTo>
                  <a:pt x="16074" y="33191"/>
                  <a:pt x="33191" y="16074"/>
                  <a:pt x="54313" y="16053"/>
                </a:cubicBezTo>
                <a:moveTo>
                  <a:pt x="54313" y="0"/>
                </a:moveTo>
                <a:cubicBezTo>
                  <a:pt x="24317" y="0"/>
                  <a:pt x="0" y="24317"/>
                  <a:pt x="0" y="54313"/>
                </a:cubicBezTo>
                <a:cubicBezTo>
                  <a:pt x="0" y="84309"/>
                  <a:pt x="24317" y="108625"/>
                  <a:pt x="54313" y="108625"/>
                </a:cubicBezTo>
                <a:cubicBezTo>
                  <a:pt x="84309" y="108625"/>
                  <a:pt x="108625" y="84309"/>
                  <a:pt x="108625" y="54313"/>
                </a:cubicBezTo>
                <a:cubicBezTo>
                  <a:pt x="108625" y="24317"/>
                  <a:pt x="84309" y="0"/>
                  <a:pt x="54313" y="0"/>
                </a:cubicBezTo>
                <a:close/>
              </a:path>
            </a:pathLst>
          </a:custGeom>
          <a:solidFill>
            <a:schemeClr val="bg1"/>
          </a:solidFill>
          <a:ln w="516" cap="flat">
            <a:noFill/>
            <a:prstDash val="solid"/>
            <a:miter/>
          </a:ln>
        </p:spPr>
        <p:txBody>
          <a:bodyPr rtlCol="0" anchor="ctr"/>
          <a:lstStyle/>
          <a:p>
            <a:endParaRPr lang="en-US" dirty="0"/>
          </a:p>
        </p:txBody>
      </p:sp>
    </p:spTree>
    <p:extLst>
      <p:ext uri="{BB962C8B-B14F-4D97-AF65-F5344CB8AC3E}">
        <p14:creationId xmlns:p14="http://schemas.microsoft.com/office/powerpoint/2010/main" val="263772677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640AAD-80AF-40E7-BE3F-43D32FC68ED4}"/>
              </a:ext>
            </a:extLst>
          </p:cNvPr>
          <p:cNvSpPr>
            <a:spLocks noGrp="1"/>
          </p:cNvSpPr>
          <p:nvPr>
            <p:ph type="ctrTitle"/>
          </p:nvPr>
        </p:nvSpPr>
        <p:spPr>
          <a:xfrm>
            <a:off x="6391656" y="841248"/>
            <a:ext cx="4434840" cy="3236976"/>
          </a:xfrm>
        </p:spPr>
        <p:txBody>
          <a:bodyPr anchor="b"/>
          <a:lstStyle>
            <a:lvl1pPr algn="l">
              <a:lnSpc>
                <a:spcPct val="110000"/>
              </a:lnSpc>
              <a:spcBef>
                <a:spcPts val="1000"/>
              </a:spcBef>
              <a:defRPr sz="3600" b="0" i="0" cap="none" baseline="0"/>
            </a:lvl1pPr>
          </a:lstStyle>
          <a:p>
            <a:r>
              <a:rPr lang="en-US"/>
              <a:t>Click to edit Master title style</a:t>
            </a:r>
            <a:endParaRPr lang="en-US" dirty="0"/>
          </a:p>
        </p:txBody>
      </p:sp>
      <p:sp>
        <p:nvSpPr>
          <p:cNvPr id="3" name="Subtitle 2">
            <a:extLst>
              <a:ext uri="{FF2B5EF4-FFF2-40B4-BE49-F238E27FC236}">
                <a16:creationId xmlns:a16="http://schemas.microsoft.com/office/drawing/2014/main" id="{EC80FBD9-0977-4B2B-9318-30774BB0947C}"/>
              </a:ext>
            </a:extLst>
          </p:cNvPr>
          <p:cNvSpPr>
            <a:spLocks noGrp="1"/>
          </p:cNvSpPr>
          <p:nvPr>
            <p:ph type="subTitle" idx="1"/>
          </p:nvPr>
        </p:nvSpPr>
        <p:spPr>
          <a:xfrm>
            <a:off x="6391655" y="4498848"/>
            <a:ext cx="4434835" cy="510474"/>
          </a:xfrm>
        </p:spPr>
        <p:txBody>
          <a:bodyPr/>
          <a:lstStyle>
            <a:lvl1pPr marL="0" indent="0" algn="l">
              <a:lnSpc>
                <a:spcPct val="110000"/>
              </a:lnSpc>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Footer Placeholder 4">
            <a:extLst>
              <a:ext uri="{FF2B5EF4-FFF2-40B4-BE49-F238E27FC236}">
                <a16:creationId xmlns:a16="http://schemas.microsoft.com/office/drawing/2014/main" id="{7F8C2A2A-62DB-40C0-8AE7-CB9B98649BB1}"/>
              </a:ext>
            </a:extLst>
          </p:cNvPr>
          <p:cNvSpPr>
            <a:spLocks noGrp="1"/>
          </p:cNvSpPr>
          <p:nvPr>
            <p:ph type="ftr" sz="quarter" idx="11"/>
          </p:nvPr>
        </p:nvSpPr>
        <p:spPr>
          <a:xfrm rot="16200000">
            <a:off x="9811512" y="1591056"/>
            <a:ext cx="3547872" cy="365125"/>
          </a:xfrm>
        </p:spPr>
        <p:txBody>
          <a:bodyPr/>
          <a:lstStyle>
            <a:lvl1pPr>
              <a:defRPr>
                <a:solidFill>
                  <a:schemeClr val="accent2"/>
                </a:solidFill>
              </a:defRPr>
            </a:lvl1pPr>
          </a:lstStyle>
          <a:p>
            <a:r>
              <a:rPr lang="en-US" dirty="0"/>
              <a:t>Presentation Title</a:t>
            </a:r>
          </a:p>
        </p:txBody>
      </p:sp>
      <p:sp>
        <p:nvSpPr>
          <p:cNvPr id="6" name="Slide Number Placeholder 5">
            <a:extLst>
              <a:ext uri="{FF2B5EF4-FFF2-40B4-BE49-F238E27FC236}">
                <a16:creationId xmlns:a16="http://schemas.microsoft.com/office/drawing/2014/main" id="{A401EAA4-F44C-4C1F-B8E3-1A3005300F50}"/>
              </a:ext>
            </a:extLst>
          </p:cNvPr>
          <p:cNvSpPr>
            <a:spLocks noGrp="1"/>
          </p:cNvSpPr>
          <p:nvPr>
            <p:ph type="sldNum" sz="quarter" idx="12"/>
          </p:nvPr>
        </p:nvSpPr>
        <p:spPr/>
        <p:txBody>
          <a:bodyPr/>
          <a:lstStyle>
            <a:lvl1pPr>
              <a:defRPr>
                <a:solidFill>
                  <a:schemeClr val="accent2"/>
                </a:solidFill>
              </a:defRPr>
            </a:lvl1pPr>
          </a:lstStyle>
          <a:p>
            <a:fld id="{D8DA9DAA-006C-4F4B-980E-E3DF019B24E2}" type="slidenum">
              <a:rPr lang="en-US" smtClean="0"/>
              <a:pPr/>
              <a:t>‹#›</a:t>
            </a:fld>
            <a:endParaRPr lang="en-US" dirty="0"/>
          </a:p>
        </p:txBody>
      </p:sp>
      <p:cxnSp>
        <p:nvCxnSpPr>
          <p:cNvPr id="7" name="Straight Connector 6">
            <a:extLst>
              <a:ext uri="{FF2B5EF4-FFF2-40B4-BE49-F238E27FC236}">
                <a16:creationId xmlns:a16="http://schemas.microsoft.com/office/drawing/2014/main" id="{6939C974-0ED4-4915-BBF7-1FB00C18AD45}"/>
              </a:ext>
            </a:extLst>
          </p:cNvPr>
          <p:cNvCxnSpPr>
            <a:cxnSpLocks/>
          </p:cNvCxnSpPr>
          <p:nvPr userDrawn="1"/>
        </p:nvCxnSpPr>
        <p:spPr>
          <a:xfrm>
            <a:off x="11586162" y="3619272"/>
            <a:ext cx="0" cy="3238728"/>
          </a:xfrm>
          <a:prstGeom prst="line">
            <a:avLst/>
          </a:prstGeom>
          <a:ln w="25400" cap="sq">
            <a:gradFill flip="none" rotWithShape="1">
              <a:gsLst>
                <a:gs pos="0">
                  <a:schemeClr val="accent2"/>
                </a:gs>
                <a:gs pos="100000">
                  <a:schemeClr val="accent4"/>
                </a:gs>
              </a:gsLst>
              <a:lin ang="16200000" scaled="1"/>
              <a:tileRect/>
            </a:gradFill>
            <a:beve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515930B2-E36D-4D05-A6B3-CA1BF61D50CC}"/>
              </a:ext>
            </a:extLst>
          </p:cNvPr>
          <p:cNvSpPr/>
          <p:nvPr userDrawn="1"/>
        </p:nvSpPr>
        <p:spPr>
          <a:xfrm>
            <a:off x="0" y="0"/>
            <a:ext cx="5779911" cy="6858000"/>
          </a:xfrm>
          <a:prstGeom prst="rect">
            <a:avLst/>
          </a:prstGeom>
          <a:gradFill flip="none" rotWithShape="1">
            <a:gsLst>
              <a:gs pos="100000">
                <a:schemeClr val="accent4"/>
              </a:gs>
              <a:gs pos="0">
                <a:schemeClr val="accent2"/>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Picture Placeholder 12">
            <a:extLst>
              <a:ext uri="{FF2B5EF4-FFF2-40B4-BE49-F238E27FC236}">
                <a16:creationId xmlns:a16="http://schemas.microsoft.com/office/drawing/2014/main" id="{9CEC7E0F-60E8-418B-978D-C607C82E97F7}"/>
              </a:ext>
            </a:extLst>
          </p:cNvPr>
          <p:cNvSpPr>
            <a:spLocks noGrp="1"/>
          </p:cNvSpPr>
          <p:nvPr>
            <p:ph type="pic" sz="quarter" idx="13"/>
          </p:nvPr>
        </p:nvSpPr>
        <p:spPr>
          <a:xfrm>
            <a:off x="283464" y="301752"/>
            <a:ext cx="5221224" cy="6263640"/>
          </a:xfrm>
        </p:spPr>
        <p:txBody>
          <a:bodyPr anchor="ctr"/>
          <a:lstStyle>
            <a:lvl1pPr algn="ctr">
              <a:buNone/>
              <a:defRPr>
                <a:solidFill>
                  <a:schemeClr val="bg1"/>
                </a:solidFill>
              </a:defRPr>
            </a:lvl1pPr>
          </a:lstStyle>
          <a:p>
            <a:r>
              <a:rPr lang="en-US"/>
              <a:t>Click icon to add picture</a:t>
            </a:r>
            <a:endParaRPr lang="en-US" dirty="0"/>
          </a:p>
        </p:txBody>
      </p:sp>
    </p:spTree>
    <p:extLst>
      <p:ext uri="{BB962C8B-B14F-4D97-AF65-F5344CB8AC3E}">
        <p14:creationId xmlns:p14="http://schemas.microsoft.com/office/powerpoint/2010/main" val="413925294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E62FC6D8-DD87-4B93-8491-43C84EE63FE2}"/>
              </a:ext>
            </a:extLst>
          </p:cNvPr>
          <p:cNvSpPr>
            <a:spLocks noGrp="1"/>
          </p:cNvSpPr>
          <p:nvPr>
            <p:ph type="pic" sz="quarter" idx="13"/>
          </p:nvPr>
        </p:nvSpPr>
        <p:spPr>
          <a:xfrm>
            <a:off x="7451965" y="1665520"/>
            <a:ext cx="4266960" cy="4266968"/>
          </a:xfrm>
          <a:custGeom>
            <a:avLst/>
            <a:gdLst>
              <a:gd name="connsiteX0" fmla="*/ 2133823 w 4266960"/>
              <a:gd name="connsiteY0" fmla="*/ 0 h 4266968"/>
              <a:gd name="connsiteX1" fmla="*/ 4256628 w 4266960"/>
              <a:gd name="connsiteY1" fmla="*/ 1915652 h 4266968"/>
              <a:gd name="connsiteX2" fmla="*/ 4266960 w 4266960"/>
              <a:gd name="connsiteY2" fmla="*/ 2120258 h 4266968"/>
              <a:gd name="connsiteX3" fmla="*/ 4266960 w 4266960"/>
              <a:gd name="connsiteY3" fmla="*/ 2147389 h 4266968"/>
              <a:gd name="connsiteX4" fmla="*/ 4256628 w 4266960"/>
              <a:gd name="connsiteY4" fmla="*/ 2351994 h 4266968"/>
              <a:gd name="connsiteX5" fmla="*/ 2351994 w 4266960"/>
              <a:gd name="connsiteY5" fmla="*/ 4256629 h 4266968"/>
              <a:gd name="connsiteX6" fmla="*/ 2147230 w 4266960"/>
              <a:gd name="connsiteY6" fmla="*/ 4266968 h 4266968"/>
              <a:gd name="connsiteX7" fmla="*/ 2120416 w 4266960"/>
              <a:gd name="connsiteY7" fmla="*/ 4266968 h 4266968"/>
              <a:gd name="connsiteX8" fmla="*/ 1915652 w 4266960"/>
              <a:gd name="connsiteY8" fmla="*/ 4256629 h 4266968"/>
              <a:gd name="connsiteX9" fmla="*/ 0 w 4266960"/>
              <a:gd name="connsiteY9" fmla="*/ 2133823 h 4266968"/>
              <a:gd name="connsiteX10" fmla="*/ 2133823 w 4266960"/>
              <a:gd name="connsiteY10" fmla="*/ 0 h 426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66960" h="4266968">
                <a:moveTo>
                  <a:pt x="2133823" y="0"/>
                </a:moveTo>
                <a:cubicBezTo>
                  <a:pt x="3238644" y="0"/>
                  <a:pt x="4147355" y="839660"/>
                  <a:pt x="4256628" y="1915652"/>
                </a:cubicBezTo>
                <a:lnTo>
                  <a:pt x="4266960" y="2120258"/>
                </a:lnTo>
                <a:lnTo>
                  <a:pt x="4266960" y="2147389"/>
                </a:lnTo>
                <a:lnTo>
                  <a:pt x="4256628" y="2351994"/>
                </a:lnTo>
                <a:cubicBezTo>
                  <a:pt x="4154640" y="3356254"/>
                  <a:pt x="3356253" y="4154640"/>
                  <a:pt x="2351994" y="4256629"/>
                </a:cubicBezTo>
                <a:lnTo>
                  <a:pt x="2147230" y="4266968"/>
                </a:lnTo>
                <a:lnTo>
                  <a:pt x="2120416" y="4266968"/>
                </a:lnTo>
                <a:lnTo>
                  <a:pt x="1915652" y="4256629"/>
                </a:lnTo>
                <a:cubicBezTo>
                  <a:pt x="839660" y="4147356"/>
                  <a:pt x="0" y="3238645"/>
                  <a:pt x="0" y="2133823"/>
                </a:cubicBezTo>
                <a:cubicBezTo>
                  <a:pt x="0" y="955346"/>
                  <a:pt x="955346" y="0"/>
                  <a:pt x="2133823" y="0"/>
                </a:cubicBezTo>
                <a:close/>
              </a:path>
            </a:pathLst>
          </a:custGeom>
        </p:spPr>
        <p:txBody>
          <a:bodyPr wrap="square" anchor="ctr">
            <a:noAutofit/>
          </a:bodyPr>
          <a:lstStyle>
            <a:lvl1pPr algn="ctr">
              <a:buNone/>
              <a:defRPr/>
            </a:lvl1pPr>
          </a:lstStyle>
          <a:p>
            <a:r>
              <a:rPr lang="en-US"/>
              <a:t>Click icon to add picture</a:t>
            </a:r>
            <a:endParaRPr lang="en-US" dirty="0"/>
          </a:p>
        </p:txBody>
      </p:sp>
      <p:sp>
        <p:nvSpPr>
          <p:cNvPr id="2" name="Title 1">
            <a:extLst>
              <a:ext uri="{FF2B5EF4-FFF2-40B4-BE49-F238E27FC236}">
                <a16:creationId xmlns:a16="http://schemas.microsoft.com/office/drawing/2014/main" id="{9696CF8C-1EA0-4E47-AC60-CAC3B80A3C5D}"/>
              </a:ext>
            </a:extLst>
          </p:cNvPr>
          <p:cNvSpPr>
            <a:spLocks noGrp="1"/>
          </p:cNvSpPr>
          <p:nvPr>
            <p:ph type="title"/>
          </p:nvPr>
        </p:nvSpPr>
        <p:spPr>
          <a:xfrm>
            <a:off x="804672" y="1335024"/>
            <a:ext cx="6190488" cy="1179576"/>
          </a:xfrm>
        </p:spPr>
        <p:txBody>
          <a:bodyPr lIns="91440" tIns="45720" rIns="91440" bIns="45720" anchor="b"/>
          <a:lstStyle>
            <a:lvl1pPr>
              <a:defRPr sz="5400"/>
            </a:lvl1p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628CABF8-19D8-4F3C-994F-4D35EC7A2C3E}"/>
              </a:ext>
            </a:extLst>
          </p:cNvPr>
          <p:cNvSpPr>
            <a:spLocks noGrp="1"/>
          </p:cNvSpPr>
          <p:nvPr>
            <p:ph idx="1"/>
          </p:nvPr>
        </p:nvSpPr>
        <p:spPr>
          <a:xfrm>
            <a:off x="850392" y="2825496"/>
            <a:ext cx="6190488" cy="3346704"/>
          </a:xfrm>
        </p:spPr>
        <p:txBody>
          <a:bodyPr/>
          <a:lstStyle>
            <a:lvl1pPr marL="0" indent="0">
              <a:lnSpc>
                <a:spcPct val="110000"/>
              </a:lnSpc>
              <a:buNone/>
              <a:defRPr sz="2000"/>
            </a:lvl1pPr>
            <a:lvl2pPr marL="228600">
              <a:defRPr sz="1800"/>
            </a:lvl2pPr>
            <a:lvl3pPr marL="457200">
              <a:defRPr sz="1600"/>
            </a:lvl3pPr>
            <a:lvl4pPr marL="685800">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4" name="Date Placeholder 3">
            <a:extLst>
              <a:ext uri="{FF2B5EF4-FFF2-40B4-BE49-F238E27FC236}">
                <a16:creationId xmlns:a16="http://schemas.microsoft.com/office/drawing/2014/main" id="{D097BB2D-4E2C-4490-A2A3-4B68BCC5D2F9}"/>
              </a:ext>
            </a:extLst>
          </p:cNvPr>
          <p:cNvSpPr>
            <a:spLocks noGrp="1"/>
          </p:cNvSpPr>
          <p:nvPr>
            <p:ph type="dt" sz="half" idx="10"/>
          </p:nvPr>
        </p:nvSpPr>
        <p:spPr/>
        <p:txBody>
          <a:bodyPr/>
          <a:lstStyle>
            <a:lvl1pPr>
              <a:defRPr>
                <a:solidFill>
                  <a:schemeClr val="accent2"/>
                </a:solidFill>
              </a:defRPr>
            </a:lvl1pPr>
          </a:lstStyle>
          <a:p>
            <a:r>
              <a:rPr lang="en-US" dirty="0"/>
              <a:t>9/3/20XX</a:t>
            </a:r>
          </a:p>
        </p:txBody>
      </p:sp>
      <p:sp>
        <p:nvSpPr>
          <p:cNvPr id="5" name="Footer Placeholder 4">
            <a:extLst>
              <a:ext uri="{FF2B5EF4-FFF2-40B4-BE49-F238E27FC236}">
                <a16:creationId xmlns:a16="http://schemas.microsoft.com/office/drawing/2014/main" id="{6140F15D-DD72-46D5-BF0F-F5064710700E}"/>
              </a:ext>
            </a:extLst>
          </p:cNvPr>
          <p:cNvSpPr>
            <a:spLocks noGrp="1"/>
          </p:cNvSpPr>
          <p:nvPr>
            <p:ph type="ftr" sz="quarter" idx="11"/>
          </p:nvPr>
        </p:nvSpPr>
        <p:spPr>
          <a:xfrm>
            <a:off x="7964424" y="621792"/>
            <a:ext cx="4114800" cy="365125"/>
          </a:xfrm>
        </p:spPr>
        <p:txBody>
          <a:bodyPr/>
          <a:lstStyle>
            <a:lvl1pPr>
              <a:defRPr baseline="0">
                <a:solidFill>
                  <a:schemeClr val="accent2"/>
                </a:solidFill>
              </a:defRPr>
            </a:lvl1pPr>
          </a:lstStyle>
          <a:p>
            <a:r>
              <a:rPr lang="en-US" dirty="0"/>
              <a:t>Presentation Title</a:t>
            </a:r>
          </a:p>
        </p:txBody>
      </p:sp>
      <p:sp>
        <p:nvSpPr>
          <p:cNvPr id="6" name="Slide Number Placeholder 5">
            <a:extLst>
              <a:ext uri="{FF2B5EF4-FFF2-40B4-BE49-F238E27FC236}">
                <a16:creationId xmlns:a16="http://schemas.microsoft.com/office/drawing/2014/main" id="{5266FD4D-815A-431C-ADEF-DE6F236F617F}"/>
              </a:ext>
            </a:extLst>
          </p:cNvPr>
          <p:cNvSpPr>
            <a:spLocks noGrp="1"/>
          </p:cNvSpPr>
          <p:nvPr>
            <p:ph type="sldNum" sz="quarter" idx="12"/>
          </p:nvPr>
        </p:nvSpPr>
        <p:spPr/>
        <p:txBody>
          <a:bodyPr/>
          <a:lstStyle>
            <a:lvl1pPr>
              <a:defRPr>
                <a:solidFill>
                  <a:schemeClr val="accent2"/>
                </a:solidFill>
              </a:defRPr>
            </a:lvl1pPr>
          </a:lstStyle>
          <a:p>
            <a:fld id="{D8DA9DAA-006C-4F4B-980E-E3DF019B24E2}" type="slidenum">
              <a:rPr lang="en-US" smtClean="0"/>
              <a:pPr/>
              <a:t>‹#›</a:t>
            </a:fld>
            <a:endParaRPr lang="en-US" dirty="0"/>
          </a:p>
        </p:txBody>
      </p:sp>
      <p:cxnSp>
        <p:nvCxnSpPr>
          <p:cNvPr id="9" name="Straight Connector 8">
            <a:extLst>
              <a:ext uri="{FF2B5EF4-FFF2-40B4-BE49-F238E27FC236}">
                <a16:creationId xmlns:a16="http://schemas.microsoft.com/office/drawing/2014/main" id="{FA8B3D0E-ED3F-46FA-AE79-5FEFDE9168E3}"/>
              </a:ext>
            </a:extLst>
          </p:cNvPr>
          <p:cNvCxnSpPr>
            <a:cxnSpLocks/>
          </p:cNvCxnSpPr>
          <p:nvPr userDrawn="1"/>
        </p:nvCxnSpPr>
        <p:spPr>
          <a:xfrm>
            <a:off x="0" y="806470"/>
            <a:ext cx="7903723" cy="0"/>
          </a:xfrm>
          <a:prstGeom prst="line">
            <a:avLst/>
          </a:prstGeom>
          <a:ln w="25400" cap="sq">
            <a:gradFill flip="none" rotWithShape="1">
              <a:gsLst>
                <a:gs pos="0">
                  <a:schemeClr val="accent2"/>
                </a:gs>
                <a:gs pos="100000">
                  <a:schemeClr val="accent4"/>
                </a:gs>
              </a:gsLst>
              <a:lin ang="10800000" scaled="1"/>
              <a:tileRect/>
            </a:gradFill>
            <a:bevel/>
          </a:ln>
        </p:spPr>
        <p:style>
          <a:lnRef idx="1">
            <a:schemeClr val="accent1"/>
          </a:lnRef>
          <a:fillRef idx="0">
            <a:schemeClr val="accent1"/>
          </a:fillRef>
          <a:effectRef idx="0">
            <a:schemeClr val="accent1"/>
          </a:effectRef>
          <a:fontRef idx="minor">
            <a:schemeClr val="tx1"/>
          </a:fontRef>
        </p:style>
      </p:cxnSp>
      <p:sp>
        <p:nvSpPr>
          <p:cNvPr id="17" name="Graphic 10">
            <a:extLst>
              <a:ext uri="{FF2B5EF4-FFF2-40B4-BE49-F238E27FC236}">
                <a16:creationId xmlns:a16="http://schemas.microsoft.com/office/drawing/2014/main" id="{AAD06B87-D9B2-4F94-B734-A8F039A2033F}"/>
              </a:ext>
            </a:extLst>
          </p:cNvPr>
          <p:cNvSpPr/>
          <p:nvPr userDrawn="1"/>
        </p:nvSpPr>
        <p:spPr>
          <a:xfrm>
            <a:off x="11281590" y="2070656"/>
            <a:ext cx="91138" cy="91138"/>
          </a:xfrm>
          <a:custGeom>
            <a:avLst/>
            <a:gdLst>
              <a:gd name="connsiteX0" fmla="*/ 91138 w 91138"/>
              <a:gd name="connsiteY0" fmla="*/ 45569 h 91138"/>
              <a:gd name="connsiteX1" fmla="*/ 45569 w 91138"/>
              <a:gd name="connsiteY1" fmla="*/ 91138 h 91138"/>
              <a:gd name="connsiteX2" fmla="*/ 0 w 91138"/>
              <a:gd name="connsiteY2" fmla="*/ 45569 h 91138"/>
              <a:gd name="connsiteX3" fmla="*/ 45569 w 91138"/>
              <a:gd name="connsiteY3" fmla="*/ 0 h 91138"/>
              <a:gd name="connsiteX4" fmla="*/ 91138 w 91138"/>
              <a:gd name="connsiteY4" fmla="*/ 45569 h 91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38" h="91138">
                <a:moveTo>
                  <a:pt x="91138" y="45569"/>
                </a:moveTo>
                <a:cubicBezTo>
                  <a:pt x="91138" y="70736"/>
                  <a:pt x="70736" y="91138"/>
                  <a:pt x="45569" y="91138"/>
                </a:cubicBezTo>
                <a:cubicBezTo>
                  <a:pt x="20402" y="91138"/>
                  <a:pt x="0" y="70736"/>
                  <a:pt x="0" y="45569"/>
                </a:cubicBezTo>
                <a:cubicBezTo>
                  <a:pt x="0" y="20402"/>
                  <a:pt x="20402" y="0"/>
                  <a:pt x="45569" y="0"/>
                </a:cubicBezTo>
                <a:cubicBezTo>
                  <a:pt x="70736" y="0"/>
                  <a:pt x="91138" y="20402"/>
                  <a:pt x="91138" y="45569"/>
                </a:cubicBezTo>
                <a:close/>
              </a:path>
            </a:pathLst>
          </a:custGeom>
          <a:solidFill>
            <a:schemeClr val="accent2"/>
          </a:solidFill>
          <a:ln w="422" cap="flat">
            <a:noFill/>
            <a:prstDash val="solid"/>
            <a:miter/>
          </a:ln>
        </p:spPr>
        <p:txBody>
          <a:bodyPr rtlCol="0" anchor="ctr"/>
          <a:lstStyle/>
          <a:p>
            <a:endParaRPr lang="en-US" dirty="0"/>
          </a:p>
        </p:txBody>
      </p:sp>
      <p:sp>
        <p:nvSpPr>
          <p:cNvPr id="19" name="Graphic 11">
            <a:extLst>
              <a:ext uri="{FF2B5EF4-FFF2-40B4-BE49-F238E27FC236}">
                <a16:creationId xmlns:a16="http://schemas.microsoft.com/office/drawing/2014/main" id="{BB13A13C-36EA-4B13-9175-C5FE95B34D33}"/>
              </a:ext>
            </a:extLst>
          </p:cNvPr>
          <p:cNvSpPr/>
          <p:nvPr userDrawn="1"/>
        </p:nvSpPr>
        <p:spPr>
          <a:xfrm>
            <a:off x="10969280" y="1780012"/>
            <a:ext cx="139039" cy="139039"/>
          </a:xfrm>
          <a:custGeom>
            <a:avLst/>
            <a:gdLst>
              <a:gd name="connsiteX0" fmla="*/ 129602 w 139039"/>
              <a:gd name="connsiteY0" fmla="*/ 60082 h 139039"/>
              <a:gd name="connsiteX1" fmla="*/ 78957 w 139039"/>
              <a:gd name="connsiteY1" fmla="*/ 60082 h 139039"/>
              <a:gd name="connsiteX2" fmla="*/ 78957 w 139039"/>
              <a:gd name="connsiteY2" fmla="*/ 9437 h 139039"/>
              <a:gd name="connsiteX3" fmla="*/ 69520 w 139039"/>
              <a:gd name="connsiteY3" fmla="*/ 0 h 139039"/>
              <a:gd name="connsiteX4" fmla="*/ 60082 w 139039"/>
              <a:gd name="connsiteY4" fmla="*/ 9437 h 139039"/>
              <a:gd name="connsiteX5" fmla="*/ 60082 w 139039"/>
              <a:gd name="connsiteY5" fmla="*/ 60082 h 139039"/>
              <a:gd name="connsiteX6" fmla="*/ 9437 w 139039"/>
              <a:gd name="connsiteY6" fmla="*/ 60082 h 139039"/>
              <a:gd name="connsiteX7" fmla="*/ 0 w 139039"/>
              <a:gd name="connsiteY7" fmla="*/ 69520 h 139039"/>
              <a:gd name="connsiteX8" fmla="*/ 9437 w 139039"/>
              <a:gd name="connsiteY8" fmla="*/ 78957 h 139039"/>
              <a:gd name="connsiteX9" fmla="*/ 60082 w 139039"/>
              <a:gd name="connsiteY9" fmla="*/ 78957 h 139039"/>
              <a:gd name="connsiteX10" fmla="*/ 60082 w 139039"/>
              <a:gd name="connsiteY10" fmla="*/ 129602 h 139039"/>
              <a:gd name="connsiteX11" fmla="*/ 69520 w 139039"/>
              <a:gd name="connsiteY11" fmla="*/ 139039 h 139039"/>
              <a:gd name="connsiteX12" fmla="*/ 78957 w 139039"/>
              <a:gd name="connsiteY12" fmla="*/ 129602 h 139039"/>
              <a:gd name="connsiteX13" fmla="*/ 78957 w 139039"/>
              <a:gd name="connsiteY13" fmla="*/ 78957 h 139039"/>
              <a:gd name="connsiteX14" fmla="*/ 129602 w 139039"/>
              <a:gd name="connsiteY14" fmla="*/ 78957 h 139039"/>
              <a:gd name="connsiteX15" fmla="*/ 139039 w 139039"/>
              <a:gd name="connsiteY15" fmla="*/ 69520 h 139039"/>
              <a:gd name="connsiteX16" fmla="*/ 129602 w 139039"/>
              <a:gd name="connsiteY16" fmla="*/ 60082 h 139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9039" h="139039">
                <a:moveTo>
                  <a:pt x="129602" y="60082"/>
                </a:moveTo>
                <a:lnTo>
                  <a:pt x="78957" y="60082"/>
                </a:lnTo>
                <a:lnTo>
                  <a:pt x="78957" y="9437"/>
                </a:lnTo>
                <a:cubicBezTo>
                  <a:pt x="78957" y="4225"/>
                  <a:pt x="74731" y="0"/>
                  <a:pt x="69520" y="0"/>
                </a:cubicBezTo>
                <a:cubicBezTo>
                  <a:pt x="64308" y="0"/>
                  <a:pt x="60082" y="4225"/>
                  <a:pt x="60082" y="9437"/>
                </a:cubicBezTo>
                <a:lnTo>
                  <a:pt x="60082" y="60082"/>
                </a:lnTo>
                <a:lnTo>
                  <a:pt x="9437" y="60082"/>
                </a:lnTo>
                <a:cubicBezTo>
                  <a:pt x="4225" y="60082"/>
                  <a:pt x="0" y="64308"/>
                  <a:pt x="0" y="69520"/>
                </a:cubicBezTo>
                <a:cubicBezTo>
                  <a:pt x="0" y="74731"/>
                  <a:pt x="4225" y="78957"/>
                  <a:pt x="9437" y="78957"/>
                </a:cubicBezTo>
                <a:lnTo>
                  <a:pt x="60082" y="78957"/>
                </a:lnTo>
                <a:lnTo>
                  <a:pt x="60082" y="129602"/>
                </a:lnTo>
                <a:cubicBezTo>
                  <a:pt x="60082" y="134814"/>
                  <a:pt x="64308" y="139039"/>
                  <a:pt x="69520" y="139039"/>
                </a:cubicBezTo>
                <a:cubicBezTo>
                  <a:pt x="74731" y="139039"/>
                  <a:pt x="78957" y="134814"/>
                  <a:pt x="78957" y="129602"/>
                </a:cubicBezTo>
                <a:lnTo>
                  <a:pt x="78957" y="78957"/>
                </a:lnTo>
                <a:lnTo>
                  <a:pt x="129602" y="78957"/>
                </a:lnTo>
                <a:cubicBezTo>
                  <a:pt x="134814" y="78957"/>
                  <a:pt x="139039" y="74731"/>
                  <a:pt x="139039" y="69520"/>
                </a:cubicBezTo>
                <a:cubicBezTo>
                  <a:pt x="139039" y="64308"/>
                  <a:pt x="134814" y="60082"/>
                  <a:pt x="129602" y="60082"/>
                </a:cubicBezTo>
                <a:close/>
              </a:path>
            </a:pathLst>
          </a:custGeom>
          <a:solidFill>
            <a:schemeClr val="accent2"/>
          </a:solidFill>
          <a:ln w="603" cap="flat">
            <a:noFill/>
            <a:prstDash val="solid"/>
            <a:miter/>
          </a:ln>
        </p:spPr>
        <p:txBody>
          <a:bodyPr rtlCol="0" anchor="ctr"/>
          <a:lstStyle/>
          <a:p>
            <a:endParaRPr lang="en-US" dirty="0"/>
          </a:p>
        </p:txBody>
      </p:sp>
    </p:spTree>
    <p:extLst>
      <p:ext uri="{BB962C8B-B14F-4D97-AF65-F5344CB8AC3E}">
        <p14:creationId xmlns:p14="http://schemas.microsoft.com/office/powerpoint/2010/main" val="288725798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r>
              <a:rPr lang="en-US" dirty="0"/>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r>
              <a:rPr lang="en-US" dirty="0"/>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 id="2147483693" r:id="rId24"/>
    <p:sldLayoutId id="2147483694" r:id="rId25"/>
    <p:sldLayoutId id="2147483695" r:id="rId26"/>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8" Type="http://schemas.openxmlformats.org/officeDocument/2006/relationships/hyperlink" Target="https://learn.microsoft.com/en-us/dotnet/api/microsoft.aspnetcore.mvc.statuscoderesult?view=aspnetcore-6.0" TargetMode="External"/><Relationship Id="rId13" Type="http://schemas.openxmlformats.org/officeDocument/2006/relationships/hyperlink" Target="https://learn.microsoft.com/en-us/dotnet/api/microsoft.aspnetcore.mvc.contentresult?view=aspnetcore-6.0" TargetMode="External"/><Relationship Id="rId18" Type="http://schemas.openxmlformats.org/officeDocument/2006/relationships/hyperlink" Target="https://learn.microsoft.com/en-us/dotnet/api/microsoft.aspnetcore.mvc.localredirectresult?view=aspnetcore-6.0" TargetMode="External"/><Relationship Id="rId3" Type="http://schemas.openxmlformats.org/officeDocument/2006/relationships/hyperlink" Target="https://learn.microsoft.com/en-us/dotnet/api/microsoft.aspnetcore.mvc.redirecttoactionresult?view=aspnetcore-6.0" TargetMode="External"/><Relationship Id="rId21" Type="http://schemas.openxmlformats.org/officeDocument/2006/relationships/hyperlink" Target="https://learn.microsoft.com/en-us/dotnet/api/microsoft.aspnetcore.mvc.razorpages.pageresult?view=aspnetcore-6.0" TargetMode="External"/><Relationship Id="rId7" Type="http://schemas.openxmlformats.org/officeDocument/2006/relationships/hyperlink" Target="https://learn.microsoft.com/en-us/dotnet/api/microsoft.aspnetcore.mvc.signoutresult?view=aspnetcore-6.0" TargetMode="External"/><Relationship Id="rId12" Type="http://schemas.openxmlformats.org/officeDocument/2006/relationships/hyperlink" Target="https://learn.microsoft.com/en-us/dotnet/api/microsoft.aspnetcore.mvc.challengeresult?view=aspnetcore-6.0" TargetMode="External"/><Relationship Id="rId17" Type="http://schemas.openxmlformats.org/officeDocument/2006/relationships/hyperlink" Target="https://learn.microsoft.com/en-us/dotnet/api/microsoft.aspnetcore.mvc.jsonresult?view=aspnetcore-6.0" TargetMode="External"/><Relationship Id="rId2" Type="http://schemas.openxmlformats.org/officeDocument/2006/relationships/hyperlink" Target="https://learn.microsoft.com/en-us/dotnet/api/microsoft.aspnetcore.mvc.redirectresult?view=aspnetcore-6.0" TargetMode="External"/><Relationship Id="rId16" Type="http://schemas.openxmlformats.org/officeDocument/2006/relationships/hyperlink" Target="https://learn.microsoft.com/en-us/dotnet/api/microsoft.aspnetcore.mvc.forbidresult?view=aspnetcore-6.0" TargetMode="External"/><Relationship Id="rId20" Type="http://schemas.openxmlformats.org/officeDocument/2006/relationships/hyperlink" Target="https://learn.microsoft.com/en-us/dotnet/api/microsoft.aspnetcore.mvc.partialviewresult?view=aspnetcore-6.0" TargetMode="External"/><Relationship Id="rId1" Type="http://schemas.openxmlformats.org/officeDocument/2006/relationships/slideLayout" Target="../slideLayouts/slideLayout3.xml"/><Relationship Id="rId6" Type="http://schemas.openxmlformats.org/officeDocument/2006/relationships/hyperlink" Target="https://learn.microsoft.com/en-us/dotnet/api/microsoft.aspnetcore.mvc.signinresult?view=aspnetcore-6.0" TargetMode="External"/><Relationship Id="rId11" Type="http://schemas.openxmlformats.org/officeDocument/2006/relationships/hyperlink" Target="https://learn.microsoft.com/en-us/dotnet/api/microsoft.aspnetcore.mvc.actionresult?view=aspnetcore-6.0" TargetMode="External"/><Relationship Id="rId5" Type="http://schemas.openxmlformats.org/officeDocument/2006/relationships/hyperlink" Target="https://learn.microsoft.com/en-us/dotnet/api/microsoft.aspnetcore.mvc.redirecttorouteresult?view=aspnetcore-6.0" TargetMode="External"/><Relationship Id="rId15" Type="http://schemas.openxmlformats.org/officeDocument/2006/relationships/hyperlink" Target="https://learn.microsoft.com/en-us/dotnet/api/microsoft.aspnetcore.mvc.fileresult?view=aspnetcore-6.0" TargetMode="External"/><Relationship Id="rId10" Type="http://schemas.openxmlformats.org/officeDocument/2006/relationships/hyperlink" Target="https://learn.microsoft.com/en-us/dotnet/api/microsoft.aspnetcore.mvc.viewresult?view=aspnetcore-6.0" TargetMode="External"/><Relationship Id="rId19" Type="http://schemas.openxmlformats.org/officeDocument/2006/relationships/hyperlink" Target="https://learn.microsoft.com/en-us/dotnet/api/microsoft.aspnetcore.mvc.objectresult?view=aspnetcore-6.0" TargetMode="External"/><Relationship Id="rId4" Type="http://schemas.openxmlformats.org/officeDocument/2006/relationships/hyperlink" Target="https://learn.microsoft.com/en-us/dotnet/api/microsoft.aspnetcore.mvc.redirecttopageresult?view=aspnetcore-6.0" TargetMode="External"/><Relationship Id="rId9" Type="http://schemas.openxmlformats.org/officeDocument/2006/relationships/hyperlink" Target="https://learn.microsoft.com/en-us/dotnet/api/microsoft.aspnetcore.mvc.viewcomponentresult?view=aspnetcore-6.0" TargetMode="External"/><Relationship Id="rId14" Type="http://schemas.openxmlformats.org/officeDocument/2006/relationships/hyperlink" Target="https://learn.microsoft.com/en-us/dotnet/api/microsoft.aspnetcore.mvc.emptyresult?view=aspnetcore-6.0"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9.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3"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4.png"/><Relationship Id="rId2" Type="http://schemas.openxmlformats.org/officeDocument/2006/relationships/image" Target="../media/image4.png"/><Relationship Id="rId1" Type="http://schemas.openxmlformats.org/officeDocument/2006/relationships/slideLayout" Target="../slideLayouts/slideLayout25.xml"/><Relationship Id="rId6" Type="http://schemas.openxmlformats.org/officeDocument/2006/relationships/image" Target="../media/image8.png"/><Relationship Id="rId11" Type="http://schemas.openxmlformats.org/officeDocument/2006/relationships/image" Target="../media/image13.png"/><Relationship Id="rId5" Type="http://schemas.openxmlformats.org/officeDocument/2006/relationships/image" Target="../media/image7.png"/><Relationship Id="rId10"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s>
</file>

<file path=ppt/slides/_rels/slide10.xml.rels><?xml version="1.0" encoding="UTF-8" standalone="yes"?>
<Relationships xmlns="http://schemas.openxmlformats.org/package/2006/relationships"><Relationship Id="rId2" Type="http://schemas.openxmlformats.org/officeDocument/2006/relationships/image" Target="../media/image17.gif"/><Relationship Id="rId1" Type="http://schemas.openxmlformats.org/officeDocument/2006/relationships/slideLayout" Target="../slideLayouts/slideLayout25.xml"/></Relationships>
</file>

<file path=ppt/slides/_rels/slide1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26.xml"/></Relationships>
</file>

<file path=ppt/slides/_rels/slide1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25.xml"/></Relationships>
</file>

<file path=ppt/slides/_rels/slide1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2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3.xml"/><Relationship Id="rId5" Type="http://schemas.openxmlformats.org/officeDocument/2006/relationships/image" Target="../media/image24.png"/><Relationship Id="rId4" Type="http://schemas.openxmlformats.org/officeDocument/2006/relationships/image" Target="../media/image23.png"/></Relationships>
</file>

<file path=ppt/slides/_rels/slide16.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30.png"/><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image" Target="../media/image29.png"/><Relationship Id="rId5" Type="http://schemas.openxmlformats.org/officeDocument/2006/relationships/image" Target="../media/image28.png"/><Relationship Id="rId4" Type="http://schemas.openxmlformats.org/officeDocument/2006/relationships/image" Target="../media/image27.png"/></Relationships>
</file>

<file path=ppt/slides/_rels/slide17.xml.rels><?xml version="1.0" encoding="UTF-8" standalone="yes"?>
<Relationships xmlns="http://schemas.openxmlformats.org/package/2006/relationships"><Relationship Id="rId3" Type="http://schemas.openxmlformats.org/officeDocument/2006/relationships/comments" Target="../comments/comment1.xml"/><Relationship Id="rId2" Type="http://schemas.openxmlformats.org/officeDocument/2006/relationships/notesSlide" Target="../notesSlides/notesSlide1.xml"/><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1.png"/><Relationship Id="rId1" Type="http://schemas.openxmlformats.org/officeDocument/2006/relationships/slideLayout" Target="../slideLayouts/slideLayout16.xml"/><Relationship Id="rId5" Type="http://schemas.openxmlformats.org/officeDocument/2006/relationships/image" Target="../media/image34.png"/><Relationship Id="rId4" Type="http://schemas.openxmlformats.org/officeDocument/2006/relationships/image" Target="../media/image33.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xml"/><Relationship Id="rId1" Type="http://schemas.openxmlformats.org/officeDocument/2006/relationships/slideLayout" Target="../slideLayouts/slideLayout16.xml"/><Relationship Id="rId6" Type="http://schemas.openxmlformats.org/officeDocument/2006/relationships/comments" Target="../comments/comment2.xml"/><Relationship Id="rId5" Type="http://schemas.openxmlformats.org/officeDocument/2006/relationships/image" Target="../media/image37.png"/><Relationship Id="rId4" Type="http://schemas.openxmlformats.org/officeDocument/2006/relationships/image" Target="../media/image36.png"/></Relationships>
</file>

<file path=ppt/slides/_rels/slide21.xml.rels><?xml version="1.0" encoding="UTF-8" standalone="yes"?>
<Relationships xmlns="http://schemas.openxmlformats.org/package/2006/relationships"><Relationship Id="rId3" Type="http://schemas.openxmlformats.org/officeDocument/2006/relationships/comments" Target="../comments/comment3.xml"/><Relationship Id="rId2" Type="http://schemas.openxmlformats.org/officeDocument/2006/relationships/image" Target="../media/image38.png"/><Relationship Id="rId1" Type="http://schemas.openxmlformats.org/officeDocument/2006/relationships/slideLayout" Target="../slideLayouts/slideLayout16.xml"/></Relationships>
</file>

<file path=ppt/slides/_rels/slide2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3.xml"/><Relationship Id="rId1" Type="http://schemas.openxmlformats.org/officeDocument/2006/relationships/slideLayout" Target="../slideLayouts/slideLayout16.xml"/><Relationship Id="rId6" Type="http://schemas.openxmlformats.org/officeDocument/2006/relationships/comments" Target="../comments/comment4.xml"/><Relationship Id="rId5" Type="http://schemas.openxmlformats.org/officeDocument/2006/relationships/image" Target="../media/image41.png"/><Relationship Id="rId4" Type="http://schemas.openxmlformats.org/officeDocument/2006/relationships/image" Target="../media/image40.png"/></Relationships>
</file>

<file path=ppt/slides/_rels/slide23.xml.rels><?xml version="1.0" encoding="UTF-8" standalone="yes"?>
<Relationships xmlns="http://schemas.openxmlformats.org/package/2006/relationships"><Relationship Id="rId3" Type="http://schemas.openxmlformats.org/officeDocument/2006/relationships/image" Target="../media/image43.png"/><Relationship Id="rId7" Type="http://schemas.openxmlformats.org/officeDocument/2006/relationships/comments" Target="../comments/comment5.xml"/><Relationship Id="rId2" Type="http://schemas.openxmlformats.org/officeDocument/2006/relationships/image" Target="../media/image42.png"/><Relationship Id="rId1" Type="http://schemas.openxmlformats.org/officeDocument/2006/relationships/slideLayout" Target="../slideLayouts/slideLayout16.xml"/><Relationship Id="rId6" Type="http://schemas.openxmlformats.org/officeDocument/2006/relationships/image" Target="../media/image45.png"/><Relationship Id="rId5" Type="http://schemas.openxmlformats.org/officeDocument/2006/relationships/image" Target="../media/image33.png"/><Relationship Id="rId4" Type="http://schemas.openxmlformats.org/officeDocument/2006/relationships/image" Target="../media/image4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9A70E70-C058-4A66-85BB-82F2C235E05B}"/>
              </a:ext>
            </a:extLst>
          </p:cNvPr>
          <p:cNvSpPr>
            <a:spLocks noGrp="1"/>
          </p:cNvSpPr>
          <p:nvPr>
            <p:ph type="ctrTitle"/>
          </p:nvPr>
        </p:nvSpPr>
        <p:spPr>
          <a:xfrm>
            <a:off x="6437376" y="1874520"/>
            <a:ext cx="4379976" cy="1547583"/>
          </a:xfrm>
        </p:spPr>
        <p:txBody>
          <a:bodyPr>
            <a:normAutofit fontScale="90000"/>
          </a:bodyPr>
          <a:lstStyle/>
          <a:p>
            <a:r>
              <a:rPr lang="en-US" dirty="0"/>
              <a:t>DATA PERSISTENCE </a:t>
            </a:r>
            <a:r>
              <a:rPr lang="en-US" sz="2000" dirty="0"/>
              <a:t>USING ENTITY FRAMEWORK CORE</a:t>
            </a:r>
            <a:endParaRPr lang="en-US" dirty="0"/>
          </a:p>
        </p:txBody>
      </p:sp>
      <p:sp>
        <p:nvSpPr>
          <p:cNvPr id="20" name="Subtitle 2">
            <a:extLst>
              <a:ext uri="{FF2B5EF4-FFF2-40B4-BE49-F238E27FC236}">
                <a16:creationId xmlns:a16="http://schemas.microsoft.com/office/drawing/2014/main" id="{B1DFF4FF-96BE-9147-96D1-A240ED566CE1}"/>
              </a:ext>
            </a:extLst>
          </p:cNvPr>
          <p:cNvSpPr>
            <a:spLocks noGrp="1"/>
          </p:cNvSpPr>
          <p:nvPr>
            <p:ph type="subTitle" idx="1"/>
          </p:nvPr>
        </p:nvSpPr>
        <p:spPr>
          <a:xfrm>
            <a:off x="6437376" y="3483864"/>
            <a:ext cx="4379976" cy="613370"/>
          </a:xfrm>
        </p:spPr>
        <p:txBody>
          <a:bodyPr/>
          <a:lstStyle/>
          <a:p>
            <a:r>
              <a:rPr lang="en-US" dirty="0"/>
              <a:t>In ASP.NET Core MVC</a:t>
            </a:r>
          </a:p>
        </p:txBody>
      </p:sp>
    </p:spTree>
    <p:extLst>
      <p:ext uri="{BB962C8B-B14F-4D97-AF65-F5344CB8AC3E}">
        <p14:creationId xmlns:p14="http://schemas.microsoft.com/office/powerpoint/2010/main" val="14761372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9A0088-0B89-CC01-4D6C-C1AE9B1C12B5}"/>
              </a:ext>
            </a:extLst>
          </p:cNvPr>
          <p:cNvSpPr>
            <a:spLocks noGrp="1"/>
          </p:cNvSpPr>
          <p:nvPr>
            <p:ph type="title"/>
          </p:nvPr>
        </p:nvSpPr>
        <p:spPr>
          <a:xfrm>
            <a:off x="904875" y="447897"/>
            <a:ext cx="6675245" cy="1325563"/>
          </a:xfrm>
        </p:spPr>
        <p:txBody>
          <a:bodyPr>
            <a:normAutofit/>
          </a:bodyPr>
          <a:lstStyle/>
          <a:p>
            <a:r>
              <a:rPr lang="en-US" dirty="0"/>
              <a:t>The IActionresult type</a:t>
            </a:r>
          </a:p>
        </p:txBody>
      </p:sp>
      <p:sp>
        <p:nvSpPr>
          <p:cNvPr id="5" name="Slide Number Placeholder 4">
            <a:extLst>
              <a:ext uri="{FF2B5EF4-FFF2-40B4-BE49-F238E27FC236}">
                <a16:creationId xmlns:a16="http://schemas.microsoft.com/office/drawing/2014/main" id="{E3EA9B1B-C7F6-8E94-EFE9-71B0BBFE5C37}"/>
              </a:ext>
            </a:extLst>
          </p:cNvPr>
          <p:cNvSpPr>
            <a:spLocks noGrp="1"/>
          </p:cNvSpPr>
          <p:nvPr>
            <p:ph type="sldNum" sz="quarter" idx="12"/>
          </p:nvPr>
        </p:nvSpPr>
        <p:spPr/>
        <p:txBody>
          <a:bodyPr/>
          <a:lstStyle/>
          <a:p>
            <a:fld id="{B5CEABB6-07DC-46E8-9B57-56EC44A396E5}" type="slidenum">
              <a:rPr lang="en-US" smtClean="0"/>
              <a:t>2</a:t>
            </a:fld>
            <a:endParaRPr lang="en-US" dirty="0"/>
          </a:p>
        </p:txBody>
      </p:sp>
      <p:sp>
        <p:nvSpPr>
          <p:cNvPr id="6" name="Text Placeholder 5">
            <a:extLst>
              <a:ext uri="{FF2B5EF4-FFF2-40B4-BE49-F238E27FC236}">
                <a16:creationId xmlns:a16="http://schemas.microsoft.com/office/drawing/2014/main" id="{49D17EA6-97F5-C5C1-F563-3AFBF1AE05AA}"/>
              </a:ext>
            </a:extLst>
          </p:cNvPr>
          <p:cNvSpPr>
            <a:spLocks noGrp="1"/>
          </p:cNvSpPr>
          <p:nvPr>
            <p:ph type="body" sz="quarter" idx="13"/>
          </p:nvPr>
        </p:nvSpPr>
        <p:spPr>
          <a:xfrm>
            <a:off x="838199" y="1933575"/>
            <a:ext cx="4502921" cy="3662553"/>
          </a:xfrm>
        </p:spPr>
        <p:txBody>
          <a:bodyPr>
            <a:normAutofit fontScale="92500"/>
          </a:bodyPr>
          <a:lstStyle/>
          <a:p>
            <a:r>
              <a:rPr lang="en-US" sz="1600" dirty="0"/>
              <a:t>The </a:t>
            </a:r>
            <a:r>
              <a:rPr lang="en-US" sz="1600" b="1" dirty="0"/>
              <a:t>IActionResult</a:t>
            </a:r>
            <a:r>
              <a:rPr lang="en-US" sz="1600" dirty="0"/>
              <a:t> Type is generally the default return type within scaffolded ASP.NET Core code – as it supports returning any of the concrete </a:t>
            </a:r>
            <a:r>
              <a:rPr lang="en-US" sz="1600" b="1" dirty="0"/>
              <a:t>ActionResult</a:t>
            </a:r>
            <a:r>
              <a:rPr lang="en-US" sz="1600" dirty="0"/>
              <a:t> class subtypes available within ASP.NET Core.</a:t>
            </a:r>
          </a:p>
          <a:p>
            <a:endParaRPr lang="en-US" sz="1600" dirty="0"/>
          </a:p>
          <a:p>
            <a:r>
              <a:rPr lang="en-US" sz="1600" dirty="0"/>
              <a:t>Methods can (and should) be left as </a:t>
            </a:r>
            <a:r>
              <a:rPr lang="en-US" sz="1600" b="1" dirty="0"/>
              <a:t>IActionResult</a:t>
            </a:r>
            <a:r>
              <a:rPr lang="en-US" sz="1600" dirty="0"/>
              <a:t> when it is possible to have multiple </a:t>
            </a:r>
            <a:r>
              <a:rPr lang="en-US" sz="1600" b="1" dirty="0"/>
              <a:t>ActionResult</a:t>
            </a:r>
            <a:r>
              <a:rPr lang="en-US" sz="1600" dirty="0"/>
              <a:t> sub-types returned from a Controller Action (or you are not certain which may be returned yet)</a:t>
            </a:r>
          </a:p>
        </p:txBody>
      </p:sp>
    </p:spTree>
    <p:extLst>
      <p:ext uri="{BB962C8B-B14F-4D97-AF65-F5344CB8AC3E}">
        <p14:creationId xmlns:p14="http://schemas.microsoft.com/office/powerpoint/2010/main" val="176826798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481264-6847-5CD1-6B43-F1CC4E8449AA}"/>
              </a:ext>
            </a:extLst>
          </p:cNvPr>
          <p:cNvSpPr>
            <a:spLocks noGrp="1"/>
          </p:cNvSpPr>
          <p:nvPr>
            <p:ph type="title"/>
          </p:nvPr>
        </p:nvSpPr>
        <p:spPr/>
        <p:txBody>
          <a:bodyPr/>
          <a:lstStyle/>
          <a:p>
            <a:r>
              <a:rPr lang="en-US" dirty="0"/>
              <a:t>Available actionresult types</a:t>
            </a:r>
            <a:br>
              <a:rPr lang="en-US" dirty="0"/>
            </a:br>
            <a:r>
              <a:rPr lang="en-US" sz="2000" dirty="0"/>
              <a:t>for controller actions</a:t>
            </a:r>
            <a:endParaRPr lang="en-US" dirty="0"/>
          </a:p>
        </p:txBody>
      </p:sp>
      <p:sp>
        <p:nvSpPr>
          <p:cNvPr id="5" name="Slide Number Placeholder 4">
            <a:extLst>
              <a:ext uri="{FF2B5EF4-FFF2-40B4-BE49-F238E27FC236}">
                <a16:creationId xmlns:a16="http://schemas.microsoft.com/office/drawing/2014/main" id="{E734C38E-A5BC-481B-F2B4-3338DD7747F3}"/>
              </a:ext>
            </a:extLst>
          </p:cNvPr>
          <p:cNvSpPr>
            <a:spLocks noGrp="1"/>
          </p:cNvSpPr>
          <p:nvPr>
            <p:ph type="sldNum" sz="quarter" idx="12"/>
          </p:nvPr>
        </p:nvSpPr>
        <p:spPr/>
        <p:txBody>
          <a:bodyPr/>
          <a:lstStyle/>
          <a:p>
            <a:pPr algn="l"/>
            <a:fld id="{B5CEABB6-07DC-46E8-9B57-56EC44A396E5}" type="slidenum">
              <a:rPr lang="en-US" smtClean="0"/>
              <a:pPr algn="l"/>
              <a:t>3</a:t>
            </a:fld>
            <a:endParaRPr lang="en-US" dirty="0"/>
          </a:p>
        </p:txBody>
      </p:sp>
      <p:sp>
        <p:nvSpPr>
          <p:cNvPr id="10" name="Text Placeholder 9">
            <a:extLst>
              <a:ext uri="{FF2B5EF4-FFF2-40B4-BE49-F238E27FC236}">
                <a16:creationId xmlns:a16="http://schemas.microsoft.com/office/drawing/2014/main" id="{68D7514C-8664-CF53-E4D2-05ED6D126D14}"/>
              </a:ext>
            </a:extLst>
          </p:cNvPr>
          <p:cNvSpPr>
            <a:spLocks noGrp="1"/>
          </p:cNvSpPr>
          <p:nvPr>
            <p:ph type="body" sz="quarter" idx="17"/>
          </p:nvPr>
        </p:nvSpPr>
        <p:spPr>
          <a:xfrm>
            <a:off x="5042570" y="2128609"/>
            <a:ext cx="4383442" cy="3213982"/>
          </a:xfrm>
        </p:spPr>
        <p:txBody>
          <a:bodyPr>
            <a:norm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2"/>
              </a:rPr>
              <a:t>Microsoft.AspNetCore.Mvc.RedirectResult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3"/>
              </a:rPr>
              <a:t>Microsoft.AspNetCore.Mvc.RedirectToActionResult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4"/>
              </a:rPr>
              <a:t>Microsoft.AspNetCore.Mvc.RedirectToPageResult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5"/>
              </a:rPr>
              <a:t>Microsoft.AspNetCore.Mvc.RedirectToRouteResult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6"/>
              </a:rPr>
              <a:t>Microsoft.AspNetCore.Mvc.SignInResult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7"/>
              </a:rPr>
              <a:t>Microsoft.AspNetCore.Mvc.SignOutResult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8"/>
              </a:rPr>
              <a:t>Microsoft.AspNetCore.Mvc.StatusCodeResult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9"/>
              </a:rPr>
              <a:t>Microsoft.AspNetCore.Mvc.ViewComponentResult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10"/>
              </a:rPr>
              <a:t>Microsoft.AspNetCore.Mvc.ViewResult</a:t>
            </a:r>
            <a:endParaRPr kumimoji="0" lang="en-US" altLang="en-US" b="0" i="0" u="none" strike="noStrike" cap="none" normalizeH="0" baseline="0" dirty="0">
              <a:ln>
                <a:noFill/>
              </a:ln>
              <a:solidFill>
                <a:schemeClr val="tx1"/>
              </a:solidFill>
              <a:effectLst/>
              <a:latin typeface="Arial" panose="020B0604020202020204" pitchFamily="34" charset="0"/>
            </a:endParaRPr>
          </a:p>
        </p:txBody>
      </p:sp>
      <p:sp>
        <p:nvSpPr>
          <p:cNvPr id="18" name="TextBox 17">
            <a:extLst>
              <a:ext uri="{FF2B5EF4-FFF2-40B4-BE49-F238E27FC236}">
                <a16:creationId xmlns:a16="http://schemas.microsoft.com/office/drawing/2014/main" id="{EE050F29-E891-F356-6A35-A4950D844A52}"/>
              </a:ext>
            </a:extLst>
          </p:cNvPr>
          <p:cNvSpPr txBox="1"/>
          <p:nvPr/>
        </p:nvSpPr>
        <p:spPr>
          <a:xfrm>
            <a:off x="1162228" y="5718272"/>
            <a:ext cx="5486400" cy="369332"/>
          </a:xfrm>
          <a:prstGeom prst="rect">
            <a:avLst/>
          </a:prstGeom>
          <a:noFill/>
        </p:spPr>
        <p:txBody>
          <a:bodyPr wrap="square" rtlCol="0">
            <a:spAutoFit/>
          </a:bodyPr>
          <a:lstStyle/>
          <a:p>
            <a:r>
              <a:rPr lang="en-US" dirty="0"/>
              <a:t>REFERENCE URL : </a:t>
            </a:r>
            <a:r>
              <a:rPr lang="en-US" dirty="0">
                <a:hlinkClick r:id="rId11"/>
              </a:rPr>
              <a:t>ActionResult Class and Subtypes</a:t>
            </a:r>
            <a:endParaRPr lang="en-US" dirty="0"/>
          </a:p>
        </p:txBody>
      </p:sp>
      <p:sp>
        <p:nvSpPr>
          <p:cNvPr id="22" name="Rectangle 6">
            <a:extLst>
              <a:ext uri="{FF2B5EF4-FFF2-40B4-BE49-F238E27FC236}">
                <a16:creationId xmlns:a16="http://schemas.microsoft.com/office/drawing/2014/main" id="{18ED98D0-E615-DD6F-0027-709A357AE4A2}"/>
              </a:ext>
            </a:extLst>
          </p:cNvPr>
          <p:cNvSpPr>
            <a:spLocks noGrp="1" noChangeArrowheads="1"/>
          </p:cNvSpPr>
          <p:nvPr>
            <p:ph type="body" sz="quarter" idx="13"/>
          </p:nvPr>
        </p:nvSpPr>
        <p:spPr bwMode="auto">
          <a:xfrm>
            <a:off x="838200" y="2128609"/>
            <a:ext cx="4326826" cy="22467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12"/>
              </a:rPr>
              <a:t>Microsoft.AspNetCore.Mvc.ChallengeResult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13"/>
              </a:rPr>
              <a:t>Microsoft.AspNetCore.Mvc.ContentResult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14"/>
              </a:rPr>
              <a:t>Microsoft.AspNetCore.Mvc.EmptyResult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15"/>
              </a:rPr>
              <a:t>Microsoft.AspNetCore.Mvc.FileResult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16"/>
              </a:rPr>
              <a:t>Microsoft.AspNetCore.Mvc.ForbidResult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17"/>
              </a:rPr>
              <a:t>Microsoft.AspNetCore.Mvc.JsonResult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18"/>
              </a:rPr>
              <a:t>Microsoft.AspNetCore.Mvc.LocalRedirectResult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19"/>
              </a:rPr>
              <a:t>Microsoft.AspNetCore.Mvc.ObjectResult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20"/>
              </a:rPr>
              <a:t>Microsoft.AspNetCore.Mvc.PartialViewResult</a:t>
            </a:r>
            <a:r>
              <a:rPr kumimoji="0" lang="en-US" altLang="en-US"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err="1">
                <a:ln>
                  <a:noFill/>
                </a:ln>
                <a:solidFill>
                  <a:schemeClr val="tx1"/>
                </a:solidFill>
                <a:effectLst/>
                <a:latin typeface="Arial" panose="020B0604020202020204" pitchFamily="34" charset="0"/>
                <a:hlinkClick r:id="rId21"/>
              </a:rPr>
              <a:t>Microsoft.AspNetCore.Mvc.RazorPages.PageResult</a:t>
            </a:r>
            <a:endParaRPr kumimoji="0" lang="en-US" altLang="en-US"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382865296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BDD6D6-5E59-E638-8AB2-9A5A2D92508B}"/>
              </a:ext>
            </a:extLst>
          </p:cNvPr>
          <p:cNvSpPr>
            <a:spLocks noGrp="1"/>
          </p:cNvSpPr>
          <p:nvPr>
            <p:ph type="title"/>
          </p:nvPr>
        </p:nvSpPr>
        <p:spPr/>
        <p:txBody>
          <a:bodyPr/>
          <a:lstStyle/>
          <a:p>
            <a:r>
              <a:rPr lang="en-US" dirty="0"/>
              <a:t>Notable </a:t>
            </a:r>
            <a:r>
              <a:rPr lang="en-CA" dirty="0"/>
              <a:t>ActionResult Subtypes</a:t>
            </a:r>
            <a:endParaRPr lang="en-US" dirty="0"/>
          </a:p>
        </p:txBody>
      </p:sp>
      <p:sp>
        <p:nvSpPr>
          <p:cNvPr id="5" name="Slide Number Placeholder 4">
            <a:extLst>
              <a:ext uri="{FF2B5EF4-FFF2-40B4-BE49-F238E27FC236}">
                <a16:creationId xmlns:a16="http://schemas.microsoft.com/office/drawing/2014/main" id="{ADD3B479-EC73-DD2B-7A46-3C5432A3C542}"/>
              </a:ext>
            </a:extLst>
          </p:cNvPr>
          <p:cNvSpPr>
            <a:spLocks noGrp="1"/>
          </p:cNvSpPr>
          <p:nvPr>
            <p:ph type="sldNum" sz="quarter" idx="12"/>
          </p:nvPr>
        </p:nvSpPr>
        <p:spPr/>
        <p:txBody>
          <a:bodyPr/>
          <a:lstStyle/>
          <a:p>
            <a:fld id="{B5CEABB6-07DC-46E8-9B57-56EC44A396E5}" type="slidenum">
              <a:rPr lang="en-US" smtClean="0"/>
              <a:t>4</a:t>
            </a:fld>
            <a:endParaRPr lang="en-US" dirty="0"/>
          </a:p>
        </p:txBody>
      </p:sp>
      <p:sp>
        <p:nvSpPr>
          <p:cNvPr id="8" name="Text Placeholder 7">
            <a:extLst>
              <a:ext uri="{FF2B5EF4-FFF2-40B4-BE49-F238E27FC236}">
                <a16:creationId xmlns:a16="http://schemas.microsoft.com/office/drawing/2014/main" id="{13916280-6E6B-7FA1-9C7B-3C112EDB5E47}"/>
              </a:ext>
            </a:extLst>
          </p:cNvPr>
          <p:cNvSpPr>
            <a:spLocks noGrp="1"/>
          </p:cNvSpPr>
          <p:nvPr>
            <p:ph type="body" sz="quarter" idx="15"/>
          </p:nvPr>
        </p:nvSpPr>
        <p:spPr>
          <a:xfrm>
            <a:off x="849263" y="1720380"/>
            <a:ext cx="8234915" cy="4635969"/>
          </a:xfrm>
        </p:spPr>
        <p:txBody>
          <a:bodyPr>
            <a:noAutofit/>
          </a:bodyPr>
          <a:lstStyle/>
          <a:p>
            <a:pPr lvl="1"/>
            <a:r>
              <a:rPr lang="en-CA" sz="1400" b="1" dirty="0">
                <a:solidFill>
                  <a:srgbClr val="00B050"/>
                </a:solidFill>
              </a:rPr>
              <a:t>ViewResult</a:t>
            </a:r>
            <a:r>
              <a:rPr lang="en-CA" sz="1400" dirty="0"/>
              <a:t> - Renders a specified view to the response stream</a:t>
            </a:r>
            <a:br>
              <a:rPr lang="en-CA" sz="1400" dirty="0"/>
            </a:br>
            <a:r>
              <a:rPr lang="en-CA" sz="1400" b="1" dirty="0"/>
              <a:t>PartialViewResult</a:t>
            </a:r>
            <a:r>
              <a:rPr lang="en-CA" sz="1400" dirty="0"/>
              <a:t> - Renders a specified partial view to the response stream</a:t>
            </a:r>
          </a:p>
          <a:p>
            <a:pPr lvl="1"/>
            <a:r>
              <a:rPr lang="en-CA" sz="1400" b="1" dirty="0"/>
              <a:t>EmptyResult</a:t>
            </a:r>
            <a:r>
              <a:rPr lang="en-CA" sz="1400" dirty="0"/>
              <a:t> - An empty response is returned</a:t>
            </a:r>
          </a:p>
          <a:p>
            <a:pPr lvl="1"/>
            <a:r>
              <a:rPr lang="en-CA" sz="1400" b="1" dirty="0"/>
              <a:t>RedirectResult</a:t>
            </a:r>
            <a:r>
              <a:rPr lang="en-CA" sz="1400" dirty="0"/>
              <a:t> - Performs an HTTP redirection to a specified URL</a:t>
            </a:r>
          </a:p>
          <a:p>
            <a:pPr lvl="1"/>
            <a:r>
              <a:rPr lang="en-CA" sz="1400" b="1" dirty="0"/>
              <a:t>RedirectToRouteResult</a:t>
            </a:r>
            <a:r>
              <a:rPr lang="en-CA" sz="1400" dirty="0"/>
              <a:t> - Performs an HTTP redirection to a URL that is determined by the routing engine, based on given route data</a:t>
            </a:r>
          </a:p>
          <a:p>
            <a:pPr lvl="1"/>
            <a:r>
              <a:rPr lang="en-CA" sz="1400" b="1" dirty="0"/>
              <a:t>JsonResult</a:t>
            </a:r>
            <a:r>
              <a:rPr lang="en-CA" sz="1400" dirty="0"/>
              <a:t> - Serializes a given ViewData object to JSON format</a:t>
            </a:r>
          </a:p>
          <a:p>
            <a:pPr lvl="1"/>
            <a:r>
              <a:rPr lang="en-CA" sz="1400" b="1" dirty="0"/>
              <a:t>JavaScriptResult</a:t>
            </a:r>
            <a:r>
              <a:rPr lang="en-CA" sz="1400" dirty="0"/>
              <a:t> - Returns a piece of JavaScript code that can be executed on the client</a:t>
            </a:r>
          </a:p>
          <a:p>
            <a:pPr lvl="1"/>
            <a:r>
              <a:rPr lang="en-CA" sz="1400" b="1" dirty="0">
                <a:solidFill>
                  <a:srgbClr val="00B050"/>
                </a:solidFill>
              </a:rPr>
              <a:t>ContentResult</a:t>
            </a:r>
            <a:r>
              <a:rPr lang="en-CA" sz="1400" dirty="0"/>
              <a:t> - Writes content to the response stream without requiring a view</a:t>
            </a:r>
          </a:p>
          <a:p>
            <a:pPr lvl="1"/>
            <a:r>
              <a:rPr lang="en-CA" sz="1400" b="1" dirty="0"/>
              <a:t>FileContentResult</a:t>
            </a:r>
            <a:r>
              <a:rPr lang="en-CA" sz="1400" dirty="0"/>
              <a:t> - Returns a file to the client</a:t>
            </a:r>
          </a:p>
          <a:p>
            <a:pPr lvl="1"/>
            <a:r>
              <a:rPr lang="en-CA" sz="1400" b="1" dirty="0"/>
              <a:t>FileStreamResult</a:t>
            </a:r>
            <a:r>
              <a:rPr lang="en-CA" sz="1400" dirty="0"/>
              <a:t> - Returns a file to the client, which is provided by a Stream</a:t>
            </a:r>
          </a:p>
          <a:p>
            <a:pPr lvl="1"/>
            <a:r>
              <a:rPr lang="en-CA" sz="1400" b="1" dirty="0"/>
              <a:t>FilePathResult</a:t>
            </a:r>
            <a:r>
              <a:rPr lang="en-CA" sz="1400" dirty="0"/>
              <a:t> - Returns a file to the client</a:t>
            </a:r>
          </a:p>
          <a:p>
            <a:endParaRPr lang="en-US" sz="1000" dirty="0"/>
          </a:p>
        </p:txBody>
      </p:sp>
    </p:spTree>
    <p:extLst>
      <p:ext uri="{BB962C8B-B14F-4D97-AF65-F5344CB8AC3E}">
        <p14:creationId xmlns:p14="http://schemas.microsoft.com/office/powerpoint/2010/main" val="33618350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7088F3-F8AD-E98E-7918-CD6FF2447C92}"/>
              </a:ext>
            </a:extLst>
          </p:cNvPr>
          <p:cNvSpPr>
            <a:spLocks noGrp="1"/>
          </p:cNvSpPr>
          <p:nvPr>
            <p:ph type="title"/>
          </p:nvPr>
        </p:nvSpPr>
        <p:spPr/>
        <p:txBody>
          <a:bodyPr/>
          <a:lstStyle/>
          <a:p>
            <a:r>
              <a:rPr lang="en-US" dirty="0"/>
              <a:t>Models </a:t>
            </a:r>
            <a:r>
              <a:rPr lang="en-US" sz="1800" dirty="0"/>
              <a:t>vs</a:t>
            </a:r>
            <a:r>
              <a:rPr lang="en-US" dirty="0"/>
              <a:t> viewmodels</a:t>
            </a:r>
          </a:p>
        </p:txBody>
      </p:sp>
      <p:sp>
        <p:nvSpPr>
          <p:cNvPr id="5" name="Slide Number Placeholder 4">
            <a:extLst>
              <a:ext uri="{FF2B5EF4-FFF2-40B4-BE49-F238E27FC236}">
                <a16:creationId xmlns:a16="http://schemas.microsoft.com/office/drawing/2014/main" id="{3FFD0CB2-7C75-1F98-73C7-2CB051C2FBAE}"/>
              </a:ext>
            </a:extLst>
          </p:cNvPr>
          <p:cNvSpPr>
            <a:spLocks noGrp="1"/>
          </p:cNvSpPr>
          <p:nvPr>
            <p:ph type="sldNum" sz="quarter" idx="12"/>
          </p:nvPr>
        </p:nvSpPr>
        <p:spPr/>
        <p:txBody>
          <a:bodyPr/>
          <a:lstStyle/>
          <a:p>
            <a:fld id="{B5CEABB6-07DC-46E8-9B57-56EC44A396E5}" type="slidenum">
              <a:rPr lang="en-US" smtClean="0"/>
              <a:t>5</a:t>
            </a:fld>
            <a:endParaRPr lang="en-US" dirty="0"/>
          </a:p>
        </p:txBody>
      </p:sp>
      <p:sp>
        <p:nvSpPr>
          <p:cNvPr id="6" name="Text Placeholder 5">
            <a:extLst>
              <a:ext uri="{FF2B5EF4-FFF2-40B4-BE49-F238E27FC236}">
                <a16:creationId xmlns:a16="http://schemas.microsoft.com/office/drawing/2014/main" id="{46DE1AF5-1C30-AB9A-9C4B-DC040B422BBC}"/>
              </a:ext>
            </a:extLst>
          </p:cNvPr>
          <p:cNvSpPr>
            <a:spLocks noGrp="1"/>
          </p:cNvSpPr>
          <p:nvPr>
            <p:ph type="body" sz="quarter" idx="13"/>
          </p:nvPr>
        </p:nvSpPr>
        <p:spPr>
          <a:xfrm>
            <a:off x="838200" y="1563421"/>
            <a:ext cx="7991764" cy="3888796"/>
          </a:xfrm>
        </p:spPr>
        <p:txBody>
          <a:bodyPr>
            <a:normAutofit/>
          </a:bodyPr>
          <a:lstStyle/>
          <a:p>
            <a:r>
              <a:rPr lang="en-CA" dirty="0"/>
              <a:t>We have previously created model(s) that do not map to a DB / Tables</a:t>
            </a:r>
          </a:p>
          <a:p>
            <a:endParaRPr lang="en-CA" dirty="0"/>
          </a:p>
          <a:p>
            <a:r>
              <a:rPr lang="en-CA" dirty="0"/>
              <a:t>As previously discussed, models can act as wrappers for database objects (but they don’t have to)</a:t>
            </a:r>
          </a:p>
          <a:p>
            <a:endParaRPr lang="en-CA" dirty="0"/>
          </a:p>
          <a:p>
            <a:r>
              <a:rPr lang="en-CA" b="1" dirty="0"/>
              <a:t>When we create a model whose purpose is to work with a strongly typed view, passing data and validating it etc...but NOT working </a:t>
            </a:r>
            <a:r>
              <a:rPr lang="en-CA" b="1" u="sng" dirty="0">
                <a:solidFill>
                  <a:srgbClr val="FF0000"/>
                </a:solidFill>
              </a:rPr>
              <a:t>directly</a:t>
            </a:r>
            <a:r>
              <a:rPr lang="en-CA" b="1" dirty="0"/>
              <a:t> with a database we call this a ‘</a:t>
            </a:r>
            <a:r>
              <a:rPr lang="en-CA" b="1" dirty="0">
                <a:solidFill>
                  <a:srgbClr val="FF0000"/>
                </a:solidFill>
              </a:rPr>
              <a:t>View Model</a:t>
            </a:r>
            <a:r>
              <a:rPr lang="en-CA" b="1" dirty="0"/>
              <a:t>’</a:t>
            </a:r>
          </a:p>
          <a:p>
            <a:endParaRPr lang="en-CA" b="1" dirty="0"/>
          </a:p>
          <a:p>
            <a:r>
              <a:rPr lang="en-CA" dirty="0"/>
              <a:t>The Learning Activity for this module will be using a full DB-integrated Model</a:t>
            </a:r>
          </a:p>
        </p:txBody>
      </p:sp>
      <p:pic>
        <p:nvPicPr>
          <p:cNvPr id="17" name="Picture 16">
            <a:extLst>
              <a:ext uri="{FF2B5EF4-FFF2-40B4-BE49-F238E27FC236}">
                <a16:creationId xmlns:a16="http://schemas.microsoft.com/office/drawing/2014/main" id="{1162C337-1339-6122-69A8-4400003A81EF}"/>
              </a:ext>
            </a:extLst>
          </p:cNvPr>
          <p:cNvPicPr>
            <a:picLocks noChangeAspect="1"/>
          </p:cNvPicPr>
          <p:nvPr/>
        </p:nvPicPr>
        <p:blipFill>
          <a:blip r:embed="rId2"/>
          <a:stretch>
            <a:fillRect/>
          </a:stretch>
        </p:blipFill>
        <p:spPr>
          <a:xfrm>
            <a:off x="840473" y="3902645"/>
            <a:ext cx="3924162" cy="2261656"/>
          </a:xfrm>
          <a:prstGeom prst="rect">
            <a:avLst/>
          </a:prstGeom>
        </p:spPr>
      </p:pic>
    </p:spTree>
    <p:extLst>
      <p:ext uri="{BB962C8B-B14F-4D97-AF65-F5344CB8AC3E}">
        <p14:creationId xmlns:p14="http://schemas.microsoft.com/office/powerpoint/2010/main" val="36986136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980275" y="379190"/>
            <a:ext cx="7442675" cy="711645"/>
          </a:xfrm>
        </p:spPr>
        <p:txBody>
          <a:bodyPr/>
          <a:lstStyle/>
          <a:p>
            <a:r>
              <a:rPr lang="en-US" dirty="0"/>
              <a:t>Create a new Model class</a:t>
            </a:r>
          </a:p>
        </p:txBody>
      </p:sp>
      <p:sp>
        <p:nvSpPr>
          <p:cNvPr id="3" name="Content Placeholder 2"/>
          <p:cNvSpPr>
            <a:spLocks noGrp="1"/>
          </p:cNvSpPr>
          <p:nvPr>
            <p:ph idx="1"/>
          </p:nvPr>
        </p:nvSpPr>
        <p:spPr>
          <a:xfrm>
            <a:off x="932763" y="1267558"/>
            <a:ext cx="9537700" cy="846260"/>
          </a:xfrm>
        </p:spPr>
        <p:txBody>
          <a:bodyPr>
            <a:normAutofit/>
          </a:bodyPr>
          <a:lstStyle/>
          <a:p>
            <a:endParaRPr lang="en-US" sz="1600" dirty="0"/>
          </a:p>
          <a:p>
            <a:endParaRPr lang="en-US" sz="1600" dirty="0"/>
          </a:p>
        </p:txBody>
      </p:sp>
      <p:pic>
        <p:nvPicPr>
          <p:cNvPr id="13" name="Picture 12">
            <a:extLst>
              <a:ext uri="{FF2B5EF4-FFF2-40B4-BE49-F238E27FC236}">
                <a16:creationId xmlns:a16="http://schemas.microsoft.com/office/drawing/2014/main" id="{C703D762-E887-CE3D-C2BD-976ECFF5C435}"/>
              </a:ext>
            </a:extLst>
          </p:cNvPr>
          <p:cNvPicPr>
            <a:picLocks noChangeAspect="1"/>
          </p:cNvPicPr>
          <p:nvPr/>
        </p:nvPicPr>
        <p:blipFill>
          <a:blip r:embed="rId2"/>
          <a:stretch>
            <a:fillRect/>
          </a:stretch>
        </p:blipFill>
        <p:spPr>
          <a:xfrm>
            <a:off x="2631787" y="1404361"/>
            <a:ext cx="6928421" cy="5074449"/>
          </a:xfrm>
          <a:prstGeom prst="rect">
            <a:avLst/>
          </a:prstGeom>
        </p:spPr>
      </p:pic>
      <p:pic>
        <p:nvPicPr>
          <p:cNvPr id="5" name="Picture 4">
            <a:extLst>
              <a:ext uri="{FF2B5EF4-FFF2-40B4-BE49-F238E27FC236}">
                <a16:creationId xmlns:a16="http://schemas.microsoft.com/office/drawing/2014/main" id="{FE4D312A-5681-DDBD-33D3-4D68CB7234EB}"/>
              </a:ext>
            </a:extLst>
          </p:cNvPr>
          <p:cNvPicPr>
            <a:picLocks noChangeAspect="1"/>
          </p:cNvPicPr>
          <p:nvPr/>
        </p:nvPicPr>
        <p:blipFill>
          <a:blip r:embed="rId3"/>
          <a:stretch>
            <a:fillRect/>
          </a:stretch>
        </p:blipFill>
        <p:spPr>
          <a:xfrm>
            <a:off x="1836104" y="1224862"/>
            <a:ext cx="7731018" cy="5433446"/>
          </a:xfrm>
          <a:prstGeom prst="rect">
            <a:avLst/>
          </a:prstGeom>
        </p:spPr>
      </p:pic>
    </p:spTree>
    <p:extLst>
      <p:ext uri="{BB962C8B-B14F-4D97-AF65-F5344CB8AC3E}">
        <p14:creationId xmlns:p14="http://schemas.microsoft.com/office/powerpoint/2010/main" val="1355226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4124F4-0D0F-F415-321F-560291C618DE}"/>
              </a:ext>
            </a:extLst>
          </p:cNvPr>
          <p:cNvSpPr>
            <a:spLocks noGrp="1"/>
          </p:cNvSpPr>
          <p:nvPr>
            <p:ph type="ctrTitle"/>
          </p:nvPr>
        </p:nvSpPr>
        <p:spPr/>
        <p:txBody>
          <a:bodyPr/>
          <a:lstStyle/>
          <a:p>
            <a:r>
              <a:rPr lang="en-US" dirty="0"/>
              <a:t>The entity framework</a:t>
            </a:r>
          </a:p>
        </p:txBody>
      </p:sp>
      <p:sp>
        <p:nvSpPr>
          <p:cNvPr id="3" name="Subtitle 2">
            <a:extLst>
              <a:ext uri="{FF2B5EF4-FFF2-40B4-BE49-F238E27FC236}">
                <a16:creationId xmlns:a16="http://schemas.microsoft.com/office/drawing/2014/main" id="{9C048E30-A4DF-B1AC-C9F2-4DDA9AE6FB1E}"/>
              </a:ext>
            </a:extLst>
          </p:cNvPr>
          <p:cNvSpPr>
            <a:spLocks noGrp="1"/>
          </p:cNvSpPr>
          <p:nvPr>
            <p:ph type="subTitle" idx="1"/>
          </p:nvPr>
        </p:nvSpPr>
        <p:spPr/>
        <p:txBody>
          <a:bodyPr/>
          <a:lstStyle/>
          <a:p>
            <a:r>
              <a:rPr lang="en-US" dirty="0"/>
              <a:t>Our path forward for data-centric development</a:t>
            </a:r>
          </a:p>
        </p:txBody>
      </p:sp>
    </p:spTree>
    <p:extLst>
      <p:ext uri="{BB962C8B-B14F-4D97-AF65-F5344CB8AC3E}">
        <p14:creationId xmlns:p14="http://schemas.microsoft.com/office/powerpoint/2010/main" val="18452289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DEBE6E-A69C-8FFF-7821-DC1D171E3BEE}"/>
              </a:ext>
            </a:extLst>
          </p:cNvPr>
          <p:cNvSpPr>
            <a:spLocks noGrp="1"/>
          </p:cNvSpPr>
          <p:nvPr>
            <p:ph type="title"/>
          </p:nvPr>
        </p:nvSpPr>
        <p:spPr/>
        <p:txBody>
          <a:bodyPr>
            <a:normAutofit/>
          </a:bodyPr>
          <a:lstStyle/>
          <a:p>
            <a:r>
              <a:rPr lang="en-US" dirty="0"/>
              <a:t>Introduction to the Entity Framework</a:t>
            </a:r>
          </a:p>
        </p:txBody>
      </p:sp>
      <p:sp>
        <p:nvSpPr>
          <p:cNvPr id="3" name="Content Placeholder 2">
            <a:extLst>
              <a:ext uri="{FF2B5EF4-FFF2-40B4-BE49-F238E27FC236}">
                <a16:creationId xmlns:a16="http://schemas.microsoft.com/office/drawing/2014/main" id="{C0268085-786F-3D61-5CDC-FD080F49F61C}"/>
              </a:ext>
            </a:extLst>
          </p:cNvPr>
          <p:cNvSpPr>
            <a:spLocks noGrp="1"/>
          </p:cNvSpPr>
          <p:nvPr>
            <p:ph idx="1"/>
          </p:nvPr>
        </p:nvSpPr>
        <p:spPr/>
        <p:txBody>
          <a:bodyPr>
            <a:normAutofit/>
          </a:bodyPr>
          <a:lstStyle/>
          <a:p>
            <a:r>
              <a:rPr lang="en-CA" sz="2400" dirty="0"/>
              <a:t>The </a:t>
            </a:r>
            <a:r>
              <a:rPr lang="en-CA" sz="2400" b="1" u="sng" dirty="0"/>
              <a:t>Entity Framework Core</a:t>
            </a:r>
            <a:r>
              <a:rPr lang="en-CA" sz="2400" b="1" dirty="0"/>
              <a:t> (EF Core)</a:t>
            </a:r>
            <a:r>
              <a:rPr lang="en-CA" sz="2400" b="1" i="1" dirty="0"/>
              <a:t> </a:t>
            </a:r>
            <a:r>
              <a:rPr lang="en-CA" sz="2400" dirty="0"/>
              <a:t>is one of components available within .NET and allows us to access a database using </a:t>
            </a:r>
            <a:r>
              <a:rPr lang="en-CA" sz="2400" b="1" dirty="0"/>
              <a:t>strongly typed code </a:t>
            </a:r>
            <a:r>
              <a:rPr lang="en-CA" sz="2400" dirty="0"/>
              <a:t>(</a:t>
            </a:r>
            <a:r>
              <a:rPr lang="en-CA" sz="1800" dirty="0"/>
              <a:t>with C#, F# and Visual Basic</a:t>
            </a:r>
            <a:r>
              <a:rPr lang="en-CA" sz="2400" dirty="0"/>
              <a:t>)</a:t>
            </a:r>
          </a:p>
          <a:p>
            <a:r>
              <a:rPr lang="en-CA" sz="2400" dirty="0"/>
              <a:t>When leveraging classes that are integrated to use </a:t>
            </a:r>
            <a:r>
              <a:rPr lang="en-CA" sz="2400" b="1" dirty="0"/>
              <a:t>EF Core</a:t>
            </a:r>
            <a:r>
              <a:rPr lang="en-CA" sz="2400" i="1" u="sng" dirty="0"/>
              <a:t>,</a:t>
            </a:r>
            <a:r>
              <a:rPr lang="en-CA" sz="2400" dirty="0"/>
              <a:t> you don’t have to worry about the Low-Level abstractions of Data Management:</a:t>
            </a:r>
          </a:p>
          <a:p>
            <a:pPr lvl="1"/>
            <a:r>
              <a:rPr lang="en-CA" sz="1800" dirty="0"/>
              <a:t>No managing </a:t>
            </a:r>
            <a:r>
              <a:rPr lang="en-CA" sz="1800" b="1" dirty="0"/>
              <a:t>SQLConnections</a:t>
            </a:r>
            <a:r>
              <a:rPr lang="en-CA" sz="1800" dirty="0"/>
              <a:t>, </a:t>
            </a:r>
            <a:r>
              <a:rPr lang="en-CA" sz="1800" b="1" dirty="0"/>
              <a:t>SQLCommands</a:t>
            </a:r>
            <a:r>
              <a:rPr lang="en-CA" sz="1800" dirty="0"/>
              <a:t>, </a:t>
            </a:r>
            <a:r>
              <a:rPr lang="en-CA" sz="1800" b="1" dirty="0"/>
              <a:t>SQLParameters</a:t>
            </a:r>
            <a:r>
              <a:rPr lang="en-CA" sz="1800" dirty="0"/>
              <a:t>, </a:t>
            </a:r>
            <a:r>
              <a:rPr lang="en-CA" sz="1800" b="1" dirty="0"/>
              <a:t>DataSets</a:t>
            </a:r>
            <a:r>
              <a:rPr lang="en-CA" sz="1800" dirty="0"/>
              <a:t>, etc.</a:t>
            </a:r>
          </a:p>
          <a:p>
            <a:pPr lvl="1"/>
            <a:r>
              <a:rPr lang="en-CA" sz="1800" dirty="0"/>
              <a:t>We will work directly with </a:t>
            </a:r>
            <a:r>
              <a:rPr lang="en-CA" sz="1800" b="1" dirty="0"/>
              <a:t>C#</a:t>
            </a:r>
            <a:r>
              <a:rPr lang="en-CA" sz="1800" dirty="0"/>
              <a:t> code and utilize </a:t>
            </a:r>
            <a:r>
              <a:rPr lang="en-CA" sz="1800" b="1" dirty="0"/>
              <a:t>LINQ</a:t>
            </a:r>
            <a:endParaRPr lang="en-CA" sz="2000" b="1" dirty="0"/>
          </a:p>
          <a:p>
            <a:pPr lvl="1"/>
            <a:r>
              <a:rPr lang="en-CA" sz="1800" b="1" dirty="0"/>
              <a:t>LINQ</a:t>
            </a:r>
            <a:r>
              <a:rPr lang="en-CA" sz="1800" dirty="0"/>
              <a:t>  (</a:t>
            </a:r>
            <a:r>
              <a:rPr lang="en-CA" sz="1800" b="1" dirty="0"/>
              <a:t>L</a:t>
            </a:r>
            <a:r>
              <a:rPr lang="en-CA" sz="1800" dirty="0"/>
              <a:t>anguage </a:t>
            </a:r>
            <a:r>
              <a:rPr lang="en-CA" sz="1800" b="1" dirty="0"/>
              <a:t>IN</a:t>
            </a:r>
            <a:r>
              <a:rPr lang="en-CA" sz="1800" dirty="0"/>
              <a:t>tegrated </a:t>
            </a:r>
            <a:r>
              <a:rPr lang="en-CA" sz="1800" b="1" dirty="0"/>
              <a:t>Q</a:t>
            </a:r>
            <a:r>
              <a:rPr lang="en-CA" sz="1800" dirty="0"/>
              <a:t>uery : pronounced "link") is another Microsoft .NET component that adds native data querying capabilities to .NET languages and objects.</a:t>
            </a:r>
          </a:p>
          <a:p>
            <a:pPr lvl="1"/>
            <a:r>
              <a:rPr lang="en-CA" sz="2000" dirty="0"/>
              <a:t>We will be using </a:t>
            </a:r>
            <a:r>
              <a:rPr lang="en-CA" sz="2000" b="1" u="sng" dirty="0"/>
              <a:t>EF Core</a:t>
            </a:r>
            <a:r>
              <a:rPr lang="en-CA" sz="2000" dirty="0"/>
              <a:t> with the </a:t>
            </a:r>
            <a:r>
              <a:rPr lang="en-CA" sz="2000" b="1" dirty="0">
                <a:solidFill>
                  <a:srgbClr val="00B050"/>
                </a:solidFill>
              </a:rPr>
              <a:t>Code First Approach</a:t>
            </a:r>
            <a:r>
              <a:rPr lang="en-CA" sz="2000" dirty="0">
                <a:solidFill>
                  <a:srgbClr val="00B050"/>
                </a:solidFill>
              </a:rPr>
              <a:t> </a:t>
            </a:r>
            <a:r>
              <a:rPr lang="en-CA" sz="2000" dirty="0"/>
              <a:t>to creating MVC data-centric applications</a:t>
            </a:r>
          </a:p>
          <a:p>
            <a:pPr lvl="1"/>
            <a:endParaRPr lang="en-US" dirty="0"/>
          </a:p>
          <a:p>
            <a:endParaRPr lang="en-US" dirty="0"/>
          </a:p>
        </p:txBody>
      </p:sp>
      <p:sp>
        <p:nvSpPr>
          <p:cNvPr id="4" name="Slide Number Placeholder 3">
            <a:extLst>
              <a:ext uri="{FF2B5EF4-FFF2-40B4-BE49-F238E27FC236}">
                <a16:creationId xmlns:a16="http://schemas.microsoft.com/office/drawing/2014/main" id="{0E2C9EDC-9084-43EE-07B7-AFD6D51FD7CE}"/>
              </a:ext>
            </a:extLst>
          </p:cNvPr>
          <p:cNvSpPr>
            <a:spLocks noGrp="1"/>
          </p:cNvSpPr>
          <p:nvPr>
            <p:ph type="sldNum" sz="quarter" idx="12"/>
          </p:nvPr>
        </p:nvSpPr>
        <p:spPr/>
        <p:txBody>
          <a:bodyPr/>
          <a:lstStyle/>
          <a:p>
            <a:fld id="{D8DA9DAA-006C-4F4B-980E-E3DF019B24E2}" type="slidenum">
              <a:rPr lang="en-US" smtClean="0"/>
              <a:t>8</a:t>
            </a:fld>
            <a:endParaRPr lang="en-US" dirty="0"/>
          </a:p>
        </p:txBody>
      </p:sp>
    </p:spTree>
    <p:extLst>
      <p:ext uri="{BB962C8B-B14F-4D97-AF65-F5344CB8AC3E}">
        <p14:creationId xmlns:p14="http://schemas.microsoft.com/office/powerpoint/2010/main" val="394852168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4DB19AE-410D-E1A0-E092-3D1F471A9C48}"/>
              </a:ext>
            </a:extLst>
          </p:cNvPr>
          <p:cNvSpPr>
            <a:spLocks noGrp="1"/>
          </p:cNvSpPr>
          <p:nvPr>
            <p:ph type="ctrTitle"/>
          </p:nvPr>
        </p:nvSpPr>
        <p:spPr>
          <a:xfrm>
            <a:off x="6391656" y="841248"/>
            <a:ext cx="4434840" cy="1108253"/>
          </a:xfrm>
        </p:spPr>
        <p:txBody>
          <a:bodyPr>
            <a:normAutofit fontScale="90000"/>
          </a:bodyPr>
          <a:lstStyle/>
          <a:p>
            <a:r>
              <a:rPr lang="en-US" dirty="0"/>
              <a:t>DATABASE SUPPORT FOR EF Core</a:t>
            </a:r>
          </a:p>
        </p:txBody>
      </p:sp>
      <p:sp>
        <p:nvSpPr>
          <p:cNvPr id="3" name="Subtitle 2">
            <a:extLst>
              <a:ext uri="{FF2B5EF4-FFF2-40B4-BE49-F238E27FC236}">
                <a16:creationId xmlns:a16="http://schemas.microsoft.com/office/drawing/2014/main" id="{094A4B5A-C233-1F20-E56B-B62E6B860142}"/>
              </a:ext>
            </a:extLst>
          </p:cNvPr>
          <p:cNvSpPr>
            <a:spLocks noGrp="1"/>
          </p:cNvSpPr>
          <p:nvPr>
            <p:ph type="subTitle" idx="1"/>
          </p:nvPr>
        </p:nvSpPr>
        <p:spPr>
          <a:xfrm>
            <a:off x="6398978" y="2464168"/>
            <a:ext cx="4434835" cy="2835029"/>
          </a:xfrm>
        </p:spPr>
        <p:txBody>
          <a:bodyPr>
            <a:normAutofit fontScale="92500" lnSpcReduction="10000"/>
          </a:bodyPr>
          <a:lstStyle/>
          <a:p>
            <a:r>
              <a:rPr lang="en-US" dirty="0"/>
              <a:t>There is a great amount of support for many popular database platforms, which include:</a:t>
            </a:r>
          </a:p>
          <a:p>
            <a:pPr marL="285750" indent="-285750">
              <a:buFontTx/>
              <a:buChar char="-"/>
            </a:pPr>
            <a:r>
              <a:rPr lang="en-US" dirty="0"/>
              <a:t>Microsoft SQL Server</a:t>
            </a:r>
          </a:p>
          <a:p>
            <a:pPr marL="285750" indent="-285750">
              <a:buFontTx/>
              <a:buChar char="-"/>
            </a:pPr>
            <a:r>
              <a:rPr lang="en-US" dirty="0"/>
              <a:t>Oracle</a:t>
            </a:r>
          </a:p>
          <a:p>
            <a:pPr marL="285750" indent="-285750">
              <a:buFontTx/>
              <a:buChar char="-"/>
            </a:pPr>
            <a:r>
              <a:rPr lang="en-US" dirty="0"/>
              <a:t>IBM DB2</a:t>
            </a:r>
          </a:p>
          <a:p>
            <a:pPr marL="285750" indent="-285750">
              <a:buFontTx/>
              <a:buChar char="-"/>
            </a:pPr>
            <a:r>
              <a:rPr lang="en-US" dirty="0"/>
              <a:t>PostgreSQL</a:t>
            </a:r>
          </a:p>
          <a:p>
            <a:pPr marL="285750" indent="-285750">
              <a:buFontTx/>
              <a:buChar char="-"/>
            </a:pPr>
            <a:r>
              <a:rPr lang="en-US" dirty="0"/>
              <a:t>and others depicted within this slide</a:t>
            </a:r>
          </a:p>
        </p:txBody>
      </p:sp>
      <p:sp>
        <p:nvSpPr>
          <p:cNvPr id="4" name="Footer Placeholder 3">
            <a:extLst>
              <a:ext uri="{FF2B5EF4-FFF2-40B4-BE49-F238E27FC236}">
                <a16:creationId xmlns:a16="http://schemas.microsoft.com/office/drawing/2014/main" id="{F5A8FB6F-5E14-21B2-28D8-DBF131B9232B}"/>
              </a:ext>
            </a:extLst>
          </p:cNvPr>
          <p:cNvSpPr>
            <a:spLocks noGrp="1"/>
          </p:cNvSpPr>
          <p:nvPr>
            <p:ph type="ftr" sz="quarter" idx="11"/>
          </p:nvPr>
        </p:nvSpPr>
        <p:spPr/>
        <p:txBody>
          <a:bodyPr/>
          <a:lstStyle/>
          <a:p>
            <a:r>
              <a:rPr lang="en-US" dirty="0"/>
              <a:t>Working with models</a:t>
            </a:r>
          </a:p>
        </p:txBody>
      </p:sp>
      <p:sp>
        <p:nvSpPr>
          <p:cNvPr id="5" name="Slide Number Placeholder 4">
            <a:extLst>
              <a:ext uri="{FF2B5EF4-FFF2-40B4-BE49-F238E27FC236}">
                <a16:creationId xmlns:a16="http://schemas.microsoft.com/office/drawing/2014/main" id="{633CD555-0797-034B-A245-2A70E2B48C32}"/>
              </a:ext>
            </a:extLst>
          </p:cNvPr>
          <p:cNvSpPr>
            <a:spLocks noGrp="1"/>
          </p:cNvSpPr>
          <p:nvPr>
            <p:ph type="sldNum" sz="quarter" idx="12"/>
          </p:nvPr>
        </p:nvSpPr>
        <p:spPr/>
        <p:txBody>
          <a:bodyPr/>
          <a:lstStyle/>
          <a:p>
            <a:fld id="{D8DA9DAA-006C-4F4B-980E-E3DF019B24E2}" type="slidenum">
              <a:rPr lang="en-US" smtClean="0"/>
              <a:pPr/>
              <a:t>9</a:t>
            </a:fld>
            <a:endParaRPr lang="en-US" dirty="0"/>
          </a:p>
        </p:txBody>
      </p:sp>
      <p:pic>
        <p:nvPicPr>
          <p:cNvPr id="10" name="Picture 9" descr="A blue cloud with white text&#10;&#10;Description automatically generated">
            <a:extLst>
              <a:ext uri="{FF2B5EF4-FFF2-40B4-BE49-F238E27FC236}">
                <a16:creationId xmlns:a16="http://schemas.microsoft.com/office/drawing/2014/main" id="{4A44056C-B0B6-BFBA-36EF-4DDD1BB0233A}"/>
              </a:ext>
            </a:extLst>
          </p:cNvPr>
          <p:cNvPicPr>
            <a:picLocks noGrp="1" noRot="1" noChangeAspect="1" noMove="1" noResize="1" noEditPoints="1" noAdjustHandles="1" noChangeArrowheads="1" noChangeShapeType="1" noCrop="1"/>
          </p:cNvPicPr>
          <p:nvPr/>
        </p:nvPicPr>
        <p:blipFill>
          <a:blip r:embed="rId2"/>
          <a:stretch>
            <a:fillRect/>
          </a:stretch>
        </p:blipFill>
        <p:spPr>
          <a:xfrm>
            <a:off x="266700" y="5185219"/>
            <a:ext cx="2171700" cy="1353693"/>
          </a:xfrm>
          <a:prstGeom prst="rect">
            <a:avLst/>
          </a:prstGeom>
        </p:spPr>
      </p:pic>
      <p:pic>
        <p:nvPicPr>
          <p:cNvPr id="12" name="Picture 11" descr="A logo of a software company&#10;&#10;Description automatically generated">
            <a:extLst>
              <a:ext uri="{FF2B5EF4-FFF2-40B4-BE49-F238E27FC236}">
                <a16:creationId xmlns:a16="http://schemas.microsoft.com/office/drawing/2014/main" id="{375424F7-EB11-E379-CCE4-072A272B06DE}"/>
              </a:ext>
            </a:extLst>
          </p:cNvPr>
          <p:cNvPicPr>
            <a:picLocks noGrp="1" noRot="1" noChangeAspect="1" noMove="1" noResize="1" noEditPoints="1" noAdjustHandles="1" noChangeArrowheads="1" noChangeShapeType="1" noCrop="1"/>
          </p:cNvPicPr>
          <p:nvPr/>
        </p:nvPicPr>
        <p:blipFill>
          <a:blip r:embed="rId3"/>
          <a:stretch>
            <a:fillRect/>
          </a:stretch>
        </p:blipFill>
        <p:spPr>
          <a:xfrm>
            <a:off x="2630573" y="5299197"/>
            <a:ext cx="1613497" cy="1613497"/>
          </a:xfrm>
          <a:prstGeom prst="rect">
            <a:avLst/>
          </a:prstGeom>
        </p:spPr>
      </p:pic>
      <p:pic>
        <p:nvPicPr>
          <p:cNvPr id="14" name="Picture 13" descr="A blue elephant with white outline&#10;&#10;Description automatically generated">
            <a:extLst>
              <a:ext uri="{FF2B5EF4-FFF2-40B4-BE49-F238E27FC236}">
                <a16:creationId xmlns:a16="http://schemas.microsoft.com/office/drawing/2014/main" id="{51201965-5BB7-0DCD-69ED-8D1F294A96EC}"/>
              </a:ext>
            </a:extLst>
          </p:cNvPr>
          <p:cNvPicPr>
            <a:picLocks noGrp="1" noRot="1" noChangeAspect="1" noMove="1" noResize="1" noEditPoints="1" noAdjustHandles="1" noChangeArrowheads="1" noChangeShapeType="1" noCrop="1"/>
          </p:cNvPicPr>
          <p:nvPr/>
        </p:nvPicPr>
        <p:blipFill>
          <a:blip r:embed="rId4"/>
          <a:stretch>
            <a:fillRect/>
          </a:stretch>
        </p:blipFill>
        <p:spPr>
          <a:xfrm>
            <a:off x="1803409" y="3429000"/>
            <a:ext cx="1759321" cy="1759321"/>
          </a:xfrm>
          <a:prstGeom prst="rect">
            <a:avLst/>
          </a:prstGeom>
        </p:spPr>
      </p:pic>
      <p:pic>
        <p:nvPicPr>
          <p:cNvPr id="16" name="Picture 15" descr="A logo of a dolphin&#10;&#10;Description automatically generated">
            <a:extLst>
              <a:ext uri="{FF2B5EF4-FFF2-40B4-BE49-F238E27FC236}">
                <a16:creationId xmlns:a16="http://schemas.microsoft.com/office/drawing/2014/main" id="{80B0917F-FDC7-E292-AAD9-2F91A2858B63}"/>
              </a:ext>
            </a:extLst>
          </p:cNvPr>
          <p:cNvPicPr>
            <a:picLocks noGrp="1" noRot="1" noChangeAspect="1" noMove="1" noResize="1" noEditPoints="1" noAdjustHandles="1" noChangeArrowheads="1" noChangeShapeType="1" noCrop="1"/>
          </p:cNvPicPr>
          <p:nvPr/>
        </p:nvPicPr>
        <p:blipFill>
          <a:blip r:embed="rId5"/>
          <a:stretch>
            <a:fillRect/>
          </a:stretch>
        </p:blipFill>
        <p:spPr>
          <a:xfrm>
            <a:off x="143255" y="-318"/>
            <a:ext cx="2184483" cy="2184483"/>
          </a:xfrm>
          <a:prstGeom prst="rect">
            <a:avLst/>
          </a:prstGeom>
        </p:spPr>
      </p:pic>
      <p:pic>
        <p:nvPicPr>
          <p:cNvPr id="20" name="Picture 19" descr="A logo of a seal&#10;&#10;Description automatically generated">
            <a:extLst>
              <a:ext uri="{FF2B5EF4-FFF2-40B4-BE49-F238E27FC236}">
                <a16:creationId xmlns:a16="http://schemas.microsoft.com/office/drawing/2014/main" id="{8E8748E2-C413-5408-4FA6-1FFE0BFA4030}"/>
              </a:ext>
            </a:extLst>
          </p:cNvPr>
          <p:cNvPicPr>
            <a:picLocks noGrp="1" noRot="1" noChangeAspect="1" noMove="1" noResize="1" noEditPoints="1" noAdjustHandles="1" noChangeArrowheads="1" noChangeShapeType="1" noCrop="1"/>
          </p:cNvPicPr>
          <p:nvPr/>
        </p:nvPicPr>
        <p:blipFill>
          <a:blip r:embed="rId6"/>
          <a:stretch>
            <a:fillRect/>
          </a:stretch>
        </p:blipFill>
        <p:spPr>
          <a:xfrm>
            <a:off x="0" y="1609963"/>
            <a:ext cx="1533287" cy="1533287"/>
          </a:xfrm>
          <a:prstGeom prst="rect">
            <a:avLst/>
          </a:prstGeom>
        </p:spPr>
      </p:pic>
      <p:pic>
        <p:nvPicPr>
          <p:cNvPr id="24" name="Picture 23" descr="A silver round object with red text&#10;&#10;Description automatically generated">
            <a:extLst>
              <a:ext uri="{FF2B5EF4-FFF2-40B4-BE49-F238E27FC236}">
                <a16:creationId xmlns:a16="http://schemas.microsoft.com/office/drawing/2014/main" id="{A8C7AD5B-2730-98BB-88EB-B460BFC039BA}"/>
              </a:ext>
            </a:extLst>
          </p:cNvPr>
          <p:cNvPicPr>
            <a:picLocks noGrp="1" noRot="1" noChangeAspect="1" noMove="1" noResize="1" noEditPoints="1" noAdjustHandles="1" noChangeArrowheads="1" noChangeShapeType="1" noCrop="1"/>
          </p:cNvPicPr>
          <p:nvPr/>
        </p:nvPicPr>
        <p:blipFill>
          <a:blip r:embed="rId7"/>
          <a:stretch>
            <a:fillRect/>
          </a:stretch>
        </p:blipFill>
        <p:spPr>
          <a:xfrm>
            <a:off x="2718264" y="368183"/>
            <a:ext cx="1882311" cy="1882311"/>
          </a:xfrm>
          <a:prstGeom prst="rect">
            <a:avLst/>
          </a:prstGeom>
        </p:spPr>
      </p:pic>
      <p:pic>
        <p:nvPicPr>
          <p:cNvPr id="26" name="Picture 25" descr="A blue text with a feather&#10;&#10;Description automatically generated">
            <a:extLst>
              <a:ext uri="{FF2B5EF4-FFF2-40B4-BE49-F238E27FC236}">
                <a16:creationId xmlns:a16="http://schemas.microsoft.com/office/drawing/2014/main" id="{2C2A8273-EA4A-E03A-C31A-7F84CBA2FABA}"/>
              </a:ext>
            </a:extLst>
          </p:cNvPr>
          <p:cNvPicPr>
            <a:picLocks noGrp="1" noRot="1" noChangeAspect="1" noMove="1" noResize="1" noEditPoints="1" noAdjustHandles="1" noChangeArrowheads="1" noChangeShapeType="1" noCrop="1"/>
          </p:cNvPicPr>
          <p:nvPr/>
        </p:nvPicPr>
        <p:blipFill>
          <a:blip r:embed="rId8"/>
          <a:stretch>
            <a:fillRect/>
          </a:stretch>
        </p:blipFill>
        <p:spPr>
          <a:xfrm>
            <a:off x="3158852" y="2368184"/>
            <a:ext cx="2337264" cy="1108253"/>
          </a:xfrm>
          <a:prstGeom prst="rect">
            <a:avLst/>
          </a:prstGeom>
        </p:spPr>
      </p:pic>
      <p:pic>
        <p:nvPicPr>
          <p:cNvPr id="30" name="Picture 29" descr="A logo of a bird&#10;&#10;Description automatically generated">
            <a:extLst>
              <a:ext uri="{FF2B5EF4-FFF2-40B4-BE49-F238E27FC236}">
                <a16:creationId xmlns:a16="http://schemas.microsoft.com/office/drawing/2014/main" id="{E74E5219-C9EF-2D60-722D-A17E8F512341}"/>
              </a:ext>
            </a:extLst>
          </p:cNvPr>
          <p:cNvPicPr>
            <a:picLocks noGrp="1" noRot="1" noChangeAspect="1" noMove="1" noResize="1" noEditPoints="1" noAdjustHandles="1" noChangeArrowheads="1" noChangeShapeType="1" noCrop="1"/>
          </p:cNvPicPr>
          <p:nvPr/>
        </p:nvPicPr>
        <p:blipFill>
          <a:blip r:embed="rId9"/>
          <a:stretch>
            <a:fillRect/>
          </a:stretch>
        </p:blipFill>
        <p:spPr>
          <a:xfrm>
            <a:off x="223582" y="3297174"/>
            <a:ext cx="1562100" cy="1562100"/>
          </a:xfrm>
          <a:prstGeom prst="rect">
            <a:avLst/>
          </a:prstGeom>
        </p:spPr>
      </p:pic>
      <p:pic>
        <p:nvPicPr>
          <p:cNvPr id="34" name="Picture 33" descr="A green and black rectangular sign with white text&#10;&#10;Description automatically generated">
            <a:extLst>
              <a:ext uri="{FF2B5EF4-FFF2-40B4-BE49-F238E27FC236}">
                <a16:creationId xmlns:a16="http://schemas.microsoft.com/office/drawing/2014/main" id="{F5854E83-CD2B-B1CD-3792-EDFFF86109F0}"/>
              </a:ext>
            </a:extLst>
          </p:cNvPr>
          <p:cNvPicPr>
            <a:picLocks noGrp="1" noRot="1" noChangeAspect="1" noMove="1" noResize="1" noEditPoints="1" noAdjustHandles="1" noChangeArrowheads="1" noChangeShapeType="1" noCrop="1"/>
          </p:cNvPicPr>
          <p:nvPr/>
        </p:nvPicPr>
        <p:blipFill>
          <a:blip r:embed="rId10"/>
          <a:stretch>
            <a:fillRect/>
          </a:stretch>
        </p:blipFill>
        <p:spPr>
          <a:xfrm>
            <a:off x="1720977" y="2165279"/>
            <a:ext cx="1108253" cy="1108253"/>
          </a:xfrm>
          <a:prstGeom prst="rect">
            <a:avLst/>
          </a:prstGeom>
        </p:spPr>
      </p:pic>
      <p:pic>
        <p:nvPicPr>
          <p:cNvPr id="36" name="Picture 35" descr="A logo of a computer&#10;&#10;Description automatically generated">
            <a:extLst>
              <a:ext uri="{FF2B5EF4-FFF2-40B4-BE49-F238E27FC236}">
                <a16:creationId xmlns:a16="http://schemas.microsoft.com/office/drawing/2014/main" id="{85040488-3395-4548-0328-3929D9C2E649}"/>
              </a:ext>
            </a:extLst>
          </p:cNvPr>
          <p:cNvPicPr>
            <a:picLocks noGrp="1" noRot="1" noChangeAspect="1" noMove="1" noResize="1" noEditPoints="1" noAdjustHandles="1" noChangeArrowheads="1" noChangeShapeType="1" noCrop="1"/>
          </p:cNvPicPr>
          <p:nvPr/>
        </p:nvPicPr>
        <p:blipFill>
          <a:blip r:embed="rId11"/>
          <a:stretch>
            <a:fillRect/>
          </a:stretch>
        </p:blipFill>
        <p:spPr>
          <a:xfrm>
            <a:off x="4658011" y="1478149"/>
            <a:ext cx="1108253" cy="1108253"/>
          </a:xfrm>
          <a:prstGeom prst="rect">
            <a:avLst/>
          </a:prstGeom>
        </p:spPr>
      </p:pic>
      <p:pic>
        <p:nvPicPr>
          <p:cNvPr id="38" name="Picture 37" descr="A blue hexagon with a white tool on it&#10;&#10;Description automatically generated">
            <a:extLst>
              <a:ext uri="{FF2B5EF4-FFF2-40B4-BE49-F238E27FC236}">
                <a16:creationId xmlns:a16="http://schemas.microsoft.com/office/drawing/2014/main" id="{CF93BDAC-0640-811E-6EAE-FF8CAE372043}"/>
              </a:ext>
            </a:extLst>
          </p:cNvPr>
          <p:cNvPicPr>
            <a:picLocks noGrp="1" noRot="1" noChangeAspect="1" noMove="1" noResize="1" noEditPoints="1" noAdjustHandles="1" noChangeArrowheads="1" noChangeShapeType="1" noCrop="1"/>
          </p:cNvPicPr>
          <p:nvPr/>
        </p:nvPicPr>
        <p:blipFill>
          <a:blip r:embed="rId12"/>
          <a:stretch>
            <a:fillRect/>
          </a:stretch>
        </p:blipFill>
        <p:spPr>
          <a:xfrm>
            <a:off x="3593686" y="3719111"/>
            <a:ext cx="2128649" cy="895226"/>
          </a:xfrm>
          <a:prstGeom prst="rect">
            <a:avLst/>
          </a:prstGeom>
        </p:spPr>
      </p:pic>
      <p:pic>
        <p:nvPicPr>
          <p:cNvPr id="44" name="Picture 43" descr="A close up of a logo&#10;&#10;Description automatically generated">
            <a:extLst>
              <a:ext uri="{FF2B5EF4-FFF2-40B4-BE49-F238E27FC236}">
                <a16:creationId xmlns:a16="http://schemas.microsoft.com/office/drawing/2014/main" id="{05DD80E0-30E2-B34C-28F5-02CEE0778201}"/>
              </a:ext>
            </a:extLst>
          </p:cNvPr>
          <p:cNvPicPr>
            <a:picLocks noGrp="1" noRot="1" noChangeAspect="1" noMove="1" noResize="1" noEditPoints="1" noAdjustHandles="1" noChangeArrowheads="1" noChangeShapeType="1" noCrop="1"/>
          </p:cNvPicPr>
          <p:nvPr/>
        </p:nvPicPr>
        <p:blipFill>
          <a:blip r:embed="rId13"/>
          <a:stretch>
            <a:fillRect/>
          </a:stretch>
        </p:blipFill>
        <p:spPr>
          <a:xfrm>
            <a:off x="3619943" y="57643"/>
            <a:ext cx="1961263" cy="503391"/>
          </a:xfrm>
          <a:prstGeom prst="rect">
            <a:avLst/>
          </a:prstGeom>
        </p:spPr>
      </p:pic>
      <p:pic>
        <p:nvPicPr>
          <p:cNvPr id="46" name="Picture 45" descr="A black background with grey text&#10;&#10;Description automatically generated">
            <a:extLst>
              <a:ext uri="{FF2B5EF4-FFF2-40B4-BE49-F238E27FC236}">
                <a16:creationId xmlns:a16="http://schemas.microsoft.com/office/drawing/2014/main" id="{591EA535-3AB5-FAEC-70FB-DB89C9AECACC}"/>
              </a:ext>
            </a:extLst>
          </p:cNvPr>
          <p:cNvPicPr>
            <a:picLocks noGrp="1" noRot="1" noChangeAspect="1" noMove="1" noResize="1" noEditPoints="1" noAdjustHandles="1" noChangeArrowheads="1" noChangeShapeType="1" noCrop="1"/>
          </p:cNvPicPr>
          <p:nvPr/>
        </p:nvPicPr>
        <p:blipFill>
          <a:blip r:embed="rId14"/>
          <a:stretch>
            <a:fillRect/>
          </a:stretch>
        </p:blipFill>
        <p:spPr>
          <a:xfrm>
            <a:off x="4033729" y="4919845"/>
            <a:ext cx="1759321" cy="920012"/>
          </a:xfrm>
          <a:prstGeom prst="rect">
            <a:avLst/>
          </a:prstGeom>
        </p:spPr>
      </p:pic>
    </p:spTree>
    <p:extLst>
      <p:ext uri="{BB962C8B-B14F-4D97-AF65-F5344CB8AC3E}">
        <p14:creationId xmlns:p14="http://schemas.microsoft.com/office/powerpoint/2010/main" val="28408470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itle 1">
            <a:extLst>
              <a:ext uri="{FF2B5EF4-FFF2-40B4-BE49-F238E27FC236}">
                <a16:creationId xmlns:a16="http://schemas.microsoft.com/office/drawing/2014/main" id="{E23117E2-F985-A63E-D26B-194993D16837}"/>
              </a:ext>
            </a:extLst>
          </p:cNvPr>
          <p:cNvSpPr>
            <a:spLocks noGrp="1"/>
          </p:cNvSpPr>
          <p:nvPr>
            <p:ph type="ctrTitle"/>
          </p:nvPr>
        </p:nvSpPr>
        <p:spPr>
          <a:xfrm>
            <a:off x="6391655" y="336423"/>
            <a:ext cx="4434840" cy="730377"/>
          </a:xfrm>
        </p:spPr>
        <p:txBody>
          <a:bodyPr/>
          <a:lstStyle/>
          <a:p>
            <a:pPr algn="ctr"/>
            <a:r>
              <a:rPr lang="en-US" b="1" dirty="0"/>
              <a:t>EF Core vs EF 6</a:t>
            </a:r>
          </a:p>
        </p:txBody>
      </p:sp>
      <p:sp>
        <p:nvSpPr>
          <p:cNvPr id="32" name="Subtitle 2">
            <a:extLst>
              <a:ext uri="{FF2B5EF4-FFF2-40B4-BE49-F238E27FC236}">
                <a16:creationId xmlns:a16="http://schemas.microsoft.com/office/drawing/2014/main" id="{410252DA-2759-AD47-FC91-A211A74E1C41}"/>
              </a:ext>
            </a:extLst>
          </p:cNvPr>
          <p:cNvSpPr>
            <a:spLocks noGrp="1"/>
          </p:cNvSpPr>
          <p:nvPr>
            <p:ph type="subTitle" idx="1"/>
          </p:nvPr>
        </p:nvSpPr>
        <p:spPr>
          <a:xfrm>
            <a:off x="6391655" y="1447801"/>
            <a:ext cx="4434835" cy="4908550"/>
          </a:xfrm>
        </p:spPr>
        <p:txBody>
          <a:bodyPr>
            <a:normAutofit fontScale="92500" lnSpcReduction="10000"/>
          </a:bodyPr>
          <a:lstStyle/>
          <a:p>
            <a:r>
              <a:rPr lang="en-US" dirty="0"/>
              <a:t>Recall that there are 2 different version of ASP.NET contained within .NET:</a:t>
            </a:r>
          </a:p>
          <a:p>
            <a:pPr marL="285750" indent="-285750">
              <a:buFontTx/>
              <a:buChar char="-"/>
            </a:pPr>
            <a:r>
              <a:rPr lang="en-US" b="1" dirty="0">
                <a:solidFill>
                  <a:srgbClr val="FF0000"/>
                </a:solidFill>
              </a:rPr>
              <a:t>ASP.NET </a:t>
            </a:r>
            <a:r>
              <a:rPr lang="en-US" dirty="0"/>
              <a:t>(from the .NET Framework)</a:t>
            </a:r>
          </a:p>
          <a:p>
            <a:pPr marL="285750" indent="-285750">
              <a:buFontTx/>
              <a:buChar char="-"/>
            </a:pPr>
            <a:r>
              <a:rPr lang="en-US" b="1" dirty="0">
                <a:solidFill>
                  <a:srgbClr val="00B050"/>
                </a:solidFill>
              </a:rPr>
              <a:t>ASP.NET Core</a:t>
            </a:r>
            <a:r>
              <a:rPr lang="en-US" dirty="0"/>
              <a:t> (from .NET Core)</a:t>
            </a:r>
          </a:p>
          <a:p>
            <a:pPr marL="285750" indent="-285750">
              <a:buFontTx/>
              <a:buChar char="-"/>
            </a:pPr>
            <a:endParaRPr lang="en-US" dirty="0"/>
          </a:p>
          <a:p>
            <a:pPr marL="285750" indent="-285750">
              <a:buFontTx/>
              <a:buChar char="-"/>
            </a:pPr>
            <a:r>
              <a:rPr lang="en-US" dirty="0"/>
              <a:t>There are separate version of the Entity Framework for each:</a:t>
            </a:r>
          </a:p>
          <a:p>
            <a:pPr marL="285750" indent="-285750">
              <a:buFontTx/>
              <a:buChar char="-"/>
            </a:pPr>
            <a:r>
              <a:rPr lang="en-US" b="1" u="sng" dirty="0">
                <a:solidFill>
                  <a:srgbClr val="FF0000"/>
                </a:solidFill>
              </a:rPr>
              <a:t>Entity Framework v6 </a:t>
            </a:r>
            <a:r>
              <a:rPr lang="en-US" dirty="0">
                <a:solidFill>
                  <a:srgbClr val="FF0000"/>
                </a:solidFill>
              </a:rPr>
              <a:t>is a legacy component only meant to be used with ASP.NET (.NET Framework) and legacy applications.</a:t>
            </a:r>
          </a:p>
          <a:p>
            <a:pPr marL="285750" indent="-285750">
              <a:buFontTx/>
              <a:buChar char="-"/>
            </a:pPr>
            <a:r>
              <a:rPr lang="en-US" b="1" u="sng" dirty="0">
                <a:solidFill>
                  <a:srgbClr val="00B050"/>
                </a:solidFill>
              </a:rPr>
              <a:t>Entity Framework Core </a:t>
            </a:r>
            <a:r>
              <a:rPr lang="en-US" dirty="0">
                <a:solidFill>
                  <a:srgbClr val="00B050"/>
                </a:solidFill>
              </a:rPr>
              <a:t>is a newer component that is only meant to be used with ASP.NET Core projects, etc.</a:t>
            </a:r>
          </a:p>
          <a:p>
            <a:pPr algn="ctr"/>
            <a:r>
              <a:rPr lang="en-US" b="1" u="sng" dirty="0">
                <a:solidFill>
                  <a:srgbClr val="00B050"/>
                </a:solidFill>
                <a:highlight>
                  <a:srgbClr val="FFFF00"/>
                </a:highlight>
              </a:rPr>
              <a:t>ONLY USE ENTITY FRAMEWORK CORE</a:t>
            </a:r>
          </a:p>
        </p:txBody>
      </p:sp>
      <p:sp>
        <p:nvSpPr>
          <p:cNvPr id="25" name="Footer Placeholder 5">
            <a:extLst>
              <a:ext uri="{FF2B5EF4-FFF2-40B4-BE49-F238E27FC236}">
                <a16:creationId xmlns:a16="http://schemas.microsoft.com/office/drawing/2014/main" id="{251C51CB-F139-C77F-EEAA-312D0D8CDC22}"/>
              </a:ext>
            </a:extLst>
          </p:cNvPr>
          <p:cNvSpPr>
            <a:spLocks noGrp="1"/>
          </p:cNvSpPr>
          <p:nvPr>
            <p:ph type="ftr" sz="quarter" idx="11"/>
          </p:nvPr>
        </p:nvSpPr>
        <p:spPr>
          <a:xfrm rot="16200000">
            <a:off x="9811512" y="1591056"/>
            <a:ext cx="3547872" cy="365125"/>
          </a:xfrm>
        </p:spPr>
        <p:txBody>
          <a:bodyPr anchor="ctr">
            <a:normAutofit/>
          </a:bodyPr>
          <a:lstStyle/>
          <a:p>
            <a:r>
              <a:rPr lang="en-US" dirty="0"/>
              <a:t>Working with models</a:t>
            </a:r>
          </a:p>
        </p:txBody>
      </p:sp>
      <p:sp>
        <p:nvSpPr>
          <p:cNvPr id="4" name="Slide Number Placeholder 3">
            <a:extLst>
              <a:ext uri="{FF2B5EF4-FFF2-40B4-BE49-F238E27FC236}">
                <a16:creationId xmlns:a16="http://schemas.microsoft.com/office/drawing/2014/main" id="{B775F5D9-346D-B18F-AB35-2E29F82AB311}"/>
              </a:ext>
            </a:extLst>
          </p:cNvPr>
          <p:cNvSpPr>
            <a:spLocks noGrp="1"/>
          </p:cNvSpPr>
          <p:nvPr>
            <p:ph type="sldNum" sz="quarter" idx="12"/>
          </p:nvPr>
        </p:nvSpPr>
        <p:spPr>
          <a:xfrm>
            <a:off x="8610600" y="6356350"/>
            <a:ext cx="2743200" cy="365125"/>
          </a:xfrm>
        </p:spPr>
        <p:txBody>
          <a:bodyPr anchor="ctr">
            <a:normAutofit/>
          </a:bodyPr>
          <a:lstStyle/>
          <a:p>
            <a:pPr>
              <a:spcAft>
                <a:spcPts val="600"/>
              </a:spcAft>
            </a:pPr>
            <a:fld id="{D8DA9DAA-006C-4F4B-980E-E3DF019B24E2}" type="slidenum">
              <a:rPr lang="en-US" smtClean="0"/>
              <a:pPr>
                <a:spcAft>
                  <a:spcPts val="600"/>
                </a:spcAft>
              </a:pPr>
              <a:t>10</a:t>
            </a:fld>
            <a:endParaRPr lang="en-US"/>
          </a:p>
        </p:txBody>
      </p:sp>
      <p:sp>
        <p:nvSpPr>
          <p:cNvPr id="23" name="Date Placeholder 4" hidden="1">
            <a:extLst>
              <a:ext uri="{FF2B5EF4-FFF2-40B4-BE49-F238E27FC236}">
                <a16:creationId xmlns:a16="http://schemas.microsoft.com/office/drawing/2014/main" id="{B3FD76D3-7486-715A-92B6-04A9B71BF5CD}"/>
              </a:ext>
            </a:extLst>
          </p:cNvPr>
          <p:cNvSpPr>
            <a:spLocks noGrp="1"/>
          </p:cNvSpPr>
          <p:nvPr>
            <p:ph type="dt" sz="half" idx="4294967295"/>
          </p:nvPr>
        </p:nvSpPr>
        <p:spPr>
          <a:xfrm>
            <a:off x="838200" y="6356350"/>
            <a:ext cx="2743200" cy="365125"/>
          </a:xfrm>
        </p:spPr>
        <p:txBody>
          <a:bodyPr/>
          <a:lstStyle/>
          <a:p>
            <a:pPr>
              <a:spcAft>
                <a:spcPts val="600"/>
              </a:spcAft>
            </a:pPr>
            <a:r>
              <a:rPr lang="en-US"/>
              <a:t>9/3/20XX</a:t>
            </a:r>
          </a:p>
        </p:txBody>
      </p:sp>
      <p:pic>
        <p:nvPicPr>
          <p:cNvPr id="38" name="Picture 37" descr="A robot with a round top&#10;&#10;Description automatically generated with medium confidence">
            <a:extLst>
              <a:ext uri="{FF2B5EF4-FFF2-40B4-BE49-F238E27FC236}">
                <a16:creationId xmlns:a16="http://schemas.microsoft.com/office/drawing/2014/main" id="{35D8AB48-4EA9-F687-91CA-52040BA9C4F8}"/>
              </a:ext>
            </a:extLst>
          </p:cNvPr>
          <p:cNvPicPr>
            <a:picLocks noChangeAspect="1"/>
          </p:cNvPicPr>
          <p:nvPr/>
        </p:nvPicPr>
        <p:blipFill>
          <a:blip r:embed="rId2"/>
          <a:stretch>
            <a:fillRect/>
          </a:stretch>
        </p:blipFill>
        <p:spPr>
          <a:xfrm>
            <a:off x="224676" y="1679035"/>
            <a:ext cx="5313918" cy="3499930"/>
          </a:xfrm>
          <a:prstGeom prst="rect">
            <a:avLst/>
          </a:prstGeom>
        </p:spPr>
      </p:pic>
    </p:spTree>
    <p:extLst>
      <p:ext uri="{BB962C8B-B14F-4D97-AF65-F5344CB8AC3E}">
        <p14:creationId xmlns:p14="http://schemas.microsoft.com/office/powerpoint/2010/main" val="261395236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5CB5E7-33EB-F3D0-8987-686864570AEF}"/>
              </a:ext>
            </a:extLst>
          </p:cNvPr>
          <p:cNvSpPr>
            <a:spLocks noGrp="1"/>
          </p:cNvSpPr>
          <p:nvPr>
            <p:ph type="title"/>
          </p:nvPr>
        </p:nvSpPr>
        <p:spPr>
          <a:xfrm>
            <a:off x="804672" y="2229778"/>
            <a:ext cx="7159752" cy="1179576"/>
          </a:xfrm>
        </p:spPr>
        <p:txBody>
          <a:bodyPr anchor="b">
            <a:normAutofit fontScale="90000"/>
          </a:bodyPr>
          <a:lstStyle/>
          <a:p>
            <a:r>
              <a:rPr lang="en-US" dirty="0"/>
              <a:t>Approaches to using Entity Framework</a:t>
            </a:r>
          </a:p>
        </p:txBody>
      </p:sp>
      <p:sp>
        <p:nvSpPr>
          <p:cNvPr id="12" name="Subtitle 11">
            <a:extLst>
              <a:ext uri="{FF2B5EF4-FFF2-40B4-BE49-F238E27FC236}">
                <a16:creationId xmlns:a16="http://schemas.microsoft.com/office/drawing/2014/main" id="{DD470A44-59CC-61B1-114F-4AF373511F89}"/>
              </a:ext>
            </a:extLst>
          </p:cNvPr>
          <p:cNvSpPr>
            <a:spLocks noGrp="1"/>
          </p:cNvSpPr>
          <p:nvPr>
            <p:ph idx="1"/>
          </p:nvPr>
        </p:nvSpPr>
        <p:spPr>
          <a:xfrm>
            <a:off x="850392" y="3939610"/>
            <a:ext cx="6190488" cy="2232589"/>
          </a:xfrm>
        </p:spPr>
        <p:txBody>
          <a:bodyPr>
            <a:normAutofit/>
          </a:bodyPr>
          <a:lstStyle/>
          <a:p>
            <a:r>
              <a:rPr lang="en-CA" dirty="0"/>
              <a:t>The EF Core has two different approaches to utilizing it within .NET Applications: </a:t>
            </a:r>
            <a:br>
              <a:rPr lang="en-CA" dirty="0"/>
            </a:br>
            <a:endParaRPr lang="en-CA" dirty="0"/>
          </a:p>
          <a:p>
            <a:pPr marL="342900" indent="-342900">
              <a:buFontTx/>
              <a:buChar char="-"/>
            </a:pPr>
            <a:r>
              <a:rPr lang="en-CA" dirty="0"/>
              <a:t>The </a:t>
            </a:r>
            <a:r>
              <a:rPr lang="en-CA" b="1" dirty="0">
                <a:solidFill>
                  <a:schemeClr val="accent5"/>
                </a:solidFill>
              </a:rPr>
              <a:t>Database-First</a:t>
            </a:r>
            <a:r>
              <a:rPr lang="en-CA" dirty="0"/>
              <a:t> </a:t>
            </a:r>
            <a:r>
              <a:rPr lang="en-CA" dirty="0">
                <a:solidFill>
                  <a:schemeClr val="accent5"/>
                </a:solidFill>
              </a:rPr>
              <a:t>Approach</a:t>
            </a:r>
          </a:p>
          <a:p>
            <a:pPr marL="342900" indent="-342900">
              <a:buFontTx/>
              <a:buChar char="-"/>
            </a:pPr>
            <a:r>
              <a:rPr lang="en-CA" dirty="0"/>
              <a:t>The </a:t>
            </a:r>
            <a:r>
              <a:rPr lang="en-CA" b="1" dirty="0">
                <a:solidFill>
                  <a:srgbClr val="00B050"/>
                </a:solidFill>
              </a:rPr>
              <a:t>Code-First</a:t>
            </a:r>
            <a:r>
              <a:rPr lang="en-CA" dirty="0"/>
              <a:t> </a:t>
            </a:r>
            <a:r>
              <a:rPr lang="en-CA" dirty="0">
                <a:solidFill>
                  <a:srgbClr val="00B050"/>
                </a:solidFill>
              </a:rPr>
              <a:t>Approach</a:t>
            </a:r>
            <a:endParaRPr lang="en-US" dirty="0">
              <a:solidFill>
                <a:srgbClr val="00B050"/>
              </a:solidFill>
            </a:endParaRPr>
          </a:p>
        </p:txBody>
      </p:sp>
      <p:sp>
        <p:nvSpPr>
          <p:cNvPr id="4" name="Footer Placeholder 3">
            <a:extLst>
              <a:ext uri="{FF2B5EF4-FFF2-40B4-BE49-F238E27FC236}">
                <a16:creationId xmlns:a16="http://schemas.microsoft.com/office/drawing/2014/main" id="{E075C738-3F6A-A040-2F98-FA5F228CEC83}"/>
              </a:ext>
            </a:extLst>
          </p:cNvPr>
          <p:cNvSpPr>
            <a:spLocks noGrp="1"/>
          </p:cNvSpPr>
          <p:nvPr>
            <p:ph type="ftr" sz="quarter" idx="11"/>
          </p:nvPr>
        </p:nvSpPr>
        <p:spPr>
          <a:xfrm>
            <a:off x="7964424" y="621792"/>
            <a:ext cx="4114800" cy="365125"/>
          </a:xfrm>
        </p:spPr>
        <p:txBody>
          <a:bodyPr anchor="ctr">
            <a:normAutofit/>
          </a:bodyPr>
          <a:lstStyle/>
          <a:p>
            <a:r>
              <a:rPr lang="en-US" dirty="0"/>
              <a:t>Working with models</a:t>
            </a:r>
          </a:p>
        </p:txBody>
      </p:sp>
      <p:sp>
        <p:nvSpPr>
          <p:cNvPr id="5" name="Slide Number Placeholder 4">
            <a:extLst>
              <a:ext uri="{FF2B5EF4-FFF2-40B4-BE49-F238E27FC236}">
                <a16:creationId xmlns:a16="http://schemas.microsoft.com/office/drawing/2014/main" id="{5CE13FCB-69D6-89D6-D77F-14C9B7E52C2B}"/>
              </a:ext>
            </a:extLst>
          </p:cNvPr>
          <p:cNvSpPr>
            <a:spLocks noGrp="1"/>
          </p:cNvSpPr>
          <p:nvPr>
            <p:ph type="sldNum" sz="quarter" idx="12"/>
          </p:nvPr>
        </p:nvSpPr>
        <p:spPr>
          <a:xfrm>
            <a:off x="8610600" y="6356350"/>
            <a:ext cx="2743200" cy="365125"/>
          </a:xfrm>
        </p:spPr>
        <p:txBody>
          <a:bodyPr anchor="ctr">
            <a:normAutofit/>
          </a:bodyPr>
          <a:lstStyle/>
          <a:p>
            <a:pPr>
              <a:spcAft>
                <a:spcPts val="600"/>
              </a:spcAft>
            </a:pPr>
            <a:fld id="{D8DA9DAA-006C-4F4B-980E-E3DF019B24E2}" type="slidenum">
              <a:rPr lang="en-US" smtClean="0"/>
              <a:pPr>
                <a:spcAft>
                  <a:spcPts val="600"/>
                </a:spcAft>
              </a:pPr>
              <a:t>11</a:t>
            </a:fld>
            <a:endParaRPr lang="en-US"/>
          </a:p>
        </p:txBody>
      </p:sp>
      <p:pic>
        <p:nvPicPr>
          <p:cNvPr id="14" name="Picture 13" descr="A diagram of a database&#10;&#10;Description automatically generated">
            <a:extLst>
              <a:ext uri="{FF2B5EF4-FFF2-40B4-BE49-F238E27FC236}">
                <a16:creationId xmlns:a16="http://schemas.microsoft.com/office/drawing/2014/main" id="{A66D8C41-EDC5-2385-DD8E-75CB51E4C16B}"/>
              </a:ext>
            </a:extLst>
          </p:cNvPr>
          <p:cNvPicPr>
            <a:picLocks noChangeAspect="1"/>
          </p:cNvPicPr>
          <p:nvPr/>
        </p:nvPicPr>
        <p:blipFill>
          <a:blip r:embed="rId2"/>
          <a:stretch>
            <a:fillRect/>
          </a:stretch>
        </p:blipFill>
        <p:spPr>
          <a:xfrm>
            <a:off x="6096000" y="3227005"/>
            <a:ext cx="5490289" cy="2945195"/>
          </a:xfrm>
          <a:prstGeom prst="rect">
            <a:avLst/>
          </a:prstGeom>
        </p:spPr>
      </p:pic>
    </p:spTree>
    <p:extLst>
      <p:ext uri="{BB962C8B-B14F-4D97-AF65-F5344CB8AC3E}">
        <p14:creationId xmlns:p14="http://schemas.microsoft.com/office/powerpoint/2010/main" val="395349347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D78A0A65-1779-CB9D-FD76-6FF920B97CCC}"/>
              </a:ext>
            </a:extLst>
          </p:cNvPr>
          <p:cNvSpPr>
            <a:spLocks noGrp="1"/>
          </p:cNvSpPr>
          <p:nvPr>
            <p:ph type="subTitle" idx="1"/>
          </p:nvPr>
        </p:nvSpPr>
        <p:spPr>
          <a:xfrm>
            <a:off x="5895975" y="3073335"/>
            <a:ext cx="5143500" cy="2788603"/>
          </a:xfrm>
        </p:spPr>
        <p:txBody>
          <a:bodyPr>
            <a:normAutofit/>
          </a:bodyPr>
          <a:lstStyle/>
          <a:p>
            <a:pPr lvl="1" algn="l"/>
            <a:r>
              <a:rPr lang="en-CA" sz="1800" dirty="0"/>
              <a:t>(Also known as </a:t>
            </a:r>
            <a:r>
              <a:rPr lang="en-CA" sz="1800" b="1" dirty="0"/>
              <a:t>Schema-First Approach)</a:t>
            </a:r>
          </a:p>
          <a:p>
            <a:pPr lvl="1" algn="l"/>
            <a:endParaRPr lang="en-CA" sz="2000" b="1" dirty="0"/>
          </a:p>
          <a:p>
            <a:pPr lvl="1" algn="l"/>
            <a:r>
              <a:rPr lang="en-CA" sz="1800" dirty="0"/>
              <a:t>This allows us to leverage an existing database implementation and generate the Model classes and supporting configuration based upon this physical database and the schema.</a:t>
            </a:r>
          </a:p>
          <a:p>
            <a:endParaRPr lang="en-US" dirty="0"/>
          </a:p>
        </p:txBody>
      </p:sp>
      <p:sp>
        <p:nvSpPr>
          <p:cNvPr id="4" name="Footer Placeholder 3">
            <a:extLst>
              <a:ext uri="{FF2B5EF4-FFF2-40B4-BE49-F238E27FC236}">
                <a16:creationId xmlns:a16="http://schemas.microsoft.com/office/drawing/2014/main" id="{4EFA74DB-DEF8-6DAC-A1EF-F37EBF3F3938}"/>
              </a:ext>
            </a:extLst>
          </p:cNvPr>
          <p:cNvSpPr>
            <a:spLocks noGrp="1"/>
          </p:cNvSpPr>
          <p:nvPr>
            <p:ph type="ftr" sz="quarter" idx="11"/>
          </p:nvPr>
        </p:nvSpPr>
        <p:spPr/>
        <p:txBody>
          <a:bodyPr/>
          <a:lstStyle/>
          <a:p>
            <a:r>
              <a:rPr lang="en-US" dirty="0"/>
              <a:t>Working with models</a:t>
            </a:r>
          </a:p>
        </p:txBody>
      </p:sp>
      <p:sp>
        <p:nvSpPr>
          <p:cNvPr id="5" name="Slide Number Placeholder 4">
            <a:extLst>
              <a:ext uri="{FF2B5EF4-FFF2-40B4-BE49-F238E27FC236}">
                <a16:creationId xmlns:a16="http://schemas.microsoft.com/office/drawing/2014/main" id="{AF45DC98-38C9-213B-02AA-E4722466AA5E}"/>
              </a:ext>
            </a:extLst>
          </p:cNvPr>
          <p:cNvSpPr>
            <a:spLocks noGrp="1"/>
          </p:cNvSpPr>
          <p:nvPr>
            <p:ph type="sldNum" sz="quarter" idx="12"/>
          </p:nvPr>
        </p:nvSpPr>
        <p:spPr/>
        <p:txBody>
          <a:bodyPr/>
          <a:lstStyle/>
          <a:p>
            <a:fld id="{D8DA9DAA-006C-4F4B-980E-E3DF019B24E2}" type="slidenum">
              <a:rPr lang="en-US" smtClean="0"/>
              <a:pPr/>
              <a:t>12</a:t>
            </a:fld>
            <a:endParaRPr lang="en-US" dirty="0"/>
          </a:p>
        </p:txBody>
      </p:sp>
      <p:sp>
        <p:nvSpPr>
          <p:cNvPr id="7" name="Subtitle 2">
            <a:extLst>
              <a:ext uri="{FF2B5EF4-FFF2-40B4-BE49-F238E27FC236}">
                <a16:creationId xmlns:a16="http://schemas.microsoft.com/office/drawing/2014/main" id="{D93DDA5D-4DAC-E98B-57CF-E491E8A9D4F8}"/>
              </a:ext>
            </a:extLst>
          </p:cNvPr>
          <p:cNvSpPr txBox="1">
            <a:spLocks/>
          </p:cNvSpPr>
          <p:nvPr/>
        </p:nvSpPr>
        <p:spPr>
          <a:xfrm>
            <a:off x="6383467" y="996062"/>
            <a:ext cx="4454265" cy="2927350"/>
          </a:xfrm>
          <a:prstGeom prst="rect">
            <a:avLst/>
          </a:prstGeom>
        </p:spPr>
        <p:txBody>
          <a:bodyPr vert="horz" lIns="91440" tIns="45720" rIns="91440" bIns="45720" rtlCol="0">
            <a:normAutofit/>
          </a:bodyPr>
          <a:lstStyle>
            <a:lvl1pPr marL="0" indent="0" algn="l" defTabSz="914400" rtl="0" eaLnBrk="1" latinLnBrk="0" hangingPunct="1">
              <a:lnSpc>
                <a:spcPct val="11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CA" sz="3600" dirty="0">
                <a:latin typeface="+mj-lt"/>
              </a:rPr>
              <a:t>The </a:t>
            </a:r>
            <a:br>
              <a:rPr lang="en-CA" sz="3600" dirty="0">
                <a:latin typeface="+mj-lt"/>
              </a:rPr>
            </a:br>
            <a:r>
              <a:rPr lang="en-CA" sz="3600" dirty="0">
                <a:latin typeface="+mj-lt"/>
              </a:rPr>
              <a:t>Database-First Approach</a:t>
            </a:r>
          </a:p>
        </p:txBody>
      </p:sp>
      <p:pic>
        <p:nvPicPr>
          <p:cNvPr id="11" name="Picture 10">
            <a:extLst>
              <a:ext uri="{FF2B5EF4-FFF2-40B4-BE49-F238E27FC236}">
                <a16:creationId xmlns:a16="http://schemas.microsoft.com/office/drawing/2014/main" id="{9401554A-2568-22DE-9102-9BFBBA982B65}"/>
              </a:ext>
            </a:extLst>
          </p:cNvPr>
          <p:cNvPicPr>
            <a:picLocks noChangeAspect="1"/>
          </p:cNvPicPr>
          <p:nvPr/>
        </p:nvPicPr>
        <p:blipFill>
          <a:blip r:embed="rId2"/>
          <a:stretch>
            <a:fillRect/>
          </a:stretch>
        </p:blipFill>
        <p:spPr>
          <a:xfrm>
            <a:off x="1508764" y="1573150"/>
            <a:ext cx="2625085" cy="3711699"/>
          </a:xfrm>
          <a:prstGeom prst="rect">
            <a:avLst/>
          </a:prstGeom>
        </p:spPr>
      </p:pic>
    </p:spTree>
    <p:extLst>
      <p:ext uri="{BB962C8B-B14F-4D97-AF65-F5344CB8AC3E}">
        <p14:creationId xmlns:p14="http://schemas.microsoft.com/office/powerpoint/2010/main" val="151666234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D9E0C3-3478-2F5E-7926-0ED5A7316E59}"/>
              </a:ext>
            </a:extLst>
          </p:cNvPr>
          <p:cNvSpPr>
            <a:spLocks noGrp="1"/>
          </p:cNvSpPr>
          <p:nvPr>
            <p:ph type="ctrTitle"/>
          </p:nvPr>
        </p:nvSpPr>
        <p:spPr>
          <a:xfrm>
            <a:off x="6391656" y="841248"/>
            <a:ext cx="4434840" cy="1921002"/>
          </a:xfrm>
        </p:spPr>
        <p:txBody>
          <a:bodyPr/>
          <a:lstStyle/>
          <a:p>
            <a:r>
              <a:rPr lang="en-CA" dirty="0"/>
              <a:t>The </a:t>
            </a:r>
            <a:br>
              <a:rPr lang="en-CA" dirty="0"/>
            </a:br>
            <a:r>
              <a:rPr lang="en-CA" dirty="0"/>
              <a:t>Code-First Approach</a:t>
            </a:r>
            <a:endParaRPr lang="en-US" dirty="0"/>
          </a:p>
        </p:txBody>
      </p:sp>
      <p:sp>
        <p:nvSpPr>
          <p:cNvPr id="3" name="Subtitle 2">
            <a:extLst>
              <a:ext uri="{FF2B5EF4-FFF2-40B4-BE49-F238E27FC236}">
                <a16:creationId xmlns:a16="http://schemas.microsoft.com/office/drawing/2014/main" id="{A580ECFD-DA75-683B-7DDE-E1D3DB2CDB61}"/>
              </a:ext>
            </a:extLst>
          </p:cNvPr>
          <p:cNvSpPr>
            <a:spLocks noGrp="1"/>
          </p:cNvSpPr>
          <p:nvPr>
            <p:ph type="subTitle" idx="1"/>
          </p:nvPr>
        </p:nvSpPr>
        <p:spPr>
          <a:xfrm>
            <a:off x="5886450" y="3088319"/>
            <a:ext cx="5324475" cy="3547873"/>
          </a:xfrm>
        </p:spPr>
        <p:txBody>
          <a:bodyPr>
            <a:normAutofit fontScale="92500" lnSpcReduction="20000"/>
          </a:bodyPr>
          <a:lstStyle/>
          <a:p>
            <a:pPr lvl="1" algn="l"/>
            <a:r>
              <a:rPr lang="en-CA" sz="1800" dirty="0"/>
              <a:t>In this approach you </a:t>
            </a:r>
            <a:r>
              <a:rPr lang="en-CA" sz="1800" b="1" dirty="0"/>
              <a:t>write your C# model classes first </a:t>
            </a:r>
            <a:r>
              <a:rPr lang="en-CA" sz="1800" dirty="0"/>
              <a:t>and the EF can </a:t>
            </a:r>
            <a:r>
              <a:rPr lang="en-CA" sz="1800" b="1" dirty="0"/>
              <a:t>generate a DB for use on the fly </a:t>
            </a:r>
            <a:r>
              <a:rPr lang="en-CA" sz="1800" dirty="0"/>
              <a:t>based upon these class definitions or it can map your classes to an existing DB either using </a:t>
            </a:r>
            <a:r>
              <a:rPr lang="en-CA" sz="1800" i="1" u="sng" dirty="0"/>
              <a:t>Conventions</a:t>
            </a:r>
            <a:r>
              <a:rPr lang="en-CA" sz="1800" dirty="0"/>
              <a:t> (</a:t>
            </a:r>
            <a:r>
              <a:rPr lang="en-CA" sz="1800" i="1" dirty="0"/>
              <a:t>Naming Conventions</a:t>
            </a:r>
            <a:r>
              <a:rPr lang="en-CA" sz="1800" dirty="0"/>
              <a:t>)</a:t>
            </a:r>
            <a:br>
              <a:rPr lang="en-CA" sz="1800" dirty="0"/>
            </a:br>
            <a:endParaRPr lang="en-CA" sz="1800" dirty="0"/>
          </a:p>
          <a:p>
            <a:pPr lvl="1" algn="l"/>
            <a:r>
              <a:rPr lang="en-CA" sz="1800" dirty="0"/>
              <a:t>Or using C# code you can provide an explicit mapping from a property on an object to a column that is in a DB table</a:t>
            </a:r>
            <a:br>
              <a:rPr lang="en-CA" sz="1800" dirty="0"/>
            </a:br>
            <a:endParaRPr lang="en-CA" sz="1800" dirty="0"/>
          </a:p>
          <a:p>
            <a:pPr lvl="1" algn="l"/>
            <a:r>
              <a:rPr lang="en-CA" sz="1800" dirty="0">
                <a:solidFill>
                  <a:srgbClr val="FF0000"/>
                </a:solidFill>
                <a:effectLst>
                  <a:outerShdw blurRad="38100" dist="38100" dir="2700000" algn="tl">
                    <a:srgbClr val="000000">
                      <a:alpha val="43137"/>
                    </a:srgbClr>
                  </a:outerShdw>
                </a:effectLst>
                <a:highlight>
                  <a:srgbClr val="FFFF00"/>
                </a:highlight>
              </a:rPr>
              <a:t>The Code First approach is the one that is the most widely embraced by developers and industry</a:t>
            </a:r>
            <a:endParaRPr lang="en-CA" sz="1800" dirty="0">
              <a:highlight>
                <a:srgbClr val="FFFF00"/>
              </a:highlight>
            </a:endParaRPr>
          </a:p>
          <a:p>
            <a:pPr algn="ctr"/>
            <a:endParaRPr lang="en-US" sz="1500" dirty="0"/>
          </a:p>
          <a:p>
            <a:pPr algn="ctr"/>
            <a:r>
              <a:rPr lang="en-US" sz="1500" dirty="0"/>
              <a:t>(We will be predominantly using the Code-First Approach)</a:t>
            </a:r>
          </a:p>
        </p:txBody>
      </p:sp>
      <p:sp>
        <p:nvSpPr>
          <p:cNvPr id="4" name="Footer Placeholder 3">
            <a:extLst>
              <a:ext uri="{FF2B5EF4-FFF2-40B4-BE49-F238E27FC236}">
                <a16:creationId xmlns:a16="http://schemas.microsoft.com/office/drawing/2014/main" id="{B69DB52C-B1CC-3AEA-946F-04E93D270F08}"/>
              </a:ext>
            </a:extLst>
          </p:cNvPr>
          <p:cNvSpPr>
            <a:spLocks noGrp="1"/>
          </p:cNvSpPr>
          <p:nvPr>
            <p:ph type="ftr" sz="quarter" idx="11"/>
          </p:nvPr>
        </p:nvSpPr>
        <p:spPr/>
        <p:txBody>
          <a:bodyPr/>
          <a:lstStyle/>
          <a:p>
            <a:r>
              <a:rPr lang="en-US" dirty="0"/>
              <a:t>Working with models</a:t>
            </a:r>
          </a:p>
        </p:txBody>
      </p:sp>
      <p:sp>
        <p:nvSpPr>
          <p:cNvPr id="5" name="Slide Number Placeholder 4">
            <a:extLst>
              <a:ext uri="{FF2B5EF4-FFF2-40B4-BE49-F238E27FC236}">
                <a16:creationId xmlns:a16="http://schemas.microsoft.com/office/drawing/2014/main" id="{89BC1EFF-D326-A2F3-DB1D-9CB154C4C980}"/>
              </a:ext>
            </a:extLst>
          </p:cNvPr>
          <p:cNvSpPr>
            <a:spLocks noGrp="1"/>
          </p:cNvSpPr>
          <p:nvPr>
            <p:ph type="sldNum" sz="quarter" idx="12"/>
          </p:nvPr>
        </p:nvSpPr>
        <p:spPr/>
        <p:txBody>
          <a:bodyPr/>
          <a:lstStyle/>
          <a:p>
            <a:fld id="{D8DA9DAA-006C-4F4B-980E-E3DF019B24E2}" type="slidenum">
              <a:rPr lang="en-US" smtClean="0"/>
              <a:pPr/>
              <a:t>13</a:t>
            </a:fld>
            <a:endParaRPr lang="en-US" dirty="0"/>
          </a:p>
        </p:txBody>
      </p:sp>
      <p:pic>
        <p:nvPicPr>
          <p:cNvPr id="9" name="Picture 8">
            <a:extLst>
              <a:ext uri="{FF2B5EF4-FFF2-40B4-BE49-F238E27FC236}">
                <a16:creationId xmlns:a16="http://schemas.microsoft.com/office/drawing/2014/main" id="{F842011C-342E-6E6D-1D7F-8ACC05E996E0}"/>
              </a:ext>
            </a:extLst>
          </p:cNvPr>
          <p:cNvPicPr>
            <a:picLocks noChangeAspect="1"/>
          </p:cNvPicPr>
          <p:nvPr/>
        </p:nvPicPr>
        <p:blipFill>
          <a:blip r:embed="rId2"/>
          <a:stretch>
            <a:fillRect/>
          </a:stretch>
        </p:blipFill>
        <p:spPr>
          <a:xfrm>
            <a:off x="1492895" y="1573150"/>
            <a:ext cx="2645120" cy="3711700"/>
          </a:xfrm>
          <a:prstGeom prst="rect">
            <a:avLst/>
          </a:prstGeom>
        </p:spPr>
      </p:pic>
    </p:spTree>
    <p:extLst>
      <p:ext uri="{BB962C8B-B14F-4D97-AF65-F5344CB8AC3E}">
        <p14:creationId xmlns:p14="http://schemas.microsoft.com/office/powerpoint/2010/main" val="227018124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308BFD-1ACE-DF02-C83D-B4705B349577}"/>
              </a:ext>
            </a:extLst>
          </p:cNvPr>
          <p:cNvSpPr>
            <a:spLocks noGrp="1"/>
          </p:cNvSpPr>
          <p:nvPr>
            <p:ph type="ctrTitle"/>
          </p:nvPr>
        </p:nvSpPr>
        <p:spPr/>
        <p:txBody>
          <a:bodyPr/>
          <a:lstStyle/>
          <a:p>
            <a:r>
              <a:rPr lang="en-US" dirty="0"/>
              <a:t>Installing entity framework core</a:t>
            </a:r>
          </a:p>
        </p:txBody>
      </p:sp>
      <p:sp>
        <p:nvSpPr>
          <p:cNvPr id="3" name="Subtitle 2">
            <a:extLst>
              <a:ext uri="{FF2B5EF4-FFF2-40B4-BE49-F238E27FC236}">
                <a16:creationId xmlns:a16="http://schemas.microsoft.com/office/drawing/2014/main" id="{A77853B2-AE62-6D82-7EC9-85B6FF289A98}"/>
              </a:ext>
            </a:extLst>
          </p:cNvPr>
          <p:cNvSpPr>
            <a:spLocks noGrp="1"/>
          </p:cNvSpPr>
          <p:nvPr>
            <p:ph type="subTitle" idx="1"/>
          </p:nvPr>
        </p:nvSpPr>
        <p:spPr/>
        <p:txBody>
          <a:bodyPr/>
          <a:lstStyle/>
          <a:p>
            <a:r>
              <a:rPr lang="en-US" dirty="0"/>
              <a:t>Welcome to the Nuget Package Manager</a:t>
            </a:r>
          </a:p>
        </p:txBody>
      </p:sp>
    </p:spTree>
    <p:extLst>
      <p:ext uri="{BB962C8B-B14F-4D97-AF65-F5344CB8AC3E}">
        <p14:creationId xmlns:p14="http://schemas.microsoft.com/office/powerpoint/2010/main" val="165151913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E57EEA-3CD3-D506-88E7-DB1C93DB6F1E}"/>
              </a:ext>
            </a:extLst>
          </p:cNvPr>
          <p:cNvSpPr>
            <a:spLocks noGrp="1"/>
          </p:cNvSpPr>
          <p:nvPr>
            <p:ph type="title"/>
          </p:nvPr>
        </p:nvSpPr>
        <p:spPr/>
        <p:txBody>
          <a:bodyPr>
            <a:normAutofit/>
          </a:bodyPr>
          <a:lstStyle/>
          <a:p>
            <a:r>
              <a:rPr lang="en-US" sz="2200" dirty="0"/>
              <a:t>Adding new features to a visual studio project using the</a:t>
            </a:r>
            <a:br>
              <a:rPr lang="en-US" dirty="0"/>
            </a:br>
            <a:r>
              <a:rPr lang="en-US" dirty="0"/>
              <a:t>nuget package manager</a:t>
            </a:r>
          </a:p>
        </p:txBody>
      </p:sp>
      <p:sp>
        <p:nvSpPr>
          <p:cNvPr id="5" name="Slide Number Placeholder 4">
            <a:extLst>
              <a:ext uri="{FF2B5EF4-FFF2-40B4-BE49-F238E27FC236}">
                <a16:creationId xmlns:a16="http://schemas.microsoft.com/office/drawing/2014/main" id="{79FF772F-102B-0001-6A5C-F89E1B0936A3}"/>
              </a:ext>
            </a:extLst>
          </p:cNvPr>
          <p:cNvSpPr>
            <a:spLocks noGrp="1"/>
          </p:cNvSpPr>
          <p:nvPr>
            <p:ph type="sldNum" sz="quarter" idx="12"/>
          </p:nvPr>
        </p:nvSpPr>
        <p:spPr/>
        <p:txBody>
          <a:bodyPr/>
          <a:lstStyle/>
          <a:p>
            <a:fld id="{B5CEABB6-07DC-46E8-9B57-56EC44A396E5}" type="slidenum">
              <a:rPr lang="en-US" smtClean="0"/>
              <a:t>15</a:t>
            </a:fld>
            <a:endParaRPr lang="en-US" dirty="0"/>
          </a:p>
        </p:txBody>
      </p:sp>
      <p:sp>
        <p:nvSpPr>
          <p:cNvPr id="6" name="Text Placeholder 5">
            <a:extLst>
              <a:ext uri="{FF2B5EF4-FFF2-40B4-BE49-F238E27FC236}">
                <a16:creationId xmlns:a16="http://schemas.microsoft.com/office/drawing/2014/main" id="{F7579F4F-7917-5EA9-D160-ADAC5D5192C8}"/>
              </a:ext>
            </a:extLst>
          </p:cNvPr>
          <p:cNvSpPr>
            <a:spLocks noGrp="1"/>
          </p:cNvSpPr>
          <p:nvPr>
            <p:ph type="body" sz="quarter" idx="13"/>
          </p:nvPr>
        </p:nvSpPr>
        <p:spPr>
          <a:xfrm>
            <a:off x="841247" y="1690688"/>
            <a:ext cx="7584905" cy="1599533"/>
          </a:xfrm>
        </p:spPr>
        <p:txBody>
          <a:bodyPr/>
          <a:lstStyle/>
          <a:p>
            <a:r>
              <a:rPr lang="en-US" dirty="0"/>
              <a:t>Visual Studio projects come packed with many features right out of the box.  However, some features need to be manually added.  This is easily accomplished via the NuGet Package Manager, which can be accessed thru the menu options:</a:t>
            </a:r>
            <a:br>
              <a:rPr lang="en-US" dirty="0"/>
            </a:br>
            <a:endParaRPr lang="en-US" dirty="0"/>
          </a:p>
          <a:p>
            <a:r>
              <a:rPr lang="en-US" sz="1200" b="1" dirty="0"/>
              <a:t>Tools</a:t>
            </a:r>
            <a:r>
              <a:rPr lang="en-US" sz="1200" dirty="0"/>
              <a:t>  ▶ </a:t>
            </a:r>
            <a:r>
              <a:rPr lang="en-US" sz="1200" b="1" dirty="0"/>
              <a:t>NuGet Package Manager </a:t>
            </a:r>
            <a:r>
              <a:rPr lang="en-US" sz="1200" dirty="0"/>
              <a:t>▶ </a:t>
            </a:r>
            <a:r>
              <a:rPr lang="en-US" sz="1200" b="1" dirty="0"/>
              <a:t>Manage NuGet Packages for Solution</a:t>
            </a:r>
          </a:p>
        </p:txBody>
      </p:sp>
      <p:sp>
        <p:nvSpPr>
          <p:cNvPr id="8" name="Text Placeholder 7">
            <a:extLst>
              <a:ext uri="{FF2B5EF4-FFF2-40B4-BE49-F238E27FC236}">
                <a16:creationId xmlns:a16="http://schemas.microsoft.com/office/drawing/2014/main" id="{159BB6DA-EA43-D147-E4C2-94A10A433895}"/>
              </a:ext>
            </a:extLst>
          </p:cNvPr>
          <p:cNvSpPr>
            <a:spLocks noGrp="1"/>
          </p:cNvSpPr>
          <p:nvPr>
            <p:ph type="body" sz="quarter" idx="15"/>
          </p:nvPr>
        </p:nvSpPr>
        <p:spPr>
          <a:xfrm>
            <a:off x="924475" y="5583141"/>
            <a:ext cx="5743026" cy="581044"/>
          </a:xfrm>
        </p:spPr>
        <p:txBody>
          <a:bodyPr>
            <a:normAutofit/>
          </a:bodyPr>
          <a:lstStyle/>
          <a:p>
            <a:r>
              <a:rPr lang="en-US" dirty="0"/>
              <a:t>You will be able to </a:t>
            </a:r>
            <a:r>
              <a:rPr lang="en-US" b="1" dirty="0"/>
              <a:t>Browse</a:t>
            </a:r>
            <a:r>
              <a:rPr lang="en-US" dirty="0"/>
              <a:t> new packages, manage </a:t>
            </a:r>
            <a:r>
              <a:rPr lang="en-US" b="1" dirty="0"/>
              <a:t>Installed</a:t>
            </a:r>
            <a:r>
              <a:rPr lang="en-US" dirty="0"/>
              <a:t> packages, and view outstanding </a:t>
            </a:r>
            <a:r>
              <a:rPr lang="en-US" b="1" dirty="0"/>
              <a:t>updates</a:t>
            </a:r>
            <a:r>
              <a:rPr lang="en-US" dirty="0"/>
              <a:t> for existing packages</a:t>
            </a:r>
          </a:p>
        </p:txBody>
      </p:sp>
      <p:pic>
        <p:nvPicPr>
          <p:cNvPr id="17" name="Picture 16">
            <a:extLst>
              <a:ext uri="{FF2B5EF4-FFF2-40B4-BE49-F238E27FC236}">
                <a16:creationId xmlns:a16="http://schemas.microsoft.com/office/drawing/2014/main" id="{DA073687-843B-1BEB-4F5A-661158E6B1E9}"/>
              </a:ext>
            </a:extLst>
          </p:cNvPr>
          <p:cNvPicPr>
            <a:picLocks noChangeAspect="1"/>
          </p:cNvPicPr>
          <p:nvPr/>
        </p:nvPicPr>
        <p:blipFill>
          <a:blip r:embed="rId2"/>
          <a:stretch>
            <a:fillRect/>
          </a:stretch>
        </p:blipFill>
        <p:spPr>
          <a:xfrm>
            <a:off x="924475" y="3168777"/>
            <a:ext cx="1891998" cy="2318281"/>
          </a:xfrm>
          <a:prstGeom prst="rect">
            <a:avLst/>
          </a:prstGeom>
        </p:spPr>
      </p:pic>
      <p:pic>
        <p:nvPicPr>
          <p:cNvPr id="19" name="Picture 18">
            <a:extLst>
              <a:ext uri="{FF2B5EF4-FFF2-40B4-BE49-F238E27FC236}">
                <a16:creationId xmlns:a16="http://schemas.microsoft.com/office/drawing/2014/main" id="{B2805BBC-09AD-5A7B-F605-4BE30279A7D9}"/>
              </a:ext>
            </a:extLst>
          </p:cNvPr>
          <p:cNvPicPr>
            <a:picLocks noChangeAspect="1"/>
          </p:cNvPicPr>
          <p:nvPr/>
        </p:nvPicPr>
        <p:blipFill>
          <a:blip r:embed="rId3"/>
          <a:stretch>
            <a:fillRect/>
          </a:stretch>
        </p:blipFill>
        <p:spPr>
          <a:xfrm>
            <a:off x="2892894" y="4210654"/>
            <a:ext cx="1971210" cy="491187"/>
          </a:xfrm>
          <a:prstGeom prst="rect">
            <a:avLst/>
          </a:prstGeom>
        </p:spPr>
      </p:pic>
      <p:sp>
        <p:nvSpPr>
          <p:cNvPr id="20" name="Rectangle 19">
            <a:extLst>
              <a:ext uri="{FF2B5EF4-FFF2-40B4-BE49-F238E27FC236}">
                <a16:creationId xmlns:a16="http://schemas.microsoft.com/office/drawing/2014/main" id="{D98FCF05-B15C-45EB-C326-F50FCEACA120}"/>
              </a:ext>
            </a:extLst>
          </p:cNvPr>
          <p:cNvSpPr/>
          <p:nvPr/>
        </p:nvSpPr>
        <p:spPr>
          <a:xfrm flipH="1">
            <a:off x="1106169" y="4233044"/>
            <a:ext cx="1673225" cy="12382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1D846C5B-A9C2-EAA7-21A8-8EC79F7D1694}"/>
              </a:ext>
            </a:extLst>
          </p:cNvPr>
          <p:cNvSpPr/>
          <p:nvPr/>
        </p:nvSpPr>
        <p:spPr>
          <a:xfrm flipH="1">
            <a:off x="2928319" y="4385850"/>
            <a:ext cx="1616376" cy="12382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 name="Picture 22">
            <a:extLst>
              <a:ext uri="{FF2B5EF4-FFF2-40B4-BE49-F238E27FC236}">
                <a16:creationId xmlns:a16="http://schemas.microsoft.com/office/drawing/2014/main" id="{F6E9DF6C-1D76-8EE7-0AAC-500B77B76217}"/>
              </a:ext>
            </a:extLst>
          </p:cNvPr>
          <p:cNvPicPr>
            <a:picLocks noChangeAspect="1"/>
          </p:cNvPicPr>
          <p:nvPr/>
        </p:nvPicPr>
        <p:blipFill>
          <a:blip r:embed="rId4"/>
          <a:stretch>
            <a:fillRect/>
          </a:stretch>
        </p:blipFill>
        <p:spPr>
          <a:xfrm>
            <a:off x="6277156" y="2324456"/>
            <a:ext cx="4170026" cy="3881993"/>
          </a:xfrm>
          <a:prstGeom prst="rect">
            <a:avLst/>
          </a:prstGeom>
        </p:spPr>
      </p:pic>
      <p:pic>
        <p:nvPicPr>
          <p:cNvPr id="9" name="Picture 8">
            <a:extLst>
              <a:ext uri="{FF2B5EF4-FFF2-40B4-BE49-F238E27FC236}">
                <a16:creationId xmlns:a16="http://schemas.microsoft.com/office/drawing/2014/main" id="{DAA45068-5D92-D102-1E71-14A12D77873D}"/>
              </a:ext>
            </a:extLst>
          </p:cNvPr>
          <p:cNvPicPr>
            <a:picLocks noChangeAspect="1"/>
          </p:cNvPicPr>
          <p:nvPr/>
        </p:nvPicPr>
        <p:blipFill>
          <a:blip r:embed="rId5"/>
          <a:stretch>
            <a:fillRect/>
          </a:stretch>
        </p:blipFill>
        <p:spPr>
          <a:xfrm>
            <a:off x="6277156" y="2324456"/>
            <a:ext cx="5354837" cy="3915239"/>
          </a:xfrm>
          <a:prstGeom prst="rect">
            <a:avLst/>
          </a:prstGeom>
        </p:spPr>
      </p:pic>
    </p:spTree>
    <p:extLst>
      <p:ext uri="{BB962C8B-B14F-4D97-AF65-F5344CB8AC3E}">
        <p14:creationId xmlns:p14="http://schemas.microsoft.com/office/powerpoint/2010/main" val="49043079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a:extLst>
              <a:ext uri="{FF2B5EF4-FFF2-40B4-BE49-F238E27FC236}">
                <a16:creationId xmlns:a16="http://schemas.microsoft.com/office/drawing/2014/main" id="{747313B3-F459-E249-28D7-0CAB4E5577EB}"/>
              </a:ext>
            </a:extLst>
          </p:cNvPr>
          <p:cNvPicPr>
            <a:picLocks noChangeAspect="1"/>
          </p:cNvPicPr>
          <p:nvPr/>
        </p:nvPicPr>
        <p:blipFill>
          <a:blip r:embed="rId2"/>
          <a:stretch>
            <a:fillRect/>
          </a:stretch>
        </p:blipFill>
        <p:spPr>
          <a:xfrm>
            <a:off x="3316994" y="4735329"/>
            <a:ext cx="1128169" cy="1884555"/>
          </a:xfrm>
          <a:prstGeom prst="rect">
            <a:avLst/>
          </a:prstGeom>
        </p:spPr>
      </p:pic>
      <p:pic>
        <p:nvPicPr>
          <p:cNvPr id="9" name="Picture 8">
            <a:extLst>
              <a:ext uri="{FF2B5EF4-FFF2-40B4-BE49-F238E27FC236}">
                <a16:creationId xmlns:a16="http://schemas.microsoft.com/office/drawing/2014/main" id="{17DF2156-50E5-00CA-BB23-232630812A05}"/>
              </a:ext>
            </a:extLst>
          </p:cNvPr>
          <p:cNvPicPr>
            <a:picLocks noChangeAspect="1"/>
          </p:cNvPicPr>
          <p:nvPr/>
        </p:nvPicPr>
        <p:blipFill>
          <a:blip r:embed="rId3"/>
          <a:stretch>
            <a:fillRect/>
          </a:stretch>
        </p:blipFill>
        <p:spPr>
          <a:xfrm>
            <a:off x="2982090" y="4732425"/>
            <a:ext cx="1408958" cy="1884555"/>
          </a:xfrm>
          <a:prstGeom prst="rect">
            <a:avLst/>
          </a:prstGeom>
        </p:spPr>
      </p:pic>
      <p:sp>
        <p:nvSpPr>
          <p:cNvPr id="2" name="Title 1">
            <a:extLst>
              <a:ext uri="{FF2B5EF4-FFF2-40B4-BE49-F238E27FC236}">
                <a16:creationId xmlns:a16="http://schemas.microsoft.com/office/drawing/2014/main" id="{90E57EEA-3CD3-D506-88E7-DB1C93DB6F1E}"/>
              </a:ext>
            </a:extLst>
          </p:cNvPr>
          <p:cNvSpPr>
            <a:spLocks noGrp="1"/>
          </p:cNvSpPr>
          <p:nvPr>
            <p:ph type="title"/>
          </p:nvPr>
        </p:nvSpPr>
        <p:spPr>
          <a:xfrm>
            <a:off x="838200" y="365126"/>
            <a:ext cx="10515600" cy="1100468"/>
          </a:xfrm>
        </p:spPr>
        <p:txBody>
          <a:bodyPr/>
          <a:lstStyle/>
          <a:p>
            <a:r>
              <a:rPr lang="en-US" dirty="0"/>
              <a:t>NuGet packages</a:t>
            </a:r>
            <a:br>
              <a:rPr lang="en-US" sz="3600" dirty="0"/>
            </a:br>
            <a:r>
              <a:rPr lang="en-US" sz="2000" dirty="0"/>
              <a:t>(choosing the right version)</a:t>
            </a:r>
          </a:p>
        </p:txBody>
      </p:sp>
      <p:sp>
        <p:nvSpPr>
          <p:cNvPr id="4" name="Footer Placeholder 3">
            <a:extLst>
              <a:ext uri="{FF2B5EF4-FFF2-40B4-BE49-F238E27FC236}">
                <a16:creationId xmlns:a16="http://schemas.microsoft.com/office/drawing/2014/main" id="{E646A3F1-8379-6DBC-09C6-9AC9B9099F92}"/>
              </a:ext>
            </a:extLst>
          </p:cNvPr>
          <p:cNvSpPr>
            <a:spLocks noGrp="1"/>
          </p:cNvSpPr>
          <p:nvPr>
            <p:ph type="ftr" sz="quarter" idx="11"/>
          </p:nvPr>
        </p:nvSpPr>
        <p:spPr/>
        <p:txBody>
          <a:bodyPr/>
          <a:lstStyle/>
          <a:p>
            <a:r>
              <a:rPr lang="en-US"/>
              <a:t>Pitch deck title</a:t>
            </a:r>
            <a:endParaRPr lang="en-US" dirty="0"/>
          </a:p>
        </p:txBody>
      </p:sp>
      <p:sp>
        <p:nvSpPr>
          <p:cNvPr id="5" name="Slide Number Placeholder 4">
            <a:extLst>
              <a:ext uri="{FF2B5EF4-FFF2-40B4-BE49-F238E27FC236}">
                <a16:creationId xmlns:a16="http://schemas.microsoft.com/office/drawing/2014/main" id="{79FF772F-102B-0001-6A5C-F89E1B0936A3}"/>
              </a:ext>
            </a:extLst>
          </p:cNvPr>
          <p:cNvSpPr>
            <a:spLocks noGrp="1"/>
          </p:cNvSpPr>
          <p:nvPr>
            <p:ph type="sldNum" sz="quarter" idx="12"/>
          </p:nvPr>
        </p:nvSpPr>
        <p:spPr/>
        <p:txBody>
          <a:bodyPr/>
          <a:lstStyle/>
          <a:p>
            <a:fld id="{B5CEABB6-07DC-46E8-9B57-56EC44A396E5}" type="slidenum">
              <a:rPr lang="en-US" smtClean="0"/>
              <a:t>16</a:t>
            </a:fld>
            <a:endParaRPr lang="en-US" dirty="0"/>
          </a:p>
        </p:txBody>
      </p:sp>
      <p:sp>
        <p:nvSpPr>
          <p:cNvPr id="6" name="Text Placeholder 5">
            <a:extLst>
              <a:ext uri="{FF2B5EF4-FFF2-40B4-BE49-F238E27FC236}">
                <a16:creationId xmlns:a16="http://schemas.microsoft.com/office/drawing/2014/main" id="{F7579F4F-7917-5EA9-D160-ADAC5D5192C8}"/>
              </a:ext>
            </a:extLst>
          </p:cNvPr>
          <p:cNvSpPr>
            <a:spLocks noGrp="1"/>
          </p:cNvSpPr>
          <p:nvPr>
            <p:ph type="body" sz="quarter" idx="13"/>
          </p:nvPr>
        </p:nvSpPr>
        <p:spPr>
          <a:xfrm>
            <a:off x="838200" y="1545207"/>
            <a:ext cx="7844327" cy="1847795"/>
          </a:xfrm>
        </p:spPr>
        <p:txBody>
          <a:bodyPr>
            <a:normAutofit/>
          </a:bodyPr>
          <a:lstStyle/>
          <a:p>
            <a:r>
              <a:rPr lang="en-US" dirty="0"/>
              <a:t>When installing NuGet packages, be aware that you can choose which version of the package will be installed within your project (and it will always default to the newest version)</a:t>
            </a:r>
          </a:p>
          <a:p>
            <a:endParaRPr lang="en-US" dirty="0"/>
          </a:p>
          <a:p>
            <a:r>
              <a:rPr lang="en-US" dirty="0"/>
              <a:t>This becomes a problem if you mix/match versions across major versions of .NET.  Newer packages meant for the latest .NET development will not function correctly with older versions of .NET</a:t>
            </a:r>
          </a:p>
        </p:txBody>
      </p:sp>
      <p:sp>
        <p:nvSpPr>
          <p:cNvPr id="12" name="Text Placeholder 11">
            <a:extLst>
              <a:ext uri="{FF2B5EF4-FFF2-40B4-BE49-F238E27FC236}">
                <a16:creationId xmlns:a16="http://schemas.microsoft.com/office/drawing/2014/main" id="{B3B01826-395A-E877-DD70-EB9F2B4EFFDA}"/>
              </a:ext>
            </a:extLst>
          </p:cNvPr>
          <p:cNvSpPr>
            <a:spLocks noGrp="1"/>
          </p:cNvSpPr>
          <p:nvPr>
            <p:ph type="body" sz="quarter" idx="19"/>
          </p:nvPr>
        </p:nvSpPr>
        <p:spPr>
          <a:xfrm>
            <a:off x="860456" y="3346203"/>
            <a:ext cx="3657600" cy="1188720"/>
          </a:xfrm>
        </p:spPr>
        <p:txBody>
          <a:bodyPr/>
          <a:lstStyle/>
          <a:p>
            <a:r>
              <a:rPr lang="en-US" dirty="0"/>
              <a:t>Always ensure to choose the latest version of your main version of .NET</a:t>
            </a:r>
          </a:p>
        </p:txBody>
      </p:sp>
      <p:pic>
        <p:nvPicPr>
          <p:cNvPr id="19" name="Picture 18">
            <a:extLst>
              <a:ext uri="{FF2B5EF4-FFF2-40B4-BE49-F238E27FC236}">
                <a16:creationId xmlns:a16="http://schemas.microsoft.com/office/drawing/2014/main" id="{45028112-956C-8BEB-CB89-870C94015CBD}"/>
              </a:ext>
            </a:extLst>
          </p:cNvPr>
          <p:cNvPicPr>
            <a:picLocks noChangeAspect="1"/>
          </p:cNvPicPr>
          <p:nvPr/>
        </p:nvPicPr>
        <p:blipFill>
          <a:blip r:embed="rId4"/>
          <a:stretch>
            <a:fillRect/>
          </a:stretch>
        </p:blipFill>
        <p:spPr>
          <a:xfrm>
            <a:off x="4677504" y="3429000"/>
            <a:ext cx="7050333" cy="3292475"/>
          </a:xfrm>
          <a:prstGeom prst="rect">
            <a:avLst/>
          </a:prstGeom>
        </p:spPr>
      </p:pic>
      <p:sp>
        <p:nvSpPr>
          <p:cNvPr id="20" name="Rectangle 19">
            <a:extLst>
              <a:ext uri="{FF2B5EF4-FFF2-40B4-BE49-F238E27FC236}">
                <a16:creationId xmlns:a16="http://schemas.microsoft.com/office/drawing/2014/main" id="{D5E0EDED-3FC9-6D0B-E261-0C15F10B9A7C}"/>
              </a:ext>
            </a:extLst>
          </p:cNvPr>
          <p:cNvSpPr/>
          <p:nvPr/>
        </p:nvSpPr>
        <p:spPr>
          <a:xfrm flipH="1">
            <a:off x="8167688" y="5426870"/>
            <a:ext cx="804862" cy="126205"/>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DF96878B-39E3-6D2E-5249-B54B9E205C4C}"/>
              </a:ext>
            </a:extLst>
          </p:cNvPr>
          <p:cNvSpPr/>
          <p:nvPr/>
        </p:nvSpPr>
        <p:spPr>
          <a:xfrm flipH="1">
            <a:off x="3098064" y="4933412"/>
            <a:ext cx="950180" cy="12382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Arrow: Right 26">
            <a:extLst>
              <a:ext uri="{FF2B5EF4-FFF2-40B4-BE49-F238E27FC236}">
                <a16:creationId xmlns:a16="http://schemas.microsoft.com/office/drawing/2014/main" id="{AAA7B556-3E6F-4F44-6D94-ED063DDD5779}"/>
              </a:ext>
            </a:extLst>
          </p:cNvPr>
          <p:cNvSpPr/>
          <p:nvPr/>
        </p:nvSpPr>
        <p:spPr>
          <a:xfrm rot="2003414" flipV="1">
            <a:off x="937618" y="4492605"/>
            <a:ext cx="858009" cy="333041"/>
          </a:xfrm>
          <a:prstGeom prst="rightArrow">
            <a:avLst/>
          </a:prstGeom>
          <a:solidFill>
            <a:schemeClr val="accent1">
              <a:alpha val="5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a:extLst>
              <a:ext uri="{FF2B5EF4-FFF2-40B4-BE49-F238E27FC236}">
                <a16:creationId xmlns:a16="http://schemas.microsoft.com/office/drawing/2014/main" id="{BB83EDBF-DE52-78B0-2B65-6C0EA10488C8}"/>
              </a:ext>
            </a:extLst>
          </p:cNvPr>
          <p:cNvPicPr>
            <a:picLocks noChangeAspect="1"/>
          </p:cNvPicPr>
          <p:nvPr/>
        </p:nvPicPr>
        <p:blipFill>
          <a:blip r:embed="rId5"/>
          <a:stretch>
            <a:fillRect/>
          </a:stretch>
        </p:blipFill>
        <p:spPr>
          <a:xfrm>
            <a:off x="4804512" y="2917665"/>
            <a:ext cx="6781899" cy="3693186"/>
          </a:xfrm>
          <a:prstGeom prst="rect">
            <a:avLst/>
          </a:prstGeom>
        </p:spPr>
      </p:pic>
      <p:pic>
        <p:nvPicPr>
          <p:cNvPr id="7" name="Picture 6">
            <a:extLst>
              <a:ext uri="{FF2B5EF4-FFF2-40B4-BE49-F238E27FC236}">
                <a16:creationId xmlns:a16="http://schemas.microsoft.com/office/drawing/2014/main" id="{49C80112-E369-D89F-1EF5-0868FE8592A3}"/>
              </a:ext>
            </a:extLst>
          </p:cNvPr>
          <p:cNvPicPr>
            <a:picLocks noChangeAspect="1"/>
          </p:cNvPicPr>
          <p:nvPr/>
        </p:nvPicPr>
        <p:blipFill>
          <a:blip r:embed="rId6"/>
          <a:stretch>
            <a:fillRect/>
          </a:stretch>
        </p:blipFill>
        <p:spPr>
          <a:xfrm>
            <a:off x="1920619" y="4700583"/>
            <a:ext cx="2578659" cy="1969335"/>
          </a:xfrm>
          <a:prstGeom prst="rect">
            <a:avLst/>
          </a:prstGeom>
        </p:spPr>
      </p:pic>
      <p:pic>
        <p:nvPicPr>
          <p:cNvPr id="10" name="Picture 9">
            <a:extLst>
              <a:ext uri="{FF2B5EF4-FFF2-40B4-BE49-F238E27FC236}">
                <a16:creationId xmlns:a16="http://schemas.microsoft.com/office/drawing/2014/main" id="{E2C31DFD-D919-C7C5-A356-0F676DA091DD}"/>
              </a:ext>
            </a:extLst>
          </p:cNvPr>
          <p:cNvPicPr>
            <a:picLocks noChangeAspect="1"/>
          </p:cNvPicPr>
          <p:nvPr/>
        </p:nvPicPr>
        <p:blipFill>
          <a:blip r:embed="rId7"/>
          <a:stretch>
            <a:fillRect/>
          </a:stretch>
        </p:blipFill>
        <p:spPr>
          <a:xfrm>
            <a:off x="4574386" y="2915010"/>
            <a:ext cx="7519572" cy="3806465"/>
          </a:xfrm>
          <a:prstGeom prst="rect">
            <a:avLst/>
          </a:prstGeom>
        </p:spPr>
      </p:pic>
      <p:sp>
        <p:nvSpPr>
          <p:cNvPr id="26" name="Arrow: Right 25">
            <a:extLst>
              <a:ext uri="{FF2B5EF4-FFF2-40B4-BE49-F238E27FC236}">
                <a16:creationId xmlns:a16="http://schemas.microsoft.com/office/drawing/2014/main" id="{EA51396C-6DF4-D8CF-60CB-A48A974B69D7}"/>
              </a:ext>
            </a:extLst>
          </p:cNvPr>
          <p:cNvSpPr/>
          <p:nvPr/>
        </p:nvSpPr>
        <p:spPr>
          <a:xfrm rot="1218006" flipV="1">
            <a:off x="6945172" y="4043137"/>
            <a:ext cx="1383493" cy="334062"/>
          </a:xfrm>
          <a:prstGeom prst="rightArrow">
            <a:avLst/>
          </a:prstGeom>
          <a:solidFill>
            <a:schemeClr val="accent1">
              <a:alpha val="5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5835547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Adding Entity Framework Packages</a:t>
            </a:r>
          </a:p>
        </p:txBody>
      </p:sp>
      <p:sp>
        <p:nvSpPr>
          <p:cNvPr id="3" name="Content Placeholder 2"/>
          <p:cNvSpPr>
            <a:spLocks noGrp="1"/>
          </p:cNvSpPr>
          <p:nvPr>
            <p:ph idx="1"/>
          </p:nvPr>
        </p:nvSpPr>
        <p:spPr>
          <a:xfrm>
            <a:off x="399495" y="1760434"/>
            <a:ext cx="11265763" cy="4653066"/>
          </a:xfrm>
        </p:spPr>
        <p:txBody>
          <a:bodyPr>
            <a:normAutofit fontScale="92500" lnSpcReduction="10000"/>
          </a:bodyPr>
          <a:lstStyle/>
          <a:p>
            <a:pPr marL="0" indent="0">
              <a:buNone/>
            </a:pPr>
            <a:r>
              <a:rPr lang="en-US" dirty="0"/>
              <a:t>ASP.NET Core Projects require downloading / installing several separate NuGet Packages to provide a complete strategy for working with EF Core:</a:t>
            </a:r>
          </a:p>
          <a:p>
            <a:endParaRPr lang="en-US" dirty="0"/>
          </a:p>
          <a:p>
            <a:pPr lvl="1"/>
            <a:r>
              <a:rPr lang="en-US" b="1" dirty="0"/>
              <a:t>Microsoft.EntityFrameworkCore</a:t>
            </a:r>
            <a:br>
              <a:rPr lang="en-US" dirty="0"/>
            </a:br>
            <a:r>
              <a:rPr lang="en-US" sz="1400" i="1" dirty="0"/>
              <a:t>Entity Framework Core is a lightweight and extensible version of the popular Entity Framework data access technology.</a:t>
            </a:r>
            <a:br>
              <a:rPr lang="en-US" dirty="0"/>
            </a:br>
            <a:endParaRPr lang="en-US" dirty="0"/>
          </a:p>
          <a:p>
            <a:pPr lvl="1"/>
            <a:r>
              <a:rPr lang="en-US" b="1" dirty="0"/>
              <a:t>Microsoft.EntityFrameworkCore.SqlServer</a:t>
            </a:r>
            <a:br>
              <a:rPr lang="en-US" dirty="0"/>
            </a:br>
            <a:r>
              <a:rPr lang="en-US" sz="1400" i="1" dirty="0"/>
              <a:t>Microsoft SQL Server database provider for Entity Framework Core.</a:t>
            </a:r>
            <a:br>
              <a:rPr lang="en-US" dirty="0"/>
            </a:br>
            <a:endParaRPr lang="en-US" dirty="0"/>
          </a:p>
          <a:p>
            <a:pPr lvl="1"/>
            <a:r>
              <a:rPr lang="en-US" b="1" dirty="0"/>
              <a:t>Microsoft.EntityFrameworkCore.Tools</a:t>
            </a:r>
            <a:br>
              <a:rPr lang="en-US" dirty="0"/>
            </a:br>
            <a:r>
              <a:rPr lang="en-US" sz="1400" i="1" dirty="0"/>
              <a:t>Entity Framework Core Tools for the NuGet Package Manager Console in Visual Studio:</a:t>
            </a:r>
            <a:br>
              <a:rPr lang="en-US" dirty="0"/>
            </a:br>
            <a:br>
              <a:rPr lang="en-US" sz="700" dirty="0"/>
            </a:br>
            <a:r>
              <a:rPr lang="en-US" sz="1400" b="1" i="1" dirty="0">
                <a:solidFill>
                  <a:srgbClr val="00B050"/>
                </a:solidFill>
              </a:rPr>
              <a:t>Add-Migration		Drop-Database	Get-DbContext</a:t>
            </a:r>
            <a:br>
              <a:rPr lang="en-US" sz="1400" b="1" i="1" dirty="0">
                <a:solidFill>
                  <a:srgbClr val="00B050"/>
                </a:solidFill>
              </a:rPr>
            </a:br>
            <a:r>
              <a:rPr lang="en-US" sz="1400" b="1" i="1" dirty="0">
                <a:solidFill>
                  <a:srgbClr val="00B050"/>
                </a:solidFill>
              </a:rPr>
              <a:t>Scaffold-DbContext	Script-Migrations	Update-Database</a:t>
            </a:r>
          </a:p>
          <a:p>
            <a:pPr lvl="1"/>
            <a:endParaRPr lang="en-US" sz="1400" dirty="0"/>
          </a:p>
          <a:p>
            <a:pPr marL="457200" lvl="1" indent="0" algn="ctr">
              <a:buNone/>
            </a:pPr>
            <a:br>
              <a:rPr lang="en-US" sz="100" b="1" dirty="0">
                <a:solidFill>
                  <a:srgbClr val="FF0000"/>
                </a:solidFill>
                <a:highlight>
                  <a:srgbClr val="FFFF00"/>
                </a:highlight>
              </a:rPr>
            </a:br>
            <a:r>
              <a:rPr lang="en-US" sz="1700" b="1" dirty="0">
                <a:solidFill>
                  <a:srgbClr val="FF0000"/>
                </a:solidFill>
                <a:highlight>
                  <a:srgbClr val="FFFF00"/>
                </a:highlight>
              </a:rPr>
              <a:t>NOTE: Ensure that when you install these packages, choose v10.0.12 for ALL Packages</a:t>
            </a:r>
            <a:br>
              <a:rPr lang="en-US" sz="1700" b="1" dirty="0">
                <a:solidFill>
                  <a:srgbClr val="FF0000"/>
                </a:solidFill>
                <a:highlight>
                  <a:srgbClr val="FFFF00"/>
                </a:highlight>
              </a:rPr>
            </a:br>
            <a:r>
              <a:rPr lang="en-US" sz="1700" b="1" dirty="0">
                <a:solidFill>
                  <a:srgbClr val="FF0000"/>
                </a:solidFill>
                <a:highlight>
                  <a:srgbClr val="FFFF00"/>
                </a:highlight>
              </a:rPr>
              <a:t>(</a:t>
            </a:r>
            <a:r>
              <a:rPr lang="en-US" sz="1700" b="1" dirty="0">
                <a:solidFill>
                  <a:srgbClr val="FF0000"/>
                </a:solidFill>
                <a:highlight>
                  <a:srgbClr val="FFFF00"/>
                </a:highlight>
                <a:latin typeface="Britannic Bold" panose="020B0903060703020204" pitchFamily="34" charset="0"/>
              </a:rPr>
              <a:t>ONLY use NuGet packages with the same MAJOR version as .NET : 10.0</a:t>
            </a:r>
            <a:r>
              <a:rPr lang="en-US" sz="1700" b="1" dirty="0">
                <a:solidFill>
                  <a:srgbClr val="FF0000"/>
                </a:solidFill>
                <a:highlight>
                  <a:srgbClr val="FFFF00"/>
                </a:highlight>
              </a:rPr>
              <a:t>)</a:t>
            </a:r>
            <a:endParaRPr lang="en-US" sz="1900" b="1" dirty="0">
              <a:solidFill>
                <a:srgbClr val="FF0000"/>
              </a:solidFill>
              <a:highlight>
                <a:srgbClr val="FFFF00"/>
              </a:highlight>
            </a:endParaRPr>
          </a:p>
        </p:txBody>
      </p:sp>
    </p:spTree>
    <p:extLst>
      <p:ext uri="{BB962C8B-B14F-4D97-AF65-F5344CB8AC3E}">
        <p14:creationId xmlns:p14="http://schemas.microsoft.com/office/powerpoint/2010/main" val="64967540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B0CFBB-C98A-C088-9998-97BB17F8A574}"/>
              </a:ext>
            </a:extLst>
          </p:cNvPr>
          <p:cNvSpPr>
            <a:spLocks noGrp="1"/>
          </p:cNvSpPr>
          <p:nvPr>
            <p:ph type="title"/>
          </p:nvPr>
        </p:nvSpPr>
        <p:spPr>
          <a:xfrm>
            <a:off x="838200" y="365126"/>
            <a:ext cx="10515600" cy="915988"/>
          </a:xfrm>
        </p:spPr>
        <p:txBody>
          <a:bodyPr/>
          <a:lstStyle/>
          <a:p>
            <a:r>
              <a:rPr lang="en-US" dirty="0"/>
              <a:t>Create a database context</a:t>
            </a:r>
          </a:p>
        </p:txBody>
      </p:sp>
      <p:sp>
        <p:nvSpPr>
          <p:cNvPr id="6" name="Slide Number Placeholder 5">
            <a:extLst>
              <a:ext uri="{FF2B5EF4-FFF2-40B4-BE49-F238E27FC236}">
                <a16:creationId xmlns:a16="http://schemas.microsoft.com/office/drawing/2014/main" id="{4A189B5D-472E-D192-3829-9E263D13FFF8}"/>
              </a:ext>
            </a:extLst>
          </p:cNvPr>
          <p:cNvSpPr>
            <a:spLocks noGrp="1"/>
          </p:cNvSpPr>
          <p:nvPr>
            <p:ph type="sldNum" sz="quarter" idx="12"/>
          </p:nvPr>
        </p:nvSpPr>
        <p:spPr/>
        <p:txBody>
          <a:bodyPr/>
          <a:lstStyle/>
          <a:p>
            <a:fld id="{B5CEABB6-07DC-46E8-9B57-56EC44A396E5}" type="slidenum">
              <a:rPr lang="en-US" smtClean="0"/>
              <a:t>18</a:t>
            </a:fld>
            <a:endParaRPr lang="en-US" dirty="0"/>
          </a:p>
        </p:txBody>
      </p:sp>
      <p:sp>
        <p:nvSpPr>
          <p:cNvPr id="10" name="Content Placeholder 9">
            <a:extLst>
              <a:ext uri="{FF2B5EF4-FFF2-40B4-BE49-F238E27FC236}">
                <a16:creationId xmlns:a16="http://schemas.microsoft.com/office/drawing/2014/main" id="{C7A90F47-7843-7988-21EF-E3156E59464A}"/>
              </a:ext>
            </a:extLst>
          </p:cNvPr>
          <p:cNvSpPr>
            <a:spLocks noGrp="1"/>
          </p:cNvSpPr>
          <p:nvPr>
            <p:ph idx="1"/>
          </p:nvPr>
        </p:nvSpPr>
        <p:spPr>
          <a:xfrm>
            <a:off x="915924" y="1552159"/>
            <a:ext cx="10360152" cy="4351338"/>
          </a:xfrm>
        </p:spPr>
        <p:txBody>
          <a:bodyPr/>
          <a:lstStyle/>
          <a:p>
            <a:pPr>
              <a:buFont typeface="Wingdings 2"/>
              <a:buNone/>
            </a:pPr>
            <a:r>
              <a:rPr lang="en-CA" sz="2400" dirty="0"/>
              <a:t>This is our </a:t>
            </a:r>
            <a:r>
              <a:rPr lang="en-CA" sz="2400" i="1" u="sng" dirty="0"/>
              <a:t>Database Context </a:t>
            </a:r>
            <a:r>
              <a:rPr lang="en-CA" sz="2400" dirty="0"/>
              <a:t>class – there is no other configuration, special interfaces, etc. needed </a:t>
            </a:r>
            <a:r>
              <a:rPr lang="en-CA" sz="2400" b="1" dirty="0"/>
              <a:t>except the appropriate connectionstring entry </a:t>
            </a:r>
            <a:r>
              <a:rPr lang="en-CA" sz="2400" dirty="0"/>
              <a:t>and a </a:t>
            </a:r>
            <a:r>
              <a:rPr lang="en-CA" sz="2400" b="1" dirty="0"/>
              <a:t>using statement for Microsoft.EntityFrameworkCore</a:t>
            </a:r>
          </a:p>
          <a:p>
            <a:pPr>
              <a:buFont typeface="Wingdings 2"/>
              <a:buNone/>
            </a:pPr>
            <a:r>
              <a:rPr lang="en-CA" sz="2000" dirty="0"/>
              <a:t>* By extending the </a:t>
            </a:r>
            <a:r>
              <a:rPr lang="en-CA" sz="2000" b="1" dirty="0"/>
              <a:t>DbContext</a:t>
            </a:r>
            <a:r>
              <a:rPr lang="en-CA" sz="2000" dirty="0"/>
              <a:t> base class, </a:t>
            </a:r>
            <a:r>
              <a:rPr lang="en-CA" sz="2000" u="sng" dirty="0"/>
              <a:t>our</a:t>
            </a:r>
            <a:r>
              <a:rPr lang="en-CA" sz="2000" dirty="0"/>
              <a:t> </a:t>
            </a:r>
            <a:r>
              <a:rPr lang="en-CA" sz="2000" b="1" dirty="0"/>
              <a:t>DbContext</a:t>
            </a:r>
            <a:r>
              <a:rPr lang="en-CA" sz="2000" dirty="0"/>
              <a:t> class is able to handle our database operations for us. We need to include </a:t>
            </a:r>
            <a:r>
              <a:rPr lang="en-CA" sz="2000" b="1" dirty="0"/>
              <a:t>DbSet</a:t>
            </a:r>
            <a:r>
              <a:rPr lang="en-CA" sz="2000" dirty="0"/>
              <a:t> statements for each entity we want to synchronize with our database.</a:t>
            </a:r>
          </a:p>
          <a:p>
            <a:endParaRPr lang="en-US" dirty="0"/>
          </a:p>
        </p:txBody>
      </p:sp>
      <p:pic>
        <p:nvPicPr>
          <p:cNvPr id="12" name="Picture 11">
            <a:extLst>
              <a:ext uri="{FF2B5EF4-FFF2-40B4-BE49-F238E27FC236}">
                <a16:creationId xmlns:a16="http://schemas.microsoft.com/office/drawing/2014/main" id="{9C55DC7B-C986-AB19-B56E-BD40D349DDE3}"/>
              </a:ext>
            </a:extLst>
          </p:cNvPr>
          <p:cNvPicPr>
            <a:picLocks noChangeAspect="1"/>
          </p:cNvPicPr>
          <p:nvPr/>
        </p:nvPicPr>
        <p:blipFill>
          <a:blip r:embed="rId2"/>
          <a:stretch>
            <a:fillRect/>
          </a:stretch>
        </p:blipFill>
        <p:spPr>
          <a:xfrm>
            <a:off x="1988800" y="4086779"/>
            <a:ext cx="8214399" cy="2087763"/>
          </a:xfrm>
          <a:prstGeom prst="rect">
            <a:avLst/>
          </a:prstGeom>
        </p:spPr>
      </p:pic>
      <p:pic>
        <p:nvPicPr>
          <p:cNvPr id="4" name="Picture 3">
            <a:extLst>
              <a:ext uri="{FF2B5EF4-FFF2-40B4-BE49-F238E27FC236}">
                <a16:creationId xmlns:a16="http://schemas.microsoft.com/office/drawing/2014/main" id="{EE6514B6-2975-88DF-4810-68DDE2E83D5F}"/>
              </a:ext>
            </a:extLst>
          </p:cNvPr>
          <p:cNvPicPr>
            <a:picLocks noChangeAspect="1"/>
          </p:cNvPicPr>
          <p:nvPr/>
        </p:nvPicPr>
        <p:blipFill>
          <a:blip r:embed="rId3"/>
          <a:stretch>
            <a:fillRect/>
          </a:stretch>
        </p:blipFill>
        <p:spPr>
          <a:xfrm>
            <a:off x="1450569" y="4062035"/>
            <a:ext cx="9290859" cy="2112507"/>
          </a:xfrm>
          <a:prstGeom prst="rect">
            <a:avLst/>
          </a:prstGeom>
        </p:spPr>
      </p:pic>
      <p:pic>
        <p:nvPicPr>
          <p:cNvPr id="5" name="Picture 4">
            <a:extLst>
              <a:ext uri="{FF2B5EF4-FFF2-40B4-BE49-F238E27FC236}">
                <a16:creationId xmlns:a16="http://schemas.microsoft.com/office/drawing/2014/main" id="{9050D1D2-1610-BED3-08B7-FD428099F467}"/>
              </a:ext>
            </a:extLst>
          </p:cNvPr>
          <p:cNvPicPr>
            <a:picLocks noChangeAspect="1"/>
          </p:cNvPicPr>
          <p:nvPr/>
        </p:nvPicPr>
        <p:blipFill>
          <a:blip r:embed="rId4"/>
          <a:stretch>
            <a:fillRect/>
          </a:stretch>
        </p:blipFill>
        <p:spPr>
          <a:xfrm>
            <a:off x="4032997" y="4062716"/>
            <a:ext cx="442750" cy="217970"/>
          </a:xfrm>
          <a:prstGeom prst="rect">
            <a:avLst/>
          </a:prstGeom>
        </p:spPr>
      </p:pic>
      <p:pic>
        <p:nvPicPr>
          <p:cNvPr id="7" name="Picture 6">
            <a:extLst>
              <a:ext uri="{FF2B5EF4-FFF2-40B4-BE49-F238E27FC236}">
                <a16:creationId xmlns:a16="http://schemas.microsoft.com/office/drawing/2014/main" id="{55C84845-0481-B400-1943-159F78810BDB}"/>
              </a:ext>
            </a:extLst>
          </p:cNvPr>
          <p:cNvPicPr>
            <a:picLocks noChangeAspect="1"/>
          </p:cNvPicPr>
          <p:nvPr/>
        </p:nvPicPr>
        <p:blipFill>
          <a:blip r:embed="rId5"/>
          <a:stretch>
            <a:fillRect/>
          </a:stretch>
        </p:blipFill>
        <p:spPr>
          <a:xfrm>
            <a:off x="1450570" y="3781662"/>
            <a:ext cx="9290858" cy="2711212"/>
          </a:xfrm>
          <a:prstGeom prst="rect">
            <a:avLst/>
          </a:prstGeom>
        </p:spPr>
      </p:pic>
    </p:spTree>
    <p:extLst>
      <p:ext uri="{BB962C8B-B14F-4D97-AF65-F5344CB8AC3E}">
        <p14:creationId xmlns:p14="http://schemas.microsoft.com/office/powerpoint/2010/main" val="141970622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F0C82C-EEC1-2287-BB50-AF32C39A860E}"/>
              </a:ext>
            </a:extLst>
          </p:cNvPr>
          <p:cNvSpPr>
            <a:spLocks noGrp="1"/>
          </p:cNvSpPr>
          <p:nvPr>
            <p:ph type="title"/>
          </p:nvPr>
        </p:nvSpPr>
        <p:spPr/>
        <p:txBody>
          <a:bodyPr/>
          <a:lstStyle/>
          <a:p>
            <a:r>
              <a:rPr lang="en-US" b="1" dirty="0"/>
              <a:t>DbContext</a:t>
            </a:r>
            <a:r>
              <a:rPr lang="en-US" dirty="0"/>
              <a:t> and </a:t>
            </a:r>
            <a:r>
              <a:rPr lang="en-US" b="1" dirty="0"/>
              <a:t>DbSet</a:t>
            </a:r>
            <a:endParaRPr lang="en-US" dirty="0"/>
          </a:p>
        </p:txBody>
      </p:sp>
      <p:sp>
        <p:nvSpPr>
          <p:cNvPr id="3" name="Content Placeholder 2">
            <a:extLst>
              <a:ext uri="{FF2B5EF4-FFF2-40B4-BE49-F238E27FC236}">
                <a16:creationId xmlns:a16="http://schemas.microsoft.com/office/drawing/2014/main" id="{5DAE89B3-2D25-C642-1AF1-23DE477EDF71}"/>
              </a:ext>
            </a:extLst>
          </p:cNvPr>
          <p:cNvSpPr>
            <a:spLocks noGrp="1"/>
          </p:cNvSpPr>
          <p:nvPr>
            <p:ph idx="1"/>
          </p:nvPr>
        </p:nvSpPr>
        <p:spPr/>
        <p:txBody>
          <a:bodyPr/>
          <a:lstStyle/>
          <a:p>
            <a:r>
              <a:rPr lang="en-CA" dirty="0"/>
              <a:t>The </a:t>
            </a:r>
            <a:r>
              <a:rPr lang="en-CA" b="1" dirty="0">
                <a:solidFill>
                  <a:srgbClr val="00B0F0"/>
                </a:solidFill>
              </a:rPr>
              <a:t>DbContext</a:t>
            </a:r>
            <a:r>
              <a:rPr lang="en-CA" dirty="0"/>
              <a:t> class is from Entity Framework Core. It represents a session with the database and allows us to query and save data. </a:t>
            </a:r>
          </a:p>
          <a:p>
            <a:r>
              <a:rPr lang="en-CA" dirty="0"/>
              <a:t>In our derived context class, we define one or more properties that are a </a:t>
            </a:r>
            <a:r>
              <a:rPr lang="en-CA" b="1" dirty="0">
                <a:solidFill>
                  <a:srgbClr val="00B0F0"/>
                </a:solidFill>
              </a:rPr>
              <a:t>DbSet</a:t>
            </a:r>
            <a:r>
              <a:rPr lang="en-CA" dirty="0"/>
              <a:t> for every type in our models. </a:t>
            </a:r>
          </a:p>
          <a:p>
            <a:r>
              <a:rPr lang="en-CA" dirty="0"/>
              <a:t>The </a:t>
            </a:r>
            <a:r>
              <a:rPr lang="en-CA" b="1" dirty="0">
                <a:solidFill>
                  <a:srgbClr val="00B0F0"/>
                </a:solidFill>
              </a:rPr>
              <a:t>DbSet</a:t>
            </a:r>
            <a:r>
              <a:rPr lang="en-CA" dirty="0"/>
              <a:t> allows us to query and save instances of those indicated types.</a:t>
            </a:r>
          </a:p>
          <a:p>
            <a:pPr lvl="1"/>
            <a:r>
              <a:rPr lang="en-CA" dirty="0"/>
              <a:t>The </a:t>
            </a:r>
            <a:r>
              <a:rPr lang="en-CA" b="1" dirty="0">
                <a:solidFill>
                  <a:srgbClr val="00B0F0"/>
                </a:solidFill>
              </a:rPr>
              <a:t>DbSet</a:t>
            </a:r>
            <a:r>
              <a:rPr lang="en-CA" dirty="0"/>
              <a:t> represents an entity set that is used to perform create, read, update and delete operations</a:t>
            </a:r>
          </a:p>
          <a:p>
            <a:endParaRPr lang="en-US" dirty="0"/>
          </a:p>
        </p:txBody>
      </p:sp>
      <p:sp>
        <p:nvSpPr>
          <p:cNvPr id="6" name="Slide Number Placeholder 5">
            <a:extLst>
              <a:ext uri="{FF2B5EF4-FFF2-40B4-BE49-F238E27FC236}">
                <a16:creationId xmlns:a16="http://schemas.microsoft.com/office/drawing/2014/main" id="{423C025F-7691-E95C-B28D-6807239B8B53}"/>
              </a:ext>
            </a:extLst>
          </p:cNvPr>
          <p:cNvSpPr>
            <a:spLocks noGrp="1"/>
          </p:cNvSpPr>
          <p:nvPr>
            <p:ph type="sldNum" sz="quarter" idx="12"/>
          </p:nvPr>
        </p:nvSpPr>
        <p:spPr/>
        <p:txBody>
          <a:bodyPr/>
          <a:lstStyle/>
          <a:p>
            <a:fld id="{B5CEABB6-07DC-46E8-9B57-56EC44A396E5}" type="slidenum">
              <a:rPr lang="en-US" smtClean="0"/>
              <a:t>19</a:t>
            </a:fld>
            <a:endParaRPr lang="en-US" dirty="0"/>
          </a:p>
        </p:txBody>
      </p:sp>
    </p:spTree>
    <p:extLst>
      <p:ext uri="{BB962C8B-B14F-4D97-AF65-F5344CB8AC3E}">
        <p14:creationId xmlns:p14="http://schemas.microsoft.com/office/powerpoint/2010/main" val="153361896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6"/>
            <a:ext cx="10515600" cy="600550"/>
          </a:xfrm>
        </p:spPr>
        <p:txBody>
          <a:bodyPr>
            <a:normAutofit/>
          </a:bodyPr>
          <a:lstStyle/>
          <a:p>
            <a:pPr algn="ctr"/>
            <a:r>
              <a:rPr lang="en-US" sz="3200" dirty="0"/>
              <a:t>Adding a Connection String</a:t>
            </a:r>
            <a:endParaRPr lang="en-US" dirty="0"/>
          </a:p>
        </p:txBody>
      </p:sp>
      <p:sp>
        <p:nvSpPr>
          <p:cNvPr id="3" name="Content Placeholder 2"/>
          <p:cNvSpPr>
            <a:spLocks noGrp="1"/>
          </p:cNvSpPr>
          <p:nvPr>
            <p:ph idx="1"/>
          </p:nvPr>
        </p:nvSpPr>
        <p:spPr>
          <a:xfrm>
            <a:off x="423862" y="5369510"/>
            <a:ext cx="11344274" cy="1164454"/>
          </a:xfrm>
        </p:spPr>
        <p:txBody>
          <a:bodyPr>
            <a:normAutofit lnSpcReduction="10000"/>
          </a:bodyPr>
          <a:lstStyle/>
          <a:p>
            <a:pPr marL="0" indent="0" algn="ctr">
              <a:buNone/>
            </a:pPr>
            <a:r>
              <a:rPr lang="en-US" sz="2800" b="1" dirty="0">
                <a:solidFill>
                  <a:srgbClr val="FF0000"/>
                </a:solidFill>
                <a:highlight>
                  <a:srgbClr val="FFFF00"/>
                </a:highlight>
                <a:latin typeface="Britannic Bold" panose="020B0903060703020204" pitchFamily="34" charset="0"/>
              </a:rPr>
              <a:t>Beware</a:t>
            </a:r>
            <a:r>
              <a:rPr lang="en-US" sz="2800" dirty="0">
                <a:solidFill>
                  <a:srgbClr val="FF0000"/>
                </a:solidFill>
                <a:highlight>
                  <a:srgbClr val="FFFF00"/>
                </a:highlight>
                <a:latin typeface="Britannic Bold" panose="020B0903060703020204" pitchFamily="34" charset="0"/>
              </a:rPr>
              <a:t>: We are not working in XML, but JSON (Java-Script Object Notation)</a:t>
            </a:r>
            <a:br>
              <a:rPr lang="en-US" sz="2800" dirty="0">
                <a:solidFill>
                  <a:srgbClr val="FF0000"/>
                </a:solidFill>
                <a:highlight>
                  <a:srgbClr val="FFFF00"/>
                </a:highlight>
                <a:latin typeface="Britannic Bold" panose="020B0903060703020204" pitchFamily="34" charset="0"/>
              </a:rPr>
            </a:br>
            <a:r>
              <a:rPr lang="en-US" sz="2800" dirty="0">
                <a:solidFill>
                  <a:srgbClr val="FF0000"/>
                </a:solidFill>
                <a:highlight>
                  <a:srgbClr val="FFFF00"/>
                </a:highlight>
                <a:latin typeface="Britannic Bold" panose="020B0903060703020204" pitchFamily="34" charset="0"/>
              </a:rPr>
              <a:t>Each configuration item </a:t>
            </a:r>
            <a:r>
              <a:rPr lang="en-US" sz="2800" b="1" dirty="0">
                <a:solidFill>
                  <a:srgbClr val="FF0000"/>
                </a:solidFill>
                <a:highlight>
                  <a:srgbClr val="FFFF00"/>
                </a:highlight>
                <a:latin typeface="Britannic Bold" panose="020B0903060703020204" pitchFamily="34" charset="0"/>
              </a:rPr>
              <a:t>must</a:t>
            </a:r>
            <a:r>
              <a:rPr lang="en-US" sz="2800" dirty="0">
                <a:solidFill>
                  <a:srgbClr val="FF0000"/>
                </a:solidFill>
                <a:highlight>
                  <a:srgbClr val="FFFF00"/>
                </a:highlight>
                <a:latin typeface="Britannic Bold" panose="020B0903060703020204" pitchFamily="34" charset="0"/>
              </a:rPr>
              <a:t> be comma separated</a:t>
            </a:r>
          </a:p>
        </p:txBody>
      </p:sp>
      <p:sp>
        <p:nvSpPr>
          <p:cNvPr id="6" name="TextBox 5">
            <a:extLst>
              <a:ext uri="{FF2B5EF4-FFF2-40B4-BE49-F238E27FC236}">
                <a16:creationId xmlns:a16="http://schemas.microsoft.com/office/drawing/2014/main" id="{1C9C2347-9299-CD00-7E11-62E81B641813}"/>
              </a:ext>
            </a:extLst>
          </p:cNvPr>
          <p:cNvSpPr txBox="1"/>
          <p:nvPr/>
        </p:nvSpPr>
        <p:spPr>
          <a:xfrm>
            <a:off x="948583" y="1341689"/>
            <a:ext cx="10331866" cy="646331"/>
          </a:xfrm>
          <a:prstGeom prst="rect">
            <a:avLst/>
          </a:prstGeom>
          <a:noFill/>
        </p:spPr>
        <p:txBody>
          <a:bodyPr wrap="square" rtlCol="0">
            <a:spAutoFit/>
          </a:bodyPr>
          <a:lstStyle/>
          <a:p>
            <a:r>
              <a:rPr lang="en-US" dirty="0"/>
              <a:t>The configuration for making connections to the separate data sources our project utilized is stored within </a:t>
            </a:r>
            <a:r>
              <a:rPr lang="en-US" b="1" dirty="0">
                <a:solidFill>
                  <a:srgbClr val="FF0000"/>
                </a:solidFill>
              </a:rPr>
              <a:t>appSettings.json</a:t>
            </a:r>
            <a:r>
              <a:rPr lang="en-US" dirty="0"/>
              <a:t>, within the </a:t>
            </a:r>
            <a:r>
              <a:rPr lang="en-US" b="1" dirty="0"/>
              <a:t>ConnectionStrings</a:t>
            </a:r>
            <a:r>
              <a:rPr lang="en-US" dirty="0"/>
              <a:t> area.</a:t>
            </a:r>
          </a:p>
        </p:txBody>
      </p:sp>
      <p:pic>
        <p:nvPicPr>
          <p:cNvPr id="8" name="Picture 7">
            <a:extLst>
              <a:ext uri="{FF2B5EF4-FFF2-40B4-BE49-F238E27FC236}">
                <a16:creationId xmlns:a16="http://schemas.microsoft.com/office/drawing/2014/main" id="{BEF797E0-6CCB-A380-AD9B-9C6D3B681726}"/>
              </a:ext>
            </a:extLst>
          </p:cNvPr>
          <p:cNvPicPr>
            <a:picLocks noChangeAspect="1"/>
          </p:cNvPicPr>
          <p:nvPr/>
        </p:nvPicPr>
        <p:blipFill>
          <a:blip r:embed="rId3"/>
          <a:stretch>
            <a:fillRect/>
          </a:stretch>
        </p:blipFill>
        <p:spPr>
          <a:xfrm>
            <a:off x="414336" y="2157860"/>
            <a:ext cx="11353800" cy="2890203"/>
          </a:xfrm>
          <a:prstGeom prst="rect">
            <a:avLst/>
          </a:prstGeom>
        </p:spPr>
      </p:pic>
      <p:pic>
        <p:nvPicPr>
          <p:cNvPr id="5" name="Picture 4">
            <a:extLst>
              <a:ext uri="{FF2B5EF4-FFF2-40B4-BE49-F238E27FC236}">
                <a16:creationId xmlns:a16="http://schemas.microsoft.com/office/drawing/2014/main" id="{930CF6A9-558B-C7E7-3C09-A7F74A986572}"/>
              </a:ext>
            </a:extLst>
          </p:cNvPr>
          <p:cNvPicPr>
            <a:picLocks noChangeAspect="1"/>
          </p:cNvPicPr>
          <p:nvPr/>
        </p:nvPicPr>
        <p:blipFill>
          <a:blip r:embed="rId4"/>
          <a:stretch>
            <a:fillRect/>
          </a:stretch>
        </p:blipFill>
        <p:spPr>
          <a:xfrm>
            <a:off x="838200" y="2157860"/>
            <a:ext cx="11174531" cy="2890203"/>
          </a:xfrm>
          <a:prstGeom prst="rect">
            <a:avLst/>
          </a:prstGeom>
        </p:spPr>
      </p:pic>
      <p:pic>
        <p:nvPicPr>
          <p:cNvPr id="7" name="Picture 6">
            <a:extLst>
              <a:ext uri="{FF2B5EF4-FFF2-40B4-BE49-F238E27FC236}">
                <a16:creationId xmlns:a16="http://schemas.microsoft.com/office/drawing/2014/main" id="{6B65E259-508E-7A09-3FFB-9CA88AFAE6FE}"/>
              </a:ext>
            </a:extLst>
          </p:cNvPr>
          <p:cNvPicPr>
            <a:picLocks noChangeAspect="1"/>
          </p:cNvPicPr>
          <p:nvPr/>
        </p:nvPicPr>
        <p:blipFill>
          <a:blip r:embed="rId5"/>
          <a:stretch>
            <a:fillRect/>
          </a:stretch>
        </p:blipFill>
        <p:spPr>
          <a:xfrm>
            <a:off x="234615" y="2160610"/>
            <a:ext cx="11778115" cy="2991936"/>
          </a:xfrm>
          <a:prstGeom prst="rect">
            <a:avLst/>
          </a:prstGeom>
        </p:spPr>
      </p:pic>
    </p:spTree>
    <p:extLst>
      <p:ext uri="{BB962C8B-B14F-4D97-AF65-F5344CB8AC3E}">
        <p14:creationId xmlns:p14="http://schemas.microsoft.com/office/powerpoint/2010/main" val="403544658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844049"/>
          </a:xfrm>
        </p:spPr>
        <p:txBody>
          <a:bodyPr/>
          <a:lstStyle/>
          <a:p>
            <a:r>
              <a:rPr lang="en-US" sz="3200" dirty="0"/>
              <a:t>Configuring the Services for ASP.NET CORE</a:t>
            </a:r>
            <a:endParaRPr lang="en-US" dirty="0"/>
          </a:p>
        </p:txBody>
      </p:sp>
      <p:sp>
        <p:nvSpPr>
          <p:cNvPr id="3" name="Content Placeholder 2"/>
          <p:cNvSpPr>
            <a:spLocks noGrp="1"/>
          </p:cNvSpPr>
          <p:nvPr>
            <p:ph idx="1"/>
          </p:nvPr>
        </p:nvSpPr>
        <p:spPr>
          <a:xfrm>
            <a:off x="1142922" y="1209174"/>
            <a:ext cx="10046446" cy="4939469"/>
          </a:xfrm>
        </p:spPr>
        <p:txBody>
          <a:bodyPr>
            <a:normAutofit fontScale="92500"/>
          </a:bodyPr>
          <a:lstStyle/>
          <a:p>
            <a:r>
              <a:rPr lang="en-US" b="1" dirty="0"/>
              <a:t>Program.CS</a:t>
            </a:r>
            <a:r>
              <a:rPr lang="en-US" dirty="0"/>
              <a:t> is responsible for configuring many of the Project-wide settings, including:</a:t>
            </a:r>
          </a:p>
          <a:p>
            <a:pPr lvl="1"/>
            <a:r>
              <a:rPr lang="en-US" dirty="0"/>
              <a:t>Which features of ASP.NET Core will be activated for your specific project</a:t>
            </a:r>
          </a:p>
          <a:p>
            <a:pPr lvl="1"/>
            <a:r>
              <a:rPr lang="en-US" dirty="0"/>
              <a:t>Project Routing options</a:t>
            </a:r>
            <a:br>
              <a:rPr lang="en-US" dirty="0"/>
            </a:br>
            <a:endParaRPr lang="en-US" dirty="0"/>
          </a:p>
          <a:p>
            <a:pPr lvl="1"/>
            <a:endParaRPr lang="en-US" dirty="0"/>
          </a:p>
          <a:p>
            <a:pPr lvl="1"/>
            <a:endParaRPr lang="en-US" dirty="0"/>
          </a:p>
          <a:p>
            <a:pPr lvl="1"/>
            <a:endParaRPr lang="en-US" dirty="0"/>
          </a:p>
          <a:p>
            <a:pPr lvl="1"/>
            <a:endParaRPr lang="en-US" dirty="0"/>
          </a:p>
          <a:p>
            <a:pPr lvl="1"/>
            <a:r>
              <a:rPr lang="en-US" sz="1800" dirty="0"/>
              <a:t>Several of the Services we require to be configured are: </a:t>
            </a:r>
          </a:p>
          <a:p>
            <a:pPr marL="1257300" lvl="2" indent="-342900">
              <a:buFont typeface="+mj-lt"/>
              <a:buAutoNum type="arabicPeriod"/>
            </a:pPr>
            <a:r>
              <a:rPr lang="en-US" sz="1600" dirty="0"/>
              <a:t>Support for MVC Controllers/Views (using Razer HTML)</a:t>
            </a:r>
          </a:p>
          <a:p>
            <a:pPr marL="1257300" lvl="2" indent="-342900">
              <a:buFont typeface="+mj-lt"/>
              <a:buAutoNum type="arabicPeriod"/>
            </a:pPr>
            <a:r>
              <a:rPr lang="en-US" sz="1600" dirty="0"/>
              <a:t>Adding a DbContext for the project (using the ConnectionString we created)</a:t>
            </a:r>
          </a:p>
          <a:p>
            <a:pPr marL="914400" lvl="2" indent="0">
              <a:buNone/>
            </a:pPr>
            <a:endParaRPr lang="en-US" sz="1600" dirty="0"/>
          </a:p>
          <a:p>
            <a:pPr marL="914400" lvl="2" indent="0">
              <a:buNone/>
            </a:pPr>
            <a:r>
              <a:rPr lang="en-US" sz="1600" b="1" dirty="0"/>
              <a:t>NOTE</a:t>
            </a:r>
            <a:r>
              <a:rPr lang="en-US" sz="1600" dirty="0"/>
              <a:t>: Services have an order of initialization for correct behaviour.  Do not modify the ordering from the example provided.</a:t>
            </a:r>
          </a:p>
        </p:txBody>
      </p:sp>
      <p:pic>
        <p:nvPicPr>
          <p:cNvPr id="8" name="Picture 7">
            <a:extLst>
              <a:ext uri="{FF2B5EF4-FFF2-40B4-BE49-F238E27FC236}">
                <a16:creationId xmlns:a16="http://schemas.microsoft.com/office/drawing/2014/main" id="{A55B5D2A-F247-3211-B9A1-5FEDB9E95F1A}"/>
              </a:ext>
            </a:extLst>
          </p:cNvPr>
          <p:cNvPicPr>
            <a:picLocks noChangeAspect="1"/>
          </p:cNvPicPr>
          <p:nvPr/>
        </p:nvPicPr>
        <p:blipFill>
          <a:blip r:embed="rId2"/>
          <a:stretch>
            <a:fillRect/>
          </a:stretch>
        </p:blipFill>
        <p:spPr>
          <a:xfrm>
            <a:off x="673151" y="3340257"/>
            <a:ext cx="11086330" cy="1175049"/>
          </a:xfrm>
          <a:prstGeom prst="rect">
            <a:avLst/>
          </a:prstGeom>
        </p:spPr>
      </p:pic>
    </p:spTree>
    <p:extLst>
      <p:ext uri="{BB962C8B-B14F-4D97-AF65-F5344CB8AC3E}">
        <p14:creationId xmlns:p14="http://schemas.microsoft.com/office/powerpoint/2010/main" val="337307578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825823"/>
          </a:xfrm>
        </p:spPr>
        <p:txBody>
          <a:bodyPr>
            <a:normAutofit/>
          </a:bodyPr>
          <a:lstStyle/>
          <a:p>
            <a:r>
              <a:rPr lang="en-US" sz="3600" dirty="0"/>
              <a:t>Creating the Initial EF Core Migration</a:t>
            </a:r>
          </a:p>
        </p:txBody>
      </p:sp>
      <p:sp>
        <p:nvSpPr>
          <p:cNvPr id="3" name="Content Placeholder 2"/>
          <p:cNvSpPr>
            <a:spLocks noGrp="1"/>
          </p:cNvSpPr>
          <p:nvPr>
            <p:ph idx="1"/>
          </p:nvPr>
        </p:nvSpPr>
        <p:spPr>
          <a:xfrm>
            <a:off x="825740" y="1690688"/>
            <a:ext cx="10528060" cy="4241800"/>
          </a:xfrm>
        </p:spPr>
        <p:txBody>
          <a:bodyPr>
            <a:normAutofit/>
          </a:bodyPr>
          <a:lstStyle/>
          <a:p>
            <a:r>
              <a:rPr lang="en-US" sz="1600" dirty="0"/>
              <a:t>The structure of a database generated using Entity Framework using Code-First approach is accomplished by the creation of </a:t>
            </a:r>
            <a:r>
              <a:rPr lang="en-US" sz="1600" b="1" dirty="0"/>
              <a:t>migrations</a:t>
            </a:r>
            <a:r>
              <a:rPr lang="en-US" sz="1600" dirty="0"/>
              <a:t>.</a:t>
            </a:r>
          </a:p>
          <a:p>
            <a:endParaRPr lang="en-US" sz="600" dirty="0"/>
          </a:p>
          <a:p>
            <a:endParaRPr lang="en-US" sz="700" dirty="0"/>
          </a:p>
          <a:p>
            <a:endParaRPr lang="en-US" sz="700" dirty="0"/>
          </a:p>
          <a:p>
            <a:endParaRPr lang="en-US" dirty="0"/>
          </a:p>
          <a:p>
            <a:r>
              <a:rPr lang="en-US" sz="1600" dirty="0"/>
              <a:t>Migrations are enabled by default once we have installed the Entity Framework Core packages within our project.  We only require the use of </a:t>
            </a:r>
            <a:r>
              <a:rPr lang="en-US" sz="1600" b="1" dirty="0">
                <a:highlight>
                  <a:srgbClr val="C0C0C0"/>
                </a:highlight>
              </a:rPr>
              <a:t>add-migration</a:t>
            </a:r>
            <a:r>
              <a:rPr lang="en-US" sz="1600" dirty="0">
                <a:highlight>
                  <a:srgbClr val="C0C0C0"/>
                </a:highlight>
              </a:rPr>
              <a:t> &lt;migrationname&gt; </a:t>
            </a:r>
            <a:r>
              <a:rPr lang="en-US" sz="1600" dirty="0"/>
              <a:t>and </a:t>
            </a:r>
            <a:r>
              <a:rPr lang="en-US" sz="1600" b="1" dirty="0">
                <a:highlight>
                  <a:srgbClr val="C0C0C0"/>
                </a:highlight>
              </a:rPr>
              <a:t>update-database</a:t>
            </a:r>
            <a:r>
              <a:rPr lang="en-US" sz="1600" dirty="0"/>
              <a:t> for updating / deploying our ORM to the Database (using the Context/Connection String we previously added)</a:t>
            </a:r>
            <a:br>
              <a:rPr lang="en-US" sz="1600" dirty="0"/>
            </a:br>
            <a:br>
              <a:rPr lang="en-US" sz="1600" dirty="0"/>
            </a:br>
            <a:br>
              <a:rPr lang="en-US" dirty="0"/>
            </a:br>
            <a:endParaRPr lang="en-US" dirty="0"/>
          </a:p>
          <a:p>
            <a:endParaRPr lang="en-US" sz="600" dirty="0"/>
          </a:p>
          <a:p>
            <a:endParaRPr lang="en-US" sz="600" dirty="0"/>
          </a:p>
          <a:p>
            <a:r>
              <a:rPr lang="en-US" sz="1300" dirty="0"/>
              <a:t>NOTE: We also have access to </a:t>
            </a:r>
            <a:r>
              <a:rPr lang="en-US" sz="1300" b="1" dirty="0">
                <a:highlight>
                  <a:srgbClr val="FFFF00"/>
                </a:highlight>
              </a:rPr>
              <a:t>Remove-Migration</a:t>
            </a:r>
            <a:r>
              <a:rPr lang="en-US" sz="1300" dirty="0"/>
              <a:t> to easily delete (undeployed) migrations from our project</a:t>
            </a:r>
            <a:endParaRPr lang="en-US" dirty="0"/>
          </a:p>
          <a:p>
            <a:endParaRPr lang="en-US" dirty="0"/>
          </a:p>
        </p:txBody>
      </p:sp>
      <p:pic>
        <p:nvPicPr>
          <p:cNvPr id="5" name="Picture 4"/>
          <p:cNvPicPr>
            <a:picLocks noChangeAspect="1"/>
          </p:cNvPicPr>
          <p:nvPr/>
        </p:nvPicPr>
        <p:blipFill>
          <a:blip r:embed="rId3"/>
          <a:stretch>
            <a:fillRect/>
          </a:stretch>
        </p:blipFill>
        <p:spPr>
          <a:xfrm>
            <a:off x="1255386" y="2284774"/>
            <a:ext cx="5122863" cy="938380"/>
          </a:xfrm>
          <a:prstGeom prst="rect">
            <a:avLst/>
          </a:prstGeom>
        </p:spPr>
      </p:pic>
      <p:pic>
        <p:nvPicPr>
          <p:cNvPr id="7" name="Picture 6">
            <a:extLst>
              <a:ext uri="{FF2B5EF4-FFF2-40B4-BE49-F238E27FC236}">
                <a16:creationId xmlns:a16="http://schemas.microsoft.com/office/drawing/2014/main" id="{FC4C4610-D223-B012-DECF-0C79C2C2B6CD}"/>
              </a:ext>
            </a:extLst>
          </p:cNvPr>
          <p:cNvPicPr>
            <a:picLocks noChangeAspect="1"/>
          </p:cNvPicPr>
          <p:nvPr/>
        </p:nvPicPr>
        <p:blipFill>
          <a:blip r:embed="rId4"/>
          <a:stretch>
            <a:fillRect/>
          </a:stretch>
        </p:blipFill>
        <p:spPr>
          <a:xfrm>
            <a:off x="1445625" y="4557185"/>
            <a:ext cx="3452074" cy="357715"/>
          </a:xfrm>
          <a:prstGeom prst="rect">
            <a:avLst/>
          </a:prstGeom>
        </p:spPr>
      </p:pic>
      <p:pic>
        <p:nvPicPr>
          <p:cNvPr id="6" name="Picture 5">
            <a:extLst>
              <a:ext uri="{FF2B5EF4-FFF2-40B4-BE49-F238E27FC236}">
                <a16:creationId xmlns:a16="http://schemas.microsoft.com/office/drawing/2014/main" id="{488476E6-DF91-4E55-797C-006F08B0CA2E}"/>
              </a:ext>
            </a:extLst>
          </p:cNvPr>
          <p:cNvPicPr>
            <a:picLocks noChangeAspect="1"/>
          </p:cNvPicPr>
          <p:nvPr/>
        </p:nvPicPr>
        <p:blipFill>
          <a:blip r:embed="rId5"/>
          <a:stretch>
            <a:fillRect/>
          </a:stretch>
        </p:blipFill>
        <p:spPr>
          <a:xfrm>
            <a:off x="1255386" y="4142782"/>
            <a:ext cx="6125988" cy="1366566"/>
          </a:xfrm>
          <a:prstGeom prst="rect">
            <a:avLst/>
          </a:prstGeom>
        </p:spPr>
      </p:pic>
    </p:spTree>
    <p:extLst>
      <p:ext uri="{BB962C8B-B14F-4D97-AF65-F5344CB8AC3E}">
        <p14:creationId xmlns:p14="http://schemas.microsoft.com/office/powerpoint/2010/main" val="85883225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66572" y="365126"/>
            <a:ext cx="10687228" cy="848378"/>
          </a:xfrm>
        </p:spPr>
        <p:txBody>
          <a:bodyPr/>
          <a:lstStyle/>
          <a:p>
            <a:r>
              <a:rPr lang="en-US" sz="3200" dirty="0"/>
              <a:t>Generate Controller(s) / Views for EF Model</a:t>
            </a:r>
            <a:endParaRPr lang="en-US" dirty="0"/>
          </a:p>
        </p:txBody>
      </p:sp>
      <p:sp>
        <p:nvSpPr>
          <p:cNvPr id="3" name="Content Placeholder 2"/>
          <p:cNvSpPr>
            <a:spLocks noGrp="1"/>
          </p:cNvSpPr>
          <p:nvPr>
            <p:ph idx="1"/>
          </p:nvPr>
        </p:nvSpPr>
        <p:spPr>
          <a:xfrm>
            <a:off x="803304" y="5094020"/>
            <a:ext cx="10687227" cy="1289687"/>
          </a:xfrm>
        </p:spPr>
        <p:txBody>
          <a:bodyPr>
            <a:normAutofit fontScale="62500" lnSpcReduction="20000"/>
          </a:bodyPr>
          <a:lstStyle/>
          <a:p>
            <a:pPr marL="0" indent="0">
              <a:buNone/>
            </a:pPr>
            <a:r>
              <a:rPr lang="en-US" dirty="0"/>
              <a:t>When we choose to create a new controller within our project, we can select an </a:t>
            </a:r>
            <a:r>
              <a:rPr lang="en-US" b="1" dirty="0"/>
              <a:t>MVC Controller with views using Entity Framework.</a:t>
            </a:r>
          </a:p>
          <a:p>
            <a:pPr marL="0" indent="0">
              <a:buNone/>
            </a:pPr>
            <a:endParaRPr lang="en-US" sz="1500" dirty="0"/>
          </a:p>
          <a:p>
            <a:pPr marL="0" indent="0">
              <a:buNone/>
            </a:pPr>
            <a:r>
              <a:rPr lang="en-US" dirty="0"/>
              <a:t>All we need do is select the Model class from our project we wish to scaffold the Controller/Views for, as well as the </a:t>
            </a:r>
            <a:r>
              <a:rPr lang="en-US" b="1" dirty="0"/>
              <a:t>DBContext</a:t>
            </a:r>
            <a:r>
              <a:rPr lang="en-US" dirty="0"/>
              <a:t> class that will be used for data access (and choose a Controller name)</a:t>
            </a:r>
          </a:p>
        </p:txBody>
      </p:sp>
      <p:pic>
        <p:nvPicPr>
          <p:cNvPr id="10" name="Picture 9">
            <a:extLst>
              <a:ext uri="{FF2B5EF4-FFF2-40B4-BE49-F238E27FC236}">
                <a16:creationId xmlns:a16="http://schemas.microsoft.com/office/drawing/2014/main" id="{F227A3BB-A022-45D9-9C7E-198BB0812586}"/>
              </a:ext>
            </a:extLst>
          </p:cNvPr>
          <p:cNvPicPr>
            <a:picLocks noChangeAspect="1"/>
          </p:cNvPicPr>
          <p:nvPr/>
        </p:nvPicPr>
        <p:blipFill>
          <a:blip r:embed="rId2"/>
          <a:stretch>
            <a:fillRect/>
          </a:stretch>
        </p:blipFill>
        <p:spPr>
          <a:xfrm>
            <a:off x="618731" y="1356642"/>
            <a:ext cx="4782084" cy="3301439"/>
          </a:xfrm>
          <a:prstGeom prst="rect">
            <a:avLst/>
          </a:prstGeom>
        </p:spPr>
      </p:pic>
      <p:pic>
        <p:nvPicPr>
          <p:cNvPr id="5" name="Picture 4">
            <a:extLst>
              <a:ext uri="{FF2B5EF4-FFF2-40B4-BE49-F238E27FC236}">
                <a16:creationId xmlns:a16="http://schemas.microsoft.com/office/drawing/2014/main" id="{9873C4DA-4F41-C4C5-8CFD-8193E4DAF9C5}"/>
              </a:ext>
            </a:extLst>
          </p:cNvPr>
          <p:cNvPicPr>
            <a:picLocks noChangeAspect="1"/>
          </p:cNvPicPr>
          <p:nvPr/>
        </p:nvPicPr>
        <p:blipFill>
          <a:blip r:embed="rId3"/>
          <a:stretch>
            <a:fillRect/>
          </a:stretch>
        </p:blipFill>
        <p:spPr>
          <a:xfrm>
            <a:off x="6527132" y="1360687"/>
            <a:ext cx="4963399" cy="3138395"/>
          </a:xfrm>
          <a:prstGeom prst="rect">
            <a:avLst/>
          </a:prstGeom>
        </p:spPr>
      </p:pic>
      <p:pic>
        <p:nvPicPr>
          <p:cNvPr id="6" name="Picture 5">
            <a:extLst>
              <a:ext uri="{FF2B5EF4-FFF2-40B4-BE49-F238E27FC236}">
                <a16:creationId xmlns:a16="http://schemas.microsoft.com/office/drawing/2014/main" id="{17F18306-C737-8A17-E547-29EE3159D846}"/>
              </a:ext>
            </a:extLst>
          </p:cNvPr>
          <p:cNvPicPr>
            <a:picLocks noChangeAspect="1"/>
          </p:cNvPicPr>
          <p:nvPr/>
        </p:nvPicPr>
        <p:blipFill>
          <a:blip r:embed="rId4"/>
          <a:stretch>
            <a:fillRect/>
          </a:stretch>
        </p:blipFill>
        <p:spPr>
          <a:xfrm>
            <a:off x="6912142" y="1356643"/>
            <a:ext cx="4578390" cy="3155568"/>
          </a:xfrm>
          <a:prstGeom prst="rect">
            <a:avLst/>
          </a:prstGeom>
        </p:spPr>
      </p:pic>
      <p:pic>
        <p:nvPicPr>
          <p:cNvPr id="7" name="Picture 6">
            <a:extLst>
              <a:ext uri="{FF2B5EF4-FFF2-40B4-BE49-F238E27FC236}">
                <a16:creationId xmlns:a16="http://schemas.microsoft.com/office/drawing/2014/main" id="{7E7D9F86-6EC1-BB63-97EA-24091B7F789C}"/>
              </a:ext>
            </a:extLst>
          </p:cNvPr>
          <p:cNvPicPr>
            <a:picLocks noChangeAspect="1"/>
          </p:cNvPicPr>
          <p:nvPr/>
        </p:nvPicPr>
        <p:blipFill>
          <a:blip r:embed="rId5"/>
          <a:stretch>
            <a:fillRect/>
          </a:stretch>
        </p:blipFill>
        <p:spPr>
          <a:xfrm>
            <a:off x="8624464" y="2103834"/>
            <a:ext cx="195896" cy="96441"/>
          </a:xfrm>
          <a:prstGeom prst="rect">
            <a:avLst/>
          </a:prstGeom>
        </p:spPr>
      </p:pic>
      <p:pic>
        <p:nvPicPr>
          <p:cNvPr id="8" name="Picture 7">
            <a:extLst>
              <a:ext uri="{FF2B5EF4-FFF2-40B4-BE49-F238E27FC236}">
                <a16:creationId xmlns:a16="http://schemas.microsoft.com/office/drawing/2014/main" id="{452CE4C7-E1A1-7E1B-C84C-0F95269A3253}"/>
              </a:ext>
            </a:extLst>
          </p:cNvPr>
          <p:cNvPicPr>
            <a:picLocks noChangeAspect="1"/>
          </p:cNvPicPr>
          <p:nvPr/>
        </p:nvPicPr>
        <p:blipFill>
          <a:blip r:embed="rId5"/>
          <a:stretch>
            <a:fillRect/>
          </a:stretch>
        </p:blipFill>
        <p:spPr>
          <a:xfrm>
            <a:off x="8961014" y="2376884"/>
            <a:ext cx="195896" cy="96441"/>
          </a:xfrm>
          <a:prstGeom prst="rect">
            <a:avLst/>
          </a:prstGeom>
        </p:spPr>
      </p:pic>
      <p:pic>
        <p:nvPicPr>
          <p:cNvPr id="9" name="Picture 8">
            <a:extLst>
              <a:ext uri="{FF2B5EF4-FFF2-40B4-BE49-F238E27FC236}">
                <a16:creationId xmlns:a16="http://schemas.microsoft.com/office/drawing/2014/main" id="{D44DEF1C-6D39-6C76-23A2-478A0132A93E}"/>
              </a:ext>
            </a:extLst>
          </p:cNvPr>
          <p:cNvPicPr>
            <a:picLocks noChangeAspect="1"/>
          </p:cNvPicPr>
          <p:nvPr/>
        </p:nvPicPr>
        <p:blipFill>
          <a:blip r:embed="rId6"/>
          <a:stretch>
            <a:fillRect/>
          </a:stretch>
        </p:blipFill>
        <p:spPr>
          <a:xfrm>
            <a:off x="5716191" y="1356642"/>
            <a:ext cx="6012441" cy="3172719"/>
          </a:xfrm>
          <a:prstGeom prst="rect">
            <a:avLst/>
          </a:prstGeom>
        </p:spPr>
      </p:pic>
    </p:spTree>
    <p:extLst>
      <p:ext uri="{BB962C8B-B14F-4D97-AF65-F5344CB8AC3E}">
        <p14:creationId xmlns:p14="http://schemas.microsoft.com/office/powerpoint/2010/main" val="505761121"/>
      </p:ext>
    </p:extLst>
  </p:cSld>
  <p:clrMapOvr>
    <a:masterClrMapping/>
  </p:clrMapOvr>
</p:sld>
</file>

<file path=ppt/theme/theme1.xml><?xml version="1.0" encoding="utf-8"?>
<a:theme xmlns:a="http://schemas.openxmlformats.org/drawingml/2006/main" name="Office Them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Architecture pitch deck_JB_v2" id="{E6E25CD2-8512-4B49-9A83-9AC317278B8F}" vid="{100AFDCD-A339-4D94-B373-F9848C2D26BE}"/>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Image xmlns="71af3243-3dd4-4a8d-8c0d-dd76da1f02a5">
      <Url xsi:nil="true"/>
      <Description xsi:nil="true"/>
    </Image>
    <Status xmlns="71af3243-3dd4-4a8d-8c0d-dd76da1f02a5">Not started</Status>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MediaServiceKeyPoints xmlns="71af3243-3dd4-4a8d-8c0d-dd76da1f02a5"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1" ma:contentTypeDescription="Create a new document." ma:contentTypeScope="" ma:versionID="64dfb1555687e0874b4304b796b5b0c7">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e6e4c555b5e194d05b7203de9c4567b3"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2:Status" minOccurs="0"/>
                <xsd:element ref="ns1:_ip_UnifiedCompliancePolicyProperties" minOccurs="0"/>
                <xsd:element ref="ns1:_ip_UnifiedCompliancePolicyUIAction" minOccurs="0"/>
                <xsd:element ref="ns2:Image" minOccurs="0"/>
                <xsd:element ref="ns4:TaxCatchAll" minOccurs="0"/>
                <xsd:element ref="ns2:ImageTagsTaxHTField"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xsd:simpleType>
        <xsd:restriction base="dms:Note"/>
      </xsd:simpleType>
    </xsd:element>
    <xsd:element name="_ip_UnifiedCompliancePolicyUIAction" ma:index="21"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Status" ma:index="19" nillable="true" ma:displayName="Status" ma:default="Not started" ma:format="Dropdown" ma:internalName="Status">
      <xsd:simpleType>
        <xsd:restriction base="dms:Choice">
          <xsd:enumeration value="Not started"/>
          <xsd:enumeration value="In Progress"/>
          <xsd:enumeration value="Completed"/>
        </xsd:restriction>
      </xsd:simpleType>
    </xsd:element>
    <xsd:element name="Image" ma:index="22" nillable="true" ma:displayName="Image" ma:format="Image" ma:internalName="Image">
      <xsd:complexType>
        <xsd:complexContent>
          <xsd:extension base="dms:URL">
            <xsd:sequence>
              <xsd:element name="Url" type="dms:ValidUrl" minOccurs="0" nillable="true"/>
              <xsd:element name="Description" type="xsd:string" nillable="true"/>
            </xsd:sequence>
          </xsd:extension>
        </xsd:complexContent>
      </xsd:complex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8042A908-4308-42B2-AD36-76827C57E704}">
  <ds:schemaRefs>
    <ds:schemaRef ds:uri="http://schemas.microsoft.com/sharepoint/v3/contenttype/forms"/>
  </ds:schemaRefs>
</ds:datastoreItem>
</file>

<file path=customXml/itemProps2.xml><?xml version="1.0" encoding="utf-8"?>
<ds:datastoreItem xmlns:ds="http://schemas.openxmlformats.org/officeDocument/2006/customXml" ds:itemID="{F7069D1F-6C1F-4FA3-8CCB-EA801E558BEC}">
  <ds:schemaRefs>
    <ds:schemaRef ds:uri="http://schemas.microsoft.com/office/2006/metadata/properties"/>
    <ds:schemaRef ds:uri="http://schemas.microsoft.com/office/infopath/2007/PartnerControls"/>
    <ds:schemaRef ds:uri="http://schemas.microsoft.com/sharepoint/v3"/>
    <ds:schemaRef ds:uri="71af3243-3dd4-4a8d-8c0d-dd76da1f02a5"/>
    <ds:schemaRef ds:uri="230e9df3-be65-4c73-a93b-d1236ebd677e"/>
  </ds:schemaRefs>
</ds:datastoreItem>
</file>

<file path=customXml/itemProps3.xml><?xml version="1.0" encoding="utf-8"?>
<ds:datastoreItem xmlns:ds="http://schemas.openxmlformats.org/officeDocument/2006/customXml" ds:itemID="{4D2E8E18-726E-43C2-A873-C7E26FC0A96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{8520AFD0-7125-4CF8-B418-FCA8986031B2}tf16411248_win32</Template>
  <TotalTime>3788</TotalTime>
  <Words>1839</Words>
  <Application>Microsoft Office PowerPoint</Application>
  <PresentationFormat>Widescreen</PresentationFormat>
  <Paragraphs>175</Paragraphs>
  <Slides>23</Slides>
  <Notes>3</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23</vt:i4>
      </vt:variant>
    </vt:vector>
  </HeadingPairs>
  <TitlesOfParts>
    <vt:vector size="30" baseType="lpstr">
      <vt:lpstr>Arial</vt:lpstr>
      <vt:lpstr>Avenir Next LT Pro Light</vt:lpstr>
      <vt:lpstr>Britannic Bold</vt:lpstr>
      <vt:lpstr>Calibri</vt:lpstr>
      <vt:lpstr>Posterama</vt:lpstr>
      <vt:lpstr>Wingdings 2</vt:lpstr>
      <vt:lpstr>Office Theme</vt:lpstr>
      <vt:lpstr>DATA PERSISTENCE USING ENTITY FRAMEWORK CORE</vt:lpstr>
      <vt:lpstr>The IActionresult type</vt:lpstr>
      <vt:lpstr>Available actionresult types for controller actions</vt:lpstr>
      <vt:lpstr>Notable ActionResult Subtypes</vt:lpstr>
      <vt:lpstr>Models vs viewmodels</vt:lpstr>
      <vt:lpstr>Create a new Model class</vt:lpstr>
      <vt:lpstr>The entity framework</vt:lpstr>
      <vt:lpstr>Introduction to the Entity Framework</vt:lpstr>
      <vt:lpstr>DATABASE SUPPORT FOR EF Core</vt:lpstr>
      <vt:lpstr>EF Core vs EF 6</vt:lpstr>
      <vt:lpstr>Approaches to using Entity Framework</vt:lpstr>
      <vt:lpstr>PowerPoint Presentation</vt:lpstr>
      <vt:lpstr>The  Code-First Approach</vt:lpstr>
      <vt:lpstr>Installing entity framework core</vt:lpstr>
      <vt:lpstr>Adding new features to a visual studio project using the nuget package manager</vt:lpstr>
      <vt:lpstr>NuGet packages (choosing the right version)</vt:lpstr>
      <vt:lpstr>Adding Entity Framework Packages</vt:lpstr>
      <vt:lpstr>Create a database context</vt:lpstr>
      <vt:lpstr>DbContext and DbSet</vt:lpstr>
      <vt:lpstr>Adding a Connection String</vt:lpstr>
      <vt:lpstr>Configuring the Services for ASP.NET CORE</vt:lpstr>
      <vt:lpstr>Creating the Initial EF Core Migration</vt:lpstr>
      <vt:lpstr>Generate Controller(s) / Views for EF Model</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DATA PERSISTENCE USING ENTITY FRAMEWORK CORE</dc:title>
  <dc:creator>Murray, Judson (NBCC)</dc:creator>
  <cp:lastModifiedBy>Murray, Judson (NBCC)</cp:lastModifiedBy>
  <cp:revision>18</cp:revision>
  <dcterms:created xsi:type="dcterms:W3CDTF">2023-09-10T12:52:20Z</dcterms:created>
  <dcterms:modified xsi:type="dcterms:W3CDTF">2026-09-21T01:16:11Z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ies>
</file>