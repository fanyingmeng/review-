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1"/>
  </p:notesMasterIdLst>
  <p:handoutMasterIdLst>
    <p:handoutMasterId r:id="rId12"/>
  </p:handoutMasterIdLst>
  <p:sldIdLst>
    <p:sldId id="256" r:id="rId5"/>
    <p:sldId id="258" r:id="rId6"/>
    <p:sldId id="265" r:id="rId7"/>
    <p:sldId id="273" r:id="rId8"/>
    <p:sldId id="264" r:id="rId9"/>
    <p:sldId id="27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1" autoAdjust="0"/>
    <p:restoredTop sz="90655" autoAdjust="0"/>
  </p:normalViewPr>
  <p:slideViewPr>
    <p:cSldViewPr snapToGrid="0">
      <p:cViewPr varScale="1">
        <p:scale>
          <a:sx n="159" d="100"/>
          <a:sy n="159" d="100"/>
        </p:scale>
        <p:origin x="228" y="13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3403" y="4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10/7/2026</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10/7/2026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4205399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3429000"/>
            <a:ext cx="4941771" cy="212804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chor="ctr" anchorCtr="0">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291403"/>
            <a:ext cx="2895600" cy="2054606"/>
          </a:xfrm>
        </p:spPr>
        <p:txBody>
          <a:bodyPr anchor="b">
            <a:no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A1CF8B-3479-49A3-A30E-2F2ECE962075}"/>
              </a:ext>
              <a:ext uri="{C183D7F6-B498-43B3-948B-1728B52AA6E4}">
                <adec:decorative xmlns:adec="http://schemas.microsoft.com/office/drawing/2017/decorative" val="1"/>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612949"/>
            <a:ext cx="5111750" cy="2263602"/>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2263602"/>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05D2CCB-CCFC-4A8A-ADA9-C1E4D13B968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522514"/>
            <a:ext cx="4179570" cy="3341857"/>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31859"/>
            <a:ext cx="4179570" cy="365125"/>
          </a:xfrm>
        </p:spPr>
        <p:txBody>
          <a:bodyPr anchor="ctr" anchorCtr="0">
            <a:no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9951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r>
              <a:rPr lang="en-US"/>
              <a:t>Click icon to add chart</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48527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r>
              <a:rPr lang="en-US"/>
              <a:t>Click icon to add table</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ctr" anchorCtr="0">
            <a:no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20306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228567" y="892177"/>
            <a:ext cx="9577983" cy="1325563"/>
          </a:xfrm>
        </p:spPr>
        <p:txBody>
          <a:bodyPr>
            <a:noAutofit/>
          </a:bodyPr>
          <a:lstStyle>
            <a:lvl1pPr algn="ctr">
              <a:defRPr lang="en-US" sz="2800" kern="1200" spc="150" baseline="0" dirty="0">
                <a:solidFill>
                  <a:schemeClr val="tx1"/>
                </a:solidFill>
                <a:latin typeface="+mj-lt"/>
                <a:ea typeface="+mj-ea"/>
                <a:cs typeface="+mj-cs"/>
              </a:defRPr>
            </a:lvl1pPr>
          </a:lstStyle>
          <a:p>
            <a:r>
              <a:rPr lang="en-US" dirty="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2pPr marL="0" indent="0" algn="ctr">
              <a:spcBef>
                <a:spcPts val="0"/>
              </a:spcBef>
              <a:buNone/>
              <a:defRPr sz="1400"/>
            </a:lvl2pPr>
          </a:lstStyle>
          <a:p>
            <a:pPr lvl="1"/>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500168" y="892177"/>
            <a:ext cx="9088438" cy="1135899"/>
          </a:xfrm>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ctr">
              <a:lnSpc>
                <a:spcPct val="100000"/>
              </a:lnSpc>
              <a:buFont typeface="Arial" panose="020B0604020202020204" pitchFamily="34" charset="0"/>
              <a:buNone/>
              <a:defRPr sz="900">
                <a:solidFill>
                  <a:sysClr val="windowText" lastClr="000000"/>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779603"/>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779603"/>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570485"/>
            <a:ext cx="2105135"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779603"/>
            <a:ext cx="2299855"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779603"/>
            <a:ext cx="1844126"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38439"/>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38439"/>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38439"/>
            <a:ext cx="1813474"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38439"/>
            <a:ext cx="1844126"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dirty="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r>
              <a:rPr lang="en-US"/>
              <a:t>Click icon to add SmartArt graphic</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272533"/>
            <a:ext cx="4296508" cy="953298"/>
          </a:xfrm>
        </p:spPr>
        <p:txBody>
          <a:bodyPr>
            <a:noAutofit/>
          </a:bodyPr>
          <a:lstStyle>
            <a:lvl1pPr>
              <a:defRPr lang="en-US" sz="2800" kern="1200" spc="150" baseline="0" dirty="0">
                <a:solidFill>
                  <a:schemeClr val="tx1"/>
                </a:solidFill>
                <a:latin typeface="+mj-lt"/>
                <a:ea typeface="+mj-ea"/>
                <a:cs typeface="+mj-cs"/>
              </a:defRPr>
            </a:lvl1pPr>
          </a:lstStyle>
          <a:p>
            <a:r>
              <a:rPr lang="en-US" dirty="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306751" y="1507772"/>
            <a:ext cx="2141764" cy="514350"/>
          </a:xfrm>
        </p:spPr>
        <p:txBody>
          <a:bodyPr anchor="ctr">
            <a:noAutofit/>
          </a:bodyPr>
          <a:lstStyle>
            <a:lvl1pPr marL="0" indent="0" algn="r">
              <a:buNone/>
              <a:defRPr sz="2000"/>
            </a:lvl1pPr>
          </a:lstStyle>
          <a:p>
            <a:pPr lvl="0"/>
            <a:r>
              <a:rPr lang="en-US"/>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872808" y="2584097"/>
            <a:ext cx="2141764" cy="514350"/>
          </a:xfrm>
        </p:spPr>
        <p:txBody>
          <a:bodyPr anchor="ctr">
            <a:noAutofit/>
          </a:bodyPr>
          <a:lstStyle>
            <a:lvl1pPr marL="0" indent="0" algn="r">
              <a:buNone/>
              <a:defRPr sz="2000"/>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479233" y="3660422"/>
            <a:ext cx="2141764" cy="514350"/>
          </a:xfrm>
        </p:spPr>
        <p:txBody>
          <a:bodyPr anchor="ctr">
            <a:noAutofit/>
          </a:bodyPr>
          <a:lstStyle>
            <a:lvl1pPr marL="0" indent="0" algn="r">
              <a:buNone/>
              <a:defRPr sz="2000"/>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2063433" y="4736748"/>
            <a:ext cx="2141764" cy="514350"/>
          </a:xfrm>
        </p:spPr>
        <p:txBody>
          <a:bodyPr anchor="ctr">
            <a:noAutofit/>
          </a:bodyPr>
          <a:lstStyle>
            <a:lvl1pPr marL="0" indent="0" algn="r">
              <a:buNone/>
              <a:defRPr sz="2000"/>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dirty="0"/>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dirty="0"/>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EE24E1DB-1F20-4C28-8069-D9219D1F8BBD}"/>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72757"/>
            <a:ext cx="8421688" cy="1644984"/>
          </a:xfrm>
        </p:spPr>
        <p:txBody>
          <a:bodyPr>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883877"/>
            <a:ext cx="3924300" cy="864157"/>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883877"/>
            <a:ext cx="3943627" cy="864157"/>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43245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238250" y="522515"/>
            <a:ext cx="9710646" cy="1377306"/>
          </a:xfrm>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3023393"/>
            <a:ext cx="2882475"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3023393"/>
            <a:ext cx="2896671"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3023393"/>
            <a:ext cx="2882475"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954593"/>
            <a:ext cx="5111750" cy="1921958"/>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92195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 uri="{C183D7F6-B498-43B3-948B-1728B52AA6E4}">
                <adec:decorative xmlns:adec="http://schemas.microsoft.com/office/drawing/2017/decorative" val="1"/>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351693"/>
            <a:ext cx="4179570" cy="2453652"/>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107620"/>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134303"/>
            <a:ext cx="10515600" cy="1325563"/>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66" r:id="rId5"/>
    <p:sldLayoutId id="2147483667" r:id="rId6"/>
    <p:sldLayoutId id="2147483654" r:id="rId7"/>
    <p:sldLayoutId id="2147483663" r:id="rId8"/>
    <p:sldLayoutId id="2147483662" r:id="rId9"/>
    <p:sldLayoutId id="2147483668" r:id="rId10"/>
    <p:sldLayoutId id="2147483652" r:id="rId11"/>
    <p:sldLayoutId id="2147483653" r:id="rId12"/>
    <p:sldLayoutId id="2147483660" r:id="rId13"/>
    <p:sldLayoutId id="2147483664" r:id="rId14"/>
    <p:sldLayoutId id="2147483665" r:id="rId15"/>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16040" y="3429000"/>
            <a:ext cx="4941771" cy="2128042"/>
          </a:xfrm>
        </p:spPr>
        <p:txBody>
          <a:bodyPr/>
          <a:lstStyle/>
          <a:p>
            <a:r>
              <a:rPr lang="en-US" dirty="0"/>
              <a:t>Image uploading</a:t>
            </a:r>
            <a:br>
              <a:rPr lang="en-US" dirty="0"/>
            </a:br>
            <a:r>
              <a:rPr lang="en-US" sz="2000" dirty="0"/>
              <a:t>using ASP.NET Core</a:t>
            </a:r>
            <a:endParaRPr lang="en-US" dirty="0"/>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62075" y="612949"/>
            <a:ext cx="5111750" cy="1301576"/>
          </a:xfrm>
        </p:spPr>
        <p:txBody>
          <a:bodyPr/>
          <a:lstStyle/>
          <a:p>
            <a:r>
              <a:rPr lang="en-US" sz="3600" dirty="0"/>
              <a:t>overview</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1362075" y="2897100"/>
            <a:ext cx="6619875" cy="2885901"/>
          </a:xfrm>
        </p:spPr>
        <p:txBody>
          <a:bodyPr>
            <a:normAutofit/>
          </a:bodyPr>
          <a:lstStyle/>
          <a:p>
            <a:r>
              <a:rPr lang="en-US" sz="1800" dirty="0"/>
              <a:t>While many workflows of interacting with web services are about consuming provided resources (pages, files, content), some workflows for end-users require that they are able to provide some resources to the web server that the server will then persist.</a:t>
            </a:r>
          </a:p>
          <a:p>
            <a:endParaRPr lang="en-US" sz="1800" dirty="0"/>
          </a:p>
          <a:p>
            <a:r>
              <a:rPr lang="en-US" sz="1800" dirty="0"/>
              <a:t>In this walkthru we will look at the mechanics of uploading files to the server which will be saved locally (and forms of validation that will be required)</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A2CD4-732A-43E4-BCB9-CBA2055E0AC6}"/>
              </a:ext>
            </a:extLst>
          </p:cNvPr>
          <p:cNvSpPr>
            <a:spLocks noGrp="1"/>
          </p:cNvSpPr>
          <p:nvPr>
            <p:ph type="title"/>
          </p:nvPr>
        </p:nvSpPr>
        <p:spPr>
          <a:xfrm>
            <a:off x="130411" y="287703"/>
            <a:ext cx="6696075" cy="819989"/>
          </a:xfrm>
        </p:spPr>
        <p:txBody>
          <a:bodyPr/>
          <a:lstStyle/>
          <a:p>
            <a:r>
              <a:rPr lang="en-US" dirty="0"/>
              <a:t>Managing the server environment</a:t>
            </a:r>
          </a:p>
        </p:txBody>
      </p:sp>
      <p:sp>
        <p:nvSpPr>
          <p:cNvPr id="6" name="Slide Number Placeholder 5">
            <a:extLst>
              <a:ext uri="{FF2B5EF4-FFF2-40B4-BE49-F238E27FC236}">
                <a16:creationId xmlns:a16="http://schemas.microsoft.com/office/drawing/2014/main" id="{F2A39FA3-9AE3-4689-A469-B7D2DFCCC2D9}"/>
              </a:ext>
            </a:extLst>
          </p:cNvPr>
          <p:cNvSpPr>
            <a:spLocks noGrp="1"/>
          </p:cNvSpPr>
          <p:nvPr>
            <p:ph type="sldNum" sz="quarter" idx="12"/>
          </p:nvPr>
        </p:nvSpPr>
        <p:spPr>
          <a:xfrm>
            <a:off x="9658350" y="6356350"/>
            <a:ext cx="1695450" cy="365125"/>
          </a:xfrm>
        </p:spPr>
        <p:txBody>
          <a:bodyPr/>
          <a:lstStyle/>
          <a:p>
            <a:fld id="{A49DFD55-3C28-40EF-9E31-A92D2E4017FF}" type="slidenum">
              <a:rPr lang="en-US" smtClean="0"/>
              <a:pPr/>
              <a:t>3</a:t>
            </a:fld>
            <a:endParaRPr lang="en-US" dirty="0"/>
          </a:p>
        </p:txBody>
      </p:sp>
      <p:grpSp>
        <p:nvGrpSpPr>
          <p:cNvPr id="8" name="Group 7">
            <a:extLst>
              <a:ext uri="{FF2B5EF4-FFF2-40B4-BE49-F238E27FC236}">
                <a16:creationId xmlns:a16="http://schemas.microsoft.com/office/drawing/2014/main" id="{9F3BF2AE-647B-B4FD-CB18-C296BEC179C3}"/>
              </a:ext>
            </a:extLst>
          </p:cNvPr>
          <p:cNvGrpSpPr/>
          <p:nvPr/>
        </p:nvGrpSpPr>
        <p:grpSpPr>
          <a:xfrm>
            <a:off x="4023912" y="491331"/>
            <a:ext cx="7793766" cy="6174009"/>
            <a:chOff x="-93571" y="1352987"/>
            <a:chExt cx="2343400" cy="1642942"/>
          </a:xfrm>
          <a:noFill/>
        </p:grpSpPr>
        <p:sp>
          <p:nvSpPr>
            <p:cNvPr id="9" name="Rectangle 8">
              <a:extLst>
                <a:ext uri="{FF2B5EF4-FFF2-40B4-BE49-F238E27FC236}">
                  <a16:creationId xmlns:a16="http://schemas.microsoft.com/office/drawing/2014/main" id="{B8C30F42-A379-BC10-DF7F-9C75551627AD}"/>
                </a:ext>
              </a:extLst>
            </p:cNvPr>
            <p:cNvSpPr/>
            <p:nvPr/>
          </p:nvSpPr>
          <p:spPr>
            <a:xfrm>
              <a:off x="8634" y="1352987"/>
              <a:ext cx="2013350" cy="1642942"/>
            </a:xfrm>
            <a:prstGeom prst="rect">
              <a:avLst/>
            </a:prstGeom>
            <a:grp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CA"/>
            </a:p>
          </p:txBody>
        </p:sp>
        <p:sp>
          <p:nvSpPr>
            <p:cNvPr id="10" name="TextBox 9">
              <a:extLst>
                <a:ext uri="{FF2B5EF4-FFF2-40B4-BE49-F238E27FC236}">
                  <a16:creationId xmlns:a16="http://schemas.microsoft.com/office/drawing/2014/main" id="{F84A5118-C86D-5FE7-DCE2-4661FE523BBF}"/>
                </a:ext>
              </a:extLst>
            </p:cNvPr>
            <p:cNvSpPr txBox="1"/>
            <p:nvPr/>
          </p:nvSpPr>
          <p:spPr>
            <a:xfrm>
              <a:off x="-93571" y="1609448"/>
              <a:ext cx="2343400" cy="1050542"/>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98874" tIns="198874" rIns="198874" bIns="198874" numCol="1" spcCol="1270" anchor="t" anchorCtr="0">
              <a:noAutofit/>
            </a:bodyPr>
            <a:lstStyle/>
            <a:p>
              <a:pPr marL="0" lvl="0" indent="0" algn="l" defTabSz="622300">
                <a:lnSpc>
                  <a:spcPct val="100000"/>
                </a:lnSpc>
                <a:spcBef>
                  <a:spcPct val="0"/>
                </a:spcBef>
                <a:spcAft>
                  <a:spcPct val="35000"/>
                </a:spcAft>
                <a:buNone/>
              </a:pPr>
              <a:r>
                <a:rPr lang="en-US" sz="2000" b="1" kern="1200" spc="50" baseline="0" dirty="0">
                  <a:latin typeface="+mn-lt"/>
                </a:rPr>
                <a:t>IFormFile</a:t>
              </a:r>
              <a:r>
                <a:rPr lang="en-US" sz="1600" kern="1200" spc="50" baseline="0" dirty="0">
                  <a:latin typeface="+mn-lt"/>
                </a:rPr>
                <a:t> : This represents a file being sent within an HttpRequest</a:t>
              </a:r>
            </a:p>
            <a:p>
              <a:pPr marL="285750" lvl="0" indent="-285750" algn="l" defTabSz="622300">
                <a:lnSpc>
                  <a:spcPct val="100000"/>
                </a:lnSpc>
                <a:spcBef>
                  <a:spcPct val="0"/>
                </a:spcBef>
                <a:spcAft>
                  <a:spcPct val="35000"/>
                </a:spcAft>
                <a:buFontTx/>
                <a:buChar char="-"/>
              </a:pPr>
              <a:r>
                <a:rPr lang="en-US" sz="1600" spc="50" dirty="0">
                  <a:solidFill>
                    <a:srgbClr val="FF0000"/>
                  </a:solidFill>
                </a:rPr>
                <a:t>IFormFile.CopyTo(…) </a:t>
              </a:r>
              <a:r>
                <a:rPr lang="en-US" sz="1600" spc="50" dirty="0"/>
                <a:t>– Copies the contents of the uploaded file to the target stream</a:t>
              </a:r>
            </a:p>
            <a:p>
              <a:pPr marL="285750" lvl="0" indent="-285750" algn="l" defTabSz="622300">
                <a:lnSpc>
                  <a:spcPct val="100000"/>
                </a:lnSpc>
                <a:spcBef>
                  <a:spcPct val="0"/>
                </a:spcBef>
                <a:spcAft>
                  <a:spcPct val="35000"/>
                </a:spcAft>
                <a:buFontTx/>
                <a:buChar char="-"/>
              </a:pPr>
              <a:r>
                <a:rPr lang="en-US" sz="1600" kern="1200" spc="50" baseline="0" dirty="0">
                  <a:solidFill>
                    <a:srgbClr val="FF0000"/>
                  </a:solidFill>
                  <a:latin typeface="+mn-lt"/>
                </a:rPr>
                <a:t>IFormFile.ContentType </a:t>
              </a:r>
              <a:r>
                <a:rPr lang="en-US" sz="1600" kern="1200" spc="50" baseline="0" dirty="0">
                  <a:latin typeface="+mn-lt"/>
                </a:rPr>
                <a:t>– Identifies the raw content-type header of the uploaded file</a:t>
              </a:r>
            </a:p>
            <a:p>
              <a:pPr marL="285750" lvl="0" indent="-285750" algn="l" defTabSz="622300">
                <a:lnSpc>
                  <a:spcPct val="100000"/>
                </a:lnSpc>
                <a:spcBef>
                  <a:spcPct val="0"/>
                </a:spcBef>
                <a:spcAft>
                  <a:spcPct val="35000"/>
                </a:spcAft>
                <a:buFontTx/>
                <a:buChar char="-"/>
              </a:pPr>
              <a:r>
                <a:rPr lang="en-US" sz="1600" spc="50" dirty="0">
                  <a:solidFill>
                    <a:srgbClr val="FF0000"/>
                  </a:solidFill>
                </a:rPr>
                <a:t>IFormFile.Length </a:t>
              </a:r>
              <a:r>
                <a:rPr lang="en-US" sz="1600" spc="50" dirty="0"/>
                <a:t>– Gets the size of the uploaded file in bytes</a:t>
              </a:r>
              <a:endParaRPr lang="en-US" sz="1600" kern="1200" spc="50" baseline="0" dirty="0">
                <a:latin typeface="+mn-lt"/>
              </a:endParaRPr>
            </a:p>
            <a:p>
              <a:pPr marL="0" lvl="0" indent="0" algn="l" defTabSz="622300">
                <a:lnSpc>
                  <a:spcPct val="100000"/>
                </a:lnSpc>
                <a:spcBef>
                  <a:spcPct val="0"/>
                </a:spcBef>
                <a:spcAft>
                  <a:spcPct val="35000"/>
                </a:spcAft>
                <a:buNone/>
              </a:pPr>
              <a:endParaRPr lang="en-US" sz="1600" spc="50" dirty="0"/>
            </a:p>
            <a:p>
              <a:pPr marL="0" lvl="0" indent="0" algn="l" defTabSz="622300">
                <a:lnSpc>
                  <a:spcPct val="100000"/>
                </a:lnSpc>
                <a:spcBef>
                  <a:spcPct val="0"/>
                </a:spcBef>
                <a:spcAft>
                  <a:spcPct val="35000"/>
                </a:spcAft>
                <a:buNone/>
              </a:pPr>
              <a:r>
                <a:rPr lang="en-US" sz="2000" b="1" kern="1200" spc="50" baseline="0" dirty="0">
                  <a:latin typeface="+mn-lt"/>
                </a:rPr>
                <a:t>IWebHostEnvironment</a:t>
              </a:r>
              <a:r>
                <a:rPr lang="en-US" sz="1600" kern="1200" spc="50" baseline="0" dirty="0">
                  <a:latin typeface="+mn-lt"/>
                </a:rPr>
                <a:t> : This provides run-time information about the web hosting environment an application is running within.</a:t>
              </a:r>
            </a:p>
            <a:p>
              <a:pPr marL="285750" lvl="0" indent="-285750" algn="l" defTabSz="622300">
                <a:lnSpc>
                  <a:spcPct val="100000"/>
                </a:lnSpc>
                <a:spcBef>
                  <a:spcPct val="0"/>
                </a:spcBef>
                <a:spcAft>
                  <a:spcPct val="35000"/>
                </a:spcAft>
                <a:buFontTx/>
                <a:buChar char="-"/>
              </a:pPr>
              <a:r>
                <a:rPr lang="en-US" sz="1600" spc="50" dirty="0">
                  <a:solidFill>
                    <a:srgbClr val="FF0000"/>
                  </a:solidFill>
                </a:rPr>
                <a:t>IWebHostEnvironment.WebRootPath </a:t>
              </a:r>
              <a:r>
                <a:rPr lang="en-US" sz="1600" spc="50" dirty="0"/>
                <a:t>– used to either get (or set) the absolute path to the directory that contains the web-servable content files.</a:t>
              </a:r>
            </a:p>
            <a:p>
              <a:pPr marL="285750" lvl="0" indent="-285750" algn="l" defTabSz="622300">
                <a:lnSpc>
                  <a:spcPct val="100000"/>
                </a:lnSpc>
                <a:spcBef>
                  <a:spcPct val="0"/>
                </a:spcBef>
                <a:spcAft>
                  <a:spcPct val="35000"/>
                </a:spcAft>
                <a:buFontTx/>
                <a:buChar char="-"/>
              </a:pPr>
              <a:r>
                <a:rPr lang="en-US" sz="1600" kern="1200" spc="50" baseline="0" dirty="0">
                  <a:solidFill>
                    <a:srgbClr val="FF0000"/>
                  </a:solidFill>
                  <a:latin typeface="+mn-lt"/>
                </a:rPr>
                <a:t>IWebHostEnvironment.ContentPath </a:t>
              </a:r>
              <a:r>
                <a:rPr lang="en-US" sz="1600" kern="1200" spc="50" baseline="0" dirty="0">
                  <a:latin typeface="+mn-lt"/>
                </a:rPr>
                <a:t>– used to get (or set) the absolute path to the directory that contains the application content files.</a:t>
              </a:r>
            </a:p>
          </p:txBody>
        </p:sp>
      </p:grpSp>
    </p:spTree>
    <p:extLst>
      <p:ext uri="{BB962C8B-B14F-4D97-AF65-F5344CB8AC3E}">
        <p14:creationId xmlns:p14="http://schemas.microsoft.com/office/powerpoint/2010/main" val="744379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B727-F6B4-00CC-70F4-2E2429C2AED6}"/>
              </a:ext>
            </a:extLst>
          </p:cNvPr>
          <p:cNvSpPr>
            <a:spLocks noGrp="1"/>
          </p:cNvSpPr>
          <p:nvPr>
            <p:ph type="title"/>
          </p:nvPr>
        </p:nvSpPr>
        <p:spPr>
          <a:xfrm>
            <a:off x="111362" y="187799"/>
            <a:ext cx="6696075" cy="606959"/>
          </a:xfrm>
        </p:spPr>
        <p:txBody>
          <a:bodyPr/>
          <a:lstStyle/>
          <a:p>
            <a:r>
              <a:rPr lang="en-US" dirty="0"/>
              <a:t>Persisting uploaded files</a:t>
            </a:r>
          </a:p>
        </p:txBody>
      </p:sp>
      <p:sp>
        <p:nvSpPr>
          <p:cNvPr id="6" name="Slide Number Placeholder 5">
            <a:extLst>
              <a:ext uri="{FF2B5EF4-FFF2-40B4-BE49-F238E27FC236}">
                <a16:creationId xmlns:a16="http://schemas.microsoft.com/office/drawing/2014/main" id="{8DDA711A-9832-3554-D661-82107D3D4690}"/>
              </a:ext>
            </a:extLst>
          </p:cNvPr>
          <p:cNvSpPr>
            <a:spLocks noGrp="1"/>
          </p:cNvSpPr>
          <p:nvPr>
            <p:ph type="sldNum" sz="quarter" idx="12"/>
          </p:nvPr>
        </p:nvSpPr>
        <p:spPr/>
        <p:txBody>
          <a:bodyPr/>
          <a:lstStyle/>
          <a:p>
            <a:fld id="{A49DFD55-3C28-40EF-9E31-A92D2E4017FF}" type="slidenum">
              <a:rPr lang="en-US" smtClean="0"/>
              <a:pPr/>
              <a:t>4</a:t>
            </a:fld>
            <a:endParaRPr lang="en-US" dirty="0"/>
          </a:p>
        </p:txBody>
      </p:sp>
      <p:sp>
        <p:nvSpPr>
          <p:cNvPr id="7" name="TextBox 6">
            <a:extLst>
              <a:ext uri="{FF2B5EF4-FFF2-40B4-BE49-F238E27FC236}">
                <a16:creationId xmlns:a16="http://schemas.microsoft.com/office/drawing/2014/main" id="{4DAB1353-D62B-4292-1B4D-7F5311447AFB}"/>
              </a:ext>
            </a:extLst>
          </p:cNvPr>
          <p:cNvSpPr txBox="1"/>
          <p:nvPr/>
        </p:nvSpPr>
        <p:spPr>
          <a:xfrm>
            <a:off x="3886200" y="1679575"/>
            <a:ext cx="8134350" cy="5178425"/>
          </a:xfrm>
          <a:prstGeom prst="rect">
            <a:avLst/>
          </a:prstGeom>
          <a:no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98874" tIns="198874" rIns="198874" bIns="198874" numCol="1" spcCol="1270" anchor="t" anchorCtr="0">
            <a:noAutofit/>
          </a:bodyPr>
          <a:lstStyle/>
          <a:p>
            <a:r>
              <a:rPr lang="en-US" sz="2000" b="1" dirty="0"/>
              <a:t>System.IO.Path</a:t>
            </a:r>
            <a:r>
              <a:rPr lang="en-US" dirty="0"/>
              <a:t> </a:t>
            </a:r>
            <a:r>
              <a:rPr lang="en-US" sz="1600" dirty="0"/>
              <a:t>: Performs operations on strings that contain file or directory information</a:t>
            </a:r>
          </a:p>
          <a:p>
            <a:pPr marL="285750" indent="-285750">
              <a:buFontTx/>
              <a:buChar char="-"/>
            </a:pPr>
            <a:r>
              <a:rPr lang="en-US" sz="1600" dirty="0">
                <a:solidFill>
                  <a:srgbClr val="FF0000"/>
                </a:solidFill>
              </a:rPr>
              <a:t>Path.Combine()  </a:t>
            </a:r>
            <a:r>
              <a:rPr lang="en-US" sz="1600" dirty="0"/>
              <a:t>// Combines two strings into a path</a:t>
            </a:r>
          </a:p>
          <a:p>
            <a:pPr marL="285750" indent="-285750">
              <a:buFontTx/>
              <a:buChar char="-"/>
            </a:pPr>
            <a:r>
              <a:rPr lang="en-US" sz="1600" dirty="0">
                <a:solidFill>
                  <a:srgbClr val="FF0000"/>
                </a:solidFill>
              </a:rPr>
              <a:t>Path.GetFileName(string path) </a:t>
            </a:r>
            <a:r>
              <a:rPr lang="en-US" sz="1600" dirty="0"/>
              <a:t>//Returns the filename and extension of the specified path string</a:t>
            </a:r>
          </a:p>
          <a:p>
            <a:pPr marL="0" lvl="0" indent="0" algn="l" defTabSz="622300">
              <a:lnSpc>
                <a:spcPct val="100000"/>
              </a:lnSpc>
              <a:spcBef>
                <a:spcPct val="0"/>
              </a:spcBef>
              <a:spcAft>
                <a:spcPct val="35000"/>
              </a:spcAft>
              <a:buNone/>
            </a:pPr>
            <a:endParaRPr lang="en-US" sz="1600" kern="1200" spc="50" baseline="0" dirty="0">
              <a:latin typeface="+mn-lt"/>
            </a:endParaRPr>
          </a:p>
          <a:p>
            <a:r>
              <a:rPr lang="en-US" sz="2000" b="1" dirty="0"/>
              <a:t>System.IO.Directory</a:t>
            </a:r>
            <a:r>
              <a:rPr lang="en-US" sz="1600" dirty="0"/>
              <a:t> : allows us to create, move, and enumerate directories</a:t>
            </a:r>
          </a:p>
          <a:p>
            <a:pPr marL="285750" indent="-285750">
              <a:buFontTx/>
              <a:buChar char="-"/>
            </a:pPr>
            <a:r>
              <a:rPr lang="en-US" sz="1600" dirty="0" err="1">
                <a:solidFill>
                  <a:srgbClr val="FF0000"/>
                </a:solidFill>
              </a:rPr>
              <a:t>Directory.Exists</a:t>
            </a:r>
            <a:r>
              <a:rPr lang="en-US" sz="1600" dirty="0">
                <a:solidFill>
                  <a:srgbClr val="FF0000"/>
                </a:solidFill>
              </a:rPr>
              <a:t>(string path) </a:t>
            </a:r>
            <a:r>
              <a:rPr lang="en-US" sz="1600" dirty="0"/>
              <a:t>//determines if path is a valid directory on the disk</a:t>
            </a:r>
          </a:p>
          <a:p>
            <a:pPr marL="285750" indent="-285750">
              <a:buFontTx/>
              <a:buChar char="-"/>
            </a:pPr>
            <a:r>
              <a:rPr lang="en-US" sz="1600" dirty="0" err="1">
                <a:solidFill>
                  <a:srgbClr val="FF0000"/>
                </a:solidFill>
              </a:rPr>
              <a:t>Directory.GetFiles</a:t>
            </a:r>
            <a:r>
              <a:rPr lang="en-US" sz="1600" dirty="0">
                <a:solidFill>
                  <a:srgbClr val="FF0000"/>
                </a:solidFill>
              </a:rPr>
              <a:t>(string path) </a:t>
            </a:r>
            <a:r>
              <a:rPr lang="en-US" sz="1600" dirty="0"/>
              <a:t>// returns names of files (and their paths) in the specified directory</a:t>
            </a:r>
          </a:p>
          <a:p>
            <a:pPr marL="285750" indent="-285750">
              <a:buFontTx/>
              <a:buChar char="-"/>
            </a:pPr>
            <a:r>
              <a:rPr lang="en-US" sz="1600" dirty="0">
                <a:solidFill>
                  <a:srgbClr val="FF0000"/>
                </a:solidFill>
              </a:rPr>
              <a:t>Directory.CreateDirectory(…)</a:t>
            </a:r>
            <a:r>
              <a:rPr lang="en-US" sz="1600" dirty="0"/>
              <a:t> – Creates all directories and subdirectories in the specified path unless they already exist.</a:t>
            </a:r>
          </a:p>
          <a:p>
            <a:pPr marL="285750" indent="-285750">
              <a:buFontTx/>
              <a:buChar char="-"/>
            </a:pPr>
            <a:endParaRPr lang="en-US" sz="1600" dirty="0"/>
          </a:p>
          <a:p>
            <a:r>
              <a:rPr lang="en-US" sz="2000" b="1" dirty="0"/>
              <a:t>System.IO.FileStream</a:t>
            </a:r>
            <a:r>
              <a:rPr lang="en-US" sz="1600" dirty="0"/>
              <a:t> : This provides a stream object for a file, supporting both synchronous and asynchronous read/write operations.</a:t>
            </a:r>
          </a:p>
          <a:p>
            <a:pPr marL="285750" indent="-285750">
              <a:buFontTx/>
              <a:buChar char="-"/>
            </a:pPr>
            <a:r>
              <a:rPr lang="en-US" sz="1600" dirty="0">
                <a:solidFill>
                  <a:srgbClr val="FF0000"/>
                </a:solidFill>
              </a:rPr>
              <a:t>FileStream.CopyTo</a:t>
            </a:r>
            <a:r>
              <a:rPr lang="en-US" sz="1600" dirty="0"/>
              <a:t>(…) : Copies the contents of an uploaded file to the target stream</a:t>
            </a:r>
          </a:p>
          <a:p>
            <a:pPr marL="285750" indent="-285750">
              <a:buFontTx/>
              <a:buChar char="-"/>
            </a:pPr>
            <a:endParaRPr lang="en-US" sz="1400" dirty="0"/>
          </a:p>
        </p:txBody>
      </p:sp>
    </p:spTree>
    <p:extLst>
      <p:ext uri="{BB962C8B-B14F-4D97-AF65-F5344CB8AC3E}">
        <p14:creationId xmlns:p14="http://schemas.microsoft.com/office/powerpoint/2010/main" val="1350105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A2D15-4D68-4BF7-9421-032AE6C8852C}"/>
              </a:ext>
            </a:extLst>
          </p:cNvPr>
          <p:cNvSpPr>
            <a:spLocks noGrp="1"/>
          </p:cNvSpPr>
          <p:nvPr>
            <p:ph type="title"/>
          </p:nvPr>
        </p:nvSpPr>
        <p:spPr>
          <a:xfrm>
            <a:off x="1307008" y="272766"/>
            <a:ext cx="9577983" cy="879759"/>
          </a:xfrm>
        </p:spPr>
        <p:txBody>
          <a:bodyPr/>
          <a:lstStyle/>
          <a:p>
            <a:r>
              <a:rPr lang="en-US" dirty="0"/>
              <a:t>Encoding html for working</a:t>
            </a:r>
            <a:br>
              <a:rPr lang="en-US" dirty="0"/>
            </a:br>
            <a:r>
              <a:rPr lang="en-US" dirty="0"/>
              <a:t>with file contents</a:t>
            </a:r>
          </a:p>
        </p:txBody>
      </p:sp>
      <p:sp>
        <p:nvSpPr>
          <p:cNvPr id="25" name="Slide Number Placeholder 24">
            <a:extLst>
              <a:ext uri="{FF2B5EF4-FFF2-40B4-BE49-F238E27FC236}">
                <a16:creationId xmlns:a16="http://schemas.microsoft.com/office/drawing/2014/main" id="{148E9129-4CC6-47BA-ACD8-2C632A8660EC}"/>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5</a:t>
            </a:fld>
            <a:endParaRPr lang="en-US" dirty="0"/>
          </a:p>
        </p:txBody>
      </p:sp>
      <p:sp>
        <p:nvSpPr>
          <p:cNvPr id="42" name="TextBox 41">
            <a:extLst>
              <a:ext uri="{FF2B5EF4-FFF2-40B4-BE49-F238E27FC236}">
                <a16:creationId xmlns:a16="http://schemas.microsoft.com/office/drawing/2014/main" id="{9C7049D9-2CE3-91AE-A85D-03769BE53075}"/>
              </a:ext>
            </a:extLst>
          </p:cNvPr>
          <p:cNvSpPr txBox="1"/>
          <p:nvPr/>
        </p:nvSpPr>
        <p:spPr>
          <a:xfrm>
            <a:off x="1057275" y="1443841"/>
            <a:ext cx="9467850" cy="4647426"/>
          </a:xfrm>
          <a:prstGeom prst="rect">
            <a:avLst/>
          </a:prstGeom>
          <a:noFill/>
        </p:spPr>
        <p:txBody>
          <a:bodyPr wrap="square" rtlCol="0">
            <a:spAutoFit/>
          </a:bodyPr>
          <a:lstStyle/>
          <a:p>
            <a:r>
              <a:rPr lang="en-US" sz="1600" dirty="0"/>
              <a:t>When we generate POST requests to a server, much of the time we do not need to be concerned with the encoding format (because the default format is used for most normal scenarios.</a:t>
            </a:r>
          </a:p>
          <a:p>
            <a:endParaRPr lang="en-US" sz="1600" dirty="0"/>
          </a:p>
          <a:p>
            <a:r>
              <a:rPr lang="en-US" sz="1600" dirty="0"/>
              <a:t>However, when we are working with posting file content along with form content, at this point we need to encode the POST request to make use of </a:t>
            </a:r>
            <a:r>
              <a:rPr lang="en-US" sz="1600" b="1" dirty="0"/>
              <a:t>Multipart Form-data</a:t>
            </a:r>
            <a:r>
              <a:rPr lang="en-US" sz="1600" dirty="0"/>
              <a:t>:</a:t>
            </a:r>
          </a:p>
          <a:p>
            <a:endParaRPr lang="en-US" sz="1600" dirty="0"/>
          </a:p>
          <a:p>
            <a:r>
              <a:rPr lang="en-US" sz="1600" dirty="0"/>
              <a:t>Multipart/form-data should be used for </a:t>
            </a:r>
            <a:r>
              <a:rPr lang="en-US" sz="1600" b="1" dirty="0"/>
              <a:t>submitting forms that contain large files, non-ASCII data, and large binary data</a:t>
            </a:r>
            <a:r>
              <a:rPr lang="en-US" sz="1600" dirty="0"/>
              <a:t>. Moreover, multipart/form-data can be used for forms that are presented using representations like spreadsheets, Portable Document Format, etc. </a:t>
            </a:r>
            <a:r>
              <a:rPr lang="en-US" sz="1600" dirty="0" err="1"/>
              <a:t>i.e</a:t>
            </a:r>
            <a:r>
              <a:rPr lang="en-US" sz="1600" dirty="0"/>
              <a:t> other than HTML.</a:t>
            </a:r>
          </a:p>
          <a:p>
            <a:endParaRPr lang="en-US" sz="1600" dirty="0"/>
          </a:p>
          <a:p>
            <a:r>
              <a:rPr lang="en-US" sz="1600" dirty="0"/>
              <a:t>There are 2 separate ways this might be encoded for ASP.NET Core Razor views:</a:t>
            </a:r>
          </a:p>
          <a:p>
            <a:endParaRPr lang="en-US" sz="1600" dirty="0"/>
          </a:p>
          <a:p>
            <a:r>
              <a:rPr lang="en-US" sz="1600" dirty="0"/>
              <a:t>Using the legacy ASP.NET styling:</a:t>
            </a:r>
          </a:p>
          <a:p>
            <a:endParaRPr lang="en-US" sz="1600" dirty="0"/>
          </a:p>
          <a:p>
            <a:endParaRPr lang="en-US" dirty="0"/>
          </a:p>
          <a:p>
            <a:endParaRPr lang="en-US" dirty="0"/>
          </a:p>
          <a:p>
            <a:r>
              <a:rPr lang="en-US" sz="1600" dirty="0"/>
              <a:t>Or using updated ASP.NET Core Razor syntax:</a:t>
            </a:r>
            <a:endParaRPr lang="en-US" dirty="0"/>
          </a:p>
          <a:p>
            <a:endParaRPr lang="en-US" dirty="0"/>
          </a:p>
        </p:txBody>
      </p:sp>
      <p:pic>
        <p:nvPicPr>
          <p:cNvPr id="44" name="Picture 43">
            <a:extLst>
              <a:ext uri="{FF2B5EF4-FFF2-40B4-BE49-F238E27FC236}">
                <a16:creationId xmlns:a16="http://schemas.microsoft.com/office/drawing/2014/main" id="{335B9759-575F-9C65-863F-58E8E28CF696}"/>
              </a:ext>
            </a:extLst>
          </p:cNvPr>
          <p:cNvPicPr>
            <a:picLocks noChangeAspect="1"/>
          </p:cNvPicPr>
          <p:nvPr/>
        </p:nvPicPr>
        <p:blipFill>
          <a:blip r:embed="rId2"/>
          <a:stretch>
            <a:fillRect/>
          </a:stretch>
        </p:blipFill>
        <p:spPr>
          <a:xfrm>
            <a:off x="1057275" y="4799482"/>
            <a:ext cx="7111002" cy="577218"/>
          </a:xfrm>
          <a:prstGeom prst="rect">
            <a:avLst/>
          </a:prstGeom>
        </p:spPr>
      </p:pic>
      <p:pic>
        <p:nvPicPr>
          <p:cNvPr id="46" name="Picture 45">
            <a:extLst>
              <a:ext uri="{FF2B5EF4-FFF2-40B4-BE49-F238E27FC236}">
                <a16:creationId xmlns:a16="http://schemas.microsoft.com/office/drawing/2014/main" id="{25DADEDF-3151-BFE1-3566-527498DFAED8}"/>
              </a:ext>
            </a:extLst>
          </p:cNvPr>
          <p:cNvPicPr>
            <a:picLocks noChangeAspect="1"/>
          </p:cNvPicPr>
          <p:nvPr/>
        </p:nvPicPr>
        <p:blipFill>
          <a:blip r:embed="rId3"/>
          <a:stretch>
            <a:fillRect/>
          </a:stretch>
        </p:blipFill>
        <p:spPr>
          <a:xfrm>
            <a:off x="1057275" y="5810967"/>
            <a:ext cx="9467850" cy="275228"/>
          </a:xfrm>
          <a:prstGeom prst="rect">
            <a:avLst/>
          </a:prstGeom>
        </p:spPr>
      </p:pic>
    </p:spTree>
    <p:extLst>
      <p:ext uri="{BB962C8B-B14F-4D97-AF65-F5344CB8AC3E}">
        <p14:creationId xmlns:p14="http://schemas.microsoft.com/office/powerpoint/2010/main" val="2619301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D850C-1B54-B62F-A321-4D114DF5FE1E}"/>
              </a:ext>
            </a:extLst>
          </p:cNvPr>
          <p:cNvSpPr>
            <a:spLocks noGrp="1"/>
          </p:cNvSpPr>
          <p:nvPr>
            <p:ph type="title"/>
          </p:nvPr>
        </p:nvSpPr>
        <p:spPr>
          <a:xfrm>
            <a:off x="299368" y="187800"/>
            <a:ext cx="6696075" cy="1047067"/>
          </a:xfrm>
        </p:spPr>
        <p:txBody>
          <a:bodyPr/>
          <a:lstStyle/>
          <a:p>
            <a:r>
              <a:rPr lang="en-US" dirty="0"/>
              <a:t>Validation of </a:t>
            </a:r>
            <a:br>
              <a:rPr lang="en-US" dirty="0"/>
            </a:br>
            <a:r>
              <a:rPr lang="en-US" dirty="0"/>
              <a:t>image formats</a:t>
            </a:r>
          </a:p>
        </p:txBody>
      </p:sp>
      <p:sp>
        <p:nvSpPr>
          <p:cNvPr id="6" name="Slide Number Placeholder 5">
            <a:extLst>
              <a:ext uri="{FF2B5EF4-FFF2-40B4-BE49-F238E27FC236}">
                <a16:creationId xmlns:a16="http://schemas.microsoft.com/office/drawing/2014/main" id="{A93ECDAD-78F5-9822-9A29-EFFE1941DD50}"/>
              </a:ext>
            </a:extLst>
          </p:cNvPr>
          <p:cNvSpPr>
            <a:spLocks noGrp="1"/>
          </p:cNvSpPr>
          <p:nvPr>
            <p:ph type="sldNum" sz="quarter" idx="12"/>
          </p:nvPr>
        </p:nvSpPr>
        <p:spPr/>
        <p:txBody>
          <a:bodyPr/>
          <a:lstStyle/>
          <a:p>
            <a:fld id="{A49DFD55-3C28-40EF-9E31-A92D2E4017FF}" type="slidenum">
              <a:rPr lang="en-US" smtClean="0"/>
              <a:pPr/>
              <a:t>6</a:t>
            </a:fld>
            <a:endParaRPr lang="en-US" dirty="0"/>
          </a:p>
        </p:txBody>
      </p:sp>
      <p:sp>
        <p:nvSpPr>
          <p:cNvPr id="7" name="TextBox 6">
            <a:extLst>
              <a:ext uri="{FF2B5EF4-FFF2-40B4-BE49-F238E27FC236}">
                <a16:creationId xmlns:a16="http://schemas.microsoft.com/office/drawing/2014/main" id="{DF242756-7878-6121-F8D6-618E972488DD}"/>
              </a:ext>
            </a:extLst>
          </p:cNvPr>
          <p:cNvSpPr txBox="1"/>
          <p:nvPr/>
        </p:nvSpPr>
        <p:spPr>
          <a:xfrm>
            <a:off x="4293459" y="1974406"/>
            <a:ext cx="7793766" cy="4964779"/>
          </a:xfrm>
          <a:prstGeom prst="rect">
            <a:avLst/>
          </a:prstGeom>
          <a:no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98874" tIns="198874" rIns="198874" bIns="198874" numCol="1" spcCol="1270" anchor="t" anchorCtr="0">
            <a:noAutofit/>
          </a:bodyPr>
          <a:lstStyle/>
          <a:p>
            <a:pPr marL="0" lvl="0" indent="0" algn="l" defTabSz="622300">
              <a:lnSpc>
                <a:spcPct val="100000"/>
              </a:lnSpc>
              <a:spcBef>
                <a:spcPct val="0"/>
              </a:spcBef>
              <a:spcAft>
                <a:spcPct val="35000"/>
              </a:spcAft>
              <a:buNone/>
            </a:pPr>
            <a:r>
              <a:rPr lang="en-US" sz="1400" dirty="0"/>
              <a:t>There are many image format types supported in modern browsers, and browser clients can send/receive this information within the </a:t>
            </a:r>
            <a:r>
              <a:rPr lang="en-US" sz="1400" b="1" dirty="0"/>
              <a:t>ContentType</a:t>
            </a:r>
            <a:r>
              <a:rPr lang="en-US" sz="1400" dirty="0"/>
              <a:t> field of IFormFile:</a:t>
            </a:r>
          </a:p>
          <a:p>
            <a:pPr marL="0" lvl="0" indent="0" algn="l" defTabSz="622300">
              <a:lnSpc>
                <a:spcPct val="100000"/>
              </a:lnSpc>
              <a:spcBef>
                <a:spcPct val="0"/>
              </a:spcBef>
              <a:spcAft>
                <a:spcPct val="35000"/>
              </a:spcAft>
              <a:buNone/>
            </a:pPr>
            <a:endParaRPr lang="en-US" sz="1400" dirty="0"/>
          </a:p>
          <a:p>
            <a:pPr marL="285750" lvl="0" indent="-285750" algn="l" defTabSz="622300">
              <a:lnSpc>
                <a:spcPct val="100000"/>
              </a:lnSpc>
              <a:spcBef>
                <a:spcPct val="0"/>
              </a:spcBef>
              <a:spcAft>
                <a:spcPct val="35000"/>
              </a:spcAft>
              <a:buFont typeface="Arial" panose="020B0604020202020204" pitchFamily="34" charset="0"/>
              <a:buChar char="•"/>
            </a:pPr>
            <a:r>
              <a:rPr lang="en-US" sz="1400" b="1" dirty="0"/>
              <a:t>Image/webp</a:t>
            </a:r>
          </a:p>
          <a:p>
            <a:pPr marL="285750" lvl="0" indent="-285750" algn="l" defTabSz="622300">
              <a:lnSpc>
                <a:spcPct val="100000"/>
              </a:lnSpc>
              <a:spcBef>
                <a:spcPct val="0"/>
              </a:spcBef>
              <a:spcAft>
                <a:spcPct val="35000"/>
              </a:spcAft>
              <a:buFont typeface="Arial" panose="020B0604020202020204" pitchFamily="34" charset="0"/>
              <a:buChar char="•"/>
            </a:pPr>
            <a:r>
              <a:rPr lang="en-US" sz="1400" b="1" dirty="0"/>
              <a:t>Image/png</a:t>
            </a:r>
          </a:p>
          <a:p>
            <a:pPr marL="285750" lvl="0" indent="-285750" algn="l" defTabSz="622300">
              <a:lnSpc>
                <a:spcPct val="100000"/>
              </a:lnSpc>
              <a:spcBef>
                <a:spcPct val="0"/>
              </a:spcBef>
              <a:spcAft>
                <a:spcPct val="35000"/>
              </a:spcAft>
              <a:buFont typeface="Arial" panose="020B0604020202020204" pitchFamily="34" charset="0"/>
              <a:buChar char="•"/>
            </a:pPr>
            <a:r>
              <a:rPr lang="en-US" sz="1400" b="1" dirty="0"/>
              <a:t>Image/gif</a:t>
            </a:r>
          </a:p>
          <a:p>
            <a:pPr marL="285750" lvl="0" indent="-285750" algn="l" defTabSz="622300">
              <a:lnSpc>
                <a:spcPct val="100000"/>
              </a:lnSpc>
              <a:spcBef>
                <a:spcPct val="0"/>
              </a:spcBef>
              <a:spcAft>
                <a:spcPct val="35000"/>
              </a:spcAft>
              <a:buFont typeface="Arial" panose="020B0604020202020204" pitchFamily="34" charset="0"/>
              <a:buChar char="•"/>
            </a:pPr>
            <a:r>
              <a:rPr lang="en-US" sz="1400" b="1" dirty="0"/>
              <a:t>Image/jpg</a:t>
            </a:r>
          </a:p>
          <a:p>
            <a:pPr marL="0" lvl="0" indent="0" algn="l" defTabSz="622300">
              <a:lnSpc>
                <a:spcPct val="100000"/>
              </a:lnSpc>
              <a:spcBef>
                <a:spcPct val="0"/>
              </a:spcBef>
              <a:spcAft>
                <a:spcPct val="35000"/>
              </a:spcAft>
              <a:buNone/>
            </a:pPr>
            <a:endParaRPr lang="en-US" sz="1400" dirty="0"/>
          </a:p>
          <a:p>
            <a:pPr marL="0" lvl="0" indent="0" algn="l" defTabSz="622300">
              <a:lnSpc>
                <a:spcPct val="100000"/>
              </a:lnSpc>
              <a:spcBef>
                <a:spcPct val="0"/>
              </a:spcBef>
              <a:spcAft>
                <a:spcPct val="35000"/>
              </a:spcAft>
              <a:buNone/>
            </a:pPr>
            <a:r>
              <a:rPr lang="en-US" sz="1400" dirty="0"/>
              <a:t>amongst others.  We need to verify the formats of provided content if they are to be re-used in other aspects of the web server (especially if we have packages or custom behaviour that may not support all formats of image files)</a:t>
            </a:r>
          </a:p>
          <a:p>
            <a:pPr marL="0" lvl="0" indent="0" algn="l" defTabSz="622300">
              <a:lnSpc>
                <a:spcPct val="100000"/>
              </a:lnSpc>
              <a:spcBef>
                <a:spcPct val="0"/>
              </a:spcBef>
              <a:spcAft>
                <a:spcPct val="35000"/>
              </a:spcAft>
              <a:buNone/>
            </a:pPr>
            <a:endParaRPr lang="en-US" sz="1400" dirty="0"/>
          </a:p>
          <a:p>
            <a:pPr marL="0" lvl="0" indent="0" algn="l" defTabSz="622300">
              <a:lnSpc>
                <a:spcPct val="100000"/>
              </a:lnSpc>
              <a:spcBef>
                <a:spcPct val="0"/>
              </a:spcBef>
              <a:spcAft>
                <a:spcPct val="35000"/>
              </a:spcAft>
              <a:buNone/>
            </a:pPr>
            <a:r>
              <a:rPr lang="en-US" sz="1400" dirty="0"/>
              <a:t>We also want to ensure that we place limitations upon the sizes of image files being uploaded to the server (otherwise we may find ourselves running out of disk storage quite quickly).  We will want to validate the size of the file </a:t>
            </a:r>
            <a:r>
              <a:rPr lang="en-US" sz="1400" b="1" dirty="0"/>
              <a:t>Length</a:t>
            </a:r>
            <a:r>
              <a:rPr lang="en-US" sz="1400" dirty="0"/>
              <a:t> to ensure this is met.</a:t>
            </a:r>
          </a:p>
        </p:txBody>
      </p:sp>
    </p:spTree>
    <p:extLst>
      <p:ext uri="{BB962C8B-B14F-4D97-AF65-F5344CB8AC3E}">
        <p14:creationId xmlns:p14="http://schemas.microsoft.com/office/powerpoint/2010/main" val="678309761"/>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presentation_Win32_SL_V5" id="{DBE773F4-03EF-460F-8123-2ED25579554B}" vid="{FED336E3-054A-486F-8CDB-8815D6B39C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CBB7AC-E012-4960-B083-33C7C7C0C8C8}">
  <ds:schemaRefs>
    <ds:schemaRef ds:uri="http://schemas.microsoft.com/sharepoint/v3/contenttype/forms"/>
  </ds:schemaRefs>
</ds:datastoreItem>
</file>

<file path=customXml/itemProps2.xml><?xml version="1.0" encoding="utf-8"?>
<ds:datastoreItem xmlns:ds="http://schemas.openxmlformats.org/officeDocument/2006/customXml" ds:itemID="{CA05327A-3F11-4B74-87F2-F91762B92A4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76A8F61-3FE0-4499-9D74-D8DA5DD8FD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{20CCE9D0-5469-4CC4-AE57-FF5BB061AE87}tf67328976_win32</Template>
  <TotalTime>293</TotalTime>
  <Words>678</Words>
  <Application>Microsoft Office PowerPoint</Application>
  <PresentationFormat>Widescreen</PresentationFormat>
  <Paragraphs>57</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Tenorite</vt:lpstr>
      <vt:lpstr>Custom</vt:lpstr>
      <vt:lpstr>Image uploading using ASP.NET Core</vt:lpstr>
      <vt:lpstr>overview</vt:lpstr>
      <vt:lpstr>Managing the server environment</vt:lpstr>
      <vt:lpstr>Persisting uploaded files</vt:lpstr>
      <vt:lpstr>Encoding html for working with file contents</vt:lpstr>
      <vt:lpstr>Validation of  image formats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uploading using ASP.NET Core</dc:title>
  <dc:creator>Murray, Judson (NBCC)</dc:creator>
  <cp:lastModifiedBy>Murray, Judson (NBCC)</cp:lastModifiedBy>
  <cp:revision>3</cp:revision>
  <dcterms:created xsi:type="dcterms:W3CDTF">2023-09-20T11:30:15Z</dcterms:created>
  <dcterms:modified xsi:type="dcterms:W3CDTF">2026-10-07T11:53:59Z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