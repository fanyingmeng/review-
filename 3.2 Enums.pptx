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0" r:id="rId1"/>
  </p:sldMasterIdLst>
  <p:notesMasterIdLst>
    <p:notesMasterId r:id="rId10"/>
  </p:notesMasterIdLst>
  <p:sldIdLst>
    <p:sldId id="256" r:id="rId2"/>
    <p:sldId id="342" r:id="rId3"/>
    <p:sldId id="316" r:id="rId4"/>
    <p:sldId id="346" r:id="rId5"/>
    <p:sldId id="347" r:id="rId6"/>
    <p:sldId id="339" r:id="rId7"/>
    <p:sldId id="330" r:id="rId8"/>
    <p:sldId id="348"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usack, Chris" initials="CC" lastIdx="1" clrIdx="0">
    <p:extLst>
      <p:ext uri="{19B8F6BF-5375-455C-9EA6-DF929625EA0E}">
        <p15:presenceInfo xmlns:p15="http://schemas.microsoft.com/office/powerpoint/2012/main" userId="S-1-5-21-606747145-1993962763-839522115-122918"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EECC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118" autoAdjust="0"/>
    <p:restoredTop sz="86836" autoAdjust="0"/>
  </p:normalViewPr>
  <p:slideViewPr>
    <p:cSldViewPr snapToGrid="0">
      <p:cViewPr varScale="1">
        <p:scale>
          <a:sx n="98" d="100"/>
          <a:sy n="98" d="100"/>
        </p:scale>
        <p:origin x="840"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dre Boudreau" userId="a3a2ca07-850d-49c2-96a3-dc2fa6b153c7" providerId="ADAL" clId="{26B2FFC3-DEA7-47F4-9ED6-A0B36E63EB39}"/>
    <pc:docChg chg="delSld">
      <pc:chgData name="Andre Boudreau" userId="a3a2ca07-850d-49c2-96a3-dc2fa6b153c7" providerId="ADAL" clId="{26B2FFC3-DEA7-47F4-9ED6-A0B36E63EB39}" dt="2022-05-19T14:22:32.675" v="0" actId="47"/>
      <pc:docMkLst>
        <pc:docMk/>
      </pc:docMkLst>
      <pc:sldChg chg="del">
        <pc:chgData name="Andre Boudreau" userId="a3a2ca07-850d-49c2-96a3-dc2fa6b153c7" providerId="ADAL" clId="{26B2FFC3-DEA7-47F4-9ED6-A0B36E63EB39}" dt="2022-05-19T14:22:32.675" v="0" actId="47"/>
        <pc:sldMkLst>
          <pc:docMk/>
          <pc:sldMk cId="1476509515" sldId="33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95FC83A-AE04-4291-858C-89975FF43DBC}" type="datetimeFigureOut">
              <a:rPr lang="en-US" smtClean="0"/>
              <a:t>8/29/2025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68B35CF-413F-4E89-B778-B111B9E6E46E}" type="slidenum">
              <a:rPr lang="en-US" smtClean="0"/>
              <a:t>‹#›</a:t>
            </a:fld>
            <a:endParaRPr lang="en-US"/>
          </a:p>
        </p:txBody>
      </p:sp>
    </p:spTree>
    <p:extLst>
      <p:ext uri="{BB962C8B-B14F-4D97-AF65-F5344CB8AC3E}">
        <p14:creationId xmlns:p14="http://schemas.microsoft.com/office/powerpoint/2010/main" val="5137264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68B35CF-413F-4E89-B778-B111B9E6E46E}" type="slidenum">
              <a:rPr lang="en-US" smtClean="0"/>
              <a:t>1</a:t>
            </a:fld>
            <a:endParaRPr lang="en-US"/>
          </a:p>
        </p:txBody>
      </p:sp>
    </p:spTree>
    <p:extLst>
      <p:ext uri="{BB962C8B-B14F-4D97-AF65-F5344CB8AC3E}">
        <p14:creationId xmlns:p14="http://schemas.microsoft.com/office/powerpoint/2010/main" val="16072346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dirty="0"/>
          </a:p>
        </p:txBody>
      </p:sp>
      <p:sp>
        <p:nvSpPr>
          <p:cNvPr id="4" name="Slide Number Placeholder 3"/>
          <p:cNvSpPr>
            <a:spLocks noGrp="1"/>
          </p:cNvSpPr>
          <p:nvPr>
            <p:ph type="sldNum" sz="quarter" idx="10"/>
          </p:nvPr>
        </p:nvSpPr>
        <p:spPr/>
        <p:txBody>
          <a:bodyPr/>
          <a:lstStyle/>
          <a:p>
            <a:fld id="{068B35CF-413F-4E89-B778-B111B9E6E46E}" type="slidenum">
              <a:rPr lang="en-US" smtClean="0"/>
              <a:t>2</a:t>
            </a:fld>
            <a:endParaRPr lang="en-US"/>
          </a:p>
        </p:txBody>
      </p:sp>
    </p:spTree>
    <p:extLst>
      <p:ext uri="{BB962C8B-B14F-4D97-AF65-F5344CB8AC3E}">
        <p14:creationId xmlns:p14="http://schemas.microsoft.com/office/powerpoint/2010/main" val="1292087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dirty="0"/>
          </a:p>
        </p:txBody>
      </p:sp>
      <p:sp>
        <p:nvSpPr>
          <p:cNvPr id="4" name="Slide Number Placeholder 3"/>
          <p:cNvSpPr>
            <a:spLocks noGrp="1"/>
          </p:cNvSpPr>
          <p:nvPr>
            <p:ph type="sldNum" sz="quarter" idx="10"/>
          </p:nvPr>
        </p:nvSpPr>
        <p:spPr/>
        <p:txBody>
          <a:bodyPr/>
          <a:lstStyle/>
          <a:p>
            <a:fld id="{068B35CF-413F-4E89-B778-B111B9E6E46E}" type="slidenum">
              <a:rPr lang="en-US" smtClean="0"/>
              <a:t>3</a:t>
            </a:fld>
            <a:endParaRPr lang="en-US"/>
          </a:p>
        </p:txBody>
      </p:sp>
    </p:spTree>
    <p:extLst>
      <p:ext uri="{BB962C8B-B14F-4D97-AF65-F5344CB8AC3E}">
        <p14:creationId xmlns:p14="http://schemas.microsoft.com/office/powerpoint/2010/main" val="6178062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dirty="0"/>
          </a:p>
        </p:txBody>
      </p:sp>
      <p:sp>
        <p:nvSpPr>
          <p:cNvPr id="4" name="Slide Number Placeholder 3"/>
          <p:cNvSpPr>
            <a:spLocks noGrp="1"/>
          </p:cNvSpPr>
          <p:nvPr>
            <p:ph type="sldNum" sz="quarter" idx="10"/>
          </p:nvPr>
        </p:nvSpPr>
        <p:spPr/>
        <p:txBody>
          <a:bodyPr/>
          <a:lstStyle/>
          <a:p>
            <a:fld id="{068B35CF-413F-4E89-B778-B111B9E6E46E}" type="slidenum">
              <a:rPr lang="en-US" smtClean="0"/>
              <a:t>4</a:t>
            </a:fld>
            <a:endParaRPr lang="en-US"/>
          </a:p>
        </p:txBody>
      </p:sp>
    </p:spTree>
    <p:extLst>
      <p:ext uri="{BB962C8B-B14F-4D97-AF65-F5344CB8AC3E}">
        <p14:creationId xmlns:p14="http://schemas.microsoft.com/office/powerpoint/2010/main" val="5471247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dirty="0"/>
          </a:p>
        </p:txBody>
      </p:sp>
      <p:sp>
        <p:nvSpPr>
          <p:cNvPr id="4" name="Slide Number Placeholder 3"/>
          <p:cNvSpPr>
            <a:spLocks noGrp="1"/>
          </p:cNvSpPr>
          <p:nvPr>
            <p:ph type="sldNum" sz="quarter" idx="10"/>
          </p:nvPr>
        </p:nvSpPr>
        <p:spPr/>
        <p:txBody>
          <a:bodyPr/>
          <a:lstStyle/>
          <a:p>
            <a:fld id="{068B35CF-413F-4E89-B778-B111B9E6E46E}" type="slidenum">
              <a:rPr lang="en-US" smtClean="0"/>
              <a:t>5</a:t>
            </a:fld>
            <a:endParaRPr lang="en-US"/>
          </a:p>
        </p:txBody>
      </p:sp>
    </p:spTree>
    <p:extLst>
      <p:ext uri="{BB962C8B-B14F-4D97-AF65-F5344CB8AC3E}">
        <p14:creationId xmlns:p14="http://schemas.microsoft.com/office/powerpoint/2010/main" val="33418078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dirty="0"/>
          </a:p>
        </p:txBody>
      </p:sp>
      <p:sp>
        <p:nvSpPr>
          <p:cNvPr id="4" name="Slide Number Placeholder 3"/>
          <p:cNvSpPr>
            <a:spLocks noGrp="1"/>
          </p:cNvSpPr>
          <p:nvPr>
            <p:ph type="sldNum" sz="quarter" idx="10"/>
          </p:nvPr>
        </p:nvSpPr>
        <p:spPr/>
        <p:txBody>
          <a:bodyPr/>
          <a:lstStyle/>
          <a:p>
            <a:fld id="{068B35CF-413F-4E89-B778-B111B9E6E46E}" type="slidenum">
              <a:rPr lang="en-US" smtClean="0"/>
              <a:t>6</a:t>
            </a:fld>
            <a:endParaRPr lang="en-US"/>
          </a:p>
        </p:txBody>
      </p:sp>
    </p:spTree>
    <p:extLst>
      <p:ext uri="{BB962C8B-B14F-4D97-AF65-F5344CB8AC3E}">
        <p14:creationId xmlns:p14="http://schemas.microsoft.com/office/powerpoint/2010/main" val="22617535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dirty="0"/>
          </a:p>
        </p:txBody>
      </p:sp>
      <p:sp>
        <p:nvSpPr>
          <p:cNvPr id="4" name="Slide Number Placeholder 3"/>
          <p:cNvSpPr>
            <a:spLocks noGrp="1"/>
          </p:cNvSpPr>
          <p:nvPr>
            <p:ph type="sldNum" sz="quarter" idx="10"/>
          </p:nvPr>
        </p:nvSpPr>
        <p:spPr/>
        <p:txBody>
          <a:bodyPr/>
          <a:lstStyle/>
          <a:p>
            <a:fld id="{068B35CF-413F-4E89-B778-B111B9E6E46E}" type="slidenum">
              <a:rPr lang="en-US" smtClean="0"/>
              <a:t>7</a:t>
            </a:fld>
            <a:endParaRPr lang="en-US"/>
          </a:p>
        </p:txBody>
      </p:sp>
    </p:spTree>
    <p:extLst>
      <p:ext uri="{BB962C8B-B14F-4D97-AF65-F5344CB8AC3E}">
        <p14:creationId xmlns:p14="http://schemas.microsoft.com/office/powerpoint/2010/main" val="249708954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dirty="0"/>
          </a:p>
        </p:txBody>
      </p:sp>
      <p:sp>
        <p:nvSpPr>
          <p:cNvPr id="4" name="Slide Number Placeholder 3"/>
          <p:cNvSpPr>
            <a:spLocks noGrp="1"/>
          </p:cNvSpPr>
          <p:nvPr>
            <p:ph type="sldNum" sz="quarter" idx="10"/>
          </p:nvPr>
        </p:nvSpPr>
        <p:spPr/>
        <p:txBody>
          <a:bodyPr/>
          <a:lstStyle/>
          <a:p>
            <a:fld id="{068B35CF-413F-4E89-B778-B111B9E6E46E}" type="slidenum">
              <a:rPr lang="en-US" smtClean="0"/>
              <a:t>8</a:t>
            </a:fld>
            <a:endParaRPr lang="en-US"/>
          </a:p>
        </p:txBody>
      </p:sp>
    </p:spTree>
    <p:extLst>
      <p:ext uri="{BB962C8B-B14F-4D97-AF65-F5344CB8AC3E}">
        <p14:creationId xmlns:p14="http://schemas.microsoft.com/office/powerpoint/2010/main" val="14678543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F997412-C0EA-48EA-88D8-DF08CC072BD6}" type="datetimeFigureOut">
              <a:rPr lang="en-US" smtClean="0"/>
              <a:t>8/29/2025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BDAF3D3-DC34-4A62-89D3-DF362488D2E1}"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891656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F997412-C0EA-48EA-88D8-DF08CC072BD6}" type="datetimeFigureOut">
              <a:rPr lang="en-US" smtClean="0"/>
              <a:t>8/29/2025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BDAF3D3-DC34-4A62-89D3-DF362488D2E1}" type="slidenum">
              <a:rPr lang="en-US" smtClean="0"/>
              <a:t>‹#›</a:t>
            </a:fld>
            <a:endParaRPr lang="en-US"/>
          </a:p>
        </p:txBody>
      </p:sp>
    </p:spTree>
    <p:extLst>
      <p:ext uri="{BB962C8B-B14F-4D97-AF65-F5344CB8AC3E}">
        <p14:creationId xmlns:p14="http://schemas.microsoft.com/office/powerpoint/2010/main" val="791838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F997412-C0EA-48EA-88D8-DF08CC072BD6}" type="datetimeFigureOut">
              <a:rPr lang="en-US" smtClean="0"/>
              <a:t>8/29/2025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BDAF3D3-DC34-4A62-89D3-DF362488D2E1}"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962692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8" y="1845734"/>
            <a:ext cx="493776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F997412-C0EA-48EA-88D8-DF08CC072BD6}" type="datetimeFigureOut">
              <a:rPr lang="en-US" smtClean="0"/>
              <a:t>8/29/2025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BDAF3D3-DC34-4A62-89D3-DF362488D2E1}" type="slidenum">
              <a:rPr lang="en-US" smtClean="0"/>
              <a:t>‹#›</a:t>
            </a:fld>
            <a:endParaRPr lang="en-US"/>
          </a:p>
        </p:txBody>
      </p:sp>
    </p:spTree>
    <p:extLst>
      <p:ext uri="{BB962C8B-B14F-4D97-AF65-F5344CB8AC3E}">
        <p14:creationId xmlns:p14="http://schemas.microsoft.com/office/powerpoint/2010/main" val="11884072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F997412-C0EA-48EA-88D8-DF08CC072BD6}" type="datetimeFigureOut">
              <a:rPr lang="en-US" smtClean="0"/>
              <a:t>8/29/2025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BDAF3D3-DC34-4A62-89D3-DF362488D2E1}" type="slidenum">
              <a:rPr lang="en-US" smtClean="0"/>
              <a:t>‹#›</a:t>
            </a:fld>
            <a:endParaRPr lang="en-US"/>
          </a:p>
        </p:txBody>
      </p:sp>
    </p:spTree>
    <p:extLst>
      <p:ext uri="{BB962C8B-B14F-4D97-AF65-F5344CB8AC3E}">
        <p14:creationId xmlns:p14="http://schemas.microsoft.com/office/powerpoint/2010/main" val="11351465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F997412-C0EA-48EA-88D8-DF08CC072BD6}" type="datetimeFigureOut">
              <a:rPr lang="en-US" smtClean="0"/>
              <a:t>8/29/2025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BDAF3D3-DC34-4A62-89D3-DF362488D2E1}" type="slidenum">
              <a:rPr lang="en-US" smtClean="0"/>
              <a:t>‹#›</a:t>
            </a:fld>
            <a:endParaRPr lang="en-US"/>
          </a:p>
        </p:txBody>
      </p:sp>
    </p:spTree>
    <p:extLst>
      <p:ext uri="{BB962C8B-B14F-4D97-AF65-F5344CB8AC3E}">
        <p14:creationId xmlns:p14="http://schemas.microsoft.com/office/powerpoint/2010/main" val="28996071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BF997412-C0EA-48EA-88D8-DF08CC072BD6}" type="datetimeFigureOut">
              <a:rPr lang="en-US" smtClean="0"/>
              <a:t>8/29/2025</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FBDAF3D3-DC34-4A62-89D3-DF362488D2E1}" type="slidenum">
              <a:rPr lang="en-US" smtClean="0"/>
              <a:t>‹#›</a:t>
            </a:fld>
            <a:endParaRPr lang="en-US"/>
          </a:p>
        </p:txBody>
      </p:sp>
    </p:spTree>
    <p:extLst>
      <p:ext uri="{BB962C8B-B14F-4D97-AF65-F5344CB8AC3E}">
        <p14:creationId xmlns:p14="http://schemas.microsoft.com/office/powerpoint/2010/main" val="1252306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BF997412-C0EA-48EA-88D8-DF08CC072BD6}" type="datetimeFigureOut">
              <a:rPr lang="en-US" smtClean="0"/>
              <a:t>8/29/2025</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FBDAF3D3-DC34-4A62-89D3-DF362488D2E1}" type="slidenum">
              <a:rPr lang="en-US" smtClean="0"/>
              <a:t>‹#›</a:t>
            </a:fld>
            <a:endParaRPr lang="en-US"/>
          </a:p>
        </p:txBody>
      </p:sp>
    </p:spTree>
    <p:extLst>
      <p:ext uri="{BB962C8B-B14F-4D97-AF65-F5344CB8AC3E}">
        <p14:creationId xmlns:p14="http://schemas.microsoft.com/office/powerpoint/2010/main" val="12927379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BF997412-C0EA-48EA-88D8-DF08CC072BD6}" type="datetimeFigureOut">
              <a:rPr lang="en-US" smtClean="0"/>
              <a:t>8/29/2025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BDAF3D3-DC34-4A62-89D3-DF362488D2E1}" type="slidenum">
              <a:rPr lang="en-US" smtClean="0"/>
              <a:t>‹#›</a:t>
            </a:fld>
            <a:endParaRPr lang="en-US"/>
          </a:p>
        </p:txBody>
      </p:sp>
    </p:spTree>
    <p:extLst>
      <p:ext uri="{BB962C8B-B14F-4D97-AF65-F5344CB8AC3E}">
        <p14:creationId xmlns:p14="http://schemas.microsoft.com/office/powerpoint/2010/main" val="9727032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F997412-C0EA-48EA-88D8-DF08CC072BD6}" type="datetimeFigureOut">
              <a:rPr lang="en-US" smtClean="0"/>
              <a:t>8/29/2025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BDAF3D3-DC34-4A62-89D3-DF362488D2E1}" type="slidenum">
              <a:rPr lang="en-US" smtClean="0"/>
              <a:t>‹#›</a:t>
            </a:fld>
            <a:endParaRPr lang="en-US"/>
          </a:p>
        </p:txBody>
      </p:sp>
    </p:spTree>
    <p:extLst>
      <p:ext uri="{BB962C8B-B14F-4D97-AF65-F5344CB8AC3E}">
        <p14:creationId xmlns:p14="http://schemas.microsoft.com/office/powerpoint/2010/main" val="29926368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F997412-C0EA-48EA-88D8-DF08CC072BD6}" type="datetimeFigureOut">
              <a:rPr lang="en-US" smtClean="0"/>
              <a:t>8/29/2025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BDAF3D3-DC34-4A62-89D3-DF362488D2E1}" type="slidenum">
              <a:rPr lang="en-US" smtClean="0"/>
              <a:t>‹#›</a:t>
            </a:fld>
            <a:endParaRPr lang="en-US"/>
          </a:p>
        </p:txBody>
      </p:sp>
    </p:spTree>
    <p:extLst>
      <p:ext uri="{BB962C8B-B14F-4D97-AF65-F5344CB8AC3E}">
        <p14:creationId xmlns:p14="http://schemas.microsoft.com/office/powerpoint/2010/main" val="27723454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BF997412-C0EA-48EA-88D8-DF08CC072BD6}" type="datetimeFigureOut">
              <a:rPr lang="en-US" smtClean="0"/>
              <a:t>8/29/2025</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FBDAF3D3-DC34-4A62-89D3-DF362488D2E1}"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91939022"/>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7BE49-CD65-48C8-A4E7-588C46A51235}"/>
              </a:ext>
            </a:extLst>
          </p:cNvPr>
          <p:cNvSpPr>
            <a:spLocks noGrp="1"/>
          </p:cNvSpPr>
          <p:nvPr>
            <p:ph type="ctrTitle"/>
          </p:nvPr>
        </p:nvSpPr>
        <p:spPr/>
        <p:txBody>
          <a:bodyPr/>
          <a:lstStyle/>
          <a:p>
            <a:r>
              <a:rPr lang="en-US" dirty="0">
                <a:solidFill>
                  <a:srgbClr val="002060"/>
                </a:solidFill>
              </a:rPr>
              <a:t>Enterprise Java</a:t>
            </a:r>
          </a:p>
        </p:txBody>
      </p:sp>
      <p:sp>
        <p:nvSpPr>
          <p:cNvPr id="3" name="Subtitle 2">
            <a:extLst>
              <a:ext uri="{FF2B5EF4-FFF2-40B4-BE49-F238E27FC236}">
                <a16:creationId xmlns:a16="http://schemas.microsoft.com/office/drawing/2014/main" id="{80B175E9-D318-4465-9B35-C9DAA9E5E728}"/>
              </a:ext>
            </a:extLst>
          </p:cNvPr>
          <p:cNvSpPr>
            <a:spLocks noGrp="1"/>
          </p:cNvSpPr>
          <p:nvPr>
            <p:ph type="subTitle" idx="1"/>
          </p:nvPr>
        </p:nvSpPr>
        <p:spPr>
          <a:xfrm>
            <a:off x="2953379" y="2098676"/>
            <a:ext cx="10058400" cy="541556"/>
          </a:xfrm>
        </p:spPr>
        <p:txBody>
          <a:bodyPr/>
          <a:lstStyle/>
          <a:p>
            <a:r>
              <a:rPr lang="en-US" dirty="0"/>
              <a:t>Information Technology</a:t>
            </a:r>
          </a:p>
          <a:p>
            <a:endParaRPr lang="en-US" dirty="0"/>
          </a:p>
        </p:txBody>
      </p:sp>
      <p:pic>
        <p:nvPicPr>
          <p:cNvPr id="4" name="Picture 3">
            <a:extLst>
              <a:ext uri="{FF2B5EF4-FFF2-40B4-BE49-F238E27FC236}">
                <a16:creationId xmlns:a16="http://schemas.microsoft.com/office/drawing/2014/main" id="{87670B7F-D742-4673-BF39-8C5BAD11BBB1}"/>
              </a:ext>
            </a:extLst>
          </p:cNvPr>
          <p:cNvPicPr/>
          <p:nvPr/>
        </p:nvPicPr>
        <p:blipFill>
          <a:blip r:embed="rId3">
            <a:extLst>
              <a:ext uri="{28A0092B-C50C-407E-A947-70E740481C1C}">
                <a14:useLocalDpi xmlns:a14="http://schemas.microsoft.com/office/drawing/2010/main" val="0"/>
              </a:ext>
            </a:extLst>
          </a:blip>
          <a:stretch>
            <a:fillRect/>
          </a:stretch>
        </p:blipFill>
        <p:spPr>
          <a:xfrm>
            <a:off x="3043813" y="807764"/>
            <a:ext cx="6949227" cy="1242100"/>
          </a:xfrm>
          <a:prstGeom prst="rect">
            <a:avLst/>
          </a:prstGeom>
        </p:spPr>
      </p:pic>
      <p:sp>
        <p:nvSpPr>
          <p:cNvPr id="5" name="Subtitle 2">
            <a:extLst>
              <a:ext uri="{FF2B5EF4-FFF2-40B4-BE49-F238E27FC236}">
                <a16:creationId xmlns:a16="http://schemas.microsoft.com/office/drawing/2014/main" id="{D113FE0D-CFBA-429F-9B03-62E9AB18E0B1}"/>
              </a:ext>
            </a:extLst>
          </p:cNvPr>
          <p:cNvSpPr txBox="1">
            <a:spLocks/>
          </p:cNvSpPr>
          <p:nvPr/>
        </p:nvSpPr>
        <p:spPr>
          <a:xfrm>
            <a:off x="1195600" y="4373924"/>
            <a:ext cx="10058400" cy="541556"/>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None/>
              <a:defRPr sz="2400" kern="1200" cap="all" spc="200" baseline="0">
                <a:solidFill>
                  <a:schemeClr val="tx2"/>
                </a:solidFill>
                <a:latin typeface="+mj-lt"/>
                <a:ea typeface="+mn-ea"/>
                <a:cs typeface="+mn-cs"/>
              </a:defRPr>
            </a:lvl1pPr>
            <a:lvl2pPr marL="457200" indent="0" algn="ctr" defTabSz="914400" rtl="0" eaLnBrk="1" latinLnBrk="0" hangingPunct="1">
              <a:lnSpc>
                <a:spcPct val="90000"/>
              </a:lnSpc>
              <a:spcBef>
                <a:spcPts val="200"/>
              </a:spcBef>
              <a:spcAft>
                <a:spcPts val="400"/>
              </a:spcAft>
              <a:buClr>
                <a:schemeClr val="accent1"/>
              </a:buClr>
              <a:buFont typeface="Calibri" pitchFamily="34" charset="0"/>
              <a:buNone/>
              <a:defRPr sz="2400" kern="1200">
                <a:solidFill>
                  <a:schemeClr val="tx1">
                    <a:lumMod val="75000"/>
                    <a:lumOff val="25000"/>
                  </a:schemeClr>
                </a:solidFill>
                <a:latin typeface="+mn-lt"/>
                <a:ea typeface="+mn-ea"/>
                <a:cs typeface="+mn-cs"/>
              </a:defRPr>
            </a:lvl2pPr>
            <a:lvl3pPr marL="914400" indent="0" algn="ctr" defTabSz="914400" rtl="0" eaLnBrk="1" latinLnBrk="0" hangingPunct="1">
              <a:lnSpc>
                <a:spcPct val="90000"/>
              </a:lnSpc>
              <a:spcBef>
                <a:spcPts val="200"/>
              </a:spcBef>
              <a:spcAft>
                <a:spcPts val="400"/>
              </a:spcAft>
              <a:buClr>
                <a:schemeClr val="accent1"/>
              </a:buClr>
              <a:buFont typeface="Calibri" pitchFamily="34" charset="0"/>
              <a:buNone/>
              <a:defRPr sz="2400" kern="1200">
                <a:solidFill>
                  <a:schemeClr val="tx1">
                    <a:lumMod val="75000"/>
                    <a:lumOff val="25000"/>
                  </a:schemeClr>
                </a:solidFill>
                <a:latin typeface="+mn-lt"/>
                <a:ea typeface="+mn-ea"/>
                <a:cs typeface="+mn-cs"/>
              </a:defRPr>
            </a:lvl3pPr>
            <a:lvl4pPr marL="13716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4pPr>
            <a:lvl5pPr marL="18288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5pPr>
            <a:lvl6pPr marL="22860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6pPr>
            <a:lvl7pPr marL="27432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7pPr>
            <a:lvl8pPr marL="32004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8pPr>
            <a:lvl9pPr marL="36576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9pPr>
          </a:lstStyle>
          <a:p>
            <a:r>
              <a:rPr lang="en-US" dirty="0"/>
              <a:t>Enumerations</a:t>
            </a:r>
          </a:p>
        </p:txBody>
      </p:sp>
    </p:spTree>
    <p:extLst>
      <p:ext uri="{BB962C8B-B14F-4D97-AF65-F5344CB8AC3E}">
        <p14:creationId xmlns:p14="http://schemas.microsoft.com/office/powerpoint/2010/main" val="1377867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67325C64-1A03-4E18-BED0-7EB85DD90A3D}"/>
              </a:ext>
            </a:extLst>
          </p:cNvPr>
          <p:cNvSpPr txBox="1">
            <a:spLocks/>
          </p:cNvSpPr>
          <p:nvPr/>
        </p:nvSpPr>
        <p:spPr>
          <a:xfrm>
            <a:off x="425380" y="-725488"/>
            <a:ext cx="10058400" cy="1450975"/>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2800" dirty="0"/>
              <a:t>Working Enumerations</a:t>
            </a:r>
          </a:p>
        </p:txBody>
      </p:sp>
      <p:cxnSp>
        <p:nvCxnSpPr>
          <p:cNvPr id="14" name="Straight Connector 13">
            <a:extLst>
              <a:ext uri="{FF2B5EF4-FFF2-40B4-BE49-F238E27FC236}">
                <a16:creationId xmlns:a16="http://schemas.microsoft.com/office/drawing/2014/main" id="{65665DCD-1CDB-4105-A736-5C3693E5BC1B}"/>
              </a:ext>
            </a:extLst>
          </p:cNvPr>
          <p:cNvCxnSpPr/>
          <p:nvPr/>
        </p:nvCxnSpPr>
        <p:spPr>
          <a:xfrm>
            <a:off x="425380" y="725487"/>
            <a:ext cx="11471868" cy="0"/>
          </a:xfrm>
          <a:prstGeom prst="line">
            <a:avLst/>
          </a:prstGeom>
        </p:spPr>
        <p:style>
          <a:lnRef idx="1">
            <a:schemeClr val="dk1"/>
          </a:lnRef>
          <a:fillRef idx="0">
            <a:schemeClr val="dk1"/>
          </a:fillRef>
          <a:effectRef idx="0">
            <a:schemeClr val="dk1"/>
          </a:effectRef>
          <a:fontRef idx="minor">
            <a:schemeClr val="tx1"/>
          </a:fontRef>
        </p:style>
      </p:cxnSp>
      <p:sp>
        <p:nvSpPr>
          <p:cNvPr id="16" name="Content Placeholder 2">
            <a:extLst>
              <a:ext uri="{FF2B5EF4-FFF2-40B4-BE49-F238E27FC236}">
                <a16:creationId xmlns:a16="http://schemas.microsoft.com/office/drawing/2014/main" id="{39E2A5D8-8548-4196-8326-937623578465}"/>
              </a:ext>
            </a:extLst>
          </p:cNvPr>
          <p:cNvSpPr txBox="1">
            <a:spLocks/>
          </p:cNvSpPr>
          <p:nvPr/>
        </p:nvSpPr>
        <p:spPr>
          <a:xfrm>
            <a:off x="425379" y="1001656"/>
            <a:ext cx="10192579" cy="5165679"/>
          </a:xfrm>
          <a:prstGeom prst="rect">
            <a:avLst/>
          </a:prstGeom>
        </p:spPr>
        <p:txBody>
          <a:bodyPr>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201168" lvl="1" indent="0">
              <a:buNone/>
            </a:pPr>
            <a:r>
              <a:rPr lang="en-US" sz="3200" dirty="0"/>
              <a:t>Just like C#?</a:t>
            </a:r>
          </a:p>
          <a:p>
            <a:pPr marL="201168" lvl="1" indent="0">
              <a:buNone/>
            </a:pPr>
            <a:endParaRPr lang="en-US" sz="2400" dirty="0"/>
          </a:p>
          <a:p>
            <a:pPr marL="201168" lvl="1" indent="0">
              <a:buNone/>
            </a:pPr>
            <a:r>
              <a:rPr lang="en-US" sz="2400" dirty="0"/>
              <a:t>At first glance, Enums in Java look very similar to Enums in c#, but there are a few very important differences.</a:t>
            </a:r>
          </a:p>
          <a:p>
            <a:pPr marL="201168" lvl="1" indent="0">
              <a:buNone/>
            </a:pPr>
            <a:endParaRPr lang="en-US" sz="2400" dirty="0"/>
          </a:p>
          <a:p>
            <a:pPr marL="201168" lvl="1" indent="0">
              <a:buNone/>
            </a:pPr>
            <a:r>
              <a:rPr lang="en-US" sz="2400" dirty="0"/>
              <a:t>Enums in Java are more like simple classes that contain constants. Each Enum can also have other values associate with them, like strings for names, integers for values or other types.</a:t>
            </a:r>
          </a:p>
          <a:p>
            <a:pPr marL="201168" lvl="1" indent="0">
              <a:buNone/>
            </a:pPr>
            <a:endParaRPr lang="en-US" sz="2400" dirty="0"/>
          </a:p>
          <a:p>
            <a:pPr marL="201168" lvl="1" indent="0">
              <a:buNone/>
            </a:pPr>
            <a:r>
              <a:rPr lang="en-US" sz="2400" dirty="0"/>
              <a:t>Since the values inside an Enum are considered Constants, their variables need to be all upper case, just like other constants.</a:t>
            </a:r>
          </a:p>
          <a:p>
            <a:pPr marL="201168" lvl="1" indent="0">
              <a:buNone/>
            </a:pPr>
            <a:endParaRPr lang="en-US" sz="2400" dirty="0"/>
          </a:p>
        </p:txBody>
      </p:sp>
    </p:spTree>
    <p:extLst>
      <p:ext uri="{BB962C8B-B14F-4D97-AF65-F5344CB8AC3E}">
        <p14:creationId xmlns:p14="http://schemas.microsoft.com/office/powerpoint/2010/main" val="31439294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67325C64-1A03-4E18-BED0-7EB85DD90A3D}"/>
              </a:ext>
            </a:extLst>
          </p:cNvPr>
          <p:cNvSpPr txBox="1">
            <a:spLocks/>
          </p:cNvSpPr>
          <p:nvPr/>
        </p:nvSpPr>
        <p:spPr>
          <a:xfrm>
            <a:off x="425380" y="-725488"/>
            <a:ext cx="10058400" cy="1450975"/>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2800" dirty="0"/>
              <a:t>Working Enumerations</a:t>
            </a:r>
          </a:p>
        </p:txBody>
      </p:sp>
      <p:cxnSp>
        <p:nvCxnSpPr>
          <p:cNvPr id="14" name="Straight Connector 13">
            <a:extLst>
              <a:ext uri="{FF2B5EF4-FFF2-40B4-BE49-F238E27FC236}">
                <a16:creationId xmlns:a16="http://schemas.microsoft.com/office/drawing/2014/main" id="{65665DCD-1CDB-4105-A736-5C3693E5BC1B}"/>
              </a:ext>
            </a:extLst>
          </p:cNvPr>
          <p:cNvCxnSpPr/>
          <p:nvPr/>
        </p:nvCxnSpPr>
        <p:spPr>
          <a:xfrm>
            <a:off x="425380" y="725487"/>
            <a:ext cx="11471868" cy="0"/>
          </a:xfrm>
          <a:prstGeom prst="line">
            <a:avLst/>
          </a:prstGeom>
        </p:spPr>
        <p:style>
          <a:lnRef idx="1">
            <a:schemeClr val="dk1"/>
          </a:lnRef>
          <a:fillRef idx="0">
            <a:schemeClr val="dk1"/>
          </a:fillRef>
          <a:effectRef idx="0">
            <a:schemeClr val="dk1"/>
          </a:effectRef>
          <a:fontRef idx="minor">
            <a:schemeClr val="tx1"/>
          </a:fontRef>
        </p:style>
      </p:cxnSp>
      <p:sp>
        <p:nvSpPr>
          <p:cNvPr id="16" name="Content Placeholder 2">
            <a:extLst>
              <a:ext uri="{FF2B5EF4-FFF2-40B4-BE49-F238E27FC236}">
                <a16:creationId xmlns:a16="http://schemas.microsoft.com/office/drawing/2014/main" id="{39E2A5D8-8548-4196-8326-937623578465}"/>
              </a:ext>
            </a:extLst>
          </p:cNvPr>
          <p:cNvSpPr txBox="1">
            <a:spLocks/>
          </p:cNvSpPr>
          <p:nvPr/>
        </p:nvSpPr>
        <p:spPr>
          <a:xfrm>
            <a:off x="425379" y="1001656"/>
            <a:ext cx="11257539" cy="5165679"/>
          </a:xfrm>
          <a:prstGeom prst="rect">
            <a:avLst/>
          </a:prstGeom>
        </p:spPr>
        <p:txBody>
          <a:bodyPr>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a:buNone/>
            </a:pPr>
            <a:r>
              <a:rPr lang="en-US" dirty="0"/>
              <a:t>Simple Example</a:t>
            </a:r>
          </a:p>
          <a:p>
            <a:r>
              <a:rPr lang="en-US" sz="1400" dirty="0">
                <a:solidFill>
                  <a:srgbClr val="CC7832"/>
                </a:solidFill>
                <a:effectLst/>
                <a:latin typeface="JetBrains Mono"/>
              </a:rPr>
              <a:t>public enum </a:t>
            </a:r>
            <a:r>
              <a:rPr lang="en-US" sz="1400" dirty="0">
                <a:solidFill>
                  <a:srgbClr val="A9B7C6"/>
                </a:solidFill>
                <a:effectLst/>
                <a:latin typeface="JetBrains Mono"/>
              </a:rPr>
              <a:t>Term {</a:t>
            </a:r>
            <a:br>
              <a:rPr lang="en-US" sz="1400" dirty="0">
                <a:solidFill>
                  <a:srgbClr val="A9B7C6"/>
                </a:solidFill>
                <a:effectLst/>
                <a:latin typeface="JetBrains Mono"/>
              </a:rPr>
            </a:br>
            <a:r>
              <a:rPr lang="en-US" sz="1400" dirty="0">
                <a:solidFill>
                  <a:srgbClr val="A9B7C6"/>
                </a:solidFill>
                <a:effectLst/>
                <a:latin typeface="JetBrains Mono"/>
              </a:rPr>
              <a:t>    </a:t>
            </a:r>
            <a:r>
              <a:rPr lang="en-US" sz="1400" i="1" dirty="0">
                <a:solidFill>
                  <a:srgbClr val="9876AA"/>
                </a:solidFill>
                <a:effectLst/>
                <a:latin typeface="JetBrains Mono"/>
              </a:rPr>
              <a:t>FALL</a:t>
            </a:r>
            <a:r>
              <a:rPr lang="en-US" sz="1400" dirty="0">
                <a:solidFill>
                  <a:srgbClr val="CC7832"/>
                </a:solidFill>
                <a:effectLst/>
                <a:latin typeface="JetBrains Mono"/>
              </a:rPr>
              <a:t>,</a:t>
            </a:r>
            <a:br>
              <a:rPr lang="en-US" sz="1400" dirty="0">
                <a:solidFill>
                  <a:srgbClr val="CC7832"/>
                </a:solidFill>
                <a:effectLst/>
                <a:latin typeface="JetBrains Mono"/>
              </a:rPr>
            </a:br>
            <a:r>
              <a:rPr lang="en-US" sz="1400" dirty="0">
                <a:solidFill>
                  <a:srgbClr val="CC7832"/>
                </a:solidFill>
                <a:effectLst/>
                <a:latin typeface="JetBrains Mono"/>
              </a:rPr>
              <a:t>    </a:t>
            </a:r>
            <a:r>
              <a:rPr lang="en-US" sz="1400" i="1" dirty="0">
                <a:solidFill>
                  <a:srgbClr val="9876AA"/>
                </a:solidFill>
                <a:effectLst/>
                <a:latin typeface="JetBrains Mono"/>
              </a:rPr>
              <a:t>WINTER</a:t>
            </a:r>
            <a:r>
              <a:rPr lang="en-US" sz="1400" dirty="0">
                <a:solidFill>
                  <a:srgbClr val="CC7832"/>
                </a:solidFill>
                <a:effectLst/>
                <a:latin typeface="JetBrains Mono"/>
              </a:rPr>
              <a:t>,</a:t>
            </a:r>
            <a:br>
              <a:rPr lang="en-US" sz="1400" dirty="0">
                <a:solidFill>
                  <a:srgbClr val="CC7832"/>
                </a:solidFill>
                <a:effectLst/>
                <a:latin typeface="JetBrains Mono"/>
              </a:rPr>
            </a:br>
            <a:r>
              <a:rPr lang="en-US" sz="1400" dirty="0">
                <a:solidFill>
                  <a:srgbClr val="CC7832"/>
                </a:solidFill>
                <a:effectLst/>
                <a:latin typeface="JetBrains Mono"/>
              </a:rPr>
              <a:t>    </a:t>
            </a:r>
            <a:r>
              <a:rPr lang="en-US" sz="1400" i="1" dirty="0">
                <a:solidFill>
                  <a:srgbClr val="9876AA"/>
                </a:solidFill>
                <a:effectLst/>
                <a:latin typeface="JetBrains Mono"/>
              </a:rPr>
              <a:t>SPRING</a:t>
            </a:r>
            <a:br>
              <a:rPr lang="en-US" sz="1400" i="1" dirty="0">
                <a:solidFill>
                  <a:srgbClr val="9876AA"/>
                </a:solidFill>
                <a:effectLst/>
                <a:latin typeface="JetBrains Mono"/>
              </a:rPr>
            </a:br>
            <a:r>
              <a:rPr lang="en-US" sz="1400" dirty="0">
                <a:solidFill>
                  <a:srgbClr val="A9B7C6"/>
                </a:solidFill>
                <a:effectLst/>
                <a:latin typeface="JetBrains Mono"/>
              </a:rPr>
              <a:t>}</a:t>
            </a:r>
          </a:p>
          <a:p>
            <a:r>
              <a:rPr lang="en-US" sz="1600" dirty="0"/>
              <a:t>Example with values</a:t>
            </a:r>
            <a:endParaRPr lang="en-US" sz="1600" b="1" dirty="0">
              <a:solidFill>
                <a:schemeClr val="bg1">
                  <a:lumMod val="50000"/>
                </a:schemeClr>
              </a:solidFill>
              <a:latin typeface="Courier New" panose="02070309020205020404" pitchFamily="49" charset="0"/>
              <a:cs typeface="Courier New" panose="02070309020205020404" pitchFamily="49" charset="0"/>
            </a:endParaRPr>
          </a:p>
          <a:p>
            <a:r>
              <a:rPr lang="en-US" sz="1400" dirty="0">
                <a:solidFill>
                  <a:srgbClr val="CC7832"/>
                </a:solidFill>
                <a:effectLst/>
                <a:latin typeface="JetBrains Mono"/>
              </a:rPr>
              <a:t>public enum </a:t>
            </a:r>
            <a:r>
              <a:rPr lang="en-US" sz="1400" dirty="0">
                <a:solidFill>
                  <a:srgbClr val="A9B7C6"/>
                </a:solidFill>
                <a:effectLst/>
                <a:latin typeface="JetBrains Mono"/>
              </a:rPr>
              <a:t>Term {</a:t>
            </a:r>
            <a:br>
              <a:rPr lang="en-US" sz="1400" dirty="0">
                <a:solidFill>
                  <a:srgbClr val="A9B7C6"/>
                </a:solidFill>
                <a:effectLst/>
                <a:latin typeface="JetBrains Mono"/>
              </a:rPr>
            </a:br>
            <a:r>
              <a:rPr lang="en-US" sz="1400" dirty="0">
                <a:solidFill>
                  <a:srgbClr val="A9B7C6"/>
                </a:solidFill>
                <a:effectLst/>
                <a:latin typeface="JetBrains Mono"/>
              </a:rPr>
              <a:t>    </a:t>
            </a:r>
            <a:r>
              <a:rPr lang="en-US" sz="1400" i="1" dirty="0">
                <a:solidFill>
                  <a:srgbClr val="9876AA"/>
                </a:solidFill>
                <a:effectLst/>
                <a:latin typeface="JetBrains Mono"/>
              </a:rPr>
              <a:t>FALL</a:t>
            </a:r>
            <a:r>
              <a:rPr lang="en-US" sz="1400" dirty="0">
                <a:solidFill>
                  <a:srgbClr val="A9B7C6"/>
                </a:solidFill>
                <a:effectLst/>
                <a:latin typeface="JetBrains Mono"/>
              </a:rPr>
              <a:t>(</a:t>
            </a:r>
            <a:r>
              <a:rPr lang="en-US" sz="1400" dirty="0">
                <a:solidFill>
                  <a:srgbClr val="6897BB"/>
                </a:solidFill>
                <a:effectLst/>
                <a:latin typeface="JetBrains Mono"/>
              </a:rPr>
              <a:t>1</a:t>
            </a:r>
            <a:r>
              <a:rPr lang="en-US" sz="1400" dirty="0">
                <a:solidFill>
                  <a:srgbClr val="A9B7C6"/>
                </a:solidFill>
                <a:effectLst/>
                <a:latin typeface="JetBrains Mono"/>
              </a:rPr>
              <a:t>)</a:t>
            </a:r>
            <a:r>
              <a:rPr lang="en-US" sz="1400" dirty="0">
                <a:solidFill>
                  <a:srgbClr val="CC7832"/>
                </a:solidFill>
                <a:effectLst/>
                <a:latin typeface="JetBrains Mono"/>
              </a:rPr>
              <a:t>,</a:t>
            </a:r>
            <a:br>
              <a:rPr lang="en-US" sz="1400" dirty="0">
                <a:solidFill>
                  <a:srgbClr val="CC7832"/>
                </a:solidFill>
                <a:effectLst/>
                <a:latin typeface="JetBrains Mono"/>
              </a:rPr>
            </a:br>
            <a:r>
              <a:rPr lang="en-US" sz="1400" dirty="0">
                <a:solidFill>
                  <a:srgbClr val="CC7832"/>
                </a:solidFill>
                <a:effectLst/>
                <a:latin typeface="JetBrains Mono"/>
              </a:rPr>
              <a:t>    </a:t>
            </a:r>
            <a:r>
              <a:rPr lang="en-US" sz="1400" i="1" dirty="0">
                <a:solidFill>
                  <a:srgbClr val="9876AA"/>
                </a:solidFill>
                <a:effectLst/>
                <a:latin typeface="JetBrains Mono"/>
              </a:rPr>
              <a:t>WINTER</a:t>
            </a:r>
            <a:r>
              <a:rPr lang="en-US" sz="1400" dirty="0">
                <a:solidFill>
                  <a:srgbClr val="A9B7C6"/>
                </a:solidFill>
                <a:effectLst/>
                <a:latin typeface="JetBrains Mono"/>
              </a:rPr>
              <a:t>(</a:t>
            </a:r>
            <a:r>
              <a:rPr lang="en-US" sz="1400" dirty="0">
                <a:solidFill>
                  <a:srgbClr val="6897BB"/>
                </a:solidFill>
                <a:effectLst/>
                <a:latin typeface="JetBrains Mono"/>
              </a:rPr>
              <a:t>2</a:t>
            </a:r>
            <a:r>
              <a:rPr lang="en-US" sz="1400" dirty="0">
                <a:solidFill>
                  <a:srgbClr val="A9B7C6"/>
                </a:solidFill>
                <a:effectLst/>
                <a:latin typeface="JetBrains Mono"/>
              </a:rPr>
              <a:t>)</a:t>
            </a:r>
            <a:r>
              <a:rPr lang="en-US" sz="1400" dirty="0">
                <a:solidFill>
                  <a:srgbClr val="CC7832"/>
                </a:solidFill>
                <a:effectLst/>
                <a:latin typeface="JetBrains Mono"/>
              </a:rPr>
              <a:t>,</a:t>
            </a:r>
            <a:br>
              <a:rPr lang="en-US" sz="1400" dirty="0">
                <a:solidFill>
                  <a:srgbClr val="CC7832"/>
                </a:solidFill>
                <a:effectLst/>
                <a:latin typeface="JetBrains Mono"/>
              </a:rPr>
            </a:br>
            <a:r>
              <a:rPr lang="en-US" sz="1400" dirty="0">
                <a:solidFill>
                  <a:srgbClr val="CC7832"/>
                </a:solidFill>
                <a:effectLst/>
                <a:latin typeface="JetBrains Mono"/>
              </a:rPr>
              <a:t>    </a:t>
            </a:r>
            <a:r>
              <a:rPr lang="en-US" sz="1400" i="1" dirty="0">
                <a:solidFill>
                  <a:srgbClr val="9876AA"/>
                </a:solidFill>
                <a:effectLst/>
                <a:latin typeface="JetBrains Mono"/>
              </a:rPr>
              <a:t>SPRING</a:t>
            </a:r>
            <a:r>
              <a:rPr lang="en-US" sz="1400" dirty="0">
                <a:solidFill>
                  <a:srgbClr val="A9B7C6"/>
                </a:solidFill>
                <a:effectLst/>
                <a:latin typeface="JetBrains Mono"/>
              </a:rPr>
              <a:t>(</a:t>
            </a:r>
            <a:r>
              <a:rPr lang="en-US" sz="1400" dirty="0">
                <a:solidFill>
                  <a:srgbClr val="6897BB"/>
                </a:solidFill>
                <a:effectLst/>
                <a:latin typeface="JetBrains Mono"/>
              </a:rPr>
              <a:t>3</a:t>
            </a:r>
            <a:r>
              <a:rPr lang="en-US" sz="1400" dirty="0">
                <a:solidFill>
                  <a:srgbClr val="A9B7C6"/>
                </a:solidFill>
                <a:effectLst/>
                <a:latin typeface="JetBrains Mono"/>
              </a:rPr>
              <a:t>)</a:t>
            </a:r>
            <a:r>
              <a:rPr lang="en-US" sz="1400" dirty="0">
                <a:solidFill>
                  <a:srgbClr val="CC7832"/>
                </a:solidFill>
                <a:effectLst/>
                <a:latin typeface="JetBrains Mono"/>
              </a:rPr>
              <a:t>;</a:t>
            </a:r>
            <a:br>
              <a:rPr lang="en-US" sz="1400" dirty="0">
                <a:solidFill>
                  <a:srgbClr val="CC7832"/>
                </a:solidFill>
                <a:effectLst/>
                <a:latin typeface="JetBrains Mono"/>
              </a:rPr>
            </a:br>
            <a:br>
              <a:rPr lang="en-US" sz="1400" dirty="0">
                <a:solidFill>
                  <a:srgbClr val="CC7832"/>
                </a:solidFill>
                <a:effectLst/>
                <a:latin typeface="JetBrains Mono"/>
              </a:rPr>
            </a:br>
            <a:r>
              <a:rPr lang="en-US" sz="1400" dirty="0">
                <a:solidFill>
                  <a:srgbClr val="CC7832"/>
                </a:solidFill>
                <a:effectLst/>
                <a:latin typeface="JetBrains Mono"/>
              </a:rPr>
              <a:t>    private final int </a:t>
            </a:r>
            <a:r>
              <a:rPr lang="en-US" sz="1400" dirty="0">
                <a:solidFill>
                  <a:srgbClr val="9876AA"/>
                </a:solidFill>
                <a:effectLst/>
                <a:latin typeface="JetBrains Mono"/>
              </a:rPr>
              <a:t>number</a:t>
            </a:r>
            <a:r>
              <a:rPr lang="en-US" sz="1400" dirty="0">
                <a:solidFill>
                  <a:srgbClr val="CC7832"/>
                </a:solidFill>
                <a:effectLst/>
                <a:latin typeface="JetBrains Mono"/>
              </a:rPr>
              <a:t>;</a:t>
            </a:r>
            <a:br>
              <a:rPr lang="en-US" sz="1400" dirty="0">
                <a:solidFill>
                  <a:srgbClr val="CC7832"/>
                </a:solidFill>
                <a:effectLst/>
                <a:latin typeface="JetBrains Mono"/>
              </a:rPr>
            </a:br>
            <a:r>
              <a:rPr lang="en-US" sz="1400" dirty="0">
                <a:solidFill>
                  <a:srgbClr val="CC7832"/>
                </a:solidFill>
                <a:effectLst/>
                <a:latin typeface="JetBrains Mono"/>
              </a:rPr>
              <a:t>    public int </a:t>
            </a:r>
            <a:r>
              <a:rPr lang="en-US" sz="1400" dirty="0">
                <a:solidFill>
                  <a:srgbClr val="FFC66D"/>
                </a:solidFill>
                <a:effectLst/>
                <a:latin typeface="JetBrains Mono"/>
              </a:rPr>
              <a:t>getNumber</a:t>
            </a:r>
            <a:r>
              <a:rPr lang="en-US" sz="1400" dirty="0">
                <a:solidFill>
                  <a:srgbClr val="A9B7C6"/>
                </a:solidFill>
                <a:effectLst/>
                <a:latin typeface="JetBrains Mono"/>
              </a:rPr>
              <a:t>(){</a:t>
            </a:r>
            <a:br>
              <a:rPr lang="en-US" sz="1400" dirty="0">
                <a:solidFill>
                  <a:srgbClr val="A9B7C6"/>
                </a:solidFill>
                <a:effectLst/>
                <a:latin typeface="JetBrains Mono"/>
              </a:rPr>
            </a:br>
            <a:r>
              <a:rPr lang="en-US" sz="1400" dirty="0">
                <a:solidFill>
                  <a:srgbClr val="A9B7C6"/>
                </a:solidFill>
                <a:effectLst/>
                <a:latin typeface="JetBrains Mono"/>
              </a:rPr>
              <a:t>        </a:t>
            </a:r>
            <a:r>
              <a:rPr lang="en-US" sz="1400" dirty="0">
                <a:solidFill>
                  <a:srgbClr val="CC7832"/>
                </a:solidFill>
                <a:effectLst/>
                <a:latin typeface="JetBrains Mono"/>
              </a:rPr>
              <a:t>return </a:t>
            </a:r>
            <a:r>
              <a:rPr lang="en-US" sz="1400" dirty="0">
                <a:solidFill>
                  <a:srgbClr val="9876AA"/>
                </a:solidFill>
                <a:effectLst/>
                <a:latin typeface="JetBrains Mono"/>
              </a:rPr>
              <a:t>number</a:t>
            </a:r>
            <a:r>
              <a:rPr lang="en-US" sz="1400" dirty="0">
                <a:solidFill>
                  <a:srgbClr val="CC7832"/>
                </a:solidFill>
                <a:effectLst/>
                <a:latin typeface="JetBrains Mono"/>
              </a:rPr>
              <a:t>;</a:t>
            </a:r>
            <a:br>
              <a:rPr lang="en-US" sz="1400" dirty="0">
                <a:solidFill>
                  <a:srgbClr val="CC7832"/>
                </a:solidFill>
                <a:effectLst/>
                <a:latin typeface="JetBrains Mono"/>
              </a:rPr>
            </a:br>
            <a:r>
              <a:rPr lang="en-US" sz="1400" dirty="0">
                <a:solidFill>
                  <a:srgbClr val="CC7832"/>
                </a:solidFill>
                <a:effectLst/>
                <a:latin typeface="JetBrains Mono"/>
              </a:rPr>
              <a:t>    </a:t>
            </a:r>
            <a:r>
              <a:rPr lang="en-US" sz="1400" dirty="0">
                <a:solidFill>
                  <a:srgbClr val="A9B7C6"/>
                </a:solidFill>
                <a:effectLst/>
                <a:latin typeface="JetBrains Mono"/>
              </a:rPr>
              <a:t>}</a:t>
            </a:r>
            <a:br>
              <a:rPr lang="en-US" sz="1400" dirty="0">
                <a:solidFill>
                  <a:srgbClr val="A9B7C6"/>
                </a:solidFill>
                <a:effectLst/>
                <a:latin typeface="JetBrains Mono"/>
              </a:rPr>
            </a:br>
            <a:br>
              <a:rPr lang="en-US" sz="1400" dirty="0">
                <a:solidFill>
                  <a:srgbClr val="A9B7C6"/>
                </a:solidFill>
                <a:effectLst/>
                <a:latin typeface="JetBrains Mono"/>
              </a:rPr>
            </a:br>
            <a:r>
              <a:rPr lang="en-US" sz="1400" dirty="0">
                <a:solidFill>
                  <a:srgbClr val="A9B7C6"/>
                </a:solidFill>
                <a:effectLst/>
                <a:latin typeface="JetBrains Mono"/>
              </a:rPr>
              <a:t>    </a:t>
            </a:r>
            <a:r>
              <a:rPr lang="en-US" sz="1400" dirty="0">
                <a:solidFill>
                  <a:srgbClr val="CC7832"/>
                </a:solidFill>
                <a:effectLst/>
                <a:latin typeface="JetBrains Mono"/>
              </a:rPr>
              <a:t>private </a:t>
            </a:r>
            <a:r>
              <a:rPr lang="en-US" sz="1400" dirty="0">
                <a:solidFill>
                  <a:srgbClr val="FFC66D"/>
                </a:solidFill>
                <a:effectLst/>
                <a:latin typeface="JetBrains Mono"/>
              </a:rPr>
              <a:t>Term</a:t>
            </a:r>
            <a:r>
              <a:rPr lang="en-US" sz="1400" dirty="0">
                <a:solidFill>
                  <a:srgbClr val="A9B7C6"/>
                </a:solidFill>
                <a:effectLst/>
                <a:latin typeface="JetBrains Mono"/>
              </a:rPr>
              <a:t>(</a:t>
            </a:r>
            <a:r>
              <a:rPr lang="en-US" sz="1400" dirty="0">
                <a:solidFill>
                  <a:srgbClr val="CC7832"/>
                </a:solidFill>
                <a:effectLst/>
                <a:latin typeface="JetBrains Mono"/>
              </a:rPr>
              <a:t>int </a:t>
            </a:r>
            <a:r>
              <a:rPr lang="en-US" sz="1400" dirty="0">
                <a:solidFill>
                  <a:srgbClr val="A9B7C6"/>
                </a:solidFill>
                <a:effectLst/>
                <a:latin typeface="JetBrains Mono"/>
              </a:rPr>
              <a:t>number) {</a:t>
            </a:r>
            <a:br>
              <a:rPr lang="en-US" sz="1400" dirty="0">
                <a:solidFill>
                  <a:srgbClr val="A9B7C6"/>
                </a:solidFill>
                <a:effectLst/>
                <a:latin typeface="JetBrains Mono"/>
              </a:rPr>
            </a:br>
            <a:r>
              <a:rPr lang="en-US" sz="1400" dirty="0">
                <a:solidFill>
                  <a:srgbClr val="A9B7C6"/>
                </a:solidFill>
                <a:effectLst/>
                <a:latin typeface="JetBrains Mono"/>
              </a:rPr>
              <a:t>        </a:t>
            </a:r>
            <a:r>
              <a:rPr lang="en-US" sz="1400" dirty="0">
                <a:solidFill>
                  <a:srgbClr val="CC7832"/>
                </a:solidFill>
                <a:effectLst/>
                <a:latin typeface="JetBrains Mono"/>
              </a:rPr>
              <a:t>this</a:t>
            </a:r>
            <a:r>
              <a:rPr lang="en-US" sz="1400" dirty="0">
                <a:solidFill>
                  <a:srgbClr val="A9B7C6"/>
                </a:solidFill>
                <a:effectLst/>
                <a:latin typeface="JetBrains Mono"/>
              </a:rPr>
              <a:t>.</a:t>
            </a:r>
            <a:r>
              <a:rPr lang="en-US" sz="1400" dirty="0">
                <a:solidFill>
                  <a:srgbClr val="9876AA"/>
                </a:solidFill>
                <a:effectLst/>
                <a:latin typeface="JetBrains Mono"/>
              </a:rPr>
              <a:t>number </a:t>
            </a:r>
            <a:r>
              <a:rPr lang="en-US" sz="1400" dirty="0">
                <a:solidFill>
                  <a:srgbClr val="A9B7C6"/>
                </a:solidFill>
                <a:effectLst/>
                <a:latin typeface="JetBrains Mono"/>
              </a:rPr>
              <a:t>= number</a:t>
            </a:r>
            <a:r>
              <a:rPr lang="en-US" sz="1400" dirty="0">
                <a:solidFill>
                  <a:srgbClr val="CC7832"/>
                </a:solidFill>
                <a:effectLst/>
                <a:latin typeface="JetBrains Mono"/>
              </a:rPr>
              <a:t>;</a:t>
            </a:r>
            <a:br>
              <a:rPr lang="en-US" sz="1400" dirty="0">
                <a:solidFill>
                  <a:srgbClr val="CC7832"/>
                </a:solidFill>
                <a:effectLst/>
                <a:latin typeface="JetBrains Mono"/>
              </a:rPr>
            </a:br>
            <a:r>
              <a:rPr lang="en-US" sz="1400" dirty="0">
                <a:solidFill>
                  <a:srgbClr val="CC7832"/>
                </a:solidFill>
                <a:effectLst/>
                <a:latin typeface="JetBrains Mono"/>
              </a:rPr>
              <a:t>    </a:t>
            </a:r>
            <a:r>
              <a:rPr lang="en-US" sz="1400" dirty="0">
                <a:solidFill>
                  <a:srgbClr val="A9B7C6"/>
                </a:solidFill>
                <a:effectLst/>
                <a:latin typeface="JetBrains Mono"/>
              </a:rPr>
              <a:t>}</a:t>
            </a:r>
            <a:br>
              <a:rPr lang="en-US" sz="1400" dirty="0">
                <a:solidFill>
                  <a:srgbClr val="A9B7C6"/>
                </a:solidFill>
                <a:effectLst/>
                <a:latin typeface="JetBrains Mono"/>
              </a:rPr>
            </a:br>
            <a:r>
              <a:rPr lang="en-US" sz="1400" dirty="0">
                <a:solidFill>
                  <a:srgbClr val="A9B7C6"/>
                </a:solidFill>
                <a:effectLst/>
                <a:latin typeface="JetBrains Mono"/>
              </a:rPr>
              <a:t>}</a:t>
            </a:r>
          </a:p>
          <a:p>
            <a:pPr marL="201168" lvl="1" indent="0">
              <a:buNone/>
            </a:pPr>
            <a:endParaRPr lang="en-US" dirty="0"/>
          </a:p>
        </p:txBody>
      </p:sp>
    </p:spTree>
    <p:extLst>
      <p:ext uri="{BB962C8B-B14F-4D97-AF65-F5344CB8AC3E}">
        <p14:creationId xmlns:p14="http://schemas.microsoft.com/office/powerpoint/2010/main" val="6009556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67325C64-1A03-4E18-BED0-7EB85DD90A3D}"/>
              </a:ext>
            </a:extLst>
          </p:cNvPr>
          <p:cNvSpPr txBox="1">
            <a:spLocks/>
          </p:cNvSpPr>
          <p:nvPr/>
        </p:nvSpPr>
        <p:spPr>
          <a:xfrm>
            <a:off x="425380" y="-725488"/>
            <a:ext cx="10058400" cy="1450975"/>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2800" dirty="0"/>
              <a:t>Working Enumerations</a:t>
            </a:r>
          </a:p>
        </p:txBody>
      </p:sp>
      <p:cxnSp>
        <p:nvCxnSpPr>
          <p:cNvPr id="14" name="Straight Connector 13">
            <a:extLst>
              <a:ext uri="{FF2B5EF4-FFF2-40B4-BE49-F238E27FC236}">
                <a16:creationId xmlns:a16="http://schemas.microsoft.com/office/drawing/2014/main" id="{65665DCD-1CDB-4105-A736-5C3693E5BC1B}"/>
              </a:ext>
            </a:extLst>
          </p:cNvPr>
          <p:cNvCxnSpPr/>
          <p:nvPr/>
        </p:nvCxnSpPr>
        <p:spPr>
          <a:xfrm>
            <a:off x="425380" y="725487"/>
            <a:ext cx="11471868" cy="0"/>
          </a:xfrm>
          <a:prstGeom prst="line">
            <a:avLst/>
          </a:prstGeom>
        </p:spPr>
        <p:style>
          <a:lnRef idx="1">
            <a:schemeClr val="dk1"/>
          </a:lnRef>
          <a:fillRef idx="0">
            <a:schemeClr val="dk1"/>
          </a:fillRef>
          <a:effectRef idx="0">
            <a:schemeClr val="dk1"/>
          </a:effectRef>
          <a:fontRef idx="minor">
            <a:schemeClr val="tx1"/>
          </a:fontRef>
        </p:style>
      </p:cxnSp>
      <p:sp>
        <p:nvSpPr>
          <p:cNvPr id="16" name="Content Placeholder 2">
            <a:extLst>
              <a:ext uri="{FF2B5EF4-FFF2-40B4-BE49-F238E27FC236}">
                <a16:creationId xmlns:a16="http://schemas.microsoft.com/office/drawing/2014/main" id="{39E2A5D8-8548-4196-8326-937623578465}"/>
              </a:ext>
            </a:extLst>
          </p:cNvPr>
          <p:cNvSpPr txBox="1">
            <a:spLocks/>
          </p:cNvSpPr>
          <p:nvPr/>
        </p:nvSpPr>
        <p:spPr>
          <a:xfrm>
            <a:off x="425379" y="1001656"/>
            <a:ext cx="10192579" cy="5165679"/>
          </a:xfrm>
          <a:prstGeom prst="rect">
            <a:avLst/>
          </a:prstGeom>
        </p:spPr>
        <p:txBody>
          <a:bodyPr>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201168" lvl="1" indent="0">
              <a:buNone/>
            </a:pPr>
            <a:r>
              <a:rPr lang="en-US" sz="3200" dirty="0"/>
              <a:t>Constructors in Enums?</a:t>
            </a:r>
          </a:p>
          <a:p>
            <a:pPr marL="201168" lvl="1" indent="0">
              <a:buNone/>
            </a:pPr>
            <a:endParaRPr lang="en-US" sz="2400" dirty="0"/>
          </a:p>
          <a:p>
            <a:pPr marL="201168" lvl="1" indent="0">
              <a:buNone/>
            </a:pPr>
            <a:r>
              <a:rPr lang="en-US" sz="2400" dirty="0"/>
              <a:t>We do have constructors in Enums, but they aren’t quite the same as the constructor in an object.</a:t>
            </a:r>
          </a:p>
          <a:p>
            <a:pPr marL="201168" lvl="1" indent="0">
              <a:buNone/>
            </a:pPr>
            <a:endParaRPr lang="en-US" sz="2400" dirty="0"/>
          </a:p>
          <a:p>
            <a:pPr marL="201168" lvl="1" indent="0">
              <a:buNone/>
            </a:pPr>
            <a:r>
              <a:rPr lang="en-US" sz="2400" dirty="0"/>
              <a:t>The constructors in Enums are there so when you are defining your constants, you can also associate values to them. </a:t>
            </a:r>
          </a:p>
          <a:p>
            <a:pPr marL="201168" lvl="1" indent="0">
              <a:buNone/>
            </a:pPr>
            <a:endParaRPr lang="en-US" sz="2400" dirty="0"/>
          </a:p>
          <a:p>
            <a:pPr marL="201168" lvl="1" indent="0">
              <a:buNone/>
            </a:pPr>
            <a:r>
              <a:rPr lang="en-US" sz="3200" b="1" dirty="0"/>
              <a:t>You don’t use the “new” keyword when creating Enums.</a:t>
            </a:r>
          </a:p>
          <a:p>
            <a:pPr marL="201168" lvl="1" indent="0">
              <a:buNone/>
            </a:pPr>
            <a:endParaRPr lang="en-US" sz="2400" dirty="0"/>
          </a:p>
          <a:p>
            <a:pPr marL="201168" lvl="1" indent="0">
              <a:buNone/>
            </a:pPr>
            <a:r>
              <a:rPr lang="en-US" sz="2400" dirty="0"/>
              <a:t>Constructors are default but behave more like “private” in Enums, since you only use the constructors when defining which </a:t>
            </a:r>
            <a:r>
              <a:rPr lang="en-US" sz="2400" dirty="0" err="1"/>
              <a:t>enum</a:t>
            </a:r>
            <a:r>
              <a:rPr lang="en-US" sz="2400" dirty="0"/>
              <a:t> constant should have which values.</a:t>
            </a:r>
          </a:p>
        </p:txBody>
      </p:sp>
    </p:spTree>
    <p:extLst>
      <p:ext uri="{BB962C8B-B14F-4D97-AF65-F5344CB8AC3E}">
        <p14:creationId xmlns:p14="http://schemas.microsoft.com/office/powerpoint/2010/main" val="38817782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67325C64-1A03-4E18-BED0-7EB85DD90A3D}"/>
              </a:ext>
            </a:extLst>
          </p:cNvPr>
          <p:cNvSpPr txBox="1">
            <a:spLocks/>
          </p:cNvSpPr>
          <p:nvPr/>
        </p:nvSpPr>
        <p:spPr>
          <a:xfrm>
            <a:off x="425380" y="-725488"/>
            <a:ext cx="10058400" cy="1450975"/>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2800" dirty="0"/>
              <a:t>Working Enumerations</a:t>
            </a:r>
          </a:p>
        </p:txBody>
      </p:sp>
      <p:cxnSp>
        <p:nvCxnSpPr>
          <p:cNvPr id="14" name="Straight Connector 13">
            <a:extLst>
              <a:ext uri="{FF2B5EF4-FFF2-40B4-BE49-F238E27FC236}">
                <a16:creationId xmlns:a16="http://schemas.microsoft.com/office/drawing/2014/main" id="{65665DCD-1CDB-4105-A736-5C3693E5BC1B}"/>
              </a:ext>
            </a:extLst>
          </p:cNvPr>
          <p:cNvCxnSpPr/>
          <p:nvPr/>
        </p:nvCxnSpPr>
        <p:spPr>
          <a:xfrm>
            <a:off x="425380" y="725487"/>
            <a:ext cx="11471868" cy="0"/>
          </a:xfrm>
          <a:prstGeom prst="line">
            <a:avLst/>
          </a:prstGeom>
        </p:spPr>
        <p:style>
          <a:lnRef idx="1">
            <a:schemeClr val="dk1"/>
          </a:lnRef>
          <a:fillRef idx="0">
            <a:schemeClr val="dk1"/>
          </a:fillRef>
          <a:effectRef idx="0">
            <a:schemeClr val="dk1"/>
          </a:effectRef>
          <a:fontRef idx="minor">
            <a:schemeClr val="tx1"/>
          </a:fontRef>
        </p:style>
      </p:cxnSp>
      <p:sp>
        <p:nvSpPr>
          <p:cNvPr id="16" name="Content Placeholder 2">
            <a:extLst>
              <a:ext uri="{FF2B5EF4-FFF2-40B4-BE49-F238E27FC236}">
                <a16:creationId xmlns:a16="http://schemas.microsoft.com/office/drawing/2014/main" id="{39E2A5D8-8548-4196-8326-937623578465}"/>
              </a:ext>
            </a:extLst>
          </p:cNvPr>
          <p:cNvSpPr txBox="1">
            <a:spLocks/>
          </p:cNvSpPr>
          <p:nvPr/>
        </p:nvSpPr>
        <p:spPr>
          <a:xfrm>
            <a:off x="425379" y="1001656"/>
            <a:ext cx="11257539" cy="5165679"/>
          </a:xfrm>
          <a:prstGeom prst="rect">
            <a:avLst/>
          </a:prstGeom>
        </p:spPr>
        <p:txBody>
          <a:bodyPr>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a:buNone/>
            </a:pPr>
            <a:r>
              <a:rPr lang="en-US" dirty="0"/>
              <a:t>Creating a new variable and assigning a value is simple. Enums are like a class, but a special in that you don’t need the new keyword and you don’t pass values into the constructors when assigning a value.</a:t>
            </a:r>
          </a:p>
          <a:p>
            <a:r>
              <a:rPr lang="en-CA" sz="1800" dirty="0">
                <a:solidFill>
                  <a:srgbClr val="A9B7C6"/>
                </a:solidFill>
                <a:effectLst/>
                <a:latin typeface="JetBrains Mono"/>
              </a:rPr>
              <a:t>Term </a:t>
            </a:r>
            <a:r>
              <a:rPr lang="en-CA" sz="1800" dirty="0" err="1">
                <a:solidFill>
                  <a:srgbClr val="A9B7C6"/>
                </a:solidFill>
                <a:effectLst/>
                <a:latin typeface="JetBrains Mono"/>
              </a:rPr>
              <a:t>finalTerm</a:t>
            </a:r>
            <a:r>
              <a:rPr lang="en-CA" sz="1800" dirty="0">
                <a:solidFill>
                  <a:srgbClr val="A9B7C6"/>
                </a:solidFill>
                <a:effectLst/>
                <a:latin typeface="JetBrains Mono"/>
              </a:rPr>
              <a:t> = </a:t>
            </a:r>
            <a:r>
              <a:rPr lang="en-CA" sz="1800" dirty="0" err="1">
                <a:solidFill>
                  <a:srgbClr val="A9B7C6"/>
                </a:solidFill>
                <a:effectLst/>
                <a:latin typeface="JetBrains Mono"/>
              </a:rPr>
              <a:t>Term.</a:t>
            </a:r>
            <a:r>
              <a:rPr lang="en-CA" sz="1800" i="1" dirty="0" err="1">
                <a:solidFill>
                  <a:srgbClr val="9876AA"/>
                </a:solidFill>
                <a:effectLst/>
                <a:latin typeface="JetBrains Mono"/>
              </a:rPr>
              <a:t>SPRING</a:t>
            </a:r>
            <a:r>
              <a:rPr lang="en-CA" sz="1800" dirty="0">
                <a:solidFill>
                  <a:srgbClr val="CC7832"/>
                </a:solidFill>
                <a:effectLst/>
                <a:latin typeface="JetBrains Mono"/>
              </a:rPr>
              <a:t>;</a:t>
            </a:r>
            <a:endParaRPr lang="en-CA" sz="1800" dirty="0">
              <a:solidFill>
                <a:srgbClr val="A9B7C6"/>
              </a:solidFill>
              <a:effectLst/>
              <a:latin typeface="JetBrains Mono"/>
            </a:endParaRPr>
          </a:p>
          <a:p>
            <a:r>
              <a:rPr lang="en-US" dirty="0"/>
              <a:t>Accessing values from Enums</a:t>
            </a:r>
            <a:endParaRPr lang="en-US" b="1" dirty="0">
              <a:solidFill>
                <a:schemeClr val="bg1">
                  <a:lumMod val="50000"/>
                </a:schemeClr>
              </a:solidFill>
              <a:latin typeface="Courier New" panose="02070309020205020404" pitchFamily="49" charset="0"/>
              <a:cs typeface="Courier New" panose="02070309020205020404" pitchFamily="49" charset="0"/>
            </a:endParaRPr>
          </a:p>
          <a:p>
            <a:r>
              <a:rPr lang="en-CA" sz="1800" dirty="0">
                <a:solidFill>
                  <a:srgbClr val="CC7832"/>
                </a:solidFill>
                <a:effectLst/>
                <a:latin typeface="JetBrains Mono"/>
              </a:rPr>
              <a:t>int </a:t>
            </a:r>
            <a:r>
              <a:rPr lang="en-CA" sz="1800" dirty="0">
                <a:solidFill>
                  <a:srgbClr val="A9B7C6"/>
                </a:solidFill>
                <a:effectLst/>
                <a:latin typeface="JetBrains Mono"/>
              </a:rPr>
              <a:t>number = </a:t>
            </a:r>
            <a:r>
              <a:rPr lang="en-CA" sz="1800" dirty="0" err="1">
                <a:solidFill>
                  <a:srgbClr val="A9B7C6"/>
                </a:solidFill>
                <a:effectLst/>
                <a:latin typeface="JetBrains Mono"/>
              </a:rPr>
              <a:t>myTerm.getNumber</a:t>
            </a:r>
            <a:r>
              <a:rPr lang="en-CA" sz="1800" dirty="0">
                <a:solidFill>
                  <a:srgbClr val="A9B7C6"/>
                </a:solidFill>
                <a:effectLst/>
                <a:latin typeface="JetBrains Mono"/>
              </a:rPr>
              <a:t>()</a:t>
            </a:r>
            <a:r>
              <a:rPr lang="en-CA" sz="1800" dirty="0">
                <a:solidFill>
                  <a:srgbClr val="CC7832"/>
                </a:solidFill>
                <a:effectLst/>
                <a:latin typeface="JetBrains Mono"/>
              </a:rPr>
              <a:t>;</a:t>
            </a:r>
            <a:endParaRPr lang="en-US" sz="1800" dirty="0">
              <a:solidFill>
                <a:srgbClr val="CC7832"/>
              </a:solidFill>
              <a:effectLst/>
              <a:latin typeface="JetBrains Mono"/>
            </a:endParaRPr>
          </a:p>
          <a:p>
            <a:r>
              <a:rPr lang="en-US" dirty="0"/>
              <a:t>It can seem confusing at first, but once you realize you are just defining the methods in an enum, that can access the values set by their private constructors, it doesn’t seem so bad</a:t>
            </a:r>
            <a:endParaRPr lang="en-US" b="1" dirty="0">
              <a:solidFill>
                <a:schemeClr val="bg1">
                  <a:lumMod val="50000"/>
                </a:schemeClr>
              </a:solidFill>
              <a:latin typeface="Courier New" panose="02070309020205020404" pitchFamily="49" charset="0"/>
              <a:cs typeface="Courier New" panose="02070309020205020404" pitchFamily="49" charset="0"/>
            </a:endParaRPr>
          </a:p>
          <a:p>
            <a:r>
              <a:rPr lang="en-US" dirty="0"/>
              <a:t>Just think of Enums as specialized classes that hold multiple constants, and those constants can have their own values</a:t>
            </a:r>
            <a:r>
              <a:rPr lang="en-US" sz="1800" dirty="0"/>
              <a:t>.</a:t>
            </a:r>
            <a:endParaRPr lang="en-US" sz="1800" b="1" dirty="0">
              <a:solidFill>
                <a:schemeClr val="bg1">
                  <a:lumMod val="50000"/>
                </a:schemeClr>
              </a:solidFill>
              <a:latin typeface="Courier New" panose="02070309020205020404" pitchFamily="49" charset="0"/>
              <a:cs typeface="Courier New" panose="02070309020205020404" pitchFamily="49" charset="0"/>
            </a:endParaRPr>
          </a:p>
          <a:p>
            <a:endParaRPr lang="en-CA" sz="1800" dirty="0">
              <a:solidFill>
                <a:srgbClr val="A9B7C6"/>
              </a:solidFill>
              <a:effectLst/>
              <a:latin typeface="JetBrains Mono"/>
            </a:endParaRPr>
          </a:p>
        </p:txBody>
      </p:sp>
    </p:spTree>
    <p:extLst>
      <p:ext uri="{BB962C8B-B14F-4D97-AF65-F5344CB8AC3E}">
        <p14:creationId xmlns:p14="http://schemas.microsoft.com/office/powerpoint/2010/main" val="29713460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67325C64-1A03-4E18-BED0-7EB85DD90A3D}"/>
              </a:ext>
            </a:extLst>
          </p:cNvPr>
          <p:cNvSpPr txBox="1">
            <a:spLocks/>
          </p:cNvSpPr>
          <p:nvPr/>
        </p:nvSpPr>
        <p:spPr>
          <a:xfrm>
            <a:off x="425380" y="-725488"/>
            <a:ext cx="10058400" cy="1450975"/>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2800" dirty="0"/>
              <a:t>Working Enumerations : How to use them.</a:t>
            </a:r>
          </a:p>
        </p:txBody>
      </p:sp>
      <p:cxnSp>
        <p:nvCxnSpPr>
          <p:cNvPr id="14" name="Straight Connector 13">
            <a:extLst>
              <a:ext uri="{FF2B5EF4-FFF2-40B4-BE49-F238E27FC236}">
                <a16:creationId xmlns:a16="http://schemas.microsoft.com/office/drawing/2014/main" id="{65665DCD-1CDB-4105-A736-5C3693E5BC1B}"/>
              </a:ext>
            </a:extLst>
          </p:cNvPr>
          <p:cNvCxnSpPr/>
          <p:nvPr/>
        </p:nvCxnSpPr>
        <p:spPr>
          <a:xfrm>
            <a:off x="425380" y="725487"/>
            <a:ext cx="11471868" cy="0"/>
          </a:xfrm>
          <a:prstGeom prst="line">
            <a:avLst/>
          </a:prstGeom>
        </p:spPr>
        <p:style>
          <a:lnRef idx="1">
            <a:schemeClr val="dk1"/>
          </a:lnRef>
          <a:fillRef idx="0">
            <a:schemeClr val="dk1"/>
          </a:fillRef>
          <a:effectRef idx="0">
            <a:schemeClr val="dk1"/>
          </a:effectRef>
          <a:fontRef idx="minor">
            <a:schemeClr val="tx1"/>
          </a:fontRef>
        </p:style>
      </p:cxnSp>
      <p:sp>
        <p:nvSpPr>
          <p:cNvPr id="16" name="Content Placeholder 2">
            <a:extLst>
              <a:ext uri="{FF2B5EF4-FFF2-40B4-BE49-F238E27FC236}">
                <a16:creationId xmlns:a16="http://schemas.microsoft.com/office/drawing/2014/main" id="{39E2A5D8-8548-4196-8326-937623578465}"/>
              </a:ext>
            </a:extLst>
          </p:cNvPr>
          <p:cNvSpPr txBox="1">
            <a:spLocks/>
          </p:cNvSpPr>
          <p:nvPr/>
        </p:nvSpPr>
        <p:spPr>
          <a:xfrm>
            <a:off x="425379" y="1001656"/>
            <a:ext cx="11257539" cy="5165679"/>
          </a:xfrm>
          <a:prstGeom prst="rect">
            <a:avLst/>
          </a:prstGeom>
        </p:spPr>
        <p:txBody>
          <a:bodyPr>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201168" lvl="1" indent="0">
              <a:buNone/>
            </a:pPr>
            <a:r>
              <a:rPr lang="en-US" sz="2800" dirty="0"/>
              <a:t>Declaration</a:t>
            </a:r>
            <a:endParaRPr lang="en-US" sz="1600" b="1" dirty="0">
              <a:solidFill>
                <a:schemeClr val="bg1">
                  <a:lumMod val="50000"/>
                </a:schemeClr>
              </a:solidFill>
              <a:latin typeface="Courier New" panose="02070309020205020404" pitchFamily="49" charset="0"/>
              <a:cs typeface="Courier New" panose="02070309020205020404" pitchFamily="49" charset="0"/>
            </a:endParaRPr>
          </a:p>
          <a:p>
            <a:pPr marL="201168" lvl="1" indent="0">
              <a:buNone/>
            </a:pPr>
            <a:r>
              <a:rPr lang="en-US" sz="1600" b="1" dirty="0">
                <a:solidFill>
                  <a:schemeClr val="bg1">
                    <a:lumMod val="50000"/>
                  </a:schemeClr>
                </a:solidFill>
                <a:latin typeface="Courier New" panose="02070309020205020404" pitchFamily="49" charset="0"/>
                <a:cs typeface="Courier New" panose="02070309020205020404" pitchFamily="49" charset="0"/>
              </a:rPr>
              <a:t>Term </a:t>
            </a:r>
            <a:r>
              <a:rPr lang="en-US" sz="1600" b="1" dirty="0" err="1">
                <a:solidFill>
                  <a:schemeClr val="bg1">
                    <a:lumMod val="50000"/>
                  </a:schemeClr>
                </a:solidFill>
                <a:latin typeface="Courier New" panose="02070309020205020404" pitchFamily="49" charset="0"/>
                <a:cs typeface="Courier New" panose="02070309020205020404" pitchFamily="49" charset="0"/>
              </a:rPr>
              <a:t>finalTerm</a:t>
            </a:r>
            <a:r>
              <a:rPr lang="en-US" sz="1600" b="1" dirty="0">
                <a:solidFill>
                  <a:schemeClr val="bg1">
                    <a:lumMod val="50000"/>
                  </a:schemeClr>
                </a:solidFill>
                <a:latin typeface="Courier New" panose="02070309020205020404" pitchFamily="49" charset="0"/>
                <a:cs typeface="Courier New" panose="02070309020205020404" pitchFamily="49" charset="0"/>
              </a:rPr>
              <a:t> = </a:t>
            </a:r>
            <a:r>
              <a:rPr lang="en-US" sz="1600" b="1" dirty="0" err="1">
                <a:solidFill>
                  <a:schemeClr val="bg1">
                    <a:lumMod val="50000"/>
                  </a:schemeClr>
                </a:solidFill>
                <a:latin typeface="Courier New" panose="02070309020205020404" pitchFamily="49" charset="0"/>
                <a:cs typeface="Courier New" panose="02070309020205020404" pitchFamily="49" charset="0"/>
              </a:rPr>
              <a:t>Term.SPRING</a:t>
            </a:r>
            <a:r>
              <a:rPr lang="en-US" sz="1600" b="1" dirty="0">
                <a:solidFill>
                  <a:schemeClr val="bg1">
                    <a:lumMod val="50000"/>
                  </a:schemeClr>
                </a:solidFill>
                <a:latin typeface="Courier New" panose="02070309020205020404" pitchFamily="49" charset="0"/>
                <a:cs typeface="Courier New" panose="02070309020205020404" pitchFamily="49" charset="0"/>
              </a:rPr>
              <a:t>; </a:t>
            </a:r>
          </a:p>
          <a:p>
            <a:pPr marL="201168" lvl="1" indent="0">
              <a:buNone/>
            </a:pPr>
            <a:endParaRPr lang="en-US" sz="1600" b="1" dirty="0">
              <a:solidFill>
                <a:schemeClr val="bg1">
                  <a:lumMod val="50000"/>
                </a:schemeClr>
              </a:solidFill>
              <a:latin typeface="Courier New" panose="02070309020205020404" pitchFamily="49" charset="0"/>
              <a:cs typeface="Courier New" panose="02070309020205020404" pitchFamily="49" charset="0"/>
            </a:endParaRPr>
          </a:p>
          <a:p>
            <a:pPr marL="201168" lvl="1" indent="0">
              <a:buNone/>
            </a:pPr>
            <a:r>
              <a:rPr lang="en-US" sz="2800" dirty="0"/>
              <a:t>If statements</a:t>
            </a:r>
            <a:endParaRPr lang="en-US" sz="1600" b="1" dirty="0">
              <a:solidFill>
                <a:schemeClr val="bg1">
                  <a:lumMod val="50000"/>
                </a:schemeClr>
              </a:solidFill>
              <a:latin typeface="Courier New" panose="02070309020205020404" pitchFamily="49" charset="0"/>
              <a:cs typeface="Courier New" panose="02070309020205020404" pitchFamily="49" charset="0"/>
            </a:endParaRPr>
          </a:p>
          <a:p>
            <a:pPr marL="201168" lvl="1" indent="0">
              <a:buNone/>
            </a:pPr>
            <a:r>
              <a:rPr lang="en-US" sz="1600" b="1" dirty="0">
                <a:solidFill>
                  <a:schemeClr val="bg1">
                    <a:lumMod val="50000"/>
                  </a:schemeClr>
                </a:solidFill>
                <a:latin typeface="Courier New" panose="02070309020205020404" pitchFamily="49" charset="0"/>
                <a:cs typeface="Courier New" panose="02070309020205020404" pitchFamily="49" charset="0"/>
              </a:rPr>
              <a:t>if (</a:t>
            </a:r>
            <a:r>
              <a:rPr lang="en-US" sz="1600" b="1" dirty="0" err="1">
                <a:solidFill>
                  <a:schemeClr val="bg1">
                    <a:lumMod val="50000"/>
                  </a:schemeClr>
                </a:solidFill>
                <a:latin typeface="Courier New" panose="02070309020205020404" pitchFamily="49" charset="0"/>
                <a:cs typeface="Courier New" panose="02070309020205020404" pitchFamily="49" charset="0"/>
              </a:rPr>
              <a:t>myTerm</a:t>
            </a:r>
            <a:r>
              <a:rPr lang="en-US" sz="1600" b="1" dirty="0">
                <a:solidFill>
                  <a:schemeClr val="bg1">
                    <a:lumMod val="50000"/>
                  </a:schemeClr>
                </a:solidFill>
                <a:latin typeface="Courier New" panose="02070309020205020404" pitchFamily="49" charset="0"/>
                <a:cs typeface="Courier New" panose="02070309020205020404" pitchFamily="49" charset="0"/>
              </a:rPr>
              <a:t> ==  </a:t>
            </a:r>
            <a:r>
              <a:rPr lang="en-US" sz="1600" b="1" dirty="0" err="1">
                <a:solidFill>
                  <a:schemeClr val="bg1">
                    <a:lumMod val="50000"/>
                  </a:schemeClr>
                </a:solidFill>
                <a:latin typeface="Courier New" panose="02070309020205020404" pitchFamily="49" charset="0"/>
                <a:cs typeface="Courier New" panose="02070309020205020404" pitchFamily="49" charset="0"/>
              </a:rPr>
              <a:t>Term.SPRING</a:t>
            </a:r>
            <a:r>
              <a:rPr lang="en-US" sz="1600" b="1" dirty="0">
                <a:solidFill>
                  <a:schemeClr val="bg1">
                    <a:lumMod val="50000"/>
                  </a:schemeClr>
                </a:solidFill>
                <a:latin typeface="Courier New" panose="02070309020205020404" pitchFamily="49" charset="0"/>
                <a:cs typeface="Courier New" panose="02070309020205020404" pitchFamily="49" charset="0"/>
              </a:rPr>
              <a:t>) {</a:t>
            </a:r>
          </a:p>
          <a:p>
            <a:pPr marL="201168" lvl="1" indent="0">
              <a:buNone/>
            </a:pPr>
            <a:r>
              <a:rPr lang="en-US" sz="1600" b="1" dirty="0">
                <a:solidFill>
                  <a:schemeClr val="bg1">
                    <a:lumMod val="50000"/>
                  </a:schemeClr>
                </a:solidFill>
                <a:latin typeface="Courier New" panose="02070309020205020404" pitchFamily="49" charset="0"/>
                <a:cs typeface="Courier New" panose="02070309020205020404" pitchFamily="49" charset="0"/>
              </a:rPr>
              <a:t>…</a:t>
            </a:r>
          </a:p>
          <a:p>
            <a:pPr marL="201168" lvl="1" indent="0">
              <a:buNone/>
            </a:pPr>
            <a:r>
              <a:rPr lang="en-US" sz="1600" b="1" dirty="0">
                <a:solidFill>
                  <a:schemeClr val="bg1">
                    <a:lumMod val="50000"/>
                  </a:schemeClr>
                </a:solidFill>
                <a:latin typeface="Courier New" panose="02070309020205020404" pitchFamily="49" charset="0"/>
                <a:cs typeface="Courier New" panose="02070309020205020404" pitchFamily="49" charset="0"/>
              </a:rPr>
              <a:t>        </a:t>
            </a:r>
          </a:p>
          <a:p>
            <a:pPr marL="201168" lvl="1" indent="0">
              <a:buNone/>
            </a:pPr>
            <a:r>
              <a:rPr lang="en-US" sz="2800" dirty="0"/>
              <a:t>Switches</a:t>
            </a:r>
            <a:endParaRPr lang="en-US" sz="1600" b="1" dirty="0">
              <a:solidFill>
                <a:schemeClr val="bg1">
                  <a:lumMod val="50000"/>
                </a:schemeClr>
              </a:solidFill>
              <a:latin typeface="Courier New" panose="02070309020205020404" pitchFamily="49" charset="0"/>
              <a:cs typeface="Courier New" panose="02070309020205020404" pitchFamily="49" charset="0"/>
            </a:endParaRPr>
          </a:p>
          <a:p>
            <a:pPr marL="201168" lvl="1" indent="0">
              <a:buNone/>
            </a:pPr>
            <a:r>
              <a:rPr lang="en-US" sz="1600" b="1" dirty="0">
                <a:solidFill>
                  <a:schemeClr val="bg1">
                    <a:lumMod val="50000"/>
                  </a:schemeClr>
                </a:solidFill>
                <a:latin typeface="Courier New" panose="02070309020205020404" pitchFamily="49" charset="0"/>
                <a:cs typeface="Courier New" panose="02070309020205020404" pitchFamily="49" charset="0"/>
              </a:rPr>
              <a:t>switch (term) {</a:t>
            </a:r>
          </a:p>
          <a:p>
            <a:pPr marL="201168" lvl="1" indent="0">
              <a:buNone/>
            </a:pPr>
            <a:r>
              <a:rPr lang="en-US" sz="1600" b="1" dirty="0">
                <a:solidFill>
                  <a:schemeClr val="bg1">
                    <a:lumMod val="50000"/>
                  </a:schemeClr>
                </a:solidFill>
                <a:latin typeface="Courier New" panose="02070309020205020404" pitchFamily="49" charset="0"/>
                <a:cs typeface="Courier New" panose="02070309020205020404" pitchFamily="49" charset="0"/>
              </a:rPr>
              <a:t>        case FALL:</a:t>
            </a:r>
          </a:p>
          <a:p>
            <a:pPr marL="201168" lvl="1" indent="0">
              <a:buNone/>
            </a:pPr>
            <a:r>
              <a:rPr lang="en-US" sz="1600" b="1" dirty="0">
                <a:solidFill>
                  <a:schemeClr val="bg1">
                    <a:lumMod val="50000"/>
                  </a:schemeClr>
                </a:solidFill>
                <a:latin typeface="Courier New" panose="02070309020205020404" pitchFamily="49" charset="0"/>
                <a:cs typeface="Courier New" panose="02070309020205020404" pitchFamily="49" charset="0"/>
              </a:rPr>
              <a:t>            return 2;</a:t>
            </a:r>
          </a:p>
          <a:p>
            <a:pPr marL="201168" lvl="1" indent="0">
              <a:buNone/>
            </a:pPr>
            <a:r>
              <a:rPr lang="en-US" sz="1600" b="1" dirty="0">
                <a:solidFill>
                  <a:schemeClr val="bg1">
                    <a:lumMod val="50000"/>
                  </a:schemeClr>
                </a:solidFill>
                <a:latin typeface="Courier New" panose="02070309020205020404" pitchFamily="49" charset="0"/>
                <a:cs typeface="Courier New" panose="02070309020205020404" pitchFamily="49" charset="0"/>
              </a:rPr>
              <a:t>        case WINTER:</a:t>
            </a:r>
          </a:p>
          <a:p>
            <a:pPr marL="201168" lvl="1" indent="0">
              <a:buNone/>
            </a:pPr>
            <a:r>
              <a:rPr lang="en-US" sz="1600" b="1" dirty="0">
                <a:solidFill>
                  <a:schemeClr val="bg1">
                    <a:lumMod val="50000"/>
                  </a:schemeClr>
                </a:solidFill>
                <a:latin typeface="Courier New" panose="02070309020205020404" pitchFamily="49" charset="0"/>
                <a:cs typeface="Courier New" panose="02070309020205020404" pitchFamily="49" charset="0"/>
              </a:rPr>
              <a:t>            return 1;</a:t>
            </a:r>
          </a:p>
          <a:p>
            <a:pPr marL="201168" lvl="1" indent="0">
              <a:buNone/>
            </a:pPr>
            <a:r>
              <a:rPr lang="en-US" sz="1600" b="1" dirty="0">
                <a:solidFill>
                  <a:schemeClr val="bg1">
                    <a:lumMod val="50000"/>
                  </a:schemeClr>
                </a:solidFill>
                <a:latin typeface="Courier New" panose="02070309020205020404" pitchFamily="49" charset="0"/>
                <a:cs typeface="Courier New" panose="02070309020205020404" pitchFamily="49" charset="0"/>
              </a:rPr>
              <a:t>}</a:t>
            </a:r>
            <a:br>
              <a:rPr lang="en-US" sz="1600" b="1" dirty="0">
                <a:solidFill>
                  <a:schemeClr val="bg1">
                    <a:lumMod val="50000"/>
                  </a:schemeClr>
                </a:solidFill>
                <a:latin typeface="Courier New" panose="02070309020205020404" pitchFamily="49" charset="0"/>
                <a:cs typeface="Courier New" panose="02070309020205020404" pitchFamily="49" charset="0"/>
              </a:rPr>
            </a:br>
            <a:endParaRPr lang="en-US" sz="1600" b="1" dirty="0">
              <a:solidFill>
                <a:schemeClr val="bg1">
                  <a:lumMod val="50000"/>
                </a:schemeClr>
              </a:solidFill>
              <a:latin typeface="Courier New" panose="02070309020205020404" pitchFamily="49" charset="0"/>
              <a:cs typeface="Courier New" panose="02070309020205020404" pitchFamily="49" charset="0"/>
            </a:endParaRPr>
          </a:p>
          <a:p>
            <a:pPr marL="201168" lvl="1" indent="0">
              <a:buNone/>
            </a:pPr>
            <a:endParaRPr lang="en-US" sz="1600" b="1" dirty="0">
              <a:solidFill>
                <a:schemeClr val="bg1">
                  <a:lumMod val="50000"/>
                </a:schemeClr>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9857697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67325C64-1A03-4E18-BED0-7EB85DD90A3D}"/>
              </a:ext>
            </a:extLst>
          </p:cNvPr>
          <p:cNvSpPr txBox="1">
            <a:spLocks/>
          </p:cNvSpPr>
          <p:nvPr/>
        </p:nvSpPr>
        <p:spPr>
          <a:xfrm>
            <a:off x="425380" y="-725488"/>
            <a:ext cx="10058400" cy="1450975"/>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2800" dirty="0"/>
              <a:t>Working Enumerations</a:t>
            </a:r>
          </a:p>
        </p:txBody>
      </p:sp>
      <p:cxnSp>
        <p:nvCxnSpPr>
          <p:cNvPr id="14" name="Straight Connector 13">
            <a:extLst>
              <a:ext uri="{FF2B5EF4-FFF2-40B4-BE49-F238E27FC236}">
                <a16:creationId xmlns:a16="http://schemas.microsoft.com/office/drawing/2014/main" id="{65665DCD-1CDB-4105-A736-5C3693E5BC1B}"/>
              </a:ext>
            </a:extLst>
          </p:cNvPr>
          <p:cNvCxnSpPr/>
          <p:nvPr/>
        </p:nvCxnSpPr>
        <p:spPr>
          <a:xfrm>
            <a:off x="425380" y="725487"/>
            <a:ext cx="11471868" cy="0"/>
          </a:xfrm>
          <a:prstGeom prst="line">
            <a:avLst/>
          </a:prstGeom>
        </p:spPr>
        <p:style>
          <a:lnRef idx="1">
            <a:schemeClr val="dk1"/>
          </a:lnRef>
          <a:fillRef idx="0">
            <a:schemeClr val="dk1"/>
          </a:fillRef>
          <a:effectRef idx="0">
            <a:schemeClr val="dk1"/>
          </a:effectRef>
          <a:fontRef idx="minor">
            <a:schemeClr val="tx1"/>
          </a:fontRef>
        </p:style>
      </p:cxnSp>
      <p:sp>
        <p:nvSpPr>
          <p:cNvPr id="16" name="Content Placeholder 2">
            <a:extLst>
              <a:ext uri="{FF2B5EF4-FFF2-40B4-BE49-F238E27FC236}">
                <a16:creationId xmlns:a16="http://schemas.microsoft.com/office/drawing/2014/main" id="{39E2A5D8-8548-4196-8326-937623578465}"/>
              </a:ext>
            </a:extLst>
          </p:cNvPr>
          <p:cNvSpPr txBox="1">
            <a:spLocks/>
          </p:cNvSpPr>
          <p:nvPr/>
        </p:nvSpPr>
        <p:spPr>
          <a:xfrm>
            <a:off x="379887" y="938223"/>
            <a:ext cx="10817389" cy="1686696"/>
          </a:xfrm>
          <a:prstGeom prst="rect">
            <a:avLst/>
          </a:prstGeom>
        </p:spPr>
        <p:txBody>
          <a:bodyPr>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201168" lvl="1" indent="0">
              <a:buNone/>
            </a:pPr>
            <a:r>
              <a:rPr lang="en-US" sz="3200" dirty="0"/>
              <a:t>Similar to how all objects have methods we don’t need to define like </a:t>
            </a:r>
            <a:r>
              <a:rPr lang="en-US" sz="3200" dirty="0" err="1"/>
              <a:t>toString</a:t>
            </a:r>
            <a:r>
              <a:rPr lang="en-US" sz="3200" dirty="0"/>
              <a:t>(), Enums also have some of their own methods.</a:t>
            </a:r>
          </a:p>
          <a:p>
            <a:pPr marL="201168" lvl="1" indent="0">
              <a:buNone/>
            </a:pPr>
            <a:r>
              <a:rPr lang="en-US" sz="2400" dirty="0"/>
              <a:t>Here are some of them.</a:t>
            </a:r>
          </a:p>
          <a:p>
            <a:pPr marL="201168" lvl="1" indent="0">
              <a:buNone/>
            </a:pPr>
            <a:endParaRPr lang="en-US" b="1" dirty="0">
              <a:solidFill>
                <a:schemeClr val="bg1">
                  <a:lumMod val="50000"/>
                </a:schemeClr>
              </a:solidFill>
              <a:latin typeface="Courier New" panose="02070309020205020404" pitchFamily="49" charset="0"/>
              <a:cs typeface="Courier New" panose="02070309020205020404" pitchFamily="49" charset="0"/>
            </a:endParaRPr>
          </a:p>
        </p:txBody>
      </p:sp>
      <p:graphicFrame>
        <p:nvGraphicFramePr>
          <p:cNvPr id="5" name="Table 4">
            <a:extLst>
              <a:ext uri="{FF2B5EF4-FFF2-40B4-BE49-F238E27FC236}">
                <a16:creationId xmlns:a16="http://schemas.microsoft.com/office/drawing/2014/main" id="{2A85CF77-7930-4ADD-B16C-BF51FB31875D}"/>
              </a:ext>
            </a:extLst>
          </p:cNvPr>
          <p:cNvGraphicFramePr>
            <a:graphicFrameLocks noGrp="1"/>
          </p:cNvGraphicFramePr>
          <p:nvPr>
            <p:extLst>
              <p:ext uri="{D42A27DB-BD31-4B8C-83A1-F6EECF244321}">
                <p14:modId xmlns:p14="http://schemas.microsoft.com/office/powerpoint/2010/main" val="2439844705"/>
              </p:ext>
            </p:extLst>
          </p:nvPr>
        </p:nvGraphicFramePr>
        <p:xfrm>
          <a:off x="379888" y="2963226"/>
          <a:ext cx="10817389" cy="2174812"/>
        </p:xfrm>
        <a:graphic>
          <a:graphicData uri="http://schemas.openxmlformats.org/drawingml/2006/table">
            <a:tbl>
              <a:tblPr firstRow="1" bandRow="1">
                <a:tableStyleId>{5C22544A-7EE6-4342-B048-85BDC9FD1C3A}</a:tableStyleId>
              </a:tblPr>
              <a:tblGrid>
                <a:gridCol w="3224608">
                  <a:extLst>
                    <a:ext uri="{9D8B030D-6E8A-4147-A177-3AD203B41FA5}">
                      <a16:colId xmlns:a16="http://schemas.microsoft.com/office/drawing/2014/main" val="3916942781"/>
                    </a:ext>
                  </a:extLst>
                </a:gridCol>
                <a:gridCol w="7592781">
                  <a:extLst>
                    <a:ext uri="{9D8B030D-6E8A-4147-A177-3AD203B41FA5}">
                      <a16:colId xmlns:a16="http://schemas.microsoft.com/office/drawing/2014/main" val="1619579596"/>
                    </a:ext>
                  </a:extLst>
                </a:gridCol>
              </a:tblGrid>
              <a:tr h="406972">
                <a:tc>
                  <a:txBody>
                    <a:bodyPr/>
                    <a:lstStyle/>
                    <a:p>
                      <a:r>
                        <a:rPr lang="en-US" sz="1600" dirty="0"/>
                        <a:t>Method</a:t>
                      </a:r>
                    </a:p>
                  </a:txBody>
                  <a:tcPr>
                    <a:solidFill>
                      <a:schemeClr val="accent1">
                        <a:lumMod val="50000"/>
                      </a:schemeClr>
                    </a:solidFill>
                  </a:tcPr>
                </a:tc>
                <a:tc>
                  <a:txBody>
                    <a:bodyPr/>
                    <a:lstStyle/>
                    <a:p>
                      <a:r>
                        <a:rPr lang="en-US" sz="1600" dirty="0"/>
                        <a:t>Description</a:t>
                      </a:r>
                    </a:p>
                  </a:txBody>
                  <a:tcPr>
                    <a:solidFill>
                      <a:schemeClr val="accent1">
                        <a:lumMod val="50000"/>
                      </a:schemeClr>
                    </a:solidFill>
                  </a:tcPr>
                </a:tc>
                <a:extLst>
                  <a:ext uri="{0D108BD9-81ED-4DB2-BD59-A6C34878D82A}">
                    <a16:rowId xmlns:a16="http://schemas.microsoft.com/office/drawing/2014/main" val="4216429369"/>
                  </a:ext>
                </a:extLst>
              </a:tr>
              <a:tr h="36404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800" kern="1200" dirty="0">
                          <a:solidFill>
                            <a:schemeClr val="dk1"/>
                          </a:solidFill>
                          <a:effectLst/>
                          <a:latin typeface="+mn-lt"/>
                          <a:ea typeface="+mn-ea"/>
                          <a:cs typeface="+mn-cs"/>
                        </a:rPr>
                        <a:t>ordinal()</a:t>
                      </a:r>
                    </a:p>
                  </a:txBody>
                  <a:tcPr>
                    <a:solidFill>
                      <a:schemeClr val="bg2">
                        <a:lumMod val="7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Integer value that is unique for each enum. Starts at 0 and counts up with each additional value. Not commonly used but can be useful.</a:t>
                      </a:r>
                    </a:p>
                  </a:txBody>
                  <a:tcPr>
                    <a:solidFill>
                      <a:schemeClr val="bg2">
                        <a:lumMod val="75000"/>
                      </a:schemeClr>
                    </a:solidFill>
                  </a:tcPr>
                </a:tc>
                <a:extLst>
                  <a:ext uri="{0D108BD9-81ED-4DB2-BD59-A6C34878D82A}">
                    <a16:rowId xmlns:a16="http://schemas.microsoft.com/office/drawing/2014/main" val="4088248600"/>
                  </a:ext>
                </a:extLst>
              </a:tr>
              <a:tr h="272374">
                <a:tc>
                  <a:txBody>
                    <a:bodyPr/>
                    <a:lstStyle/>
                    <a:p>
                      <a:r>
                        <a:rPr lang="en-CA" sz="1800" kern="1200" dirty="0">
                          <a:solidFill>
                            <a:schemeClr val="dk1"/>
                          </a:solidFill>
                          <a:effectLst/>
                          <a:latin typeface="+mn-lt"/>
                          <a:ea typeface="+mn-ea"/>
                          <a:cs typeface="+mn-cs"/>
                        </a:rPr>
                        <a:t>name()</a:t>
                      </a:r>
                    </a:p>
                  </a:txBody>
                  <a:tcPr>
                    <a:solidFill>
                      <a:schemeClr val="bg2">
                        <a:lumMod val="90000"/>
                      </a:schemeClr>
                    </a:solidFill>
                  </a:tcPr>
                </a:tc>
                <a:tc>
                  <a:txBody>
                    <a:bodyPr/>
                    <a:lstStyle/>
                    <a:p>
                      <a:r>
                        <a:rPr lang="en-US" sz="1600" dirty="0"/>
                        <a:t>String value for the name of the Enumeration value.</a:t>
                      </a:r>
                    </a:p>
                  </a:txBody>
                  <a:tcPr>
                    <a:solidFill>
                      <a:schemeClr val="bg2">
                        <a:lumMod val="90000"/>
                      </a:schemeClr>
                    </a:solidFill>
                  </a:tcPr>
                </a:tc>
                <a:extLst>
                  <a:ext uri="{0D108BD9-81ED-4DB2-BD59-A6C34878D82A}">
                    <a16:rowId xmlns:a16="http://schemas.microsoft.com/office/drawing/2014/main" val="3939350135"/>
                  </a:ext>
                </a:extLst>
              </a:tr>
              <a:tr h="297018">
                <a:tc>
                  <a:txBody>
                    <a:bodyPr/>
                    <a:lstStyle/>
                    <a:p>
                      <a:r>
                        <a:rPr lang="en-CA" sz="1800" kern="1200" dirty="0" err="1">
                          <a:solidFill>
                            <a:schemeClr val="dk1"/>
                          </a:solidFill>
                          <a:effectLst/>
                          <a:latin typeface="+mn-lt"/>
                          <a:ea typeface="+mn-ea"/>
                          <a:cs typeface="+mn-cs"/>
                        </a:rPr>
                        <a:t>compareTo</a:t>
                      </a:r>
                      <a:r>
                        <a:rPr lang="en-CA" sz="1800" kern="1200" dirty="0">
                          <a:solidFill>
                            <a:schemeClr val="dk1"/>
                          </a:solidFill>
                          <a:effectLst/>
                          <a:latin typeface="+mn-lt"/>
                          <a:ea typeface="+mn-ea"/>
                          <a:cs typeface="+mn-cs"/>
                        </a:rPr>
                        <a:t>()</a:t>
                      </a:r>
                    </a:p>
                  </a:txBody>
                  <a:tcPr>
                    <a:solidFill>
                      <a:schemeClr val="bg2">
                        <a:lumMod val="75000"/>
                      </a:schemeClr>
                    </a:solidFill>
                  </a:tcPr>
                </a:tc>
                <a:tc>
                  <a:txBody>
                    <a:bodyPr/>
                    <a:lstStyle/>
                    <a:p>
                      <a:r>
                        <a:rPr lang="en-US" sz="1600" dirty="0"/>
                        <a:t>Compares this enum with the specified object for order. Returns a negative integer, zero, or a positive integer as this object is less than, equal to, or greater than the </a:t>
                      </a:r>
                      <a:r>
                        <a:rPr lang="en-US" sz="1600"/>
                        <a:t>specified object.</a:t>
                      </a:r>
                      <a:endParaRPr lang="en-US" sz="1600" dirty="0"/>
                    </a:p>
                  </a:txBody>
                  <a:tcPr>
                    <a:solidFill>
                      <a:schemeClr val="bg2">
                        <a:lumMod val="75000"/>
                      </a:schemeClr>
                    </a:solidFill>
                  </a:tcPr>
                </a:tc>
                <a:extLst>
                  <a:ext uri="{0D108BD9-81ED-4DB2-BD59-A6C34878D82A}">
                    <a16:rowId xmlns:a16="http://schemas.microsoft.com/office/drawing/2014/main" val="4282521288"/>
                  </a:ext>
                </a:extLst>
              </a:tr>
            </a:tbl>
          </a:graphicData>
        </a:graphic>
      </p:graphicFrame>
    </p:spTree>
    <p:extLst>
      <p:ext uri="{BB962C8B-B14F-4D97-AF65-F5344CB8AC3E}">
        <p14:creationId xmlns:p14="http://schemas.microsoft.com/office/powerpoint/2010/main" val="12107933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67325C64-1A03-4E18-BED0-7EB85DD90A3D}"/>
              </a:ext>
            </a:extLst>
          </p:cNvPr>
          <p:cNvSpPr txBox="1">
            <a:spLocks/>
          </p:cNvSpPr>
          <p:nvPr/>
        </p:nvSpPr>
        <p:spPr>
          <a:xfrm>
            <a:off x="425380" y="-725488"/>
            <a:ext cx="10058400" cy="1450975"/>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2800" dirty="0"/>
              <a:t>Working Enumerations : How to use them.</a:t>
            </a:r>
          </a:p>
        </p:txBody>
      </p:sp>
      <p:cxnSp>
        <p:nvCxnSpPr>
          <p:cNvPr id="14" name="Straight Connector 13">
            <a:extLst>
              <a:ext uri="{FF2B5EF4-FFF2-40B4-BE49-F238E27FC236}">
                <a16:creationId xmlns:a16="http://schemas.microsoft.com/office/drawing/2014/main" id="{65665DCD-1CDB-4105-A736-5C3693E5BC1B}"/>
              </a:ext>
            </a:extLst>
          </p:cNvPr>
          <p:cNvCxnSpPr/>
          <p:nvPr/>
        </p:nvCxnSpPr>
        <p:spPr>
          <a:xfrm>
            <a:off x="425380" y="725487"/>
            <a:ext cx="11471868" cy="0"/>
          </a:xfrm>
          <a:prstGeom prst="line">
            <a:avLst/>
          </a:prstGeom>
        </p:spPr>
        <p:style>
          <a:lnRef idx="1">
            <a:schemeClr val="dk1"/>
          </a:lnRef>
          <a:fillRef idx="0">
            <a:schemeClr val="dk1"/>
          </a:fillRef>
          <a:effectRef idx="0">
            <a:schemeClr val="dk1"/>
          </a:effectRef>
          <a:fontRef idx="minor">
            <a:schemeClr val="tx1"/>
          </a:fontRef>
        </p:style>
      </p:cxnSp>
      <p:sp>
        <p:nvSpPr>
          <p:cNvPr id="16" name="Content Placeholder 2">
            <a:extLst>
              <a:ext uri="{FF2B5EF4-FFF2-40B4-BE49-F238E27FC236}">
                <a16:creationId xmlns:a16="http://schemas.microsoft.com/office/drawing/2014/main" id="{39E2A5D8-8548-4196-8326-937623578465}"/>
              </a:ext>
            </a:extLst>
          </p:cNvPr>
          <p:cNvSpPr txBox="1">
            <a:spLocks/>
          </p:cNvSpPr>
          <p:nvPr/>
        </p:nvSpPr>
        <p:spPr>
          <a:xfrm>
            <a:off x="425379" y="1001656"/>
            <a:ext cx="11257539" cy="5165679"/>
          </a:xfrm>
          <a:prstGeom prst="rect">
            <a:avLst/>
          </a:prstGeom>
        </p:spPr>
        <p:txBody>
          <a:bodyPr>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201168" lvl="1" indent="0">
              <a:buNone/>
            </a:pPr>
            <a:r>
              <a:rPr lang="en-US" sz="2800" dirty="0"/>
              <a:t>Accessing methods from an enum. </a:t>
            </a:r>
          </a:p>
          <a:p>
            <a:pPr marL="201168" lvl="1" indent="0">
              <a:buNone/>
            </a:pPr>
            <a:endParaRPr lang="en-US" sz="2000" dirty="0"/>
          </a:p>
          <a:p>
            <a:pPr marL="201168" lvl="1" indent="0">
              <a:buNone/>
            </a:pPr>
            <a:r>
              <a:rPr lang="en-US" sz="2000" dirty="0"/>
              <a:t>Both user define and default methods.</a:t>
            </a:r>
          </a:p>
          <a:p>
            <a:pPr marL="201168" lvl="1" indent="0">
              <a:buNone/>
            </a:pPr>
            <a:endParaRPr lang="en-US" sz="1600" b="1" dirty="0">
              <a:solidFill>
                <a:schemeClr val="bg1">
                  <a:lumMod val="50000"/>
                </a:schemeClr>
              </a:solidFill>
              <a:latin typeface="Courier New" panose="02070309020205020404" pitchFamily="49" charset="0"/>
              <a:cs typeface="Courier New" panose="02070309020205020404" pitchFamily="49" charset="0"/>
            </a:endParaRPr>
          </a:p>
          <a:p>
            <a:pPr marL="201168" lvl="1" indent="0">
              <a:buNone/>
            </a:pPr>
            <a:r>
              <a:rPr lang="en-US" sz="1600" b="1" dirty="0">
                <a:solidFill>
                  <a:schemeClr val="bg1">
                    <a:lumMod val="50000"/>
                  </a:schemeClr>
                </a:solidFill>
                <a:latin typeface="Courier New" panose="02070309020205020404" pitchFamily="49" charset="0"/>
                <a:cs typeface="Courier New" panose="02070309020205020404" pitchFamily="49" charset="0"/>
              </a:rPr>
              <a:t>Term </a:t>
            </a:r>
            <a:r>
              <a:rPr lang="en-US" sz="1600" b="1" dirty="0" err="1">
                <a:solidFill>
                  <a:schemeClr val="bg1">
                    <a:lumMod val="50000"/>
                  </a:schemeClr>
                </a:solidFill>
                <a:latin typeface="Courier New" panose="02070309020205020404" pitchFamily="49" charset="0"/>
                <a:cs typeface="Courier New" panose="02070309020205020404" pitchFamily="49" charset="0"/>
              </a:rPr>
              <a:t>myTerm</a:t>
            </a:r>
            <a:r>
              <a:rPr lang="en-US" sz="1600" b="1" dirty="0">
                <a:solidFill>
                  <a:schemeClr val="bg1">
                    <a:lumMod val="50000"/>
                  </a:schemeClr>
                </a:solidFill>
                <a:latin typeface="Courier New" panose="02070309020205020404" pitchFamily="49" charset="0"/>
                <a:cs typeface="Courier New" panose="02070309020205020404" pitchFamily="49" charset="0"/>
              </a:rPr>
              <a:t> = </a:t>
            </a:r>
            <a:r>
              <a:rPr lang="en-US" sz="1600" b="1" dirty="0" err="1">
                <a:solidFill>
                  <a:schemeClr val="bg1">
                    <a:lumMod val="50000"/>
                  </a:schemeClr>
                </a:solidFill>
                <a:latin typeface="Courier New" panose="02070309020205020404" pitchFamily="49" charset="0"/>
                <a:cs typeface="Courier New" panose="02070309020205020404" pitchFamily="49" charset="0"/>
              </a:rPr>
              <a:t>Term.Fall</a:t>
            </a:r>
            <a:r>
              <a:rPr lang="en-US" sz="1600" b="1" dirty="0">
                <a:solidFill>
                  <a:schemeClr val="bg1">
                    <a:lumMod val="50000"/>
                  </a:schemeClr>
                </a:solidFill>
                <a:latin typeface="Courier New" panose="02070309020205020404" pitchFamily="49" charset="0"/>
                <a:cs typeface="Courier New" panose="02070309020205020404" pitchFamily="49" charset="0"/>
              </a:rPr>
              <a:t>;</a:t>
            </a:r>
          </a:p>
          <a:p>
            <a:pPr marL="201168" lvl="1" indent="0">
              <a:buNone/>
            </a:pPr>
            <a:endParaRPr lang="en-US" sz="1600" b="1" dirty="0">
              <a:solidFill>
                <a:schemeClr val="bg1">
                  <a:lumMod val="50000"/>
                </a:schemeClr>
              </a:solidFill>
              <a:latin typeface="Courier New" panose="02070309020205020404" pitchFamily="49" charset="0"/>
              <a:cs typeface="Courier New" panose="02070309020205020404" pitchFamily="49" charset="0"/>
            </a:endParaRPr>
          </a:p>
          <a:p>
            <a:pPr marL="201168" lvl="1" indent="0">
              <a:buNone/>
            </a:pPr>
            <a:r>
              <a:rPr lang="en-US" sz="1600" b="1" dirty="0">
                <a:solidFill>
                  <a:schemeClr val="bg1">
                    <a:lumMod val="50000"/>
                  </a:schemeClr>
                </a:solidFill>
                <a:latin typeface="Courier New" panose="02070309020205020404" pitchFamily="49" charset="0"/>
                <a:cs typeface="Courier New" panose="02070309020205020404" pitchFamily="49" charset="0"/>
              </a:rPr>
              <a:t>int ordinal = </a:t>
            </a:r>
            <a:r>
              <a:rPr lang="en-US" sz="1600" b="1" dirty="0" err="1">
                <a:solidFill>
                  <a:schemeClr val="bg1">
                    <a:lumMod val="50000"/>
                  </a:schemeClr>
                </a:solidFill>
                <a:latin typeface="Courier New" panose="02070309020205020404" pitchFamily="49" charset="0"/>
                <a:cs typeface="Courier New" panose="02070309020205020404" pitchFamily="49" charset="0"/>
              </a:rPr>
              <a:t>myTerm.ordinal</a:t>
            </a:r>
            <a:r>
              <a:rPr lang="en-US" sz="1600" b="1" dirty="0">
                <a:solidFill>
                  <a:schemeClr val="bg1">
                    <a:lumMod val="50000"/>
                  </a:schemeClr>
                </a:solidFill>
                <a:latin typeface="Courier New" panose="02070309020205020404" pitchFamily="49" charset="0"/>
                <a:cs typeface="Courier New" panose="02070309020205020404" pitchFamily="49" charset="0"/>
              </a:rPr>
              <a:t>();</a:t>
            </a:r>
          </a:p>
          <a:p>
            <a:pPr marL="201168" lvl="1" indent="0">
              <a:buNone/>
            </a:pPr>
            <a:endParaRPr lang="en-US" sz="1600" b="1" dirty="0">
              <a:solidFill>
                <a:schemeClr val="bg1">
                  <a:lumMod val="50000"/>
                </a:schemeClr>
              </a:solidFill>
              <a:latin typeface="Courier New" panose="02070309020205020404" pitchFamily="49" charset="0"/>
              <a:cs typeface="Courier New" panose="02070309020205020404" pitchFamily="49" charset="0"/>
            </a:endParaRPr>
          </a:p>
          <a:p>
            <a:pPr marL="201168" lvl="1" indent="0">
              <a:buNone/>
            </a:pPr>
            <a:r>
              <a:rPr lang="en-US" sz="1600" b="1" dirty="0">
                <a:solidFill>
                  <a:schemeClr val="bg1">
                    <a:lumMod val="50000"/>
                  </a:schemeClr>
                </a:solidFill>
                <a:latin typeface="Courier New" panose="02070309020205020404" pitchFamily="49" charset="0"/>
                <a:cs typeface="Courier New" panose="02070309020205020404" pitchFamily="49" charset="0"/>
              </a:rPr>
              <a:t>int number = </a:t>
            </a:r>
            <a:r>
              <a:rPr lang="en-US" sz="1600" b="1" dirty="0" err="1">
                <a:solidFill>
                  <a:schemeClr val="bg1">
                    <a:lumMod val="50000"/>
                  </a:schemeClr>
                </a:solidFill>
                <a:latin typeface="Courier New" panose="02070309020205020404" pitchFamily="49" charset="0"/>
                <a:cs typeface="Courier New" panose="02070309020205020404" pitchFamily="49" charset="0"/>
              </a:rPr>
              <a:t>myTerm.getNumber</a:t>
            </a:r>
            <a:r>
              <a:rPr lang="en-US" sz="1600" b="1" dirty="0">
                <a:solidFill>
                  <a:schemeClr val="bg1">
                    <a:lumMod val="50000"/>
                  </a:schemeClr>
                </a:solidFill>
                <a:latin typeface="Courier New" panose="02070309020205020404" pitchFamily="49" charset="0"/>
                <a:cs typeface="Courier New" panose="02070309020205020404" pitchFamily="49" charset="0"/>
              </a:rPr>
              <a:t>();</a:t>
            </a:r>
          </a:p>
          <a:p>
            <a:pPr marL="201168" lvl="1" indent="0">
              <a:buNone/>
            </a:pPr>
            <a:endParaRPr lang="en-US" sz="1600" b="1" dirty="0">
              <a:solidFill>
                <a:schemeClr val="bg1">
                  <a:lumMod val="50000"/>
                </a:schemeClr>
              </a:solidFill>
              <a:latin typeface="Courier New" panose="02070309020205020404" pitchFamily="49" charset="0"/>
              <a:cs typeface="Courier New" panose="02070309020205020404" pitchFamily="49" charset="0"/>
            </a:endParaRPr>
          </a:p>
          <a:p>
            <a:pPr marL="201168" lvl="1" indent="0">
              <a:buNone/>
            </a:pPr>
            <a:endParaRPr lang="en-US" sz="1600" b="1" dirty="0">
              <a:solidFill>
                <a:schemeClr val="bg1">
                  <a:lumMod val="50000"/>
                </a:schemeClr>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001905403"/>
      </p:ext>
    </p:extLst>
  </p:cSld>
  <p:clrMapOvr>
    <a:masterClrMapping/>
  </p:clrMapOvr>
</p:sld>
</file>

<file path=ppt/theme/theme1.xml><?xml version="1.0" encoding="utf-8"?>
<a:theme xmlns:a="http://schemas.openxmlformats.org/drawingml/2006/main" name="Retrospect">
  <a:themeElements>
    <a:clrScheme name="Retrospect">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6B9F25"/>
      </a:hlink>
      <a:folHlink>
        <a:srgbClr val="B26B02"/>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D26EA377-59BD-4C9C-9D94-EE8416EE4C7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16492</TotalTime>
  <Words>612</Words>
  <Application>Microsoft Office PowerPoint</Application>
  <PresentationFormat>Widescreen</PresentationFormat>
  <Paragraphs>77</Paragraphs>
  <Slides>8</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Calibri</vt:lpstr>
      <vt:lpstr>Calibri Light</vt:lpstr>
      <vt:lpstr>Courier New</vt:lpstr>
      <vt:lpstr>JetBrains Mono</vt:lpstr>
      <vt:lpstr>Retrospect</vt:lpstr>
      <vt:lpstr>Enterprise Java</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Testing</dc:title>
  <dc:creator>Cusack, Chris</dc:creator>
  <cp:lastModifiedBy>Andre Boudreau</cp:lastModifiedBy>
  <cp:revision>351</cp:revision>
  <dcterms:created xsi:type="dcterms:W3CDTF">2018-06-09T00:51:46Z</dcterms:created>
  <dcterms:modified xsi:type="dcterms:W3CDTF">2025-08-29T19:00:04Z</dcterms:modified>
</cp:coreProperties>
</file>