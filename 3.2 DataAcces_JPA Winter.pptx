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90" r:id="rId1"/>
  </p:sldMasterIdLst>
  <p:notesMasterIdLst>
    <p:notesMasterId r:id="rId62"/>
  </p:notesMasterIdLst>
  <p:sldIdLst>
    <p:sldId id="256" r:id="rId2"/>
    <p:sldId id="424" r:id="rId3"/>
    <p:sldId id="367" r:id="rId4"/>
    <p:sldId id="420" r:id="rId5"/>
    <p:sldId id="368" r:id="rId6"/>
    <p:sldId id="369" r:id="rId7"/>
    <p:sldId id="370" r:id="rId8"/>
    <p:sldId id="371" r:id="rId9"/>
    <p:sldId id="372" r:id="rId10"/>
    <p:sldId id="374" r:id="rId11"/>
    <p:sldId id="373" r:id="rId12"/>
    <p:sldId id="375" r:id="rId13"/>
    <p:sldId id="421" r:id="rId14"/>
    <p:sldId id="376" r:id="rId15"/>
    <p:sldId id="377" r:id="rId16"/>
    <p:sldId id="378" r:id="rId17"/>
    <p:sldId id="379" r:id="rId18"/>
    <p:sldId id="380" r:id="rId19"/>
    <p:sldId id="381" r:id="rId20"/>
    <p:sldId id="382" r:id="rId21"/>
    <p:sldId id="383" r:id="rId22"/>
    <p:sldId id="384" r:id="rId23"/>
    <p:sldId id="385" r:id="rId24"/>
    <p:sldId id="386" r:id="rId25"/>
    <p:sldId id="387" r:id="rId26"/>
    <p:sldId id="388" r:id="rId27"/>
    <p:sldId id="389" r:id="rId28"/>
    <p:sldId id="390" r:id="rId29"/>
    <p:sldId id="422" r:id="rId30"/>
    <p:sldId id="391" r:id="rId31"/>
    <p:sldId id="393" r:id="rId32"/>
    <p:sldId id="392" r:id="rId33"/>
    <p:sldId id="394" r:id="rId34"/>
    <p:sldId id="396" r:id="rId35"/>
    <p:sldId id="395" r:id="rId36"/>
    <p:sldId id="397" r:id="rId37"/>
    <p:sldId id="398" r:id="rId38"/>
    <p:sldId id="399" r:id="rId39"/>
    <p:sldId id="400" r:id="rId40"/>
    <p:sldId id="401" r:id="rId41"/>
    <p:sldId id="402" r:id="rId42"/>
    <p:sldId id="403" r:id="rId43"/>
    <p:sldId id="404" r:id="rId44"/>
    <p:sldId id="405" r:id="rId45"/>
    <p:sldId id="406" r:id="rId46"/>
    <p:sldId id="407" r:id="rId47"/>
    <p:sldId id="408" r:id="rId48"/>
    <p:sldId id="409" r:id="rId49"/>
    <p:sldId id="410" r:id="rId50"/>
    <p:sldId id="423" r:id="rId51"/>
    <p:sldId id="411" r:id="rId52"/>
    <p:sldId id="412" r:id="rId53"/>
    <p:sldId id="413" r:id="rId54"/>
    <p:sldId id="414" r:id="rId55"/>
    <p:sldId id="415" r:id="rId56"/>
    <p:sldId id="416" r:id="rId57"/>
    <p:sldId id="417" r:id="rId58"/>
    <p:sldId id="418" r:id="rId59"/>
    <p:sldId id="419" r:id="rId60"/>
    <p:sldId id="366" r:id="rId6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usack, Chris" initials="CC" lastIdx="1" clrIdx="0">
    <p:extLst>
      <p:ext uri="{19B8F6BF-5375-455C-9EA6-DF929625EA0E}">
        <p15:presenceInfo xmlns:p15="http://schemas.microsoft.com/office/powerpoint/2012/main" userId="S-1-5-21-606747145-1993962763-839522115-12291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C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08" autoAdjust="0"/>
    <p:restoredTop sz="88309" autoAdjust="0"/>
  </p:normalViewPr>
  <p:slideViewPr>
    <p:cSldViewPr snapToGrid="0">
      <p:cViewPr varScale="1">
        <p:scale>
          <a:sx n="100" d="100"/>
          <a:sy n="100" d="100"/>
        </p:scale>
        <p:origin x="981"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5FC83A-AE04-4291-858C-89975FF43DBC}" type="datetimeFigureOut">
              <a:rPr lang="en-US" smtClean="0"/>
              <a:t>9/19/2025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8B35CF-413F-4E89-B778-B111B9E6E46E}" type="slidenum">
              <a:rPr lang="en-US" smtClean="0"/>
              <a:t>‹#›</a:t>
            </a:fld>
            <a:endParaRPr lang="en-US"/>
          </a:p>
        </p:txBody>
      </p:sp>
    </p:spTree>
    <p:extLst>
      <p:ext uri="{BB962C8B-B14F-4D97-AF65-F5344CB8AC3E}">
        <p14:creationId xmlns:p14="http://schemas.microsoft.com/office/powerpoint/2010/main" val="513726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docs.oracle.com/cd/E19798-01/821-1841/bnbrj/index.html"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about:blank"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1</a:t>
            </a:fld>
            <a:endParaRPr lang="en-US"/>
          </a:p>
        </p:txBody>
      </p:sp>
    </p:spTree>
    <p:extLst>
      <p:ext uri="{BB962C8B-B14F-4D97-AF65-F5344CB8AC3E}">
        <p14:creationId xmlns:p14="http://schemas.microsoft.com/office/powerpoint/2010/main" val="1607234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2</a:t>
            </a:fld>
            <a:endParaRPr lang="en-US"/>
          </a:p>
        </p:txBody>
      </p:sp>
    </p:spTree>
    <p:extLst>
      <p:ext uri="{BB962C8B-B14F-4D97-AF65-F5344CB8AC3E}">
        <p14:creationId xmlns:p14="http://schemas.microsoft.com/office/powerpoint/2010/main" val="17550521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3</a:t>
            </a:fld>
            <a:endParaRPr lang="en-US"/>
          </a:p>
        </p:txBody>
      </p:sp>
    </p:spTree>
    <p:extLst>
      <p:ext uri="{BB962C8B-B14F-4D97-AF65-F5344CB8AC3E}">
        <p14:creationId xmlns:p14="http://schemas.microsoft.com/office/powerpoint/2010/main" val="31367497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latin typeface="Arial" charset="0"/>
                <a:ea typeface="ヒラギノ角ゴ Pro W3" pitchFamily="-112" charset="-128"/>
                <a:cs typeface="+mn-cs"/>
              </a:rPr>
              <a:t>The task of persisting Java objects to a relational database is currently being facilitated by a number of different tools that allow developers to direct persistence engines in converting Java objects to database columns/records and back. This task involves serializing hierarchically structured Java objects to a tabular-structured database and vice versa. Essential to this effort is the need to map Java objects to database columns and records in a manner optimized for speed and efficiency. </a:t>
            </a:r>
          </a:p>
          <a:p>
            <a:endParaRPr lang="en-GB" dirty="0"/>
          </a:p>
          <a:p>
            <a:r>
              <a:rPr lang="en-GB" dirty="0"/>
              <a:t>JPA is not a new technology; rather, it has collected the best ideas from existing persistence technologies like Hibernate, TopLink, and JDO. The result is a standardized specification that helps you build a persistence layer that is independent of any particular persistence provider. </a:t>
            </a:r>
          </a:p>
          <a:p>
            <a:endParaRPr lang="en-GB" dirty="0"/>
          </a:p>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4</a:t>
            </a:fld>
            <a:endParaRPr lang="en-US"/>
          </a:p>
        </p:txBody>
      </p:sp>
    </p:spTree>
    <p:extLst>
      <p:ext uri="{BB962C8B-B14F-4D97-AF65-F5344CB8AC3E}">
        <p14:creationId xmlns:p14="http://schemas.microsoft.com/office/powerpoint/2010/main" val="2964969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5</a:t>
            </a:fld>
            <a:endParaRPr lang="en-US"/>
          </a:p>
        </p:txBody>
      </p:sp>
    </p:spTree>
    <p:extLst>
      <p:ext uri="{BB962C8B-B14F-4D97-AF65-F5344CB8AC3E}">
        <p14:creationId xmlns:p14="http://schemas.microsoft.com/office/powerpoint/2010/main" val="3281956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 entity is </a:t>
            </a:r>
            <a:r>
              <a:rPr lang="en-GB" dirty="0" err="1"/>
              <a:t>persistable</a:t>
            </a:r>
            <a:r>
              <a:rPr lang="en-GB" dirty="0"/>
              <a:t> because it can be created in a </a:t>
            </a:r>
            <a:r>
              <a:rPr lang="en-GB" b="1" dirty="0"/>
              <a:t>persistent</a:t>
            </a:r>
            <a:r>
              <a:rPr lang="en-GB" dirty="0"/>
              <a:t> store. The difference is that it is not automatically persisted, and that in order for it to have a durable representation the application must actively invoke an API method to initiate the process. This is an important distinction because it leaves control over persistence firmly in the hands of the application. The application has the flexibility to manipulate data and perform business logic on the entity, making it persistent only when the application decides it is the right time. The lesson is that entities may be manipulated without necessarily being persisted, and it is the application that decides whether they are or not.</a:t>
            </a:r>
          </a:p>
          <a:p>
            <a:endParaRPr lang="en-GB" dirty="0"/>
          </a:p>
          <a:p>
            <a:r>
              <a:rPr lang="en-GB" dirty="0"/>
              <a:t>*Persistent </a:t>
            </a:r>
            <a:r>
              <a:rPr lang="en-GB" b="1" dirty="0"/>
              <a:t>identity</a:t>
            </a:r>
            <a:r>
              <a:rPr lang="en-GB" dirty="0"/>
              <a:t>, or an identifier, is the key that uniquely identifies an entity instance and distinguishes it from all the other instances of the same entity type. An entity has a persistent identity when there exists a representation of it in the data store; that is, a row in a database </a:t>
            </a:r>
          </a:p>
          <a:p>
            <a:r>
              <a:rPr lang="en-GB" dirty="0"/>
              <a:t>table. If it is not in the database then even though the in-memory entity may have its identity set in a field, it does not have a persistent identity. The entity identifier, then, is equivalent to the primary key in the database table that stores the entity state. </a:t>
            </a:r>
          </a:p>
          <a:p>
            <a:endParaRPr lang="en-GB" dirty="0"/>
          </a:p>
          <a:p>
            <a:r>
              <a:rPr lang="en-GB" dirty="0"/>
              <a:t>*Although they can be created, updated, and deleted in any context, these operations are normally done within the context of a transaction</a:t>
            </a:r>
            <a:r>
              <a:rPr lang="en-GB" baseline="0" dirty="0"/>
              <a:t> </a:t>
            </a:r>
            <a:r>
              <a:rPr lang="en-GB" dirty="0"/>
              <a:t>because a transaction is required for the changes to be committed in the database. Changes made to the database either succeed or fail atomically, so the persistent view of an entity should indeed be </a:t>
            </a:r>
            <a:r>
              <a:rPr lang="en-GB" b="1" dirty="0"/>
              <a:t>transactional</a:t>
            </a:r>
          </a:p>
          <a:p>
            <a:endParaRPr lang="en-GB" dirty="0"/>
          </a:p>
          <a:p>
            <a:r>
              <a:rPr lang="en-GB" dirty="0"/>
              <a:t>*Entities are meant to be</a:t>
            </a:r>
            <a:r>
              <a:rPr lang="en-GB" b="1" dirty="0"/>
              <a:t> fine-grained </a:t>
            </a:r>
            <a:r>
              <a:rPr lang="en-GB" dirty="0"/>
              <a:t>objects that have a set of aggregated state that is normally stored in a single place, such as a row in a table, and typically have relationships to other entities. In the most general sense, they are business domain objects that have specific meaning to the application that accesses them. While it is certainly true that entities may be defined in exaggerated ways to be as fine-grained as </a:t>
            </a:r>
          </a:p>
          <a:p>
            <a:r>
              <a:rPr lang="en-GB" dirty="0"/>
              <a:t>storing a single string or coarse-grained enough to contain 500 columns’ worth of data, JPA entities were definitely intended to be on the smaller end of the granularity spectrum. Ideally, entities should be designed and defined as fairly lightweight objects of a size comparable to that of the average Java object.</a:t>
            </a:r>
          </a:p>
          <a:p>
            <a:endParaRPr lang="en-GB" dirty="0"/>
          </a:p>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6</a:t>
            </a:fld>
            <a:endParaRPr lang="en-US"/>
          </a:p>
        </p:txBody>
      </p:sp>
    </p:spTree>
    <p:extLst>
      <p:ext uri="{BB962C8B-B14F-4D97-AF65-F5344CB8AC3E}">
        <p14:creationId xmlns:p14="http://schemas.microsoft.com/office/powerpoint/2010/main" val="31596489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7</a:t>
            </a:fld>
            <a:endParaRPr lang="en-US"/>
          </a:p>
        </p:txBody>
      </p:sp>
    </p:spTree>
    <p:extLst>
      <p:ext uri="{BB962C8B-B14F-4D97-AF65-F5344CB8AC3E}">
        <p14:creationId xmlns:p14="http://schemas.microsoft.com/office/powerpoint/2010/main" val="5041949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8</a:t>
            </a:fld>
            <a:endParaRPr lang="en-US"/>
          </a:p>
        </p:txBody>
      </p:sp>
    </p:spTree>
    <p:extLst>
      <p:ext uri="{BB962C8B-B14F-4D97-AF65-F5344CB8AC3E}">
        <p14:creationId xmlns:p14="http://schemas.microsoft.com/office/powerpoint/2010/main" val="8669076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9</a:t>
            </a:fld>
            <a:endParaRPr lang="en-US"/>
          </a:p>
        </p:txBody>
      </p:sp>
    </p:spTree>
    <p:extLst>
      <p:ext uri="{BB962C8B-B14F-4D97-AF65-F5344CB8AC3E}">
        <p14:creationId xmlns:p14="http://schemas.microsoft.com/office/powerpoint/2010/main" val="29860021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10</a:t>
            </a:fld>
            <a:endParaRPr lang="en-US"/>
          </a:p>
        </p:txBody>
      </p:sp>
    </p:spTree>
    <p:extLst>
      <p:ext uri="{BB962C8B-B14F-4D97-AF65-F5344CB8AC3E}">
        <p14:creationId xmlns:p14="http://schemas.microsoft.com/office/powerpoint/2010/main" val="34773224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11</a:t>
            </a:fld>
            <a:endParaRPr lang="en-US"/>
          </a:p>
        </p:txBody>
      </p:sp>
    </p:spTree>
    <p:extLst>
      <p:ext uri="{BB962C8B-B14F-4D97-AF65-F5344CB8AC3E}">
        <p14:creationId xmlns:p14="http://schemas.microsoft.com/office/powerpoint/2010/main" val="36900743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latin typeface="Arial" charset="0"/>
                <a:ea typeface="ヒラギノ角ゴ Pro W3" pitchFamily="-112" charset="-128"/>
                <a:cs typeface="+mn-cs"/>
              </a:rPr>
              <a:t>On </a:t>
            </a:r>
            <a:r>
              <a:rPr lang="en-GB" sz="1200" b="0" i="0" kern="1200" dirty="0" err="1">
                <a:solidFill>
                  <a:schemeClr val="tx1"/>
                </a:solidFill>
                <a:latin typeface="Arial" charset="0"/>
                <a:ea typeface="ヒラギノ角ゴ Pro W3" pitchFamily="-112" charset="-128"/>
                <a:cs typeface="+mn-cs"/>
              </a:rPr>
              <a:t>startup</a:t>
            </a:r>
            <a:r>
              <a:rPr lang="en-GB" sz="1200" b="0" i="0" kern="1200" dirty="0">
                <a:solidFill>
                  <a:schemeClr val="tx1"/>
                </a:solidFill>
                <a:latin typeface="Arial" charset="0"/>
                <a:ea typeface="ヒラギノ角ゴ Pro W3" pitchFamily="-112" charset="-128"/>
                <a:cs typeface="+mn-cs"/>
              </a:rPr>
              <a:t>, the </a:t>
            </a:r>
            <a:r>
              <a:rPr lang="en-GB" sz="1200" b="0" i="0" kern="1200" dirty="0" err="1">
                <a:solidFill>
                  <a:schemeClr val="tx1"/>
                </a:solidFill>
                <a:latin typeface="Arial" charset="0"/>
                <a:ea typeface="ヒラギノ角ゴ Pro W3" pitchFamily="-112" charset="-128"/>
                <a:cs typeface="+mn-cs"/>
              </a:rPr>
              <a:t>Persistence.createEntityManagerFactory</a:t>
            </a:r>
            <a:r>
              <a:rPr lang="en-GB" sz="1200" b="0" i="0" kern="1200" dirty="0">
                <a:solidFill>
                  <a:schemeClr val="tx1"/>
                </a:solidFill>
                <a:latin typeface="Arial" charset="0"/>
                <a:ea typeface="ヒラギノ角ゴ Pro W3" pitchFamily="-112" charset="-128"/>
                <a:cs typeface="+mn-cs"/>
              </a:rPr>
              <a:t>() method tries to locate the persistence unit named </a:t>
            </a:r>
            <a:r>
              <a:rPr lang="en-GB" sz="1200" b="0" i="0" kern="1200" dirty="0" err="1">
                <a:solidFill>
                  <a:schemeClr val="tx1"/>
                </a:solidFill>
                <a:latin typeface="Arial" charset="0"/>
                <a:ea typeface="ヒラギノ角ゴ Pro W3" pitchFamily="-112" charset="-128"/>
                <a:cs typeface="+mn-cs"/>
              </a:rPr>
              <a:t>helloworld</a:t>
            </a:r>
            <a:r>
              <a:rPr lang="en-GB" sz="1200" b="0" i="0" kern="1200" dirty="0">
                <a:solidFill>
                  <a:schemeClr val="tx1"/>
                </a:solidFill>
                <a:latin typeface="Arial" charset="0"/>
                <a:ea typeface="ヒラギノ角ゴ Pro W3" pitchFamily="-112" charset="-128"/>
                <a:cs typeface="+mn-cs"/>
              </a:rPr>
              <a:t>. It searches the </a:t>
            </a:r>
            <a:r>
              <a:rPr lang="en-GB" sz="1200" b="0" i="0" kern="1200" dirty="0" err="1">
                <a:solidFill>
                  <a:schemeClr val="tx1"/>
                </a:solidFill>
                <a:latin typeface="Arial" charset="0"/>
                <a:ea typeface="ヒラギノ角ゴ Pro W3" pitchFamily="-112" charset="-128"/>
                <a:cs typeface="+mn-cs"/>
              </a:rPr>
              <a:t>classpath</a:t>
            </a:r>
            <a:r>
              <a:rPr lang="en-GB" sz="1200" b="0" i="0" kern="1200" dirty="0">
                <a:solidFill>
                  <a:schemeClr val="tx1"/>
                </a:solidFill>
                <a:latin typeface="Arial" charset="0"/>
                <a:ea typeface="ヒラギノ角ゴ Pro W3" pitchFamily="-112" charset="-128"/>
                <a:cs typeface="+mn-cs"/>
              </a:rPr>
              <a:t> for all </a:t>
            </a:r>
            <a:r>
              <a:rPr lang="en-GB" sz="1200" b="1" i="0" kern="1200" dirty="0">
                <a:solidFill>
                  <a:schemeClr val="tx1"/>
                </a:solidFill>
                <a:latin typeface="Arial" charset="0"/>
                <a:ea typeface="ヒラギノ角ゴ Pro W3" pitchFamily="-112" charset="-128"/>
                <a:cs typeface="+mn-cs"/>
              </a:rPr>
              <a:t>META-INF/persistence.xml </a:t>
            </a:r>
            <a:r>
              <a:rPr lang="en-GB" sz="1200" b="0" i="0" kern="1200" dirty="0">
                <a:solidFill>
                  <a:schemeClr val="tx1"/>
                </a:solidFill>
                <a:latin typeface="Arial" charset="0"/>
                <a:ea typeface="ヒラギノ角ゴ Pro W3" pitchFamily="-112" charset="-128"/>
                <a:cs typeface="+mn-cs"/>
              </a:rPr>
              <a:t>files and then configures the EMF if a match is found.</a:t>
            </a:r>
          </a:p>
          <a:p>
            <a:endParaRPr lang="en-GB" sz="1200" b="0" i="0" kern="1200" dirty="0">
              <a:solidFill>
                <a:schemeClr val="tx1"/>
              </a:solidFill>
              <a:latin typeface="Arial" charset="0"/>
              <a:ea typeface="ヒラギノ角ゴ Pro W3" pitchFamily="-112" charset="-128"/>
              <a:cs typeface="+mn-cs"/>
            </a:endParaRPr>
          </a:p>
          <a:p>
            <a:r>
              <a:rPr lang="en-GB" sz="1200" b="0" i="0" kern="1200" dirty="0">
                <a:solidFill>
                  <a:schemeClr val="tx1"/>
                </a:solidFill>
                <a:latin typeface="Arial" charset="0"/>
                <a:ea typeface="ヒラギノ角ゴ Pro W3" pitchFamily="-112" charset="-128"/>
                <a:cs typeface="+mn-cs"/>
              </a:rPr>
              <a:t>Resources:</a:t>
            </a:r>
          </a:p>
          <a:p>
            <a:endParaRPr lang="en-US" sz="1200" b="0" i="0" kern="1200" dirty="0">
              <a:solidFill>
                <a:schemeClr val="tx1"/>
              </a:solidFill>
              <a:latin typeface="Arial" charset="0"/>
              <a:ea typeface="ヒラギノ角ゴ Pro W3" pitchFamily="-112" charset="-128"/>
              <a:cs typeface="+mn-cs"/>
            </a:endParaRPr>
          </a:p>
          <a:p>
            <a:r>
              <a:rPr lang="en-US" sz="1200" b="0" i="0" kern="1200" dirty="0">
                <a:solidFill>
                  <a:schemeClr val="tx1"/>
                </a:solidFill>
                <a:latin typeface="Arial" charset="0"/>
                <a:ea typeface="ヒラギノ角ゴ Pro W3" pitchFamily="-112" charset="-128"/>
                <a:cs typeface="+mn-cs"/>
              </a:rPr>
              <a:t>Persistence</a:t>
            </a:r>
            <a:r>
              <a:rPr lang="en-US" sz="1200" b="0" i="0" kern="1200" baseline="0" dirty="0">
                <a:solidFill>
                  <a:schemeClr val="tx1"/>
                </a:solidFill>
                <a:latin typeface="Arial" charset="0"/>
                <a:ea typeface="ヒラギノ角ゴ Pro W3" pitchFamily="-112" charset="-128"/>
                <a:cs typeface="+mn-cs"/>
              </a:rPr>
              <a:t> Units:</a:t>
            </a:r>
            <a:endParaRPr lang="en-US" sz="1200" b="0" i="0" kern="1200" dirty="0">
              <a:solidFill>
                <a:schemeClr val="tx1"/>
              </a:solidFill>
              <a:latin typeface="Arial" charset="0"/>
              <a:ea typeface="ヒラギノ角ゴ Pro W3" pitchFamily="-112" charset="-128"/>
              <a:cs typeface="+mn-cs"/>
            </a:endParaRPr>
          </a:p>
          <a:p>
            <a:r>
              <a:rPr lang="en-GB" dirty="0">
                <a:hlinkClick r:id="rId3"/>
              </a:rPr>
              <a:t>http://docs.oracle.com/cd/E19798-01/821-1841/bnbrj/index.html</a:t>
            </a:r>
            <a:endParaRPr lang="en-US" sz="1200" b="0" i="0" kern="1200" dirty="0">
              <a:solidFill>
                <a:schemeClr val="tx1"/>
              </a:solidFill>
              <a:latin typeface="Arial" charset="0"/>
              <a:ea typeface="ヒラギノ角ゴ Pro W3" pitchFamily="-112" charset="-128"/>
              <a:cs typeface="+mn-cs"/>
            </a:endParaRPr>
          </a:p>
          <a:p>
            <a:endParaRPr lang="en-GB" sz="1200" b="0" i="0" kern="1200" dirty="0">
              <a:solidFill>
                <a:schemeClr val="tx1"/>
              </a:solidFill>
              <a:latin typeface="Arial" charset="0"/>
              <a:ea typeface="ヒラギノ角ゴ Pro W3" pitchFamily="-112" charset="-128"/>
              <a:cs typeface="+mn-cs"/>
            </a:endParaRPr>
          </a:p>
          <a:p>
            <a:r>
              <a:rPr lang="en-GB" sz="1200" kern="1200" dirty="0">
                <a:solidFill>
                  <a:schemeClr val="tx1"/>
                </a:solidFill>
                <a:latin typeface="Arial" charset="0"/>
                <a:ea typeface="ヒラギノ角ゴ Pro W3" pitchFamily="-112" charset="-128"/>
                <a:cs typeface="+mn-cs"/>
              </a:rPr>
              <a:t>Hibernate config:</a:t>
            </a:r>
          </a:p>
          <a:p>
            <a:r>
              <a:rPr lang="en-GB" sz="1200" kern="1200" dirty="0">
                <a:solidFill>
                  <a:schemeClr val="tx1"/>
                </a:solidFill>
                <a:latin typeface="Arial" charset="0"/>
                <a:ea typeface="ヒラギノ角ゴ Pro W3" pitchFamily="-112" charset="-128"/>
                <a:cs typeface="+mn-cs"/>
              </a:rPr>
              <a:t>http://docs.jboss.org/hibernate/core/3.3/reference/en/html/session-configuration.html</a:t>
            </a:r>
          </a:p>
          <a:p>
            <a:endParaRPr lang="en-GB" sz="1200" u="sng" kern="1200" dirty="0">
              <a:solidFill>
                <a:schemeClr val="tx1"/>
              </a:solidFill>
              <a:latin typeface="Arial" charset="0"/>
              <a:ea typeface="ヒラギノ角ゴ Pro W3" pitchFamily="-112" charset="-128"/>
              <a:cs typeface="+mn-cs"/>
            </a:endParaRPr>
          </a:p>
          <a:p>
            <a:r>
              <a:rPr lang="en-GB" sz="1200" kern="1200" dirty="0">
                <a:solidFill>
                  <a:schemeClr val="tx1"/>
                </a:solidFill>
                <a:latin typeface="Arial" charset="0"/>
                <a:ea typeface="ヒラギノ角ゴ Pro W3" pitchFamily="-112" charset="-128"/>
                <a:cs typeface="+mn-cs"/>
              </a:rPr>
              <a:t>Configuring C3P0 Connection Pooling from Hibernate</a:t>
            </a:r>
            <a:r>
              <a:rPr lang="en-GB" sz="1200" kern="1200" baseline="0" dirty="0">
                <a:solidFill>
                  <a:schemeClr val="tx1"/>
                </a:solidFill>
                <a:latin typeface="Arial" charset="0"/>
                <a:ea typeface="ヒラギノ角ゴ Pro W3" pitchFamily="-112" charset="-128"/>
                <a:cs typeface="+mn-cs"/>
              </a:rPr>
              <a:t> config</a:t>
            </a:r>
            <a:r>
              <a:rPr lang="en-GB" sz="1200" kern="1200" dirty="0">
                <a:solidFill>
                  <a:schemeClr val="tx1"/>
                </a:solidFill>
                <a:latin typeface="Arial" charset="0"/>
                <a:ea typeface="ヒラギノ角ゴ Pro W3" pitchFamily="-112" charset="-128"/>
                <a:cs typeface="+mn-cs"/>
              </a:rPr>
              <a:t>:</a:t>
            </a:r>
          </a:p>
          <a:p>
            <a:r>
              <a:rPr lang="en-GB" sz="1200" kern="1200" dirty="0">
                <a:solidFill>
                  <a:schemeClr val="tx1"/>
                </a:solidFill>
                <a:latin typeface="Arial" charset="0"/>
                <a:ea typeface="ヒラギノ角ゴ Pro W3" pitchFamily="-112" charset="-128"/>
                <a:cs typeface="+mn-cs"/>
              </a:rPr>
              <a:t>http://www.mchange.com/projects/c3p0/index.html#hibernate-specific</a:t>
            </a:r>
          </a:p>
          <a:p>
            <a:endParaRPr lang="en-GB" sz="1200" kern="1200" dirty="0">
              <a:solidFill>
                <a:schemeClr val="tx1"/>
              </a:solidFill>
              <a:latin typeface="Arial" charset="0"/>
              <a:ea typeface="ヒラギノ角ゴ Pro W3" pitchFamily="-112" charset="-128"/>
              <a:cs typeface="+mn-cs"/>
            </a:endParaRPr>
          </a:p>
          <a:p>
            <a:r>
              <a:rPr lang="en-GB" sz="1200" kern="1200" dirty="0">
                <a:solidFill>
                  <a:schemeClr val="tx1"/>
                </a:solidFill>
                <a:latin typeface="Arial" charset="0"/>
                <a:ea typeface="ヒラギノ角ゴ Pro W3" pitchFamily="-112" charset="-128"/>
                <a:cs typeface="+mn-cs"/>
              </a:rPr>
              <a:t>Properties explained:</a:t>
            </a:r>
          </a:p>
          <a:p>
            <a:r>
              <a:rPr lang="en-GB" sz="1200" kern="1200" dirty="0">
                <a:solidFill>
                  <a:schemeClr val="tx1"/>
                </a:solidFill>
                <a:latin typeface="Arial" charset="0"/>
                <a:ea typeface="ヒラギノ角ゴ Pro W3" pitchFamily="-112" charset="-128"/>
                <a:cs typeface="+mn-cs"/>
              </a:rPr>
              <a:t>http://www.mchange.com/projects/c3p0/index.html#configuration_properties</a:t>
            </a:r>
          </a:p>
          <a:p>
            <a:endParaRPr lang="en-GB" sz="1200" b="0" i="0" kern="1200" dirty="0">
              <a:solidFill>
                <a:schemeClr val="tx1"/>
              </a:solidFill>
              <a:latin typeface="Arial" charset="0"/>
              <a:ea typeface="ヒラギノ角ゴ Pro W3" pitchFamily="-112" charset="-128"/>
              <a:cs typeface="+mn-cs"/>
            </a:endParaRPr>
          </a:p>
          <a:p>
            <a:endParaRPr lang="en-GB" dirty="0"/>
          </a:p>
          <a:p>
            <a:pPr marL="0" indent="0">
              <a:buNone/>
            </a:pPr>
            <a:endParaRPr lang="en-US" dirty="0"/>
          </a:p>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12</a:t>
            </a:fld>
            <a:endParaRPr lang="en-US"/>
          </a:p>
        </p:txBody>
      </p:sp>
    </p:spTree>
    <p:extLst>
      <p:ext uri="{BB962C8B-B14F-4D97-AF65-F5344CB8AC3E}">
        <p14:creationId xmlns:p14="http://schemas.microsoft.com/office/powerpoint/2010/main" val="337946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13</a:t>
            </a:fld>
            <a:endParaRPr lang="en-US"/>
          </a:p>
        </p:txBody>
      </p:sp>
    </p:spTree>
    <p:extLst>
      <p:ext uri="{BB962C8B-B14F-4D97-AF65-F5344CB8AC3E}">
        <p14:creationId xmlns:p14="http://schemas.microsoft.com/office/powerpoint/2010/main" val="10702953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latin typeface="Arial" charset="0"/>
                <a:ea typeface="ヒラギノ角ゴ Pro W3" pitchFamily="-112" charset="-128"/>
                <a:cs typeface="+mn-cs"/>
              </a:rPr>
              <a:t>The name of the specified persistence unit “</a:t>
            </a:r>
            <a:r>
              <a:rPr lang="en-GB" sz="1200" b="1" i="1" dirty="0" err="1">
                <a:solidFill>
                  <a:srgbClr val="333399"/>
                </a:solidFill>
              </a:rPr>
              <a:t>persistenceUnitName</a:t>
            </a:r>
            <a:r>
              <a:rPr lang="en-GB" sz="1200" b="0" i="0" kern="1200" dirty="0">
                <a:solidFill>
                  <a:schemeClr val="tx1"/>
                </a:solidFill>
                <a:latin typeface="Arial" charset="0"/>
                <a:ea typeface="ヒラギノ角ゴ Pro W3" pitchFamily="-112" charset="-128"/>
                <a:cs typeface="+mn-cs"/>
              </a:rPr>
              <a:t>” passed into the </a:t>
            </a:r>
            <a:r>
              <a:rPr lang="en-GB" sz="1200" b="0" i="0" kern="1200" dirty="0" err="1">
                <a:solidFill>
                  <a:schemeClr val="tx1"/>
                </a:solidFill>
                <a:latin typeface="Arial" charset="0"/>
                <a:ea typeface="ヒラギノ角ゴ Pro W3" pitchFamily="-112" charset="-128"/>
                <a:cs typeface="+mn-cs"/>
              </a:rPr>
              <a:t>createEntityManagerFactory</a:t>
            </a:r>
            <a:r>
              <a:rPr lang="en-GB" sz="1200" b="0" i="0" kern="1200" dirty="0">
                <a:solidFill>
                  <a:schemeClr val="tx1"/>
                </a:solidFill>
                <a:latin typeface="Arial" charset="0"/>
                <a:ea typeface="ヒラギノ角ゴ Pro W3" pitchFamily="-112" charset="-128"/>
                <a:cs typeface="+mn-cs"/>
              </a:rPr>
              <a:t>() method identifies the given persistence unit configuration that determines such things as the connection parameters that entity managers generated from this </a:t>
            </a:r>
          </a:p>
          <a:p>
            <a:r>
              <a:rPr lang="en-GB" sz="1200" b="0" i="0" kern="1200" dirty="0">
                <a:solidFill>
                  <a:schemeClr val="tx1"/>
                </a:solidFill>
                <a:latin typeface="Arial" charset="0"/>
                <a:ea typeface="ヒラギノ角ゴ Pro W3" pitchFamily="-112" charset="-128"/>
                <a:cs typeface="+mn-cs"/>
              </a:rPr>
              <a:t>factory will use when connecting to the database.</a:t>
            </a:r>
          </a:p>
          <a:p>
            <a:br>
              <a:rPr lang="en-GB" sz="1200" b="0" i="0" kern="1200" dirty="0">
                <a:solidFill>
                  <a:schemeClr val="tx1"/>
                </a:solidFill>
                <a:latin typeface="Arial" charset="0"/>
                <a:ea typeface="ヒラギノ角ゴ Pro W3" pitchFamily="-112" charset="-128"/>
                <a:cs typeface="+mn-cs"/>
              </a:rPr>
            </a:br>
            <a:r>
              <a:rPr lang="en-GB" sz="1200" b="0" i="0" kern="1200" dirty="0">
                <a:solidFill>
                  <a:schemeClr val="tx1"/>
                </a:solidFill>
                <a:latin typeface="Arial" charset="0"/>
                <a:ea typeface="ヒラギノ角ゴ Pro W3" pitchFamily="-112" charset="-128"/>
                <a:cs typeface="+mn-cs"/>
              </a:rPr>
              <a:t>Be sure to close the </a:t>
            </a:r>
            <a:r>
              <a:rPr lang="en-GB" sz="1200" b="0" i="0" kern="1200" dirty="0" err="1">
                <a:solidFill>
                  <a:schemeClr val="tx1"/>
                </a:solidFill>
                <a:latin typeface="Arial" charset="0"/>
                <a:ea typeface="ヒラギノ角ゴ Pro W3" pitchFamily="-112" charset="-128"/>
                <a:cs typeface="+mn-cs"/>
              </a:rPr>
              <a:t>EntityManager</a:t>
            </a:r>
            <a:r>
              <a:rPr lang="en-GB" sz="1200" b="0" i="0" kern="1200" dirty="0">
                <a:solidFill>
                  <a:schemeClr val="tx1"/>
                </a:solidFill>
                <a:latin typeface="Arial" charset="0"/>
                <a:ea typeface="ヒラギノ角ゴ Pro W3" pitchFamily="-112" charset="-128"/>
                <a:cs typeface="+mn-cs"/>
              </a:rPr>
              <a:t> when you are done</a:t>
            </a:r>
            <a:r>
              <a:rPr lang="en-GB" sz="1200" b="0" i="0" kern="1200" baseline="0" dirty="0">
                <a:solidFill>
                  <a:schemeClr val="tx1"/>
                </a:solidFill>
                <a:latin typeface="Arial" charset="0"/>
                <a:ea typeface="ヒラギノ角ゴ Pro W3" pitchFamily="-112" charset="-128"/>
                <a:cs typeface="+mn-cs"/>
              </a:rPr>
              <a:t> with it. When that is, depends on your design for the application. </a:t>
            </a:r>
            <a:endParaRPr lang="en-GB" sz="1200" b="0" i="0" kern="1200" dirty="0">
              <a:solidFill>
                <a:schemeClr val="tx1"/>
              </a:solidFill>
              <a:latin typeface="Arial" charset="0"/>
              <a:ea typeface="ヒラギノ角ゴ Pro W3" pitchFamily="-112" charset="-128"/>
              <a:cs typeface="+mn-cs"/>
            </a:endParaRPr>
          </a:p>
          <a:p>
            <a:endParaRPr lang="en-GB" dirty="0"/>
          </a:p>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14</a:t>
            </a:fld>
            <a:endParaRPr lang="en-US"/>
          </a:p>
        </p:txBody>
      </p:sp>
    </p:spTree>
    <p:extLst>
      <p:ext uri="{BB962C8B-B14F-4D97-AF65-F5344CB8AC3E}">
        <p14:creationId xmlns:p14="http://schemas.microsoft.com/office/powerpoint/2010/main" val="20735090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latin typeface="Arial" charset="0"/>
                <a:ea typeface="ヒラギノ角ゴ Pro W3" pitchFamily="-112" charset="-128"/>
                <a:cs typeface="+mn-cs"/>
              </a:rPr>
              <a:t>Before you</a:t>
            </a:r>
            <a:r>
              <a:rPr lang="en-GB" sz="1200" b="0" i="0" kern="1200" baseline="0" dirty="0">
                <a:solidFill>
                  <a:schemeClr val="tx1"/>
                </a:solidFill>
                <a:latin typeface="Arial" charset="0"/>
                <a:ea typeface="ヒラギノ角ゴ Pro W3" pitchFamily="-112" charset="-128"/>
                <a:cs typeface="+mn-cs"/>
              </a:rPr>
              <a:t> try to persist, remove or update an entity in the database you will need to begin a transaction, and then commit this transaction.</a:t>
            </a:r>
          </a:p>
          <a:p>
            <a:endParaRPr lang="en-GB" sz="1200" b="0" i="0" kern="1200" baseline="0" dirty="0">
              <a:solidFill>
                <a:schemeClr val="tx1"/>
              </a:solidFill>
              <a:latin typeface="Arial" charset="0"/>
              <a:ea typeface="ヒラギノ角ゴ Pro W3" pitchFamily="-112" charset="-128"/>
              <a:cs typeface="+mn-cs"/>
            </a:endParaRPr>
          </a:p>
          <a:p>
            <a:r>
              <a:rPr lang="en-GB" sz="1200" b="0" i="0" kern="1200" dirty="0">
                <a:solidFill>
                  <a:schemeClr val="tx1"/>
                </a:solidFill>
                <a:latin typeface="Arial" charset="0"/>
                <a:ea typeface="ヒラギノ角ゴ Pro W3" pitchFamily="-112" charset="-128"/>
                <a:cs typeface="+mn-cs"/>
              </a:rPr>
              <a:t>Merge</a:t>
            </a:r>
            <a:r>
              <a:rPr lang="en-GB" sz="1200" b="0" i="0" kern="1200" baseline="0" dirty="0">
                <a:solidFill>
                  <a:schemeClr val="tx1"/>
                </a:solidFill>
                <a:latin typeface="Arial" charset="0"/>
                <a:ea typeface="ヒラギノ角ゴ Pro W3" pitchFamily="-112" charset="-128"/>
                <a:cs typeface="+mn-cs"/>
              </a:rPr>
              <a:t> (UPDATE) can also be used in order to update entity but usually by using setters will apply the changed of the object state and sync the with the DB.</a:t>
            </a:r>
            <a:endParaRPr lang="en-GB" sz="1200" b="0" i="0" kern="1200" dirty="0">
              <a:solidFill>
                <a:schemeClr val="tx1"/>
              </a:solidFill>
              <a:latin typeface="Arial" charset="0"/>
              <a:ea typeface="ヒラギノ角ゴ Pro W3" pitchFamily="-112" charset="-128"/>
              <a:cs typeface="+mn-cs"/>
            </a:endParaRPr>
          </a:p>
          <a:p>
            <a:endParaRPr lang="en-GB" dirty="0"/>
          </a:p>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15</a:t>
            </a:fld>
            <a:endParaRPr lang="en-US"/>
          </a:p>
        </p:txBody>
      </p:sp>
    </p:spTree>
    <p:extLst>
      <p:ext uri="{BB962C8B-B14F-4D97-AF65-F5344CB8AC3E}">
        <p14:creationId xmlns:p14="http://schemas.microsoft.com/office/powerpoint/2010/main" val="12644056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latin typeface="Arial" charset="0"/>
                <a:ea typeface="ヒラギノ角ゴ Pro W3" pitchFamily="-112" charset="-128"/>
                <a:cs typeface="+mn-cs"/>
              </a:rPr>
              <a:t>Before you</a:t>
            </a:r>
            <a:r>
              <a:rPr lang="en-GB" sz="1200" b="0" i="0" kern="1200" baseline="0" dirty="0">
                <a:solidFill>
                  <a:schemeClr val="tx1"/>
                </a:solidFill>
                <a:latin typeface="Arial" charset="0"/>
                <a:ea typeface="ヒラギノ角ゴ Pro W3" pitchFamily="-112" charset="-128"/>
                <a:cs typeface="+mn-cs"/>
              </a:rPr>
              <a:t> try to persist, remove or update an entity in the database you will need to begin a transaction, and then commit this transaction.</a:t>
            </a:r>
          </a:p>
          <a:p>
            <a:endParaRPr lang="en-GB" sz="1200" b="0" i="0" kern="1200" baseline="0" dirty="0">
              <a:solidFill>
                <a:schemeClr val="tx1"/>
              </a:solidFill>
              <a:latin typeface="Arial" charset="0"/>
              <a:ea typeface="ヒラギノ角ゴ Pro W3" pitchFamily="-112" charset="-128"/>
              <a:cs typeface="+mn-cs"/>
            </a:endParaRPr>
          </a:p>
          <a:p>
            <a:r>
              <a:rPr lang="en-GB" sz="1200" b="0" i="0" kern="1200" dirty="0">
                <a:solidFill>
                  <a:schemeClr val="tx1"/>
                </a:solidFill>
                <a:latin typeface="Arial" charset="0"/>
                <a:ea typeface="ヒラギノ角ゴ Pro W3" pitchFamily="-112" charset="-128"/>
                <a:cs typeface="+mn-cs"/>
              </a:rPr>
              <a:t>Merge</a:t>
            </a:r>
            <a:r>
              <a:rPr lang="en-GB" sz="1200" b="0" i="0" kern="1200" baseline="0" dirty="0">
                <a:solidFill>
                  <a:schemeClr val="tx1"/>
                </a:solidFill>
                <a:latin typeface="Arial" charset="0"/>
                <a:ea typeface="ヒラギノ角ゴ Pro W3" pitchFamily="-112" charset="-128"/>
                <a:cs typeface="+mn-cs"/>
              </a:rPr>
              <a:t> (UPDATE) can also be used in order to update entity but usually by using setters will apply the </a:t>
            </a:r>
            <a:r>
              <a:rPr lang="en-GB" sz="1200" b="0" i="0" kern="1200" baseline="0" dirty="0" err="1">
                <a:solidFill>
                  <a:schemeClr val="tx1"/>
                </a:solidFill>
                <a:latin typeface="Arial" charset="0"/>
                <a:ea typeface="ヒラギノ角ゴ Pro W3" pitchFamily="-112" charset="-128"/>
                <a:cs typeface="+mn-cs"/>
              </a:rPr>
              <a:t>the</a:t>
            </a:r>
            <a:r>
              <a:rPr lang="en-GB" sz="1200" b="0" i="0" kern="1200" baseline="0" dirty="0">
                <a:solidFill>
                  <a:schemeClr val="tx1"/>
                </a:solidFill>
                <a:latin typeface="Arial" charset="0"/>
                <a:ea typeface="ヒラギノ角ゴ Pro W3" pitchFamily="-112" charset="-128"/>
                <a:cs typeface="+mn-cs"/>
              </a:rPr>
              <a:t> changed of the object state and synch the with the DB.</a:t>
            </a:r>
            <a:endParaRPr lang="en-GB" sz="1200" b="0" i="0" kern="1200" dirty="0">
              <a:solidFill>
                <a:schemeClr val="tx1"/>
              </a:solidFill>
              <a:latin typeface="Arial" charset="0"/>
              <a:ea typeface="ヒラギノ角ゴ Pro W3" pitchFamily="-112" charset="-128"/>
              <a:cs typeface="+mn-cs"/>
            </a:endParaRPr>
          </a:p>
          <a:p>
            <a:endParaRPr lang="en-GB" dirty="0"/>
          </a:p>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16</a:t>
            </a:fld>
            <a:endParaRPr lang="en-US"/>
          </a:p>
        </p:txBody>
      </p:sp>
    </p:spTree>
    <p:extLst>
      <p:ext uri="{BB962C8B-B14F-4D97-AF65-F5344CB8AC3E}">
        <p14:creationId xmlns:p14="http://schemas.microsoft.com/office/powerpoint/2010/main" val="12082731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latin typeface="Arial" charset="0"/>
                <a:ea typeface="ヒラギノ角ゴ Pro W3" pitchFamily="-112" charset="-128"/>
                <a:cs typeface="+mn-cs"/>
              </a:rPr>
              <a:t>Before you</a:t>
            </a:r>
            <a:r>
              <a:rPr lang="en-GB" sz="1200" b="0" i="0" kern="1200" baseline="0" dirty="0">
                <a:solidFill>
                  <a:schemeClr val="tx1"/>
                </a:solidFill>
                <a:latin typeface="Arial" charset="0"/>
                <a:ea typeface="ヒラギノ角ゴ Pro W3" pitchFamily="-112" charset="-128"/>
                <a:cs typeface="+mn-cs"/>
              </a:rPr>
              <a:t> try to persist, remove or update an entity in the database you will need to begin a transaction, and then commit this transaction.</a:t>
            </a:r>
          </a:p>
          <a:p>
            <a:endParaRPr lang="en-GB" sz="1200" b="0" i="0" kern="1200" baseline="0" dirty="0">
              <a:solidFill>
                <a:schemeClr val="tx1"/>
              </a:solidFill>
              <a:latin typeface="Arial" charset="0"/>
              <a:ea typeface="ヒラギノ角ゴ Pro W3" pitchFamily="-112" charset="-128"/>
              <a:cs typeface="+mn-cs"/>
            </a:endParaRPr>
          </a:p>
          <a:p>
            <a:r>
              <a:rPr lang="en-GB" sz="1200" b="0" i="0" kern="1200" dirty="0">
                <a:solidFill>
                  <a:schemeClr val="tx1"/>
                </a:solidFill>
                <a:latin typeface="Arial" charset="0"/>
                <a:ea typeface="ヒラギノ角ゴ Pro W3" pitchFamily="-112" charset="-128"/>
                <a:cs typeface="+mn-cs"/>
              </a:rPr>
              <a:t>Merge</a:t>
            </a:r>
            <a:r>
              <a:rPr lang="en-GB" sz="1200" b="0" i="0" kern="1200" baseline="0" dirty="0">
                <a:solidFill>
                  <a:schemeClr val="tx1"/>
                </a:solidFill>
                <a:latin typeface="Arial" charset="0"/>
                <a:ea typeface="ヒラギノ角ゴ Pro W3" pitchFamily="-112" charset="-128"/>
                <a:cs typeface="+mn-cs"/>
              </a:rPr>
              <a:t> (UPDATE) can also be used in order to update entity but usually by using setters will apply the </a:t>
            </a:r>
            <a:r>
              <a:rPr lang="en-GB" sz="1200" b="0" i="0" kern="1200" baseline="0" dirty="0" err="1">
                <a:solidFill>
                  <a:schemeClr val="tx1"/>
                </a:solidFill>
                <a:latin typeface="Arial" charset="0"/>
                <a:ea typeface="ヒラギノ角ゴ Pro W3" pitchFamily="-112" charset="-128"/>
                <a:cs typeface="+mn-cs"/>
              </a:rPr>
              <a:t>the</a:t>
            </a:r>
            <a:r>
              <a:rPr lang="en-GB" sz="1200" b="0" i="0" kern="1200" baseline="0" dirty="0">
                <a:solidFill>
                  <a:schemeClr val="tx1"/>
                </a:solidFill>
                <a:latin typeface="Arial" charset="0"/>
                <a:ea typeface="ヒラギノ角ゴ Pro W3" pitchFamily="-112" charset="-128"/>
                <a:cs typeface="+mn-cs"/>
              </a:rPr>
              <a:t> changed of the object state and synch the with the DB.</a:t>
            </a:r>
            <a:endParaRPr lang="en-GB" sz="1200" b="0" i="0" kern="1200" dirty="0">
              <a:solidFill>
                <a:schemeClr val="tx1"/>
              </a:solidFill>
              <a:latin typeface="Arial" charset="0"/>
              <a:ea typeface="ヒラギノ角ゴ Pro W3" pitchFamily="-112" charset="-128"/>
              <a:cs typeface="+mn-cs"/>
            </a:endParaRPr>
          </a:p>
          <a:p>
            <a:endParaRPr lang="en-GB" dirty="0"/>
          </a:p>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17</a:t>
            </a:fld>
            <a:endParaRPr lang="en-US"/>
          </a:p>
        </p:txBody>
      </p:sp>
    </p:spTree>
    <p:extLst>
      <p:ext uri="{BB962C8B-B14F-4D97-AF65-F5344CB8AC3E}">
        <p14:creationId xmlns:p14="http://schemas.microsoft.com/office/powerpoint/2010/main" val="3351368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18</a:t>
            </a:fld>
            <a:endParaRPr lang="en-US"/>
          </a:p>
        </p:txBody>
      </p:sp>
    </p:spTree>
    <p:extLst>
      <p:ext uri="{BB962C8B-B14F-4D97-AF65-F5344CB8AC3E}">
        <p14:creationId xmlns:p14="http://schemas.microsoft.com/office/powerpoint/2010/main" val="28462461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19</a:t>
            </a:fld>
            <a:endParaRPr lang="en-US"/>
          </a:p>
        </p:txBody>
      </p:sp>
    </p:spTree>
    <p:extLst>
      <p:ext uri="{BB962C8B-B14F-4D97-AF65-F5344CB8AC3E}">
        <p14:creationId xmlns:p14="http://schemas.microsoft.com/office/powerpoint/2010/main" val="10380591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Transient (New)</a:t>
            </a:r>
          </a:p>
          <a:p>
            <a:pPr lvl="1"/>
            <a:r>
              <a:rPr lang="en-GB" dirty="0"/>
              <a:t>A newly created object that hasn’t been associated with persistence context and is not mapped to any database table row</a:t>
            </a:r>
          </a:p>
          <a:p>
            <a:r>
              <a:rPr lang="en-GB" dirty="0"/>
              <a:t>Managed (Persisted)</a:t>
            </a:r>
          </a:p>
          <a:p>
            <a:pPr lvl="1"/>
            <a:r>
              <a:rPr lang="en-GB" dirty="0"/>
              <a:t>Transient object to become persisted/managed we need to explicitly call the persist()</a:t>
            </a:r>
          </a:p>
          <a:p>
            <a:pPr lvl="1"/>
            <a:r>
              <a:rPr lang="en-GB" dirty="0"/>
              <a:t>Persistent entity has been associated with a database table row and is being managed by current running persistence context.</a:t>
            </a:r>
          </a:p>
          <a:p>
            <a:r>
              <a:rPr lang="en-GB" dirty="0"/>
              <a:t>Detached</a:t>
            </a:r>
          </a:p>
          <a:p>
            <a:pPr lvl="1"/>
            <a:r>
              <a:rPr lang="en-GB" dirty="0"/>
              <a:t>Once the current running persistence context is closed all previously managed entities becomes detached.</a:t>
            </a:r>
          </a:p>
          <a:p>
            <a:pPr lvl="1"/>
            <a:r>
              <a:rPr lang="en-GB" dirty="0"/>
              <a:t>Merge : The merge operation is going to copy the detached entity state to a managed entity instance . If merging has no equivalent in the current running persistence context , one will be fetched from the database.</a:t>
            </a:r>
          </a:p>
          <a:p>
            <a:pPr lvl="1"/>
            <a:r>
              <a:rPr lang="en-GB" dirty="0"/>
              <a:t>The detached object will continue to remain detached even after the merge operation.</a:t>
            </a:r>
          </a:p>
          <a:p>
            <a:r>
              <a:rPr lang="en-GB" dirty="0"/>
              <a:t>Deleted/Removed</a:t>
            </a:r>
          </a:p>
          <a:p>
            <a:pPr lvl="1"/>
            <a:r>
              <a:rPr lang="en-GB" dirty="0"/>
              <a:t>Only managed entities are allowed to be removed . </a:t>
            </a:r>
          </a:p>
          <a:p>
            <a:pPr lvl="1"/>
            <a:r>
              <a:rPr lang="en-GB" dirty="0"/>
              <a:t>Removed entity is only scheduled for deletion and the actual database DELETE statement will be executed during flush.</a:t>
            </a:r>
          </a:p>
          <a:p>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hlinkClick r:id="rId3"/>
              </a:rPr>
              <a:t>https://docs.oracle.com/html/E13946_03/ejb3_overview_em_lifecycle.html</a:t>
            </a:r>
            <a:endParaRPr lang="en-IN" dirty="0"/>
          </a:p>
          <a:p>
            <a:endParaRPr lang="en-CA" dirty="0"/>
          </a:p>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20</a:t>
            </a:fld>
            <a:endParaRPr lang="en-US"/>
          </a:p>
        </p:txBody>
      </p:sp>
    </p:spTree>
    <p:extLst>
      <p:ext uri="{BB962C8B-B14F-4D97-AF65-F5344CB8AC3E}">
        <p14:creationId xmlns:p14="http://schemas.microsoft.com/office/powerpoint/2010/main" val="29914124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21</a:t>
            </a:fld>
            <a:endParaRPr lang="en-US"/>
          </a:p>
        </p:txBody>
      </p:sp>
    </p:spTree>
    <p:extLst>
      <p:ext uri="{BB962C8B-B14F-4D97-AF65-F5344CB8AC3E}">
        <p14:creationId xmlns:p14="http://schemas.microsoft.com/office/powerpoint/2010/main" val="21052459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22</a:t>
            </a:fld>
            <a:endParaRPr lang="en-US"/>
          </a:p>
        </p:txBody>
      </p:sp>
    </p:spTree>
    <p:extLst>
      <p:ext uri="{BB962C8B-B14F-4D97-AF65-F5344CB8AC3E}">
        <p14:creationId xmlns:p14="http://schemas.microsoft.com/office/powerpoint/2010/main" val="16411986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23</a:t>
            </a:fld>
            <a:endParaRPr lang="en-US"/>
          </a:p>
        </p:txBody>
      </p:sp>
    </p:spTree>
    <p:extLst>
      <p:ext uri="{BB962C8B-B14F-4D97-AF65-F5344CB8AC3E}">
        <p14:creationId xmlns:p14="http://schemas.microsoft.com/office/powerpoint/2010/main" val="20574887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24</a:t>
            </a:fld>
            <a:endParaRPr lang="en-US"/>
          </a:p>
        </p:txBody>
      </p:sp>
    </p:spTree>
    <p:extLst>
      <p:ext uri="{BB962C8B-B14F-4D97-AF65-F5344CB8AC3E}">
        <p14:creationId xmlns:p14="http://schemas.microsoft.com/office/powerpoint/2010/main" val="13236959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25</a:t>
            </a:fld>
            <a:endParaRPr lang="en-US"/>
          </a:p>
        </p:txBody>
      </p:sp>
    </p:spTree>
    <p:extLst>
      <p:ext uri="{BB962C8B-B14F-4D97-AF65-F5344CB8AC3E}">
        <p14:creationId xmlns:p14="http://schemas.microsoft.com/office/powerpoint/2010/main" val="21714478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26</a:t>
            </a:fld>
            <a:endParaRPr lang="en-US"/>
          </a:p>
        </p:txBody>
      </p:sp>
    </p:spTree>
    <p:extLst>
      <p:ext uri="{BB962C8B-B14F-4D97-AF65-F5344CB8AC3E}">
        <p14:creationId xmlns:p14="http://schemas.microsoft.com/office/powerpoint/2010/main" val="36229309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AUTO - Indicates that the</a:t>
            </a:r>
            <a:r>
              <a:rPr lang="en-IN" baseline="0" dirty="0"/>
              <a:t> persistence JPA should pick an appropriate strategy for the particular database</a:t>
            </a:r>
            <a:endParaRPr lang="en-IN" dirty="0"/>
          </a:p>
          <a:p>
            <a:endParaRPr lang="en-CA" dirty="0"/>
          </a:p>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27</a:t>
            </a:fld>
            <a:endParaRPr lang="en-US"/>
          </a:p>
        </p:txBody>
      </p:sp>
    </p:spTree>
    <p:extLst>
      <p:ext uri="{BB962C8B-B14F-4D97-AF65-F5344CB8AC3E}">
        <p14:creationId xmlns:p14="http://schemas.microsoft.com/office/powerpoint/2010/main" val="1553024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28</a:t>
            </a:fld>
            <a:endParaRPr lang="en-US"/>
          </a:p>
        </p:txBody>
      </p:sp>
    </p:spTree>
    <p:extLst>
      <p:ext uri="{BB962C8B-B14F-4D97-AF65-F5344CB8AC3E}">
        <p14:creationId xmlns:p14="http://schemas.microsoft.com/office/powerpoint/2010/main" val="25744957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29</a:t>
            </a:fld>
            <a:endParaRPr lang="en-US"/>
          </a:p>
        </p:txBody>
      </p:sp>
    </p:spTree>
    <p:extLst>
      <p:ext uri="{BB962C8B-B14F-4D97-AF65-F5344CB8AC3E}">
        <p14:creationId xmlns:p14="http://schemas.microsoft.com/office/powerpoint/2010/main" val="9160642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30</a:t>
            </a:fld>
            <a:endParaRPr lang="en-US"/>
          </a:p>
        </p:txBody>
      </p:sp>
    </p:spTree>
    <p:extLst>
      <p:ext uri="{BB962C8B-B14F-4D97-AF65-F5344CB8AC3E}">
        <p14:creationId xmlns:p14="http://schemas.microsoft.com/office/powerpoint/2010/main" val="30588865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31</a:t>
            </a:fld>
            <a:endParaRPr lang="en-US"/>
          </a:p>
        </p:txBody>
      </p:sp>
    </p:spTree>
    <p:extLst>
      <p:ext uri="{BB962C8B-B14F-4D97-AF65-F5344CB8AC3E}">
        <p14:creationId xmlns:p14="http://schemas.microsoft.com/office/powerpoint/2010/main" val="21359190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32</a:t>
            </a:fld>
            <a:endParaRPr lang="en-US"/>
          </a:p>
        </p:txBody>
      </p:sp>
    </p:spTree>
    <p:extLst>
      <p:ext uri="{BB962C8B-B14F-4D97-AF65-F5344CB8AC3E}">
        <p14:creationId xmlns:p14="http://schemas.microsoft.com/office/powerpoint/2010/main" val="28015778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33</a:t>
            </a:fld>
            <a:endParaRPr lang="en-US"/>
          </a:p>
        </p:txBody>
      </p:sp>
    </p:spTree>
    <p:extLst>
      <p:ext uri="{BB962C8B-B14F-4D97-AF65-F5344CB8AC3E}">
        <p14:creationId xmlns:p14="http://schemas.microsoft.com/office/powerpoint/2010/main" val="33926249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34</a:t>
            </a:fld>
            <a:endParaRPr lang="en-US"/>
          </a:p>
        </p:txBody>
      </p:sp>
    </p:spTree>
    <p:extLst>
      <p:ext uri="{BB962C8B-B14F-4D97-AF65-F5344CB8AC3E}">
        <p14:creationId xmlns:p14="http://schemas.microsoft.com/office/powerpoint/2010/main" val="5315912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35</a:t>
            </a:fld>
            <a:endParaRPr lang="en-US"/>
          </a:p>
        </p:txBody>
      </p:sp>
    </p:spTree>
    <p:extLst>
      <p:ext uri="{BB962C8B-B14F-4D97-AF65-F5344CB8AC3E}">
        <p14:creationId xmlns:p14="http://schemas.microsoft.com/office/powerpoint/2010/main" val="11398302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36</a:t>
            </a:fld>
            <a:endParaRPr lang="en-US"/>
          </a:p>
        </p:txBody>
      </p:sp>
    </p:spTree>
    <p:extLst>
      <p:ext uri="{BB962C8B-B14F-4D97-AF65-F5344CB8AC3E}">
        <p14:creationId xmlns:p14="http://schemas.microsoft.com/office/powerpoint/2010/main" val="31223182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37</a:t>
            </a:fld>
            <a:endParaRPr lang="en-US"/>
          </a:p>
        </p:txBody>
      </p:sp>
    </p:spTree>
    <p:extLst>
      <p:ext uri="{BB962C8B-B14F-4D97-AF65-F5344CB8AC3E}">
        <p14:creationId xmlns:p14="http://schemas.microsoft.com/office/powerpoint/2010/main" val="23291933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38</a:t>
            </a:fld>
            <a:endParaRPr lang="en-US"/>
          </a:p>
        </p:txBody>
      </p:sp>
    </p:spTree>
    <p:extLst>
      <p:ext uri="{BB962C8B-B14F-4D97-AF65-F5344CB8AC3E}">
        <p14:creationId xmlns:p14="http://schemas.microsoft.com/office/powerpoint/2010/main" val="5657749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39</a:t>
            </a:fld>
            <a:endParaRPr lang="en-US"/>
          </a:p>
        </p:txBody>
      </p:sp>
    </p:spTree>
    <p:extLst>
      <p:ext uri="{BB962C8B-B14F-4D97-AF65-F5344CB8AC3E}">
        <p14:creationId xmlns:p14="http://schemas.microsoft.com/office/powerpoint/2010/main" val="21541021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40</a:t>
            </a:fld>
            <a:endParaRPr lang="en-US"/>
          </a:p>
        </p:txBody>
      </p:sp>
    </p:spTree>
    <p:extLst>
      <p:ext uri="{BB962C8B-B14F-4D97-AF65-F5344CB8AC3E}">
        <p14:creationId xmlns:p14="http://schemas.microsoft.com/office/powerpoint/2010/main" val="24345403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41</a:t>
            </a:fld>
            <a:endParaRPr lang="en-US"/>
          </a:p>
        </p:txBody>
      </p:sp>
    </p:spTree>
    <p:extLst>
      <p:ext uri="{BB962C8B-B14F-4D97-AF65-F5344CB8AC3E}">
        <p14:creationId xmlns:p14="http://schemas.microsoft.com/office/powerpoint/2010/main" val="28168677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42</a:t>
            </a:fld>
            <a:endParaRPr lang="en-US"/>
          </a:p>
        </p:txBody>
      </p:sp>
    </p:spTree>
    <p:extLst>
      <p:ext uri="{BB962C8B-B14F-4D97-AF65-F5344CB8AC3E}">
        <p14:creationId xmlns:p14="http://schemas.microsoft.com/office/powerpoint/2010/main" val="2159509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43</a:t>
            </a:fld>
            <a:endParaRPr lang="en-US"/>
          </a:p>
        </p:txBody>
      </p:sp>
    </p:spTree>
    <p:extLst>
      <p:ext uri="{BB962C8B-B14F-4D97-AF65-F5344CB8AC3E}">
        <p14:creationId xmlns:p14="http://schemas.microsoft.com/office/powerpoint/2010/main" val="314901669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44</a:t>
            </a:fld>
            <a:endParaRPr lang="en-US"/>
          </a:p>
        </p:txBody>
      </p:sp>
    </p:spTree>
    <p:extLst>
      <p:ext uri="{BB962C8B-B14F-4D97-AF65-F5344CB8AC3E}">
        <p14:creationId xmlns:p14="http://schemas.microsoft.com/office/powerpoint/2010/main" val="20232514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45</a:t>
            </a:fld>
            <a:endParaRPr lang="en-US"/>
          </a:p>
        </p:txBody>
      </p:sp>
    </p:spTree>
    <p:extLst>
      <p:ext uri="{BB962C8B-B14F-4D97-AF65-F5344CB8AC3E}">
        <p14:creationId xmlns:p14="http://schemas.microsoft.com/office/powerpoint/2010/main" val="44544795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46</a:t>
            </a:fld>
            <a:endParaRPr lang="en-US"/>
          </a:p>
        </p:txBody>
      </p:sp>
    </p:spTree>
    <p:extLst>
      <p:ext uri="{BB962C8B-B14F-4D97-AF65-F5344CB8AC3E}">
        <p14:creationId xmlns:p14="http://schemas.microsoft.com/office/powerpoint/2010/main" val="33482160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47</a:t>
            </a:fld>
            <a:endParaRPr lang="en-US"/>
          </a:p>
        </p:txBody>
      </p:sp>
    </p:spTree>
    <p:extLst>
      <p:ext uri="{BB962C8B-B14F-4D97-AF65-F5344CB8AC3E}">
        <p14:creationId xmlns:p14="http://schemas.microsoft.com/office/powerpoint/2010/main" val="17449129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48</a:t>
            </a:fld>
            <a:endParaRPr lang="en-US"/>
          </a:p>
        </p:txBody>
      </p:sp>
    </p:spTree>
    <p:extLst>
      <p:ext uri="{BB962C8B-B14F-4D97-AF65-F5344CB8AC3E}">
        <p14:creationId xmlns:p14="http://schemas.microsoft.com/office/powerpoint/2010/main" val="382897211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49</a:t>
            </a:fld>
            <a:endParaRPr lang="en-US"/>
          </a:p>
        </p:txBody>
      </p:sp>
    </p:spTree>
    <p:extLst>
      <p:ext uri="{BB962C8B-B14F-4D97-AF65-F5344CB8AC3E}">
        <p14:creationId xmlns:p14="http://schemas.microsoft.com/office/powerpoint/2010/main" val="35542914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50</a:t>
            </a:fld>
            <a:endParaRPr lang="en-US"/>
          </a:p>
        </p:txBody>
      </p:sp>
    </p:spTree>
    <p:extLst>
      <p:ext uri="{BB962C8B-B14F-4D97-AF65-F5344CB8AC3E}">
        <p14:creationId xmlns:p14="http://schemas.microsoft.com/office/powerpoint/2010/main" val="399261040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51</a:t>
            </a:fld>
            <a:endParaRPr lang="en-US"/>
          </a:p>
        </p:txBody>
      </p:sp>
    </p:spTree>
    <p:extLst>
      <p:ext uri="{BB962C8B-B14F-4D97-AF65-F5344CB8AC3E}">
        <p14:creationId xmlns:p14="http://schemas.microsoft.com/office/powerpoint/2010/main" val="15753694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52</a:t>
            </a:fld>
            <a:endParaRPr lang="en-US"/>
          </a:p>
        </p:txBody>
      </p:sp>
    </p:spTree>
    <p:extLst>
      <p:ext uri="{BB962C8B-B14F-4D97-AF65-F5344CB8AC3E}">
        <p14:creationId xmlns:p14="http://schemas.microsoft.com/office/powerpoint/2010/main" val="186403236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53</a:t>
            </a:fld>
            <a:endParaRPr lang="en-US"/>
          </a:p>
        </p:txBody>
      </p:sp>
    </p:spTree>
    <p:extLst>
      <p:ext uri="{BB962C8B-B14F-4D97-AF65-F5344CB8AC3E}">
        <p14:creationId xmlns:p14="http://schemas.microsoft.com/office/powerpoint/2010/main" val="1326503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54</a:t>
            </a:fld>
            <a:endParaRPr lang="en-US"/>
          </a:p>
        </p:txBody>
      </p:sp>
    </p:spTree>
    <p:extLst>
      <p:ext uri="{BB962C8B-B14F-4D97-AF65-F5344CB8AC3E}">
        <p14:creationId xmlns:p14="http://schemas.microsoft.com/office/powerpoint/2010/main" val="141617588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55</a:t>
            </a:fld>
            <a:endParaRPr lang="en-US"/>
          </a:p>
        </p:txBody>
      </p:sp>
    </p:spTree>
    <p:extLst>
      <p:ext uri="{BB962C8B-B14F-4D97-AF65-F5344CB8AC3E}">
        <p14:creationId xmlns:p14="http://schemas.microsoft.com/office/powerpoint/2010/main" val="34243679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56</a:t>
            </a:fld>
            <a:endParaRPr lang="en-US"/>
          </a:p>
        </p:txBody>
      </p:sp>
    </p:spTree>
    <p:extLst>
      <p:ext uri="{BB962C8B-B14F-4D97-AF65-F5344CB8AC3E}">
        <p14:creationId xmlns:p14="http://schemas.microsoft.com/office/powerpoint/2010/main" val="172049306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57</a:t>
            </a:fld>
            <a:endParaRPr lang="en-US"/>
          </a:p>
        </p:txBody>
      </p:sp>
    </p:spTree>
    <p:extLst>
      <p:ext uri="{BB962C8B-B14F-4D97-AF65-F5344CB8AC3E}">
        <p14:creationId xmlns:p14="http://schemas.microsoft.com/office/powerpoint/2010/main" val="253164507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58</a:t>
            </a:fld>
            <a:endParaRPr lang="en-US"/>
          </a:p>
        </p:txBody>
      </p:sp>
    </p:spTree>
    <p:extLst>
      <p:ext uri="{BB962C8B-B14F-4D97-AF65-F5344CB8AC3E}">
        <p14:creationId xmlns:p14="http://schemas.microsoft.com/office/powerpoint/2010/main" val="124973780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59</a:t>
            </a:fld>
            <a:endParaRPr lang="en-US"/>
          </a:p>
        </p:txBody>
      </p:sp>
    </p:spTree>
    <p:extLst>
      <p:ext uri="{BB962C8B-B14F-4D97-AF65-F5344CB8AC3E}">
        <p14:creationId xmlns:p14="http://schemas.microsoft.com/office/powerpoint/2010/main" val="102575062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60</a:t>
            </a:fld>
            <a:endParaRPr lang="en-US"/>
          </a:p>
        </p:txBody>
      </p:sp>
    </p:spTree>
    <p:extLst>
      <p:ext uri="{BB962C8B-B14F-4D97-AF65-F5344CB8AC3E}">
        <p14:creationId xmlns:p14="http://schemas.microsoft.com/office/powerpoint/2010/main" val="2915719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F997412-C0EA-48EA-88D8-DF08CC072BD6}"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DAF3D3-DC34-4A62-89D3-DF362488D2E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9165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997412-C0EA-48EA-88D8-DF08CC072BD6}"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79183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F997412-C0EA-48EA-88D8-DF08CC072BD6}"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DAF3D3-DC34-4A62-89D3-DF362488D2E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6269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F997412-C0EA-48EA-88D8-DF08CC072BD6}" type="datetimeFigureOut">
              <a:rPr lang="en-US" smtClean="0"/>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1188407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F997412-C0EA-48EA-88D8-DF08CC072BD6}" type="datetimeFigureOut">
              <a:rPr lang="en-US" smtClean="0"/>
              <a:t>9/19/2025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1135146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997412-C0EA-48EA-88D8-DF08CC072BD6}" type="datetimeFigureOut">
              <a:rPr lang="en-US" smtClean="0"/>
              <a:t>9/19/2025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2899607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F997412-C0EA-48EA-88D8-DF08CC072BD6}" type="datetimeFigureOut">
              <a:rPr lang="en-US" smtClean="0"/>
              <a:t>9/19/2025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1252306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F997412-C0EA-48EA-88D8-DF08CC072BD6}" type="datetimeFigureOut">
              <a:rPr lang="en-US" smtClean="0"/>
              <a:t>9/19/2025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BDAF3D3-DC34-4A62-89D3-DF362488D2E1}" type="slidenum">
              <a:rPr lang="en-US" smtClean="0"/>
              <a:t>‹#›</a:t>
            </a:fld>
            <a:endParaRPr lang="en-US"/>
          </a:p>
        </p:txBody>
      </p:sp>
    </p:spTree>
    <p:extLst>
      <p:ext uri="{BB962C8B-B14F-4D97-AF65-F5344CB8AC3E}">
        <p14:creationId xmlns:p14="http://schemas.microsoft.com/office/powerpoint/2010/main" val="1292737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F997412-C0EA-48EA-88D8-DF08CC072BD6}" type="datetimeFigureOut">
              <a:rPr lang="en-US" smtClean="0"/>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972703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997412-C0EA-48EA-88D8-DF08CC072BD6}"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2992636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997412-C0EA-48EA-88D8-DF08CC072BD6}"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2772345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F997412-C0EA-48EA-88D8-DF08CC072BD6}" type="datetimeFigureOut">
              <a:rPr lang="en-US" smtClean="0"/>
              <a:t>9/19/2025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BDAF3D3-DC34-4A62-89D3-DF362488D2E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193902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7.xml"/><Relationship Id="rId4" Type="http://schemas.openxmlformats.org/officeDocument/2006/relationships/image" Target="../media/image6.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7BE49-CD65-48C8-A4E7-588C46A51235}"/>
              </a:ext>
            </a:extLst>
          </p:cNvPr>
          <p:cNvSpPr>
            <a:spLocks noGrp="1"/>
          </p:cNvSpPr>
          <p:nvPr>
            <p:ph type="ctrTitle"/>
          </p:nvPr>
        </p:nvSpPr>
        <p:spPr/>
        <p:txBody>
          <a:bodyPr/>
          <a:lstStyle/>
          <a:p>
            <a:r>
              <a:rPr lang="en-US" dirty="0">
                <a:solidFill>
                  <a:srgbClr val="002060"/>
                </a:solidFill>
              </a:rPr>
              <a:t>Enterprise Java</a:t>
            </a:r>
          </a:p>
        </p:txBody>
      </p:sp>
      <p:sp>
        <p:nvSpPr>
          <p:cNvPr id="3" name="Subtitle 2">
            <a:extLst>
              <a:ext uri="{FF2B5EF4-FFF2-40B4-BE49-F238E27FC236}">
                <a16:creationId xmlns:a16="http://schemas.microsoft.com/office/drawing/2014/main" id="{80B175E9-D318-4465-9B35-C9DAA9E5E728}"/>
              </a:ext>
            </a:extLst>
          </p:cNvPr>
          <p:cNvSpPr>
            <a:spLocks noGrp="1"/>
          </p:cNvSpPr>
          <p:nvPr>
            <p:ph type="subTitle" idx="1"/>
          </p:nvPr>
        </p:nvSpPr>
        <p:spPr>
          <a:xfrm>
            <a:off x="2953379" y="2098676"/>
            <a:ext cx="10058400" cy="541556"/>
          </a:xfrm>
        </p:spPr>
        <p:txBody>
          <a:bodyPr/>
          <a:lstStyle/>
          <a:p>
            <a:r>
              <a:rPr lang="en-US" dirty="0"/>
              <a:t>Information Technology</a:t>
            </a:r>
          </a:p>
          <a:p>
            <a:endParaRPr lang="en-US" dirty="0"/>
          </a:p>
        </p:txBody>
      </p:sp>
      <p:pic>
        <p:nvPicPr>
          <p:cNvPr id="4" name="Picture 3">
            <a:extLst>
              <a:ext uri="{FF2B5EF4-FFF2-40B4-BE49-F238E27FC236}">
                <a16:creationId xmlns:a16="http://schemas.microsoft.com/office/drawing/2014/main" id="{87670B7F-D742-4673-BF39-8C5BAD11BBB1}"/>
              </a:ext>
            </a:extLst>
          </p:cNvPr>
          <p:cNvPicPr/>
          <p:nvPr/>
        </p:nvPicPr>
        <p:blipFill>
          <a:blip r:embed="rId3">
            <a:extLst>
              <a:ext uri="{28A0092B-C50C-407E-A947-70E740481C1C}">
                <a14:useLocalDpi xmlns:a14="http://schemas.microsoft.com/office/drawing/2010/main" val="0"/>
              </a:ext>
            </a:extLst>
          </a:blip>
          <a:stretch>
            <a:fillRect/>
          </a:stretch>
        </p:blipFill>
        <p:spPr>
          <a:xfrm>
            <a:off x="1782572" y="758952"/>
            <a:ext cx="6949227" cy="1242100"/>
          </a:xfrm>
          <a:prstGeom prst="rect">
            <a:avLst/>
          </a:prstGeom>
        </p:spPr>
      </p:pic>
      <p:sp>
        <p:nvSpPr>
          <p:cNvPr id="5" name="Subtitle 2">
            <a:extLst>
              <a:ext uri="{FF2B5EF4-FFF2-40B4-BE49-F238E27FC236}">
                <a16:creationId xmlns:a16="http://schemas.microsoft.com/office/drawing/2014/main" id="{D113FE0D-CFBA-429F-9B03-62E9AB18E0B1}"/>
              </a:ext>
            </a:extLst>
          </p:cNvPr>
          <p:cNvSpPr txBox="1">
            <a:spLocks/>
          </p:cNvSpPr>
          <p:nvPr/>
        </p:nvSpPr>
        <p:spPr>
          <a:xfrm>
            <a:off x="1195600" y="4373924"/>
            <a:ext cx="10058400" cy="541556"/>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r>
              <a:rPr lang="en-US" dirty="0"/>
              <a:t>data access – </a:t>
            </a:r>
            <a:r>
              <a:rPr lang="en-US" dirty="0" err="1"/>
              <a:t>jPA</a:t>
            </a:r>
            <a:endParaRPr lang="en-US" dirty="0"/>
          </a:p>
          <a:p>
            <a:endParaRPr lang="en-US" dirty="0"/>
          </a:p>
        </p:txBody>
      </p:sp>
    </p:spTree>
    <p:extLst>
      <p:ext uri="{BB962C8B-B14F-4D97-AF65-F5344CB8AC3E}">
        <p14:creationId xmlns:p14="http://schemas.microsoft.com/office/powerpoint/2010/main" val="137786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3">
            <a:extLst>
              <a:ext uri="{FF2B5EF4-FFF2-40B4-BE49-F238E27FC236}">
                <a16:creationId xmlns:a16="http://schemas.microsoft.com/office/drawing/2014/main" id="{6CA4847E-AD1D-3C09-D1AC-7D9808EAC326}"/>
              </a:ext>
            </a:extLst>
          </p:cNvPr>
          <p:cNvSpPr/>
          <p:nvPr/>
        </p:nvSpPr>
        <p:spPr>
          <a:xfrm>
            <a:off x="3872801" y="4804364"/>
            <a:ext cx="7842739" cy="1335179"/>
          </a:xfrm>
          <a:prstGeom prst="roundRect">
            <a:avLst/>
          </a:prstGeom>
          <a:solidFill>
            <a:schemeClr val="accent1"/>
          </a:solidFill>
          <a:ln w="63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3600" b="1" i="0" u="none" strike="noStrike" kern="0" cap="none" spc="0" normalizeH="0" baseline="0" noProof="0" dirty="0">
                <a:ln>
                  <a:noFill/>
                </a:ln>
                <a:solidFill>
                  <a:srgbClr val="000000"/>
                </a:solidFill>
                <a:effectLst/>
                <a:uLnTx/>
                <a:uFillTx/>
                <a:latin typeface="Calibri" panose="020F0502020204030204"/>
                <a:ea typeface="+mn-ea"/>
                <a:cs typeface="+mn-cs"/>
              </a:rPr>
              <a:t>JPA – Entity Inheritance</a:t>
            </a:r>
          </a:p>
        </p:txBody>
      </p:sp>
      <p:sp>
        <p:nvSpPr>
          <p:cNvPr id="2" name="Rounded Rectangle 3">
            <a:extLst>
              <a:ext uri="{FF2B5EF4-FFF2-40B4-BE49-F238E27FC236}">
                <a16:creationId xmlns:a16="http://schemas.microsoft.com/office/drawing/2014/main" id="{4744E858-2699-38FC-5DCC-D867BB541C52}"/>
              </a:ext>
            </a:extLst>
          </p:cNvPr>
          <p:cNvSpPr/>
          <p:nvPr/>
        </p:nvSpPr>
        <p:spPr>
          <a:xfrm>
            <a:off x="3872800" y="3257542"/>
            <a:ext cx="7842739" cy="1335179"/>
          </a:xfrm>
          <a:prstGeom prst="roundRect">
            <a:avLst/>
          </a:prstGeom>
          <a:solidFill>
            <a:schemeClr val="accent1"/>
          </a:solidFill>
          <a:ln w="63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3600" b="1" i="0" u="none" strike="noStrike" kern="0" cap="none" spc="0" normalizeH="0" baseline="0" noProof="0" dirty="0">
                <a:ln>
                  <a:noFill/>
                </a:ln>
                <a:solidFill>
                  <a:srgbClr val="000000"/>
                </a:solidFill>
                <a:effectLst/>
                <a:uLnTx/>
                <a:uFillTx/>
                <a:latin typeface="Calibri" panose="020F0502020204030204"/>
                <a:ea typeface="+mn-ea"/>
                <a:cs typeface="+mn-cs"/>
              </a:rPr>
              <a:t>JPA – Entity Relationships</a:t>
            </a:r>
          </a:p>
        </p:txBody>
      </p:sp>
      <p:sp>
        <p:nvSpPr>
          <p:cNvPr id="3" name="Rounded Rectangle 3">
            <a:extLst>
              <a:ext uri="{FF2B5EF4-FFF2-40B4-BE49-F238E27FC236}">
                <a16:creationId xmlns:a16="http://schemas.microsoft.com/office/drawing/2014/main" id="{B81D74D7-C12C-F782-7C8A-F46F48A3F712}"/>
              </a:ext>
            </a:extLst>
          </p:cNvPr>
          <p:cNvSpPr/>
          <p:nvPr/>
        </p:nvSpPr>
        <p:spPr>
          <a:xfrm>
            <a:off x="3872800" y="1710721"/>
            <a:ext cx="7842739" cy="1335179"/>
          </a:xfrm>
          <a:prstGeom prst="roundRect">
            <a:avLst/>
          </a:prstGeom>
          <a:solidFill>
            <a:schemeClr val="accent1"/>
          </a:solidFill>
          <a:ln w="63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3600" b="1" i="0" u="none" strike="noStrike" kern="0" cap="none" spc="0" normalizeH="0" baseline="0" noProof="0" dirty="0">
                <a:ln>
                  <a:noFill/>
                </a:ln>
                <a:solidFill>
                  <a:srgbClr val="000000"/>
                </a:solidFill>
                <a:effectLst/>
                <a:uLnTx/>
                <a:uFillTx/>
                <a:latin typeface="Calibri" panose="020F0502020204030204"/>
                <a:ea typeface="+mn-ea"/>
                <a:cs typeface="+mn-cs"/>
              </a:rPr>
              <a:t>JPA – How to use …</a:t>
            </a:r>
          </a:p>
        </p:txBody>
      </p:sp>
      <p:sp>
        <p:nvSpPr>
          <p:cNvPr id="4" name="Rounded Rectangle 3">
            <a:extLst>
              <a:ext uri="{FF2B5EF4-FFF2-40B4-BE49-F238E27FC236}">
                <a16:creationId xmlns:a16="http://schemas.microsoft.com/office/drawing/2014/main" id="{33D7FD7B-BF0C-3206-64F3-8BB4C1CA30CD}"/>
              </a:ext>
            </a:extLst>
          </p:cNvPr>
          <p:cNvSpPr/>
          <p:nvPr/>
        </p:nvSpPr>
        <p:spPr>
          <a:xfrm>
            <a:off x="3872800" y="163899"/>
            <a:ext cx="7842739" cy="1335179"/>
          </a:xfrm>
          <a:prstGeom prst="roundRect">
            <a:avLst/>
          </a:prstGeom>
          <a:solidFill>
            <a:schemeClr val="accent1"/>
          </a:solidFill>
          <a:ln w="63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3600" b="1" i="0" u="none" strike="noStrike" kern="0" cap="none" spc="0" normalizeH="0" baseline="0" noProof="0" dirty="0">
                <a:ln>
                  <a:noFill/>
                </a:ln>
                <a:solidFill>
                  <a:srgbClr val="000000"/>
                </a:solidFill>
                <a:effectLst/>
                <a:uLnTx/>
                <a:uFillTx/>
                <a:latin typeface="Calibri" panose="020F0502020204030204"/>
                <a:ea typeface="+mn-ea"/>
                <a:cs typeface="+mn-cs"/>
              </a:rPr>
              <a:t>JPA – Introduction</a:t>
            </a:r>
          </a:p>
        </p:txBody>
      </p:sp>
      <p:pic>
        <p:nvPicPr>
          <p:cNvPr id="5" name="Picture 4">
            <a:extLst>
              <a:ext uri="{FF2B5EF4-FFF2-40B4-BE49-F238E27FC236}">
                <a16:creationId xmlns:a16="http://schemas.microsoft.com/office/drawing/2014/main" id="{BAF27327-EE93-A6E4-0825-CFD707B80E9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5077" y="27034"/>
            <a:ext cx="1511050" cy="1608908"/>
          </a:xfrm>
          <a:prstGeom prst="rect">
            <a:avLst/>
          </a:prstGeom>
        </p:spPr>
      </p:pic>
      <p:pic>
        <p:nvPicPr>
          <p:cNvPr id="9" name="Picture 8">
            <a:extLst>
              <a:ext uri="{FF2B5EF4-FFF2-40B4-BE49-F238E27FC236}">
                <a16:creationId xmlns:a16="http://schemas.microsoft.com/office/drawing/2014/main" id="{53A2FEEA-BF41-9BF3-C386-6BD6ACC5E816}"/>
              </a:ext>
            </a:extLst>
          </p:cNvPr>
          <p:cNvPicPr>
            <a:picLocks noChangeAspect="1"/>
          </p:cNvPicPr>
          <p:nvPr/>
        </p:nvPicPr>
        <p:blipFill>
          <a:blip r:embed="rId4"/>
          <a:stretch>
            <a:fillRect/>
          </a:stretch>
        </p:blipFill>
        <p:spPr>
          <a:xfrm>
            <a:off x="200967" y="1710721"/>
            <a:ext cx="3571631" cy="4428822"/>
          </a:xfrm>
          <a:prstGeom prst="rect">
            <a:avLst/>
          </a:prstGeom>
        </p:spPr>
      </p:pic>
    </p:spTree>
    <p:extLst>
      <p:ext uri="{BB962C8B-B14F-4D97-AF65-F5344CB8AC3E}">
        <p14:creationId xmlns:p14="http://schemas.microsoft.com/office/powerpoint/2010/main" val="3559529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3">
            <a:extLst>
              <a:ext uri="{FF2B5EF4-FFF2-40B4-BE49-F238E27FC236}">
                <a16:creationId xmlns:a16="http://schemas.microsoft.com/office/drawing/2014/main" id="{6CA4847E-AD1D-3C09-D1AC-7D9808EAC326}"/>
              </a:ext>
            </a:extLst>
          </p:cNvPr>
          <p:cNvSpPr/>
          <p:nvPr/>
        </p:nvSpPr>
        <p:spPr>
          <a:xfrm>
            <a:off x="2174630" y="2422904"/>
            <a:ext cx="7842739" cy="1335179"/>
          </a:xfrm>
          <a:prstGeom prst="roundRect">
            <a:avLst/>
          </a:prstGeom>
          <a:solidFill>
            <a:schemeClr val="accent1"/>
          </a:solidFill>
          <a:ln w="63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3600" b="1" i="0" u="none" strike="noStrike" kern="0" cap="none" spc="0" normalizeH="0" baseline="0" noProof="0" dirty="0">
                <a:ln>
                  <a:noFill/>
                </a:ln>
                <a:solidFill>
                  <a:srgbClr val="000000"/>
                </a:solidFill>
                <a:effectLst/>
                <a:uLnTx/>
                <a:uFillTx/>
                <a:latin typeface="Calibri" panose="020F0502020204030204"/>
                <a:ea typeface="+mn-ea"/>
                <a:cs typeface="+mn-cs"/>
              </a:rPr>
              <a:t>JPA - Introduction</a:t>
            </a:r>
          </a:p>
        </p:txBody>
      </p:sp>
    </p:spTree>
    <p:extLst>
      <p:ext uri="{BB962C8B-B14F-4D97-AF65-F5344CB8AC3E}">
        <p14:creationId xmlns:p14="http://schemas.microsoft.com/office/powerpoint/2010/main" val="2609700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623E3B1-EAAC-974D-F40B-68D8B7524B7F}"/>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Introduction</a:t>
            </a:r>
            <a:endPar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13" name="Content Placeholder 2">
            <a:extLst>
              <a:ext uri="{FF2B5EF4-FFF2-40B4-BE49-F238E27FC236}">
                <a16:creationId xmlns:a16="http://schemas.microsoft.com/office/drawing/2014/main" id="{6DDCDE37-F285-D57C-F80F-9A8A6609A5A9}"/>
              </a:ext>
            </a:extLst>
          </p:cNvPr>
          <p:cNvSpPr txBox="1">
            <a:spLocks/>
          </p:cNvSpPr>
          <p:nvPr/>
        </p:nvSpPr>
        <p:spPr>
          <a:xfrm>
            <a:off x="601490" y="2300147"/>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800"/>
              </a:spcBef>
              <a:spcAft>
                <a:spcPts val="600"/>
              </a:spcAft>
              <a:buClrTx/>
              <a:buSzTx/>
              <a:buFont typeface="Arial" panose="020B0604020202020204" pitchFamily="34" charset="0"/>
              <a:buNone/>
              <a:tabLst/>
              <a:defRPr/>
            </a:pPr>
            <a:r>
              <a:rPr kumimoji="0" lang="en-GB" sz="2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ORM</a:t>
            </a:r>
            <a:r>
              <a:rPr kumimoji="0" lang="en-GB"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is a technique that maps object state to data in a relational database</a:t>
            </a:r>
          </a:p>
          <a:p>
            <a:pPr marL="0" marR="0" lvl="0" indent="0" algn="l" defTabSz="914400" rtl="0" eaLnBrk="1" fontAlgn="auto" latinLnBrk="0" hangingPunct="1">
              <a:lnSpc>
                <a:spcPct val="100000"/>
              </a:lnSpc>
              <a:spcBef>
                <a:spcPts val="1800"/>
              </a:spcBef>
              <a:spcAft>
                <a:spcPts val="600"/>
              </a:spcAft>
              <a:buClrTx/>
              <a:buSzTx/>
              <a:buFont typeface="Arial" panose="020B0604020202020204" pitchFamily="34" charset="0"/>
              <a:buNone/>
              <a:tabLst/>
              <a:defRPr/>
            </a:pPr>
            <a:r>
              <a:rPr kumimoji="0" lang="en-GB"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Mismatch issues between OO and relational models exist and need to be taken into account:</a:t>
            </a:r>
          </a:p>
          <a:p>
            <a:pPr marL="685800" marR="0" lvl="1" indent="-2286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kumimoji="0" lang="en-GB" sz="1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Subtyping</a:t>
            </a: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 Fundamental to OO, absent in RDBMS</a:t>
            </a:r>
          </a:p>
          <a:p>
            <a:pPr marL="685800" marR="0" lvl="1" indent="-2286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kumimoji="0" lang="en-GB" sz="1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Granularity</a:t>
            </a: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 One object’s data could be stored in multiple tables</a:t>
            </a:r>
          </a:p>
          <a:p>
            <a:pPr marL="685800" marR="0" lvl="1" indent="-2286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kumimoji="0" lang="en-GB" sz="1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Relationships</a:t>
            </a: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 Associations in OO, foreign keys in RDBMS</a:t>
            </a:r>
            <a:b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br>
            <a:endParaRPr kumimoji="0" lang="en-GB"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4" name="Rounded Rectangle 3">
            <a:extLst>
              <a:ext uri="{FF2B5EF4-FFF2-40B4-BE49-F238E27FC236}">
                <a16:creationId xmlns:a16="http://schemas.microsoft.com/office/drawing/2014/main" id="{6CA4847E-AD1D-3C09-D1AC-7D9808EAC326}"/>
              </a:ext>
            </a:extLst>
          </p:cNvPr>
          <p:cNvSpPr/>
          <p:nvPr/>
        </p:nvSpPr>
        <p:spPr>
          <a:xfrm>
            <a:off x="2181688" y="1448214"/>
            <a:ext cx="7842739" cy="559231"/>
          </a:xfrm>
          <a:prstGeom prst="roundRect">
            <a:avLst/>
          </a:prstGeom>
          <a:solidFill>
            <a:schemeClr val="accent1"/>
          </a:solidFill>
          <a:ln w="63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a:ln>
                  <a:noFill/>
                </a:ln>
                <a:solidFill>
                  <a:srgbClr val="000000"/>
                </a:solidFill>
                <a:effectLst/>
                <a:uLnTx/>
                <a:uFillTx/>
                <a:latin typeface="Calibri" panose="020F0502020204030204"/>
                <a:ea typeface="+mn-ea"/>
                <a:cs typeface="+mn-cs"/>
              </a:rPr>
              <a:t>What is ORM (Object Relational Mapping)?</a:t>
            </a:r>
          </a:p>
        </p:txBody>
      </p:sp>
    </p:spTree>
    <p:extLst>
      <p:ext uri="{BB962C8B-B14F-4D97-AF65-F5344CB8AC3E}">
        <p14:creationId xmlns:p14="http://schemas.microsoft.com/office/powerpoint/2010/main" val="3428463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CF23DDD-6E15-3146-DF6F-6F32641F81EB}"/>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Introducing JPA</a:t>
            </a:r>
            <a:endPar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10" name="Content Placeholder 2">
            <a:extLst>
              <a:ext uri="{FF2B5EF4-FFF2-40B4-BE49-F238E27FC236}">
                <a16:creationId xmlns:a16="http://schemas.microsoft.com/office/drawing/2014/main" id="{5BFD2112-8804-8D93-494D-CB78A16CDA23}"/>
              </a:ext>
            </a:extLst>
          </p:cNvPr>
          <p:cNvSpPr txBox="1">
            <a:spLocks/>
          </p:cNvSpPr>
          <p:nvPr/>
        </p:nvSpPr>
        <p:spPr>
          <a:xfrm>
            <a:off x="601490" y="2845761"/>
            <a:ext cx="11003136" cy="3426452"/>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ORM frameworks handle the task of mapping objects to tables</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The Java Persistence API (JPA) is the ORM solution in Java EE</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Abstraction on top of JDBC</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Metadata maps objects to tables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Easy way to perform CRUD operations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Comes with JPQL, an object-oriented query language</a:t>
            </a: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1" name="Rounded Rectangle 3">
            <a:extLst>
              <a:ext uri="{FF2B5EF4-FFF2-40B4-BE49-F238E27FC236}">
                <a16:creationId xmlns:a16="http://schemas.microsoft.com/office/drawing/2014/main" id="{867353DE-8246-BEA6-1070-B04249802C51}"/>
              </a:ext>
            </a:extLst>
          </p:cNvPr>
          <p:cNvSpPr/>
          <p:nvPr/>
        </p:nvSpPr>
        <p:spPr>
          <a:xfrm>
            <a:off x="2181688" y="1448214"/>
            <a:ext cx="7842739" cy="559231"/>
          </a:xfrm>
          <a:prstGeom prst="roundRect">
            <a:avLst/>
          </a:prstGeom>
          <a:solidFill>
            <a:schemeClr val="accent1"/>
          </a:solidFill>
          <a:ln w="63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a:ln>
                  <a:noFill/>
                </a:ln>
                <a:solidFill>
                  <a:srgbClr val="000000"/>
                </a:solidFill>
                <a:effectLst/>
                <a:uLnTx/>
                <a:uFillTx/>
                <a:latin typeface="Calibri" panose="020F0502020204030204"/>
                <a:ea typeface="+mn-ea"/>
                <a:cs typeface="+mn-cs"/>
              </a:rPr>
              <a:t>What is JPA?</a:t>
            </a:r>
          </a:p>
        </p:txBody>
      </p:sp>
    </p:spTree>
    <p:extLst>
      <p:ext uri="{BB962C8B-B14F-4D97-AF65-F5344CB8AC3E}">
        <p14:creationId xmlns:p14="http://schemas.microsoft.com/office/powerpoint/2010/main" val="4093613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EE346BD-0028-A961-9C29-7ECF2C266EE5}"/>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Entities</a:t>
            </a:r>
            <a:endPar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6" name="Content Placeholder 2">
            <a:extLst>
              <a:ext uri="{FF2B5EF4-FFF2-40B4-BE49-F238E27FC236}">
                <a16:creationId xmlns:a16="http://schemas.microsoft.com/office/drawing/2014/main" id="{16B6242E-C9A5-3572-61ED-599FF189EEBC}"/>
              </a:ext>
            </a:extLst>
          </p:cNvPr>
          <p:cNvSpPr txBox="1">
            <a:spLocks/>
          </p:cNvSpPr>
          <p:nvPr/>
        </p:nvSpPr>
        <p:spPr>
          <a:xfrm>
            <a:off x="601490" y="2300147"/>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357188" marR="0" lvl="1"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Any object can be an </a:t>
            </a:r>
            <a:r>
              <a:rPr kumimoji="0" lang="en-GB"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entity</a:t>
            </a: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with the following characteristics: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Persistent</a:t>
            </a:r>
            <a:r>
              <a:rPr kumimoji="0" lang="en-GB"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“persistable”</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Has an identity </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Transactional – transaction needed for changes to DB</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Fine-grained </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Metadata relates entities to records in the database</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Specified with </a:t>
            </a:r>
            <a:r>
              <a:rPr kumimoji="0" lang="en-GB"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annotations</a:t>
            </a: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(e.g. @Entity, @Id) or </a:t>
            </a:r>
            <a:r>
              <a:rPr kumimoji="0" lang="en-GB"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XML</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7" name="Rounded Rectangle 3">
            <a:extLst>
              <a:ext uri="{FF2B5EF4-FFF2-40B4-BE49-F238E27FC236}">
                <a16:creationId xmlns:a16="http://schemas.microsoft.com/office/drawing/2014/main" id="{EB20A778-A652-5D2E-4FAC-20394949E33B}"/>
              </a:ext>
            </a:extLst>
          </p:cNvPr>
          <p:cNvSpPr/>
          <p:nvPr/>
        </p:nvSpPr>
        <p:spPr>
          <a:xfrm>
            <a:off x="2181688" y="1740916"/>
            <a:ext cx="7842739" cy="559231"/>
          </a:xfrm>
          <a:prstGeom prst="roundRect">
            <a:avLst/>
          </a:prstGeom>
          <a:solidFill>
            <a:schemeClr val="accent1"/>
          </a:solidFill>
          <a:ln w="63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a:ln>
                  <a:noFill/>
                </a:ln>
                <a:solidFill>
                  <a:srgbClr val="000000"/>
                </a:solidFill>
                <a:effectLst/>
                <a:uLnTx/>
                <a:uFillTx/>
                <a:latin typeface="Calibri" panose="020F0502020204030204"/>
                <a:ea typeface="+mn-ea"/>
                <a:cs typeface="+mn-cs"/>
              </a:rPr>
              <a:t>Entity classes are the data we want to persist.</a:t>
            </a:r>
          </a:p>
        </p:txBody>
      </p:sp>
    </p:spTree>
    <p:extLst>
      <p:ext uri="{BB962C8B-B14F-4D97-AF65-F5344CB8AC3E}">
        <p14:creationId xmlns:p14="http://schemas.microsoft.com/office/powerpoint/2010/main" val="2490837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488FCF0-B4CB-7D75-E018-5806CAC161DC}"/>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rPr>
              <a:t>Example: Mapping Employee to Table</a:t>
            </a:r>
          </a:p>
        </p:txBody>
      </p:sp>
      <p:sp>
        <p:nvSpPr>
          <p:cNvPr id="10" name="Rectangle 9">
            <a:extLst>
              <a:ext uri="{FF2B5EF4-FFF2-40B4-BE49-F238E27FC236}">
                <a16:creationId xmlns:a16="http://schemas.microsoft.com/office/drawing/2014/main" id="{2F604FB8-39D8-F9C0-405E-2859B28BFD5C}"/>
              </a:ext>
            </a:extLst>
          </p:cNvPr>
          <p:cNvSpPr/>
          <p:nvPr/>
        </p:nvSpPr>
        <p:spPr>
          <a:xfrm>
            <a:off x="1019106" y="1833333"/>
            <a:ext cx="4233022" cy="4401205"/>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3099D9"/>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public class Employee{</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a:t>
            </a:r>
            <a:r>
              <a:rPr kumimoji="0" lang="en-IN" sz="2000" b="1" i="0" u="none" strike="noStrike" kern="0" cap="none" spc="0" normalizeH="0" baseline="0" noProof="0" dirty="0">
                <a:ln>
                  <a:noFill/>
                </a:ln>
                <a:solidFill>
                  <a:srgbClr val="3099D9"/>
                </a:solidFill>
                <a:effectLst/>
                <a:uLnTx/>
                <a:uFillTx/>
                <a:latin typeface="Consolas" pitchFamily="49" charset="0"/>
              </a:rPr>
              <a:t>@Id</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private int id;</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private String name;</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public Employee(){</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 setters and getters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p:txBody>
      </p:sp>
      <p:graphicFrame>
        <p:nvGraphicFramePr>
          <p:cNvPr id="11" name="Table 5">
            <a:extLst>
              <a:ext uri="{FF2B5EF4-FFF2-40B4-BE49-F238E27FC236}">
                <a16:creationId xmlns:a16="http://schemas.microsoft.com/office/drawing/2014/main" id="{B6E2E8A4-A2D5-CC90-E557-0CB484DCBBFC}"/>
              </a:ext>
            </a:extLst>
          </p:cNvPr>
          <p:cNvGraphicFramePr>
            <a:graphicFrameLocks noGrp="1"/>
          </p:cNvGraphicFramePr>
          <p:nvPr/>
        </p:nvGraphicFramePr>
        <p:xfrm>
          <a:off x="6339099" y="2413416"/>
          <a:ext cx="4873066" cy="1478280"/>
        </p:xfrm>
        <a:graphic>
          <a:graphicData uri="http://schemas.openxmlformats.org/drawingml/2006/table">
            <a:tbl>
              <a:tblPr firstRow="1" bandRow="1"/>
              <a:tblGrid>
                <a:gridCol w="2436533">
                  <a:extLst>
                    <a:ext uri="{9D8B030D-6E8A-4147-A177-3AD203B41FA5}">
                      <a16:colId xmlns:a16="http://schemas.microsoft.com/office/drawing/2014/main" val="3929738614"/>
                    </a:ext>
                  </a:extLst>
                </a:gridCol>
                <a:gridCol w="2436533">
                  <a:extLst>
                    <a:ext uri="{9D8B030D-6E8A-4147-A177-3AD203B41FA5}">
                      <a16:colId xmlns:a16="http://schemas.microsoft.com/office/drawing/2014/main" val="2943092182"/>
                    </a:ext>
                  </a:extLst>
                </a:gridCol>
              </a:tblGrid>
              <a:tr h="316851">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ID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NAME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641727813"/>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John Doe</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95005360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Jane Doe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396196186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10003</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James Smith</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131462945"/>
                  </a:ext>
                </a:extLst>
              </a:tr>
            </a:tbl>
          </a:graphicData>
        </a:graphic>
      </p:graphicFrame>
      <p:sp>
        <p:nvSpPr>
          <p:cNvPr id="12" name="TextBox 11">
            <a:extLst>
              <a:ext uri="{FF2B5EF4-FFF2-40B4-BE49-F238E27FC236}">
                <a16:creationId xmlns:a16="http://schemas.microsoft.com/office/drawing/2014/main" id="{306D99B9-B8E1-4385-A0F3-AB646C50877F}"/>
              </a:ext>
            </a:extLst>
          </p:cNvPr>
          <p:cNvSpPr txBox="1"/>
          <p:nvPr/>
        </p:nvSpPr>
        <p:spPr>
          <a:xfrm>
            <a:off x="6339099" y="1895578"/>
            <a:ext cx="2575112"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EMPLOYEE TABLE</a:t>
            </a:r>
          </a:p>
        </p:txBody>
      </p:sp>
      <p:cxnSp>
        <p:nvCxnSpPr>
          <p:cNvPr id="13" name="Straight Arrow Connector 12">
            <a:extLst>
              <a:ext uri="{FF2B5EF4-FFF2-40B4-BE49-F238E27FC236}">
                <a16:creationId xmlns:a16="http://schemas.microsoft.com/office/drawing/2014/main" id="{2C51462F-87CC-2C7A-586F-1FB4A050CF67}"/>
              </a:ext>
            </a:extLst>
          </p:cNvPr>
          <p:cNvCxnSpPr>
            <a:cxnSpLocks/>
            <a:endCxn id="12" idx="1"/>
          </p:cNvCxnSpPr>
          <p:nvPr/>
        </p:nvCxnSpPr>
        <p:spPr>
          <a:xfrm flipV="1">
            <a:off x="4155141" y="2080244"/>
            <a:ext cx="2183958" cy="276606"/>
          </a:xfrm>
          <a:prstGeom prst="straightConnector1">
            <a:avLst/>
          </a:prstGeom>
          <a:noFill/>
          <a:ln w="6350" cap="flat" cmpd="sng" algn="ctr">
            <a:solidFill>
              <a:srgbClr val="009FE3"/>
            </a:solidFill>
            <a:prstDash val="solid"/>
            <a:miter lim="800000"/>
            <a:tailEnd type="triangle"/>
          </a:ln>
          <a:effectLst/>
        </p:spPr>
      </p:cxnSp>
      <p:cxnSp>
        <p:nvCxnSpPr>
          <p:cNvPr id="14" name="Straight Arrow Connector 13">
            <a:extLst>
              <a:ext uri="{FF2B5EF4-FFF2-40B4-BE49-F238E27FC236}">
                <a16:creationId xmlns:a16="http://schemas.microsoft.com/office/drawing/2014/main" id="{B0C80979-2778-B5B9-5327-81476C97AB76}"/>
              </a:ext>
            </a:extLst>
          </p:cNvPr>
          <p:cNvCxnSpPr>
            <a:cxnSpLocks/>
          </p:cNvCxnSpPr>
          <p:nvPr/>
        </p:nvCxnSpPr>
        <p:spPr>
          <a:xfrm flipV="1">
            <a:off x="3691218" y="2584519"/>
            <a:ext cx="2647881" cy="370372"/>
          </a:xfrm>
          <a:prstGeom prst="straightConnector1">
            <a:avLst/>
          </a:prstGeom>
          <a:noFill/>
          <a:ln w="6350" cap="flat" cmpd="sng" algn="ctr">
            <a:solidFill>
              <a:srgbClr val="009FE3"/>
            </a:solidFill>
            <a:prstDash val="solid"/>
            <a:miter lim="800000"/>
            <a:tailEnd type="triangle"/>
          </a:ln>
          <a:effectLst/>
        </p:spPr>
      </p:cxnSp>
      <p:cxnSp>
        <p:nvCxnSpPr>
          <p:cNvPr id="15" name="Straight Arrow Connector 14">
            <a:extLst>
              <a:ext uri="{FF2B5EF4-FFF2-40B4-BE49-F238E27FC236}">
                <a16:creationId xmlns:a16="http://schemas.microsoft.com/office/drawing/2014/main" id="{22EA800F-D4D4-B8A6-DA8C-891D9CEDA619}"/>
              </a:ext>
            </a:extLst>
          </p:cNvPr>
          <p:cNvCxnSpPr>
            <a:cxnSpLocks/>
          </p:cNvCxnSpPr>
          <p:nvPr/>
        </p:nvCxnSpPr>
        <p:spPr>
          <a:xfrm flipV="1">
            <a:off x="4390465" y="2769705"/>
            <a:ext cx="4385167" cy="508054"/>
          </a:xfrm>
          <a:prstGeom prst="straightConnector1">
            <a:avLst/>
          </a:prstGeom>
          <a:noFill/>
          <a:ln w="6350" cap="flat" cmpd="sng" algn="ctr">
            <a:solidFill>
              <a:srgbClr val="009FE3"/>
            </a:solidFill>
            <a:prstDash val="solid"/>
            <a:miter lim="800000"/>
            <a:tailEnd type="triangle"/>
          </a:ln>
          <a:effectLst/>
        </p:spPr>
      </p:cxnSp>
    </p:spTree>
    <p:extLst>
      <p:ext uri="{BB962C8B-B14F-4D97-AF65-F5344CB8AC3E}">
        <p14:creationId xmlns:p14="http://schemas.microsoft.com/office/powerpoint/2010/main" val="398640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6C94CDE-07F8-9982-436B-FE45E664E933}"/>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rPr>
              <a:t>Example: Overriding default Mapping</a:t>
            </a:r>
          </a:p>
        </p:txBody>
      </p:sp>
      <p:sp>
        <p:nvSpPr>
          <p:cNvPr id="10" name="Rectangle 9">
            <a:extLst>
              <a:ext uri="{FF2B5EF4-FFF2-40B4-BE49-F238E27FC236}">
                <a16:creationId xmlns:a16="http://schemas.microsoft.com/office/drawing/2014/main" id="{67517F3B-F922-D2BB-B78B-A73323E02D35}"/>
              </a:ext>
            </a:extLst>
          </p:cNvPr>
          <p:cNvSpPr/>
          <p:nvPr/>
        </p:nvSpPr>
        <p:spPr>
          <a:xfrm>
            <a:off x="1032553" y="1503880"/>
            <a:ext cx="4500912" cy="4708981"/>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3099D9"/>
                </a:solidFill>
                <a:effectLst/>
                <a:uLnTx/>
                <a:uFillTx/>
                <a:latin typeface="Consolas" pitchFamily="49" charset="0"/>
              </a:rPr>
              <a:t>@Table(name = “EMP”)</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public class Employee{</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@Id</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a:t>
            </a:r>
            <a:r>
              <a:rPr kumimoji="0" lang="en-IN" sz="2000" b="1" i="0" u="none" strike="noStrike" kern="0" cap="none" spc="0" normalizeH="0" baseline="0" noProof="0" dirty="0">
                <a:ln>
                  <a:noFill/>
                </a:ln>
                <a:solidFill>
                  <a:srgbClr val="3099D9"/>
                </a:solidFill>
                <a:effectLst/>
                <a:uLnTx/>
                <a:uFillTx/>
                <a:latin typeface="Consolas" pitchFamily="49" charset="0"/>
              </a:rPr>
              <a:t>@Column(name = “EMP_ID”)</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private int id;</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a:t>
            </a:r>
            <a:r>
              <a:rPr kumimoji="0" lang="en-IN" sz="2000" b="1" i="0" u="none" strike="noStrike" kern="0" cap="none" spc="0" normalizeH="0" baseline="0" noProof="0" dirty="0">
                <a:ln>
                  <a:noFill/>
                </a:ln>
                <a:solidFill>
                  <a:srgbClr val="3099D9"/>
                </a:solidFill>
                <a:effectLst/>
                <a:uLnTx/>
                <a:uFillTx/>
                <a:latin typeface="Consolas" pitchFamily="49" charset="0"/>
              </a:rPr>
              <a:t>@Column(name = “EMP_NAME”)</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private String name;</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public Employee(){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 setters and getters</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p:txBody>
      </p:sp>
      <p:graphicFrame>
        <p:nvGraphicFramePr>
          <p:cNvPr id="11" name="Table 5">
            <a:extLst>
              <a:ext uri="{FF2B5EF4-FFF2-40B4-BE49-F238E27FC236}">
                <a16:creationId xmlns:a16="http://schemas.microsoft.com/office/drawing/2014/main" id="{85F2ACB2-2E7B-CE88-3B28-C15F73F4259D}"/>
              </a:ext>
            </a:extLst>
          </p:cNvPr>
          <p:cNvGraphicFramePr>
            <a:graphicFrameLocks noGrp="1"/>
          </p:cNvGraphicFramePr>
          <p:nvPr/>
        </p:nvGraphicFramePr>
        <p:xfrm>
          <a:off x="6339099" y="2413416"/>
          <a:ext cx="4873066" cy="1478280"/>
        </p:xfrm>
        <a:graphic>
          <a:graphicData uri="http://schemas.openxmlformats.org/drawingml/2006/table">
            <a:tbl>
              <a:tblPr firstRow="1" bandRow="1"/>
              <a:tblGrid>
                <a:gridCol w="2436533">
                  <a:extLst>
                    <a:ext uri="{9D8B030D-6E8A-4147-A177-3AD203B41FA5}">
                      <a16:colId xmlns:a16="http://schemas.microsoft.com/office/drawing/2014/main" val="3929738614"/>
                    </a:ext>
                  </a:extLst>
                </a:gridCol>
                <a:gridCol w="2436533">
                  <a:extLst>
                    <a:ext uri="{9D8B030D-6E8A-4147-A177-3AD203B41FA5}">
                      <a16:colId xmlns:a16="http://schemas.microsoft.com/office/drawing/2014/main" val="2943092182"/>
                    </a:ext>
                  </a:extLst>
                </a:gridCol>
              </a:tblGrid>
              <a:tr h="316851">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EMP_ID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EMP_NAME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641727813"/>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John Doe</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95005360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Jane Doe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396196186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10003</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James Smith</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131462945"/>
                  </a:ext>
                </a:extLst>
              </a:tr>
            </a:tbl>
          </a:graphicData>
        </a:graphic>
      </p:graphicFrame>
      <p:sp>
        <p:nvSpPr>
          <p:cNvPr id="12" name="TextBox 11">
            <a:extLst>
              <a:ext uri="{FF2B5EF4-FFF2-40B4-BE49-F238E27FC236}">
                <a16:creationId xmlns:a16="http://schemas.microsoft.com/office/drawing/2014/main" id="{5F3C0631-31F4-AE0C-3E50-508798DF86F8}"/>
              </a:ext>
            </a:extLst>
          </p:cNvPr>
          <p:cNvSpPr txBox="1"/>
          <p:nvPr/>
        </p:nvSpPr>
        <p:spPr>
          <a:xfrm>
            <a:off x="6339099" y="1895578"/>
            <a:ext cx="2575112"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EMP TABLE</a:t>
            </a:r>
          </a:p>
        </p:txBody>
      </p:sp>
      <p:cxnSp>
        <p:nvCxnSpPr>
          <p:cNvPr id="13" name="Straight Arrow Connector 12">
            <a:extLst>
              <a:ext uri="{FF2B5EF4-FFF2-40B4-BE49-F238E27FC236}">
                <a16:creationId xmlns:a16="http://schemas.microsoft.com/office/drawing/2014/main" id="{F4C9F478-D9F8-87CC-0AB8-98B8E1D20C56}"/>
              </a:ext>
            </a:extLst>
          </p:cNvPr>
          <p:cNvCxnSpPr>
            <a:cxnSpLocks/>
            <a:endCxn id="12" idx="1"/>
          </p:cNvCxnSpPr>
          <p:nvPr/>
        </p:nvCxnSpPr>
        <p:spPr>
          <a:xfrm flipV="1">
            <a:off x="3939988" y="2080244"/>
            <a:ext cx="2399111" cy="20976"/>
          </a:xfrm>
          <a:prstGeom prst="straightConnector1">
            <a:avLst/>
          </a:prstGeom>
          <a:noFill/>
          <a:ln w="6350" cap="flat" cmpd="sng" algn="ctr">
            <a:solidFill>
              <a:srgbClr val="009FE3"/>
            </a:solidFill>
            <a:prstDash val="solid"/>
            <a:miter lim="800000"/>
            <a:tailEnd type="triangle"/>
          </a:ln>
          <a:effectLst/>
        </p:spPr>
      </p:cxnSp>
      <p:cxnSp>
        <p:nvCxnSpPr>
          <p:cNvPr id="14" name="Straight Arrow Connector 13">
            <a:extLst>
              <a:ext uri="{FF2B5EF4-FFF2-40B4-BE49-F238E27FC236}">
                <a16:creationId xmlns:a16="http://schemas.microsoft.com/office/drawing/2014/main" id="{79EAAD01-3F48-F987-5729-2E87D294EAEC}"/>
              </a:ext>
            </a:extLst>
          </p:cNvPr>
          <p:cNvCxnSpPr>
            <a:cxnSpLocks/>
          </p:cNvCxnSpPr>
          <p:nvPr/>
        </p:nvCxnSpPr>
        <p:spPr>
          <a:xfrm flipV="1">
            <a:off x="4982135" y="2685479"/>
            <a:ext cx="1304365" cy="192192"/>
          </a:xfrm>
          <a:prstGeom prst="straightConnector1">
            <a:avLst/>
          </a:prstGeom>
          <a:noFill/>
          <a:ln w="6350" cap="flat" cmpd="sng" algn="ctr">
            <a:solidFill>
              <a:srgbClr val="009FE3"/>
            </a:solidFill>
            <a:prstDash val="solid"/>
            <a:miter lim="800000"/>
            <a:tailEnd type="triangle"/>
          </a:ln>
          <a:effectLst/>
        </p:spPr>
      </p:cxnSp>
      <p:cxnSp>
        <p:nvCxnSpPr>
          <p:cNvPr id="15" name="Straight Arrow Connector 14">
            <a:extLst>
              <a:ext uri="{FF2B5EF4-FFF2-40B4-BE49-F238E27FC236}">
                <a16:creationId xmlns:a16="http://schemas.microsoft.com/office/drawing/2014/main" id="{6BA59F13-6ECD-4D27-E9D4-6580674C0036}"/>
              </a:ext>
            </a:extLst>
          </p:cNvPr>
          <p:cNvCxnSpPr>
            <a:cxnSpLocks/>
          </p:cNvCxnSpPr>
          <p:nvPr/>
        </p:nvCxnSpPr>
        <p:spPr>
          <a:xfrm flipV="1">
            <a:off x="4529044" y="2769705"/>
            <a:ext cx="4246588" cy="859948"/>
          </a:xfrm>
          <a:prstGeom prst="straightConnector1">
            <a:avLst/>
          </a:prstGeom>
          <a:noFill/>
          <a:ln w="6350" cap="flat" cmpd="sng" algn="ctr">
            <a:solidFill>
              <a:srgbClr val="009FE3"/>
            </a:solidFill>
            <a:prstDash val="solid"/>
            <a:miter lim="800000"/>
            <a:tailEnd type="triangle"/>
          </a:ln>
          <a:effectLst/>
        </p:spPr>
      </p:cxnSp>
    </p:spTree>
    <p:extLst>
      <p:ext uri="{BB962C8B-B14F-4D97-AF65-F5344CB8AC3E}">
        <p14:creationId xmlns:p14="http://schemas.microsoft.com/office/powerpoint/2010/main" val="2693725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2F76AD2-7318-1FB9-9AE2-6D0FB89D2C14}"/>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rPr>
              <a:t>Example: Transient</a:t>
            </a:r>
          </a:p>
        </p:txBody>
      </p:sp>
      <p:sp>
        <p:nvSpPr>
          <p:cNvPr id="8" name="Rectangle 7">
            <a:extLst>
              <a:ext uri="{FF2B5EF4-FFF2-40B4-BE49-F238E27FC236}">
                <a16:creationId xmlns:a16="http://schemas.microsoft.com/office/drawing/2014/main" id="{FE2F3C89-D40E-A932-39C4-7AD7FB6A0F39}"/>
              </a:ext>
            </a:extLst>
          </p:cNvPr>
          <p:cNvSpPr/>
          <p:nvPr/>
        </p:nvSpPr>
        <p:spPr>
          <a:xfrm>
            <a:off x="1019106" y="1618180"/>
            <a:ext cx="4233022" cy="4708981"/>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public class Employee{</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@Id</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private int id;</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private String name;</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private </a:t>
            </a:r>
            <a:r>
              <a:rPr kumimoji="0" lang="en-IN" sz="2000" b="1" i="0" u="none" strike="noStrike" kern="0" cap="none" spc="0" normalizeH="0" baseline="0" noProof="0" dirty="0" err="1">
                <a:ln>
                  <a:noFill/>
                </a:ln>
                <a:solidFill>
                  <a:srgbClr val="000000"/>
                </a:solidFill>
                <a:effectLst/>
                <a:uLnTx/>
                <a:uFillTx/>
                <a:latin typeface="Consolas" pitchFamily="49" charset="0"/>
              </a:rPr>
              <a:t>LocalDate</a:t>
            </a:r>
            <a:r>
              <a:rPr kumimoji="0" lang="en-IN" sz="2000" b="1" i="0" u="none" strike="noStrike" kern="0" cap="none" spc="0" normalizeH="0" baseline="0" noProof="0" dirty="0">
                <a:ln>
                  <a:noFill/>
                </a:ln>
                <a:solidFill>
                  <a:srgbClr val="000000"/>
                </a:solidFill>
                <a:effectLst/>
                <a:uLnTx/>
                <a:uFillTx/>
                <a:latin typeface="Consolas" pitchFamily="49" charset="0"/>
              </a:rPr>
              <a:t> dob;</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a:t>
            </a:r>
            <a:r>
              <a:rPr kumimoji="0" lang="en-IN" sz="2000" b="1" i="0" u="none" strike="noStrike" kern="0" cap="none" spc="0" normalizeH="0" baseline="0" noProof="0" dirty="0">
                <a:ln>
                  <a:noFill/>
                </a:ln>
                <a:solidFill>
                  <a:srgbClr val="3099D9"/>
                </a:solidFill>
                <a:effectLst/>
                <a:uLnTx/>
                <a:uFillTx/>
                <a:latin typeface="Consolas" pitchFamily="49" charset="0"/>
              </a:rPr>
              <a:t>@Transient</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private int age;</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public Employee(){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 setters and getters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a:t>
            </a:r>
            <a:endParaRPr kumimoji="0" lang="en-GB" sz="2000" b="1" i="0" u="none" strike="noStrike" kern="0" cap="none" spc="0" normalizeH="0" baseline="0" noProof="0" dirty="0">
              <a:ln>
                <a:noFill/>
              </a:ln>
              <a:solidFill>
                <a:srgbClr val="000000"/>
              </a:solidFill>
              <a:effectLst/>
              <a:uLnTx/>
              <a:uFillTx/>
              <a:latin typeface="Consolas" pitchFamily="49" charset="0"/>
            </a:endParaRPr>
          </a:p>
        </p:txBody>
      </p:sp>
      <p:graphicFrame>
        <p:nvGraphicFramePr>
          <p:cNvPr id="9" name="Table 5">
            <a:extLst>
              <a:ext uri="{FF2B5EF4-FFF2-40B4-BE49-F238E27FC236}">
                <a16:creationId xmlns:a16="http://schemas.microsoft.com/office/drawing/2014/main" id="{DFF3675D-3B2F-B023-A56A-E24FC937E0E7}"/>
              </a:ext>
            </a:extLst>
          </p:cNvPr>
          <p:cNvGraphicFramePr>
            <a:graphicFrameLocks noGrp="1"/>
          </p:cNvGraphicFramePr>
          <p:nvPr/>
        </p:nvGraphicFramePr>
        <p:xfrm>
          <a:off x="6339099" y="3233530"/>
          <a:ext cx="5016942" cy="1478280"/>
        </p:xfrm>
        <a:graphic>
          <a:graphicData uri="http://schemas.openxmlformats.org/drawingml/2006/table">
            <a:tbl>
              <a:tblPr firstRow="1" bandRow="1"/>
              <a:tblGrid>
                <a:gridCol w="1672314">
                  <a:extLst>
                    <a:ext uri="{9D8B030D-6E8A-4147-A177-3AD203B41FA5}">
                      <a16:colId xmlns:a16="http://schemas.microsoft.com/office/drawing/2014/main" val="3929738614"/>
                    </a:ext>
                  </a:extLst>
                </a:gridCol>
                <a:gridCol w="1672314">
                  <a:extLst>
                    <a:ext uri="{9D8B030D-6E8A-4147-A177-3AD203B41FA5}">
                      <a16:colId xmlns:a16="http://schemas.microsoft.com/office/drawing/2014/main" val="2943092182"/>
                    </a:ext>
                  </a:extLst>
                </a:gridCol>
                <a:gridCol w="1672314">
                  <a:extLst>
                    <a:ext uri="{9D8B030D-6E8A-4147-A177-3AD203B41FA5}">
                      <a16:colId xmlns:a16="http://schemas.microsoft.com/office/drawing/2014/main" val="1423481047"/>
                    </a:ext>
                  </a:extLst>
                </a:gridCol>
              </a:tblGrid>
              <a:tr h="316851">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ID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NAME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DOB</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641727813"/>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John Doe</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01 - DEC - 1988</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95005360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Jane Doe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11 – JAN - 1989</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396196186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10003</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James Smith</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07 – DEC - 1988</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131462945"/>
                  </a:ext>
                </a:extLst>
              </a:tr>
            </a:tbl>
          </a:graphicData>
        </a:graphic>
      </p:graphicFrame>
      <p:sp>
        <p:nvSpPr>
          <p:cNvPr id="10" name="TextBox 9">
            <a:extLst>
              <a:ext uri="{FF2B5EF4-FFF2-40B4-BE49-F238E27FC236}">
                <a16:creationId xmlns:a16="http://schemas.microsoft.com/office/drawing/2014/main" id="{17B2CB63-31AB-75C0-45EE-A6384B0B2B64}"/>
              </a:ext>
            </a:extLst>
          </p:cNvPr>
          <p:cNvSpPr txBox="1"/>
          <p:nvPr/>
        </p:nvSpPr>
        <p:spPr>
          <a:xfrm>
            <a:off x="6339099" y="2749466"/>
            <a:ext cx="2575112"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EMPLOYEE TABLE</a:t>
            </a:r>
          </a:p>
        </p:txBody>
      </p:sp>
      <p:sp>
        <p:nvSpPr>
          <p:cNvPr id="11" name="TextBox 10">
            <a:extLst>
              <a:ext uri="{FF2B5EF4-FFF2-40B4-BE49-F238E27FC236}">
                <a16:creationId xmlns:a16="http://schemas.microsoft.com/office/drawing/2014/main" id="{9E7FDF3C-3ADB-234E-8911-E794791CE1EB}"/>
              </a:ext>
            </a:extLst>
          </p:cNvPr>
          <p:cNvSpPr txBox="1"/>
          <p:nvPr/>
        </p:nvSpPr>
        <p:spPr>
          <a:xfrm>
            <a:off x="6339099" y="4938664"/>
            <a:ext cx="4935070"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1" u="none" strike="noStrike" kern="0" cap="none" spc="0" normalizeH="0" baseline="0" noProof="0" dirty="0">
                <a:ln>
                  <a:noFill/>
                </a:ln>
                <a:solidFill>
                  <a:srgbClr val="000000"/>
                </a:solidFill>
                <a:effectLst/>
                <a:uLnTx/>
                <a:uFillTx/>
              </a:rPr>
              <a:t>Note: age is not persisted</a:t>
            </a:r>
          </a:p>
        </p:txBody>
      </p:sp>
    </p:spTree>
    <p:extLst>
      <p:ext uri="{BB962C8B-B14F-4D97-AF65-F5344CB8AC3E}">
        <p14:creationId xmlns:p14="http://schemas.microsoft.com/office/powerpoint/2010/main" val="2418287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F5CBB7C-0792-D873-2632-A04351BD2F8E}"/>
              </a:ext>
            </a:extLst>
          </p:cNvPr>
          <p:cNvSpPr txBox="1">
            <a:spLocks/>
          </p:cNvSpPr>
          <p:nvPr/>
        </p:nvSpPr>
        <p:spPr>
          <a:xfrm>
            <a:off x="230459" y="221064"/>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rPr>
              <a:t>Key Interfaces and Classes</a:t>
            </a:r>
          </a:p>
        </p:txBody>
      </p:sp>
      <p:sp>
        <p:nvSpPr>
          <p:cNvPr id="5" name="Content Placeholder 2">
            <a:extLst>
              <a:ext uri="{FF2B5EF4-FFF2-40B4-BE49-F238E27FC236}">
                <a16:creationId xmlns:a16="http://schemas.microsoft.com/office/drawing/2014/main" id="{282D235A-1A46-9026-9FC2-698014E566AE}"/>
              </a:ext>
            </a:extLst>
          </p:cNvPr>
          <p:cNvSpPr txBox="1">
            <a:spLocks/>
          </p:cNvSpPr>
          <p:nvPr/>
        </p:nvSpPr>
        <p:spPr>
          <a:xfrm>
            <a:off x="534142" y="1216879"/>
            <a:ext cx="6610020" cy="5641121"/>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1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@Entity </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Marks classes that are Entities</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1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Persistence</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Starting point</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Creates </a:t>
            </a:r>
            <a:r>
              <a:rPr kumimoji="0" lang="en-GB" sz="14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EntityManagerFactory</a:t>
            </a: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instances</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1400" b="1"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EntityManagerFactory</a:t>
            </a:r>
            <a:endParaRPr kumimoji="0" lang="en-GB" sz="1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Creates </a:t>
            </a:r>
            <a:r>
              <a:rPr kumimoji="0" lang="en-GB" sz="14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EntityManager</a:t>
            </a: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instances</a:t>
            </a:r>
            <a:endParaRPr kumimoji="0" lang="en-GB" sz="1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1400" b="1"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EntityManager</a:t>
            </a:r>
            <a:endParaRPr kumimoji="0" lang="en-GB" sz="1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Used to manage the lifecycle of Entities and query the database</a:t>
            </a:r>
          </a:p>
          <a:p>
            <a:pPr marL="0" indent="0">
              <a:buNone/>
            </a:pPr>
            <a:r>
              <a:rPr lang="en-GB" sz="1400" b="1" dirty="0" err="1"/>
              <a:t>EntityTransaction</a:t>
            </a:r>
            <a:endParaRPr lang="en-GB" sz="1400" b="1" dirty="0"/>
          </a:p>
          <a:p>
            <a:pPr lvl="1"/>
            <a:r>
              <a:rPr lang="en-GB" sz="1400" dirty="0"/>
              <a:t>Groups operations on persistent data into units of work that completely succeed or fail</a:t>
            </a:r>
          </a:p>
          <a:p>
            <a:pPr marL="0" indent="0">
              <a:buNone/>
            </a:pPr>
            <a:r>
              <a:rPr lang="en-GB" sz="1400" b="1" dirty="0"/>
              <a:t>Query</a:t>
            </a:r>
          </a:p>
          <a:p>
            <a:pPr lvl="1"/>
            <a:r>
              <a:rPr lang="en-GB" sz="1400" dirty="0"/>
              <a:t>Finds persistent objects that meet certain criteria</a:t>
            </a:r>
          </a:p>
          <a:p>
            <a:pPr lvl="1"/>
            <a:r>
              <a:rPr lang="en-GB" sz="1400" dirty="0"/>
              <a:t>Allows use of both Java Persistence Query Language (JPQL) and Structured Query Language (SQL) </a:t>
            </a:r>
          </a:p>
          <a:p>
            <a:pPr lvl="1"/>
            <a:r>
              <a:rPr lang="en-GB" sz="1400" dirty="0"/>
              <a:t>Implementations are vendor-specific</a:t>
            </a:r>
          </a:p>
          <a:p>
            <a:endParaRPr kumimoji="0" lang="en-GB" sz="1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pic>
        <p:nvPicPr>
          <p:cNvPr id="6" name="Picture 2" descr="C:\Users\LocalAdmin\Desktop\jpa-arch.png">
            <a:extLst>
              <a:ext uri="{FF2B5EF4-FFF2-40B4-BE49-F238E27FC236}">
                <a16:creationId xmlns:a16="http://schemas.microsoft.com/office/drawing/2014/main" id="{AF09A639-F7A5-5542-016F-AD61EB85EAA7}"/>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rcRect/>
          <a:stretch>
            <a:fillRect/>
          </a:stretch>
        </p:blipFill>
        <p:spPr bwMode="auto">
          <a:xfrm>
            <a:off x="7144162" y="1090211"/>
            <a:ext cx="5047838" cy="3230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1137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8B81D83-2A2A-A6D8-D561-C2D29F8D3544}"/>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Implementation Overview</a:t>
            </a:r>
            <a:endPar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5" name="Content Placeholder 2">
            <a:extLst>
              <a:ext uri="{FF2B5EF4-FFF2-40B4-BE49-F238E27FC236}">
                <a16:creationId xmlns:a16="http://schemas.microsoft.com/office/drawing/2014/main" id="{A6D77745-4736-AB00-8A09-F8788C457868}"/>
              </a:ext>
            </a:extLst>
          </p:cNvPr>
          <p:cNvSpPr txBox="1">
            <a:spLocks/>
          </p:cNvSpPr>
          <p:nvPr/>
        </p:nvSpPr>
        <p:spPr>
          <a:xfrm>
            <a:off x="602248" y="1727830"/>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Three key steps:</a:t>
            </a:r>
            <a:br>
              <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457200" marR="0" lvl="0" indent="-457200" algn="l" defTabSz="914400" rtl="0" eaLnBrk="1" fontAlgn="auto" latinLnBrk="0" hangingPunct="1">
              <a:lnSpc>
                <a:spcPct val="100000"/>
              </a:lnSpc>
              <a:spcBef>
                <a:spcPts val="1800"/>
              </a:spcBef>
              <a:spcAft>
                <a:spcPts val="600"/>
              </a:spcAft>
              <a:buClrTx/>
              <a:buSzTx/>
              <a:buFont typeface="+mj-lt"/>
              <a:buAutoNum type="arabicPeriod"/>
              <a:tabLst/>
              <a:defRPr/>
            </a:pPr>
            <a:r>
              <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Configure Entity classes with metadata</a:t>
            </a:r>
          </a:p>
          <a:p>
            <a:pPr marL="457200" marR="0" lvl="0" indent="-457200" algn="l" defTabSz="914400" rtl="0" eaLnBrk="1" fontAlgn="auto" latinLnBrk="0" hangingPunct="1">
              <a:lnSpc>
                <a:spcPct val="100000"/>
              </a:lnSpc>
              <a:spcBef>
                <a:spcPts val="1800"/>
              </a:spcBef>
              <a:spcAft>
                <a:spcPts val="600"/>
              </a:spcAft>
              <a:buClrTx/>
              <a:buSzTx/>
              <a:buFont typeface="+mj-lt"/>
              <a:buAutoNum type="arabicPeriod"/>
              <a:tabLst/>
              <a:defRPr/>
            </a:pPr>
            <a:r>
              <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Provide configuration details:</a:t>
            </a:r>
          </a:p>
          <a:p>
            <a:pPr marL="914400" lvl="1" indent="-457200">
              <a:spcBef>
                <a:spcPts val="1800"/>
              </a:spcBef>
              <a:buFont typeface="+mj-lt"/>
              <a:buAutoNum type="arabicPeriod"/>
            </a:pPr>
            <a:r>
              <a:rPr kumimoji="0" lang="en-GB"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 a persistence.xml file</a:t>
            </a:r>
          </a:p>
          <a:p>
            <a:pPr marL="914400" lvl="1" indent="-457200">
              <a:spcBef>
                <a:spcPts val="1800"/>
              </a:spcBef>
              <a:buFont typeface="+mj-lt"/>
              <a:buAutoNum type="arabicPeriod"/>
            </a:pPr>
            <a:r>
              <a:rPr lang="en-GB" dirty="0">
                <a:solidFill>
                  <a:srgbClr val="000000"/>
                </a:solidFill>
              </a:rPr>
              <a:t>Annotation / Class based configuration</a:t>
            </a:r>
            <a:r>
              <a:rPr kumimoji="0" lang="en-GB"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p>
          <a:p>
            <a:pPr marL="457200" marR="0" lvl="0" indent="-457200" algn="l" defTabSz="914400" rtl="0" eaLnBrk="1" fontAlgn="auto" latinLnBrk="0" hangingPunct="1">
              <a:lnSpc>
                <a:spcPct val="100000"/>
              </a:lnSpc>
              <a:spcBef>
                <a:spcPts val="1800"/>
              </a:spcBef>
              <a:spcAft>
                <a:spcPts val="600"/>
              </a:spcAft>
              <a:buClrTx/>
              <a:buSzTx/>
              <a:buFont typeface="+mj-lt"/>
              <a:buAutoNum type="arabicPeriod"/>
              <a:tabLst/>
              <a:defRPr/>
            </a:pPr>
            <a:r>
              <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Create an </a:t>
            </a:r>
            <a:r>
              <a:rPr kumimoji="0" lang="en-GB"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EntityManagerFactory</a:t>
            </a:r>
            <a:r>
              <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from which </a:t>
            </a:r>
            <a:r>
              <a:rPr kumimoji="0" lang="en-GB"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EntityManagers</a:t>
            </a:r>
            <a:r>
              <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can be obtained</a:t>
            </a:r>
          </a:p>
          <a:p>
            <a:pPr marL="0" marR="0" lvl="0" indent="0" algn="ctr" defTabSz="914400" rtl="0" eaLnBrk="1" fontAlgn="auto" latinLnBrk="0" hangingPunct="1">
              <a:lnSpc>
                <a:spcPct val="100000"/>
              </a:lnSpc>
              <a:spcBef>
                <a:spcPts val="1800"/>
              </a:spcBef>
              <a:spcAft>
                <a:spcPts val="600"/>
              </a:spcAft>
              <a:buClrTx/>
              <a:buSzTx/>
              <a:buFont typeface="Arial" panose="020B0604020202020204" pitchFamily="34" charset="0"/>
              <a:buNone/>
              <a:tabLst/>
              <a:defRPr/>
            </a:pPr>
            <a:r>
              <a:rPr kumimoji="0" lang="en-GB" sz="18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An </a:t>
            </a:r>
            <a:r>
              <a:rPr kumimoji="0" lang="en-GB" sz="1800" b="1"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EntityManager</a:t>
            </a:r>
            <a:r>
              <a:rPr kumimoji="0" lang="en-GB" sz="18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instance is then used to perform CRUD operations and query the database.</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609076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51565BC-8337-FE46-D3EC-665A6FDA671B}"/>
              </a:ext>
            </a:extLst>
          </p:cNvPr>
          <p:cNvSpPr txBox="1">
            <a:spLocks/>
          </p:cNvSpPr>
          <p:nvPr/>
        </p:nvSpPr>
        <p:spPr>
          <a:xfrm>
            <a:off x="425785" y="272716"/>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rPr>
              <a:t>Persistence Context</a:t>
            </a:r>
          </a:p>
        </p:txBody>
      </p:sp>
      <p:sp>
        <p:nvSpPr>
          <p:cNvPr id="5" name="Content Placeholder 2">
            <a:extLst>
              <a:ext uri="{FF2B5EF4-FFF2-40B4-BE49-F238E27FC236}">
                <a16:creationId xmlns:a16="http://schemas.microsoft.com/office/drawing/2014/main" id="{68B4E16B-F031-EE8B-DE12-F2D5DAEFC652}"/>
              </a:ext>
            </a:extLst>
          </p:cNvPr>
          <p:cNvSpPr txBox="1">
            <a:spLocks/>
          </p:cNvSpPr>
          <p:nvPr/>
        </p:nvSpPr>
        <p:spPr>
          <a:xfrm>
            <a:off x="425785" y="1078869"/>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a:t>
            </a:r>
            <a:r>
              <a:rPr kumimoji="0" lang="en-GB" sz="1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persistence context </a:t>
            </a: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is the set of Entity instances in your application, managed by the </a:t>
            </a:r>
            <a:r>
              <a:rPr kumimoji="0" lang="en-GB" sz="14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EntityManager</a:t>
            </a: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When an </a:t>
            </a:r>
            <a:r>
              <a:rPr kumimoji="0" lang="en-GB" sz="14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EntityManager</a:t>
            </a: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gets a reference to an Entity, that instance is said to be </a:t>
            </a:r>
            <a:r>
              <a:rPr kumimoji="0" lang="en-GB" sz="1400" b="0" i="1" u="sng"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managed</a:t>
            </a:r>
            <a:endParaRPr kumimoji="0" lang="en-GB" sz="1400" b="0" i="0" u="sng"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Persistence operations can be carried out</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EM will automatically sync Entity state with the DB</a:t>
            </a:r>
            <a:b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endPar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Otherwise, the instance is said to be </a:t>
            </a:r>
            <a:r>
              <a:rPr kumimoji="0" lang="en-GB" sz="1400" b="0" i="1" u="sng"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detached</a:t>
            </a: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Seen as a regular POJO and can be used as such</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lang="en-GB" sz="1400" dirty="0">
              <a:solidFill>
                <a:srgbClr val="000000"/>
              </a:solidFill>
            </a:endParaRPr>
          </a:p>
          <a:p>
            <a:pPr marL="0" indent="0">
              <a:buNone/>
            </a:pPr>
            <a:r>
              <a:rPr lang="en-GB" sz="1400" b="1" dirty="0"/>
              <a:t>persistence.xml</a:t>
            </a:r>
            <a:endParaRPr lang="en-GB" sz="1400" dirty="0"/>
          </a:p>
          <a:p>
            <a:pPr lvl="1"/>
            <a:r>
              <a:rPr lang="en-GB" sz="1400" dirty="0"/>
              <a:t>An XML file that defines </a:t>
            </a:r>
            <a:r>
              <a:rPr lang="en-GB" sz="1400" b="1" dirty="0"/>
              <a:t>persistence units</a:t>
            </a:r>
            <a:endParaRPr lang="en-GB" sz="1400" dirty="0"/>
          </a:p>
          <a:p>
            <a:pPr lvl="1"/>
            <a:r>
              <a:rPr lang="en-US" sz="1400" dirty="0"/>
              <a:t>Should be placed in a directory called META-INF</a:t>
            </a:r>
            <a:endParaRPr lang="en-GB" sz="1400" dirty="0"/>
          </a:p>
          <a:p>
            <a:pPr marL="0" indent="0">
              <a:buNone/>
            </a:pPr>
            <a:endParaRPr lang="en-GB" sz="1400" dirty="0"/>
          </a:p>
          <a:p>
            <a:pPr marL="0" indent="0">
              <a:buNone/>
            </a:pPr>
            <a:r>
              <a:rPr lang="en-GB" sz="1400" dirty="0"/>
              <a:t>A </a:t>
            </a:r>
            <a:r>
              <a:rPr lang="en-GB" sz="1400" b="1" dirty="0"/>
              <a:t>persistence unit </a:t>
            </a:r>
            <a:r>
              <a:rPr lang="en-GB" sz="1400" dirty="0"/>
              <a:t>is used to configure</a:t>
            </a:r>
            <a:r>
              <a:rPr lang="en-GB" sz="1400" b="1" dirty="0"/>
              <a:t>:</a:t>
            </a:r>
          </a:p>
          <a:p>
            <a:pPr lvl="1"/>
            <a:r>
              <a:rPr lang="en-GB" sz="1400" dirty="0"/>
              <a:t>Which Entity classes are to be managed</a:t>
            </a:r>
          </a:p>
          <a:p>
            <a:pPr lvl="1"/>
            <a:r>
              <a:rPr lang="en-GB" sz="1400" dirty="0"/>
              <a:t>Persistence provider details</a:t>
            </a:r>
          </a:p>
          <a:p>
            <a:pPr lvl="1"/>
            <a:r>
              <a:rPr lang="en-GB" sz="1400" dirty="0"/>
              <a:t>Database connection details and other properties</a:t>
            </a:r>
          </a:p>
          <a:p>
            <a:endParaRPr kumimoji="0" lang="en-GB"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pic>
        <p:nvPicPr>
          <p:cNvPr id="1026" name="Picture 2" descr="The right MySQL persistence.xml example file for JPA 2.2 and Hibernate 5 |  TheServerSide">
            <a:extLst>
              <a:ext uri="{FF2B5EF4-FFF2-40B4-BE49-F238E27FC236}">
                <a16:creationId xmlns:a16="http://schemas.microsoft.com/office/drawing/2014/main" id="{2875C8DD-A615-057E-17D5-11517A7B14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4086" y="2196801"/>
            <a:ext cx="6381451" cy="3768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1292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3">
            <a:extLst>
              <a:ext uri="{FF2B5EF4-FFF2-40B4-BE49-F238E27FC236}">
                <a16:creationId xmlns:a16="http://schemas.microsoft.com/office/drawing/2014/main" id="{6CA4847E-AD1D-3C09-D1AC-7D9808EAC326}"/>
              </a:ext>
            </a:extLst>
          </p:cNvPr>
          <p:cNvSpPr/>
          <p:nvPr/>
        </p:nvSpPr>
        <p:spPr>
          <a:xfrm>
            <a:off x="2174630" y="2422904"/>
            <a:ext cx="7842739" cy="1335179"/>
          </a:xfrm>
          <a:prstGeom prst="roundRect">
            <a:avLst/>
          </a:prstGeom>
          <a:solidFill>
            <a:schemeClr val="accent1"/>
          </a:solidFill>
          <a:ln w="63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3600" b="1" i="0" u="none" strike="noStrike" kern="0" cap="none" spc="0" normalizeH="0" baseline="0" noProof="0" dirty="0">
                <a:ln>
                  <a:noFill/>
                </a:ln>
                <a:solidFill>
                  <a:srgbClr val="000000"/>
                </a:solidFill>
                <a:effectLst/>
                <a:uLnTx/>
                <a:uFillTx/>
                <a:latin typeface="Calibri" panose="020F0502020204030204"/>
                <a:ea typeface="+mn-ea"/>
                <a:cs typeface="+mn-cs"/>
              </a:rPr>
              <a:t>JPA – How to use …</a:t>
            </a:r>
          </a:p>
        </p:txBody>
      </p:sp>
    </p:spTree>
    <p:extLst>
      <p:ext uri="{BB962C8B-B14F-4D97-AF65-F5344CB8AC3E}">
        <p14:creationId xmlns:p14="http://schemas.microsoft.com/office/powerpoint/2010/main" val="2566202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27A7499-B0E1-367A-2823-3AB63A3C7CAF}"/>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Obtaining an EntityManager</a:t>
            </a:r>
            <a:endPar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7" name="Content Placeholder 2">
            <a:extLst>
              <a:ext uri="{FF2B5EF4-FFF2-40B4-BE49-F238E27FC236}">
                <a16:creationId xmlns:a16="http://schemas.microsoft.com/office/drawing/2014/main" id="{5BAF3526-A096-8FD2-649C-D4B3A9C2CC64}"/>
              </a:ext>
            </a:extLst>
          </p:cNvPr>
          <p:cNvSpPr txBox="1">
            <a:spLocks/>
          </p:cNvSpPr>
          <p:nvPr/>
        </p:nvSpPr>
        <p:spPr>
          <a:xfrm>
            <a:off x="601490" y="2300147"/>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1" indent="-4572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Get an </a:t>
            </a:r>
            <a:r>
              <a:rPr kumimoji="0" lang="en-US" sz="20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EntityManagerFactory</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from the class Persistence:</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b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b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It will be configured according to details in the given persistence unit.</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2. </a:t>
            </a:r>
            <a:r>
              <a:rPr kumimoji="0" lang="en-GB"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Once a factory is in place, </a:t>
            </a:r>
            <a:r>
              <a:rPr kumimoji="0" lang="en-GB" sz="20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EntityManager</a:t>
            </a:r>
            <a:r>
              <a:rPr kumimoji="0" lang="en-GB"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instances can be obtained:</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8" name="Rectangle 7">
            <a:extLst>
              <a:ext uri="{FF2B5EF4-FFF2-40B4-BE49-F238E27FC236}">
                <a16:creationId xmlns:a16="http://schemas.microsoft.com/office/drawing/2014/main" id="{7568C8E9-7E7E-3627-2BB7-7A1B45F352BF}"/>
              </a:ext>
            </a:extLst>
          </p:cNvPr>
          <p:cNvSpPr/>
          <p:nvPr/>
        </p:nvSpPr>
        <p:spPr>
          <a:xfrm>
            <a:off x="1134893" y="2843299"/>
            <a:ext cx="9922213" cy="707886"/>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EntityManagerFactory</a:t>
            </a: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err="1">
                <a:ln>
                  <a:noFill/>
                </a:ln>
                <a:solidFill>
                  <a:srgbClr val="000000"/>
                </a:solidFill>
                <a:effectLst/>
                <a:uLnTx/>
                <a:uFillTx/>
                <a:latin typeface="Consolas" pitchFamily="49" charset="0"/>
              </a:rPr>
              <a:t>emFactory</a:t>
            </a:r>
            <a:r>
              <a:rPr kumimoji="0" lang="en-GB" sz="2000" b="1" i="0" u="none" strike="noStrike" kern="0" cap="none" spc="0" normalizeH="0" baseline="0" noProof="0" dirty="0">
                <a:ln>
                  <a:noFill/>
                </a:ln>
                <a:solidFill>
                  <a:srgbClr val="000000"/>
                </a:solidFill>
                <a:effectLst/>
                <a:uLnTx/>
                <a:uFillTx/>
                <a:latin typeface="Consolas" pitchFamily="49" charset="0"/>
              </a:rPr>
              <a:t> =</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err="1">
                <a:ln>
                  <a:noFill/>
                </a:ln>
                <a:solidFill>
                  <a:srgbClr val="000000"/>
                </a:solidFill>
                <a:effectLst/>
                <a:uLnTx/>
                <a:uFillTx/>
                <a:latin typeface="Consolas" pitchFamily="49" charset="0"/>
              </a:rPr>
              <a:t>Persistence.createEntityManagerFactory</a:t>
            </a:r>
            <a:r>
              <a:rPr kumimoji="0" lang="en-GB" sz="2000" b="1" i="0" u="none" strike="noStrike" kern="0" cap="none" spc="0" normalizeH="0" baseline="0" noProof="0" dirty="0">
                <a:ln>
                  <a:noFill/>
                </a:ln>
                <a:solidFill>
                  <a:srgbClr val="000000"/>
                </a:solidFill>
                <a:effectLst/>
                <a:uLnTx/>
                <a:uFillTx/>
                <a:latin typeface="Consolas" pitchFamily="49" charset="0"/>
              </a:rPr>
              <a:t>("</a:t>
            </a:r>
            <a:r>
              <a:rPr kumimoji="0" lang="en-GB" sz="2000" b="1" i="0" u="none" strike="noStrike" kern="0" cap="none" spc="0" normalizeH="0" baseline="0" noProof="0" dirty="0" err="1">
                <a:ln>
                  <a:noFill/>
                </a:ln>
                <a:solidFill>
                  <a:srgbClr val="3099D9"/>
                </a:solidFill>
                <a:effectLst/>
                <a:uLnTx/>
                <a:uFillTx/>
                <a:latin typeface="Consolas" pitchFamily="49" charset="0"/>
              </a:rPr>
              <a:t>persistenceUnitName</a:t>
            </a: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
        <p:nvSpPr>
          <p:cNvPr id="9" name="Rectangle 8">
            <a:extLst>
              <a:ext uri="{FF2B5EF4-FFF2-40B4-BE49-F238E27FC236}">
                <a16:creationId xmlns:a16="http://schemas.microsoft.com/office/drawing/2014/main" id="{4332E139-3D86-8911-28C7-B80C5F0E4A99}"/>
              </a:ext>
            </a:extLst>
          </p:cNvPr>
          <p:cNvSpPr/>
          <p:nvPr/>
        </p:nvSpPr>
        <p:spPr>
          <a:xfrm>
            <a:off x="1141951" y="5510109"/>
            <a:ext cx="7437845" cy="404307"/>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EntityManager</a:t>
            </a: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err="1">
                <a:ln>
                  <a:noFill/>
                </a:ln>
                <a:solidFill>
                  <a:srgbClr val="000000"/>
                </a:solidFill>
                <a:effectLst/>
                <a:uLnTx/>
                <a:uFillTx/>
                <a:latin typeface="Consolas" pitchFamily="49" charset="0"/>
              </a:rPr>
              <a:t>em</a:t>
            </a:r>
            <a:r>
              <a:rPr kumimoji="0" lang="en-GB" sz="2000" b="1" i="0" u="none" strike="noStrike" kern="0" cap="none" spc="0" normalizeH="0" baseline="0" noProof="0" dirty="0">
                <a:ln>
                  <a:noFill/>
                </a:ln>
                <a:solidFill>
                  <a:srgbClr val="000000"/>
                </a:solidFill>
                <a:effectLst/>
                <a:uLnTx/>
                <a:uFillTx/>
                <a:latin typeface="Consolas" pitchFamily="49" charset="0"/>
              </a:rPr>
              <a:t> = </a:t>
            </a:r>
            <a:r>
              <a:rPr kumimoji="0" lang="en-GB" sz="2000" b="1" i="0" u="none" strike="noStrike" kern="0" cap="none" spc="0" normalizeH="0" baseline="0" noProof="0" dirty="0" err="1">
                <a:ln>
                  <a:noFill/>
                </a:ln>
                <a:solidFill>
                  <a:srgbClr val="000000"/>
                </a:solidFill>
                <a:effectLst/>
                <a:uLnTx/>
                <a:uFillTx/>
                <a:latin typeface="Consolas" pitchFamily="49" charset="0"/>
              </a:rPr>
              <a:t>emFactory.createEntityManager</a:t>
            </a: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Tree>
    <p:extLst>
      <p:ext uri="{BB962C8B-B14F-4D97-AF65-F5344CB8AC3E}">
        <p14:creationId xmlns:p14="http://schemas.microsoft.com/office/powerpoint/2010/main" val="2221541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3F01075-B503-F529-634D-F0CF72088C74}"/>
              </a:ext>
            </a:extLst>
          </p:cNvPr>
          <p:cNvSpPr txBox="1">
            <a:spLocks/>
          </p:cNvSpPr>
          <p:nvPr/>
        </p:nvSpPr>
        <p:spPr>
          <a:xfrm>
            <a:off x="594811" y="127940"/>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rPr>
              <a:t>Managing Entities</a:t>
            </a:r>
          </a:p>
        </p:txBody>
      </p:sp>
      <p:sp>
        <p:nvSpPr>
          <p:cNvPr id="11" name="Rectangle 10">
            <a:extLst>
              <a:ext uri="{FF2B5EF4-FFF2-40B4-BE49-F238E27FC236}">
                <a16:creationId xmlns:a16="http://schemas.microsoft.com/office/drawing/2014/main" id="{B26C357E-F152-BA30-1CBB-5E8D5A6A8B54}"/>
              </a:ext>
            </a:extLst>
          </p:cNvPr>
          <p:cNvSpPr/>
          <p:nvPr/>
        </p:nvSpPr>
        <p:spPr>
          <a:xfrm>
            <a:off x="2181225" y="837056"/>
            <a:ext cx="7829550" cy="3170099"/>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lumMod val="50000"/>
                    <a:lumOff val="50000"/>
                  </a:srgbClr>
                </a:solidFill>
                <a:effectLst/>
                <a:uLnTx/>
                <a:uFillTx/>
                <a:latin typeface="Consolas" pitchFamily="49" charset="0"/>
              </a:rPr>
              <a:t>// Create POJO</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Employee </a:t>
            </a:r>
            <a:r>
              <a:rPr kumimoji="0" lang="en-GB" sz="2000" b="1" i="0" u="none" strike="noStrike" kern="0" cap="none" spc="0" normalizeH="0" baseline="0" noProof="0" dirty="0" err="1">
                <a:ln>
                  <a:noFill/>
                </a:ln>
                <a:solidFill>
                  <a:srgbClr val="000000"/>
                </a:solidFill>
                <a:effectLst/>
                <a:uLnTx/>
                <a:uFillTx/>
                <a:latin typeface="Consolas" pitchFamily="49" charset="0"/>
              </a:rPr>
              <a:t>employee</a:t>
            </a:r>
            <a:r>
              <a:rPr kumimoji="0" lang="en-GB" sz="2000" b="1" i="0" u="none" strike="noStrike" kern="0" cap="none" spc="0" normalizeH="0" baseline="0" noProof="0" dirty="0">
                <a:ln>
                  <a:noFill/>
                </a:ln>
                <a:solidFill>
                  <a:srgbClr val="000000"/>
                </a:solidFill>
                <a:effectLst/>
                <a:uLnTx/>
                <a:uFillTx/>
                <a:latin typeface="Consolas" pitchFamily="49" charset="0"/>
              </a:rPr>
              <a:t> = new Employee(158);</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em.getTransaction.begin</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lumMod val="50000"/>
                    <a:lumOff val="50000"/>
                  </a:srgbClr>
                </a:solidFill>
                <a:effectLst/>
                <a:uLnTx/>
                <a:uFillTx/>
                <a:latin typeface="Consolas" pitchFamily="49" charset="0"/>
              </a:rPr>
              <a:t>// Add to persistence context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em.</a:t>
            </a:r>
            <a:r>
              <a:rPr kumimoji="0" lang="en-GB" sz="2000" b="1" i="0" u="none" strike="noStrike" kern="0" cap="none" spc="0" normalizeH="0" baseline="0" noProof="0" dirty="0" err="1">
                <a:ln>
                  <a:noFill/>
                </a:ln>
                <a:solidFill>
                  <a:srgbClr val="3099D9"/>
                </a:solidFill>
                <a:effectLst/>
                <a:uLnTx/>
                <a:uFillTx/>
                <a:latin typeface="Consolas" pitchFamily="49" charset="0"/>
              </a:rPr>
              <a:t>persist</a:t>
            </a:r>
            <a:r>
              <a:rPr kumimoji="0" lang="en-GB" sz="2000" b="1" i="0" u="none" strike="noStrike" kern="0" cap="none" spc="0" normalizeH="0" baseline="0" noProof="0" dirty="0">
                <a:ln>
                  <a:noFill/>
                </a:ln>
                <a:solidFill>
                  <a:srgbClr val="000000"/>
                </a:solidFill>
                <a:effectLst/>
                <a:uLnTx/>
                <a:uFillTx/>
                <a:latin typeface="Consolas" pitchFamily="49" charset="0"/>
              </a:rPr>
              <a:t>(employee);  </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lumMod val="50000"/>
                    <a:lumOff val="50000"/>
                  </a:srgbClr>
                </a:solidFill>
                <a:effectLst/>
                <a:uLnTx/>
                <a:uFillTx/>
                <a:latin typeface="Consolas" pitchFamily="49" charset="0"/>
              </a:rPr>
              <a:t>// Send changes to database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em.getTransaction.commit</a:t>
            </a: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
        <p:nvSpPr>
          <p:cNvPr id="14" name="Content Placeholder 2">
            <a:extLst>
              <a:ext uri="{FF2B5EF4-FFF2-40B4-BE49-F238E27FC236}">
                <a16:creationId xmlns:a16="http://schemas.microsoft.com/office/drawing/2014/main" id="{82388A15-0E76-585F-A954-A520F8E48E63}"/>
              </a:ext>
            </a:extLst>
          </p:cNvPr>
          <p:cNvSpPr txBox="1">
            <a:spLocks/>
          </p:cNvSpPr>
          <p:nvPr/>
        </p:nvSpPr>
        <p:spPr>
          <a:xfrm>
            <a:off x="438204" y="4300467"/>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Finding by ID:</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If found, a reference to a </a:t>
            </a:r>
            <a:r>
              <a:rPr kumimoji="0" lang="en-US" sz="1800" b="0" i="1" u="sng"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managed</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Entity is returned</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If not found, a null value is returned</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Note: </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 transaction is not required.</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b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5" name="Rectangle 14">
            <a:extLst>
              <a:ext uri="{FF2B5EF4-FFF2-40B4-BE49-F238E27FC236}">
                <a16:creationId xmlns:a16="http://schemas.microsoft.com/office/drawing/2014/main" id="{A6A344E7-5385-6A0D-C40A-4D4D37809C12}"/>
              </a:ext>
            </a:extLst>
          </p:cNvPr>
          <p:cNvSpPr/>
          <p:nvPr/>
        </p:nvSpPr>
        <p:spPr>
          <a:xfrm>
            <a:off x="2498525" y="4300467"/>
            <a:ext cx="7829550" cy="400110"/>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Employee </a:t>
            </a:r>
            <a:r>
              <a:rPr kumimoji="0" lang="en-GB" sz="2000" b="1" i="0" u="none" strike="noStrike" kern="0" cap="none" spc="0" normalizeH="0" baseline="0" noProof="0" dirty="0" err="1">
                <a:ln>
                  <a:noFill/>
                </a:ln>
                <a:solidFill>
                  <a:srgbClr val="000000"/>
                </a:solidFill>
                <a:effectLst/>
                <a:uLnTx/>
                <a:uFillTx/>
                <a:latin typeface="Consolas" pitchFamily="49" charset="0"/>
              </a:rPr>
              <a:t>employee</a:t>
            </a:r>
            <a:r>
              <a:rPr kumimoji="0" lang="en-GB" sz="2000" b="1" i="0" u="none" strike="noStrike" kern="0" cap="none" spc="0" normalizeH="0" baseline="0" noProof="0" dirty="0">
                <a:ln>
                  <a:noFill/>
                </a:ln>
                <a:solidFill>
                  <a:srgbClr val="000000"/>
                </a:solidFill>
                <a:effectLst/>
                <a:uLnTx/>
                <a:uFillTx/>
                <a:latin typeface="Consolas" pitchFamily="49" charset="0"/>
              </a:rPr>
              <a:t> = </a:t>
            </a:r>
            <a:r>
              <a:rPr kumimoji="0" lang="en-GB" sz="2000" b="1" i="0" u="none" strike="noStrike" kern="0" cap="none" spc="0" normalizeH="0" baseline="0" noProof="0" dirty="0" err="1">
                <a:ln>
                  <a:noFill/>
                </a:ln>
                <a:solidFill>
                  <a:srgbClr val="000000"/>
                </a:solidFill>
                <a:effectLst/>
                <a:uLnTx/>
                <a:uFillTx/>
                <a:latin typeface="Consolas" pitchFamily="49" charset="0"/>
              </a:rPr>
              <a:t>em.</a:t>
            </a:r>
            <a:r>
              <a:rPr kumimoji="0" lang="en-GB" sz="2000" b="1" i="0" u="none" strike="noStrike" kern="0" cap="none" spc="0" normalizeH="0" baseline="0" noProof="0" dirty="0" err="1">
                <a:ln>
                  <a:noFill/>
                </a:ln>
                <a:solidFill>
                  <a:srgbClr val="3099D9"/>
                </a:solidFill>
                <a:effectLst/>
                <a:uLnTx/>
                <a:uFillTx/>
                <a:latin typeface="Consolas" pitchFamily="49" charset="0"/>
              </a:rPr>
              <a:t>find</a:t>
            </a:r>
            <a:r>
              <a:rPr kumimoji="0" lang="en-GB" sz="2000" b="1" i="0" u="none" strike="noStrike" kern="0" cap="none" spc="0" normalizeH="0" baseline="0" noProof="0" dirty="0">
                <a:ln>
                  <a:noFill/>
                </a:ln>
                <a:solidFill>
                  <a:srgbClr val="000000"/>
                </a:solidFill>
                <a:effectLst/>
                <a:uLnTx/>
                <a:uFillTx/>
                <a:latin typeface="Consolas" pitchFamily="49" charset="0"/>
              </a:rPr>
              <a:t>(</a:t>
            </a:r>
            <a:r>
              <a:rPr kumimoji="0" lang="en-GB" sz="2000" b="1" i="0" u="none" strike="noStrike" kern="0" cap="none" spc="0" normalizeH="0" baseline="0" noProof="0" dirty="0" err="1">
                <a:ln>
                  <a:noFill/>
                </a:ln>
                <a:solidFill>
                  <a:srgbClr val="000000"/>
                </a:solidFill>
                <a:effectLst/>
                <a:uLnTx/>
                <a:uFillTx/>
                <a:latin typeface="Consolas" pitchFamily="49" charset="0"/>
              </a:rPr>
              <a:t>Employee.class</a:t>
            </a:r>
            <a:r>
              <a:rPr kumimoji="0" lang="en-GB" sz="2000" b="1" i="0" u="none" strike="noStrike" kern="0" cap="none" spc="0" normalizeH="0" baseline="0" noProof="0" dirty="0">
                <a:ln>
                  <a:noFill/>
                </a:ln>
                <a:solidFill>
                  <a:srgbClr val="000000"/>
                </a:solidFill>
                <a:effectLst/>
                <a:uLnTx/>
                <a:uFillTx/>
                <a:latin typeface="Consolas" pitchFamily="49" charset="0"/>
              </a:rPr>
              <a:t>, 158);</a:t>
            </a:r>
          </a:p>
        </p:txBody>
      </p:sp>
      <p:sp>
        <p:nvSpPr>
          <p:cNvPr id="2" name="TextBox 1">
            <a:extLst>
              <a:ext uri="{FF2B5EF4-FFF2-40B4-BE49-F238E27FC236}">
                <a16:creationId xmlns:a16="http://schemas.microsoft.com/office/drawing/2014/main" id="{E291D1B9-F138-2F3C-5F66-60C3103A8CA8}"/>
              </a:ext>
            </a:extLst>
          </p:cNvPr>
          <p:cNvSpPr txBox="1"/>
          <p:nvPr/>
        </p:nvSpPr>
        <p:spPr>
          <a:xfrm>
            <a:off x="637673" y="837056"/>
            <a:ext cx="1236236" cy="369332"/>
          </a:xfrm>
          <a:prstGeom prst="rect">
            <a:avLst/>
          </a:prstGeom>
          <a:noFill/>
        </p:spPr>
        <p:txBody>
          <a:bodyPr wrap="none" rtlCol="0">
            <a:spAutoFit/>
          </a:bodyPr>
          <a:lstStyle/>
          <a:p>
            <a:r>
              <a:rPr lang="en-GB" b="1" dirty="0">
                <a:solidFill>
                  <a:srgbClr val="000000"/>
                </a:solidFill>
                <a:latin typeface="Arial" panose="020B0604020202020204" pitchFamily="34" charset="0"/>
                <a:cs typeface="Arial" panose="020B0604020202020204" pitchFamily="34" charset="0"/>
              </a:rPr>
              <a:t>Inserting:</a:t>
            </a:r>
            <a:endParaRPr lang="en-CA" dirty="0"/>
          </a:p>
        </p:txBody>
      </p:sp>
    </p:spTree>
    <p:extLst>
      <p:ext uri="{BB962C8B-B14F-4D97-AF65-F5344CB8AC3E}">
        <p14:creationId xmlns:p14="http://schemas.microsoft.com/office/powerpoint/2010/main" val="692951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7DCD557-0181-797C-72E2-8EF97B1EF7D6}"/>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Managing Entities</a:t>
            </a:r>
            <a:endPar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6" name="Content Placeholder 2">
            <a:extLst>
              <a:ext uri="{FF2B5EF4-FFF2-40B4-BE49-F238E27FC236}">
                <a16:creationId xmlns:a16="http://schemas.microsoft.com/office/drawing/2014/main" id="{7DF48B21-BA8C-74AB-FABC-13B179B1901B}"/>
              </a:ext>
            </a:extLst>
          </p:cNvPr>
          <p:cNvSpPr txBox="1">
            <a:spLocks/>
          </p:cNvSpPr>
          <p:nvPr/>
        </p:nvSpPr>
        <p:spPr>
          <a:xfrm>
            <a:off x="601490" y="2300147"/>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127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2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Updating:</a:t>
            </a: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7" name="Rectangle 6">
            <a:extLst>
              <a:ext uri="{FF2B5EF4-FFF2-40B4-BE49-F238E27FC236}">
                <a16:creationId xmlns:a16="http://schemas.microsoft.com/office/drawing/2014/main" id="{00ED14F0-55D0-8045-5393-E13FA3232E5D}"/>
              </a:ext>
            </a:extLst>
          </p:cNvPr>
          <p:cNvSpPr/>
          <p:nvPr/>
        </p:nvSpPr>
        <p:spPr>
          <a:xfrm>
            <a:off x="2188283" y="2701130"/>
            <a:ext cx="7829550" cy="3477875"/>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lumMod val="65000"/>
                    <a:lumOff val="35000"/>
                  </a:srgbClr>
                </a:solidFill>
                <a:effectLst/>
                <a:uLnTx/>
                <a:uFillTx/>
                <a:latin typeface="Consolas" pitchFamily="49" charset="0"/>
              </a:rPr>
              <a:t>// Obtain managed Entity from persistence context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Employee </a:t>
            </a:r>
            <a:r>
              <a:rPr kumimoji="0" lang="en-GB" sz="2000" b="1" i="0" u="none" strike="noStrike" kern="0" cap="none" spc="0" normalizeH="0" baseline="0" noProof="0" dirty="0" err="1">
                <a:ln>
                  <a:noFill/>
                </a:ln>
                <a:solidFill>
                  <a:srgbClr val="000000"/>
                </a:solidFill>
                <a:effectLst/>
                <a:uLnTx/>
                <a:uFillTx/>
                <a:latin typeface="Consolas" pitchFamily="49" charset="0"/>
              </a:rPr>
              <a:t>employee</a:t>
            </a:r>
            <a:r>
              <a:rPr kumimoji="0" lang="en-GB" sz="2000" b="1" i="0" u="none" strike="noStrike" kern="0" cap="none" spc="0" normalizeH="0" baseline="0" noProof="0" dirty="0">
                <a:ln>
                  <a:noFill/>
                </a:ln>
                <a:solidFill>
                  <a:srgbClr val="000000"/>
                </a:solidFill>
                <a:effectLst/>
                <a:uLnTx/>
                <a:uFillTx/>
                <a:latin typeface="Consolas" pitchFamily="49" charset="0"/>
              </a:rPr>
              <a:t> = </a:t>
            </a:r>
            <a:r>
              <a:rPr kumimoji="0" lang="en-GB" sz="2000" b="1" i="0" u="none" strike="noStrike" kern="0" cap="none" spc="0" normalizeH="0" baseline="0" noProof="0" dirty="0" err="1">
                <a:ln>
                  <a:noFill/>
                </a:ln>
                <a:solidFill>
                  <a:srgbClr val="000000"/>
                </a:solidFill>
                <a:effectLst/>
                <a:uLnTx/>
                <a:uFillTx/>
                <a:latin typeface="Consolas" pitchFamily="49" charset="0"/>
              </a:rPr>
              <a:t>em.</a:t>
            </a:r>
            <a:r>
              <a:rPr kumimoji="0" lang="en-GB" sz="2000" b="1" i="0" u="none" strike="noStrike" kern="0" cap="none" spc="0" normalizeH="0" baseline="0" noProof="0" dirty="0" err="1">
                <a:ln>
                  <a:noFill/>
                </a:ln>
                <a:solidFill>
                  <a:srgbClr val="3099D9"/>
                </a:solidFill>
                <a:effectLst/>
                <a:uLnTx/>
                <a:uFillTx/>
                <a:latin typeface="Consolas" pitchFamily="49" charset="0"/>
              </a:rPr>
              <a:t>find</a:t>
            </a:r>
            <a:r>
              <a:rPr kumimoji="0" lang="en-GB" sz="2000" b="1" i="0" u="none" strike="noStrike" kern="0" cap="none" spc="0" normalizeH="0" baseline="0" noProof="0" dirty="0">
                <a:ln>
                  <a:noFill/>
                </a:ln>
                <a:solidFill>
                  <a:srgbClr val="000000"/>
                </a:solidFill>
                <a:effectLst/>
                <a:uLnTx/>
                <a:uFillTx/>
                <a:latin typeface="Consolas" pitchFamily="49" charset="0"/>
              </a:rPr>
              <a:t>(</a:t>
            </a:r>
            <a:r>
              <a:rPr kumimoji="0" lang="en-GB" sz="2000" b="1" i="0" u="none" strike="noStrike" kern="0" cap="none" spc="0" normalizeH="0" baseline="0" noProof="0" dirty="0" err="1">
                <a:ln>
                  <a:noFill/>
                </a:ln>
                <a:solidFill>
                  <a:srgbClr val="000000"/>
                </a:solidFill>
                <a:effectLst/>
                <a:uLnTx/>
                <a:uFillTx/>
                <a:latin typeface="Consolas" pitchFamily="49" charset="0"/>
              </a:rPr>
              <a:t>Employee.class</a:t>
            </a:r>
            <a:r>
              <a:rPr kumimoji="0" lang="en-GB" sz="2000" b="1" i="0" u="none" strike="noStrike" kern="0" cap="none" spc="0" normalizeH="0" baseline="0" noProof="0" dirty="0">
                <a:ln>
                  <a:noFill/>
                </a:ln>
                <a:solidFill>
                  <a:srgbClr val="000000"/>
                </a:solidFill>
                <a:effectLst/>
                <a:uLnTx/>
                <a:uFillTx/>
                <a:latin typeface="Consolas" pitchFamily="49" charset="0"/>
              </a:rPr>
              <a:t>, 158);</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em.getTransaction</a:t>
            </a:r>
            <a:r>
              <a:rPr kumimoji="0" lang="en-GB" sz="2000" b="1" i="0" u="none" strike="noStrike" kern="0" cap="none" spc="0" normalizeH="0" baseline="0" noProof="0" dirty="0">
                <a:ln>
                  <a:noFill/>
                </a:ln>
                <a:solidFill>
                  <a:srgbClr val="000000"/>
                </a:solidFill>
                <a:effectLst/>
                <a:uLnTx/>
                <a:uFillTx/>
                <a:latin typeface="Consolas" pitchFamily="49" charset="0"/>
              </a:rPr>
              <a:t>().begin();</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lumMod val="65000"/>
                    <a:lumOff val="35000"/>
                  </a:srgbClr>
                </a:solidFill>
                <a:effectLst/>
                <a:uLnTx/>
                <a:uFillTx/>
                <a:latin typeface="Consolas" pitchFamily="49" charset="0"/>
              </a:rPr>
              <a:t>// Modify Entity state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employee.</a:t>
            </a:r>
            <a:r>
              <a:rPr kumimoji="0" lang="en-GB" sz="2000" b="1" i="0" u="none" strike="noStrike" kern="0" cap="none" spc="0" normalizeH="0" baseline="0" noProof="0" dirty="0" err="1">
                <a:ln>
                  <a:noFill/>
                </a:ln>
                <a:solidFill>
                  <a:srgbClr val="3099D9"/>
                </a:solidFill>
                <a:effectLst/>
                <a:uLnTx/>
                <a:uFillTx/>
                <a:latin typeface="Consolas" pitchFamily="49" charset="0"/>
              </a:rPr>
              <a:t>setSalary</a:t>
            </a:r>
            <a:r>
              <a:rPr kumimoji="0" lang="en-GB" sz="2000" b="1" i="0" u="none" strike="noStrike" kern="0" cap="none" spc="0" normalizeH="0" baseline="0" noProof="0" dirty="0">
                <a:ln>
                  <a:noFill/>
                </a:ln>
                <a:solidFill>
                  <a:srgbClr val="000000"/>
                </a:solidFill>
                <a:effectLst/>
                <a:uLnTx/>
                <a:uFillTx/>
                <a:latin typeface="Consolas" pitchFamily="49" charset="0"/>
              </a:rPr>
              <a:t>(50000);</a:t>
            </a:r>
          </a:p>
          <a:p>
            <a:pPr lvl="0" defTabSz="914400">
              <a:buClr>
                <a:srgbClr val="333399"/>
              </a:buClr>
              <a:defRPr/>
            </a:pPr>
            <a:r>
              <a:rPr lang="en-GB" sz="2000" b="1" kern="0" dirty="0" err="1">
                <a:solidFill>
                  <a:srgbClr val="000000"/>
                </a:solidFill>
                <a:latin typeface="Consolas" pitchFamily="49" charset="0"/>
              </a:rPr>
              <a:t>em.merge</a:t>
            </a:r>
            <a:r>
              <a:rPr lang="en-GB" sz="2000" b="1" kern="0" dirty="0">
                <a:solidFill>
                  <a:srgbClr val="000000"/>
                </a:solidFill>
                <a:latin typeface="Consolas" pitchFamily="49" charset="0"/>
              </a:rPr>
              <a:t>(product);</a:t>
            </a: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lumMod val="65000"/>
                    <a:lumOff val="35000"/>
                  </a:srgbClr>
                </a:solidFill>
                <a:effectLst/>
                <a:uLnTx/>
                <a:uFillTx/>
                <a:latin typeface="Consolas" pitchFamily="49" charset="0"/>
              </a:rPr>
              <a:t>// Send changes to database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em.getTransaction</a:t>
            </a:r>
            <a:r>
              <a:rPr kumimoji="0" lang="en-GB" sz="2000" b="1" i="0" u="none" strike="noStrike" kern="0" cap="none" spc="0" normalizeH="0" baseline="0" noProof="0" dirty="0">
                <a:ln>
                  <a:noFill/>
                </a:ln>
                <a:solidFill>
                  <a:srgbClr val="000000"/>
                </a:solidFill>
                <a:effectLst/>
                <a:uLnTx/>
                <a:uFillTx/>
                <a:latin typeface="Consolas" pitchFamily="49" charset="0"/>
              </a:rPr>
              <a:t>().commit();</a:t>
            </a:r>
          </a:p>
        </p:txBody>
      </p:sp>
    </p:spTree>
    <p:extLst>
      <p:ext uri="{BB962C8B-B14F-4D97-AF65-F5344CB8AC3E}">
        <p14:creationId xmlns:p14="http://schemas.microsoft.com/office/powerpoint/2010/main" val="2141912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FB13DF2-0DBE-C4F3-E4B0-B60C86709331}"/>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Managing Entities</a:t>
            </a:r>
            <a:endPar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6" name="Content Placeholder 2">
            <a:extLst>
              <a:ext uri="{FF2B5EF4-FFF2-40B4-BE49-F238E27FC236}">
                <a16:creationId xmlns:a16="http://schemas.microsoft.com/office/drawing/2014/main" id="{39D20B0E-768A-4943-E2F8-8F75A6E8E3F7}"/>
              </a:ext>
            </a:extLst>
          </p:cNvPr>
          <p:cNvSpPr txBox="1">
            <a:spLocks/>
          </p:cNvSpPr>
          <p:nvPr/>
        </p:nvSpPr>
        <p:spPr>
          <a:xfrm>
            <a:off x="601490" y="2300147"/>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127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“Finding” and Deleting:</a:t>
            </a:r>
            <a:br>
              <a:rPr kumimoji="0" lang="en-GB"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br>
              <a:rPr kumimoji="0" lang="en-GB"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endParaRPr kumimoji="0" lang="en-GB"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8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357188"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18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127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127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127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127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br>
              <a:rPr kumimoji="0" lang="en-GB"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endParaRPr kumimoji="0" lang="en-GB"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7" name="Rectangle 6">
            <a:extLst>
              <a:ext uri="{FF2B5EF4-FFF2-40B4-BE49-F238E27FC236}">
                <a16:creationId xmlns:a16="http://schemas.microsoft.com/office/drawing/2014/main" id="{9EBDE342-6F4A-C67D-392A-57E388EC652D}"/>
              </a:ext>
            </a:extLst>
          </p:cNvPr>
          <p:cNvSpPr/>
          <p:nvPr/>
        </p:nvSpPr>
        <p:spPr>
          <a:xfrm>
            <a:off x="2181225" y="2844005"/>
            <a:ext cx="7829550" cy="3170099"/>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lumMod val="65000"/>
                    <a:lumOff val="35000"/>
                  </a:srgbClr>
                </a:solidFill>
                <a:effectLst/>
                <a:uLnTx/>
                <a:uFillTx/>
                <a:latin typeface="Consolas" pitchFamily="49" charset="0"/>
              </a:rPr>
              <a:t>// Obtain managed Entity from persistence context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Employee </a:t>
            </a:r>
            <a:r>
              <a:rPr kumimoji="0" lang="en-GB" sz="2000" b="1" i="0" u="none" strike="noStrike" kern="0" cap="none" spc="0" normalizeH="0" baseline="0" noProof="0" dirty="0" err="1">
                <a:ln>
                  <a:noFill/>
                </a:ln>
                <a:solidFill>
                  <a:srgbClr val="000000"/>
                </a:solidFill>
                <a:effectLst/>
                <a:uLnTx/>
                <a:uFillTx/>
                <a:latin typeface="Consolas" pitchFamily="49" charset="0"/>
              </a:rPr>
              <a:t>employee</a:t>
            </a:r>
            <a:r>
              <a:rPr kumimoji="0" lang="en-GB" sz="2000" b="1" i="0" u="none" strike="noStrike" kern="0" cap="none" spc="0" normalizeH="0" baseline="0" noProof="0" dirty="0">
                <a:ln>
                  <a:noFill/>
                </a:ln>
                <a:solidFill>
                  <a:srgbClr val="000000"/>
                </a:solidFill>
                <a:effectLst/>
                <a:uLnTx/>
                <a:uFillTx/>
                <a:latin typeface="Consolas" pitchFamily="49" charset="0"/>
              </a:rPr>
              <a:t> = </a:t>
            </a:r>
            <a:r>
              <a:rPr kumimoji="0" lang="en-GB" sz="2000" b="1" i="0" u="none" strike="noStrike" kern="0" cap="none" spc="0" normalizeH="0" baseline="0" noProof="0" dirty="0" err="1">
                <a:ln>
                  <a:noFill/>
                </a:ln>
                <a:solidFill>
                  <a:srgbClr val="000000"/>
                </a:solidFill>
                <a:effectLst/>
                <a:uLnTx/>
                <a:uFillTx/>
                <a:latin typeface="Consolas" pitchFamily="49" charset="0"/>
              </a:rPr>
              <a:t>em.</a:t>
            </a:r>
            <a:r>
              <a:rPr kumimoji="0" lang="en-GB" sz="2000" b="1" i="0" u="none" strike="noStrike" kern="0" cap="none" spc="0" normalizeH="0" baseline="0" noProof="0" dirty="0" err="1">
                <a:ln>
                  <a:noFill/>
                </a:ln>
                <a:solidFill>
                  <a:srgbClr val="3099D9"/>
                </a:solidFill>
                <a:effectLst/>
                <a:uLnTx/>
                <a:uFillTx/>
                <a:latin typeface="Consolas" pitchFamily="49" charset="0"/>
              </a:rPr>
              <a:t>find</a:t>
            </a:r>
            <a:r>
              <a:rPr kumimoji="0" lang="en-GB" sz="2000" b="1" i="0" u="none" strike="noStrike" kern="0" cap="none" spc="0" normalizeH="0" baseline="0" noProof="0" dirty="0">
                <a:ln>
                  <a:noFill/>
                </a:ln>
                <a:solidFill>
                  <a:srgbClr val="000000"/>
                </a:solidFill>
                <a:effectLst/>
                <a:uLnTx/>
                <a:uFillTx/>
                <a:latin typeface="Consolas" pitchFamily="49" charset="0"/>
              </a:rPr>
              <a:t>(</a:t>
            </a:r>
            <a:r>
              <a:rPr kumimoji="0" lang="en-GB" sz="2000" b="1" i="0" u="none" strike="noStrike" kern="0" cap="none" spc="0" normalizeH="0" baseline="0" noProof="0" dirty="0" err="1">
                <a:ln>
                  <a:noFill/>
                </a:ln>
                <a:solidFill>
                  <a:srgbClr val="000000"/>
                </a:solidFill>
                <a:effectLst/>
                <a:uLnTx/>
                <a:uFillTx/>
                <a:latin typeface="Consolas" pitchFamily="49" charset="0"/>
              </a:rPr>
              <a:t>Employee.class</a:t>
            </a:r>
            <a:r>
              <a:rPr kumimoji="0" lang="en-GB" sz="2000" b="1" i="0" u="none" strike="noStrike" kern="0" cap="none" spc="0" normalizeH="0" baseline="0" noProof="0" dirty="0">
                <a:ln>
                  <a:noFill/>
                </a:ln>
                <a:solidFill>
                  <a:srgbClr val="000000"/>
                </a:solidFill>
                <a:effectLst/>
                <a:uLnTx/>
                <a:uFillTx/>
                <a:latin typeface="Consolas" pitchFamily="49" charset="0"/>
              </a:rPr>
              <a:t>, 158);</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em.getTransaction</a:t>
            </a:r>
            <a:r>
              <a:rPr kumimoji="0" lang="en-GB" sz="2000" b="1" i="0" u="none" strike="noStrike" kern="0" cap="none" spc="0" normalizeH="0" baseline="0" noProof="0" dirty="0">
                <a:ln>
                  <a:noFill/>
                </a:ln>
                <a:solidFill>
                  <a:srgbClr val="000000"/>
                </a:solidFill>
                <a:effectLst/>
                <a:uLnTx/>
                <a:uFillTx/>
                <a:latin typeface="Consolas" pitchFamily="49" charset="0"/>
              </a:rPr>
              <a:t>().begin();</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lumMod val="65000"/>
                    <a:lumOff val="35000"/>
                  </a:srgbClr>
                </a:solidFill>
                <a:effectLst/>
                <a:uLnTx/>
                <a:uFillTx/>
                <a:latin typeface="Consolas" pitchFamily="49" charset="0"/>
              </a:rPr>
              <a:t>// Instance removed from context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em.</a:t>
            </a:r>
            <a:r>
              <a:rPr kumimoji="0" lang="en-GB" sz="2000" b="1" i="0" u="none" strike="noStrike" kern="0" cap="none" spc="0" normalizeH="0" baseline="0" noProof="0" dirty="0" err="1">
                <a:ln>
                  <a:noFill/>
                </a:ln>
                <a:solidFill>
                  <a:srgbClr val="3099D9"/>
                </a:solidFill>
                <a:effectLst/>
                <a:uLnTx/>
                <a:uFillTx/>
                <a:latin typeface="Consolas" pitchFamily="49" charset="0"/>
              </a:rPr>
              <a:t>remove</a:t>
            </a:r>
            <a:r>
              <a:rPr kumimoji="0" lang="en-GB" sz="2000" b="1" i="0" u="none" strike="noStrike" kern="0" cap="none" spc="0" normalizeH="0" baseline="0" noProof="0" dirty="0">
                <a:ln>
                  <a:noFill/>
                </a:ln>
                <a:solidFill>
                  <a:srgbClr val="000000"/>
                </a:solidFill>
                <a:effectLst/>
                <a:uLnTx/>
                <a:uFillTx/>
                <a:latin typeface="Consolas" pitchFamily="49" charset="0"/>
              </a:rPr>
              <a:t>(employee);</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lumMod val="65000"/>
                    <a:lumOff val="35000"/>
                  </a:srgbClr>
                </a:solidFill>
                <a:effectLst/>
                <a:uLnTx/>
                <a:uFillTx/>
                <a:latin typeface="Consolas" pitchFamily="49" charset="0"/>
              </a:rPr>
              <a:t>// Send changes to database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em.getTransaction</a:t>
            </a:r>
            <a:r>
              <a:rPr kumimoji="0" lang="en-GB" sz="2000" b="1" i="0" u="none" strike="noStrike" kern="0" cap="none" spc="0" normalizeH="0" baseline="0" noProof="0" dirty="0">
                <a:ln>
                  <a:noFill/>
                </a:ln>
                <a:solidFill>
                  <a:srgbClr val="000000"/>
                </a:solidFill>
                <a:effectLst/>
                <a:uLnTx/>
                <a:uFillTx/>
                <a:latin typeface="Consolas" pitchFamily="49" charset="0"/>
              </a:rPr>
              <a:t>().commit();</a:t>
            </a:r>
          </a:p>
        </p:txBody>
      </p:sp>
    </p:spTree>
    <p:extLst>
      <p:ext uri="{BB962C8B-B14F-4D97-AF65-F5344CB8AC3E}">
        <p14:creationId xmlns:p14="http://schemas.microsoft.com/office/powerpoint/2010/main" val="77416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F9D99E2-B3D2-A9AB-F804-A2DA14C8D21B}"/>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Managing Entities</a:t>
            </a:r>
            <a:endPar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6" name="Content Placeholder 2">
            <a:extLst>
              <a:ext uri="{FF2B5EF4-FFF2-40B4-BE49-F238E27FC236}">
                <a16:creationId xmlns:a16="http://schemas.microsoft.com/office/drawing/2014/main" id="{DBFB6450-9804-6346-D03F-E5B9ACAC7E15}"/>
              </a:ext>
            </a:extLst>
          </p:cNvPr>
          <p:cNvSpPr txBox="1">
            <a:spLocks/>
          </p:cNvSpPr>
          <p:nvPr/>
        </p:nvSpPr>
        <p:spPr>
          <a:xfrm>
            <a:off x="601490" y="2300147"/>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Merging:</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b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b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b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b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Takes in a </a:t>
            </a:r>
            <a:r>
              <a:rPr kumimoji="0" lang="en-US" sz="1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detached</a:t>
            </a: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Entity and retrieves the </a:t>
            </a:r>
            <a:r>
              <a:rPr kumimoji="0" lang="en-US" sz="1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managed</a:t>
            </a: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version</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If the given Entity does not exist in the database, it will be persisted</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7" name="Rectangle 6">
            <a:extLst>
              <a:ext uri="{FF2B5EF4-FFF2-40B4-BE49-F238E27FC236}">
                <a16:creationId xmlns:a16="http://schemas.microsoft.com/office/drawing/2014/main" id="{5D7BF1DC-3414-BF0B-436F-938A1EA6EB19}"/>
              </a:ext>
            </a:extLst>
          </p:cNvPr>
          <p:cNvSpPr/>
          <p:nvPr/>
        </p:nvSpPr>
        <p:spPr>
          <a:xfrm>
            <a:off x="2188283" y="2864352"/>
            <a:ext cx="7829550" cy="2246769"/>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Employee </a:t>
            </a:r>
            <a:r>
              <a:rPr kumimoji="0" lang="en-GB" sz="2000" b="1" i="0" u="none" strike="noStrike" kern="0" cap="none" spc="0" normalizeH="0" baseline="0" noProof="0" dirty="0" err="1">
                <a:ln>
                  <a:noFill/>
                </a:ln>
                <a:solidFill>
                  <a:srgbClr val="000000"/>
                </a:solidFill>
                <a:effectLst/>
                <a:uLnTx/>
                <a:uFillTx/>
                <a:latin typeface="Consolas" pitchFamily="49" charset="0"/>
              </a:rPr>
              <a:t>pojoEmployee</a:t>
            </a:r>
            <a:r>
              <a:rPr kumimoji="0" lang="en-GB" sz="2000" b="1" i="0" u="none" strike="noStrike" kern="0" cap="none" spc="0" normalizeH="0" baseline="0" noProof="0" dirty="0">
                <a:ln>
                  <a:noFill/>
                </a:ln>
                <a:solidFill>
                  <a:srgbClr val="000000"/>
                </a:solidFill>
                <a:effectLst/>
                <a:uLnTx/>
                <a:uFillTx/>
                <a:latin typeface="Consolas" pitchFamily="49" charset="0"/>
              </a:rPr>
              <a:t> = new Employee(158);</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em.getTransaction</a:t>
            </a:r>
            <a:r>
              <a:rPr kumimoji="0" lang="en-GB" sz="2000" b="1" i="0" u="none" strike="noStrike" kern="0" cap="none" spc="0" normalizeH="0" baseline="0" noProof="0" dirty="0">
                <a:ln>
                  <a:noFill/>
                </a:ln>
                <a:solidFill>
                  <a:srgbClr val="000000"/>
                </a:solidFill>
                <a:effectLst/>
                <a:uLnTx/>
                <a:uFillTx/>
                <a:latin typeface="Consolas" pitchFamily="49" charset="0"/>
              </a:rPr>
              <a:t>().begin();</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Employee </a:t>
            </a:r>
            <a:r>
              <a:rPr kumimoji="0" lang="en-GB" sz="2000" b="1" i="0" u="none" strike="noStrike" kern="0" cap="none" spc="0" normalizeH="0" baseline="0" noProof="0" dirty="0" err="1">
                <a:ln>
                  <a:noFill/>
                </a:ln>
                <a:solidFill>
                  <a:srgbClr val="000000"/>
                </a:solidFill>
                <a:effectLst/>
                <a:uLnTx/>
                <a:uFillTx/>
                <a:latin typeface="Consolas" pitchFamily="49" charset="0"/>
              </a:rPr>
              <a:t>managedEmployee</a:t>
            </a:r>
            <a:r>
              <a:rPr kumimoji="0" lang="en-GB" sz="2000" b="1" i="0" u="none" strike="noStrike" kern="0" cap="none" spc="0" normalizeH="0" baseline="0" noProof="0" dirty="0">
                <a:ln>
                  <a:noFill/>
                </a:ln>
                <a:solidFill>
                  <a:srgbClr val="000000"/>
                </a:solidFill>
                <a:effectLst/>
                <a:uLnTx/>
                <a:uFillTx/>
                <a:latin typeface="Consolas" pitchFamily="49" charset="0"/>
              </a:rPr>
              <a:t> = </a:t>
            </a:r>
            <a:r>
              <a:rPr kumimoji="0" lang="en-GB" sz="2000" b="1" i="0" u="none" strike="noStrike" kern="0" cap="none" spc="0" normalizeH="0" baseline="0" noProof="0" dirty="0" err="1">
                <a:ln>
                  <a:noFill/>
                </a:ln>
                <a:solidFill>
                  <a:srgbClr val="000000"/>
                </a:solidFill>
                <a:effectLst/>
                <a:uLnTx/>
                <a:uFillTx/>
                <a:latin typeface="Consolas" pitchFamily="49" charset="0"/>
              </a:rPr>
              <a:t>em.</a:t>
            </a:r>
            <a:r>
              <a:rPr kumimoji="0" lang="en-GB" sz="2000" b="1" i="0" u="none" strike="noStrike" kern="0" cap="none" spc="0" normalizeH="0" baseline="0" noProof="0" dirty="0" err="1">
                <a:ln>
                  <a:noFill/>
                </a:ln>
                <a:solidFill>
                  <a:srgbClr val="3099D9"/>
                </a:solidFill>
                <a:effectLst/>
                <a:uLnTx/>
                <a:uFillTx/>
                <a:latin typeface="Consolas" pitchFamily="49" charset="0"/>
              </a:rPr>
              <a:t>merge</a:t>
            </a:r>
            <a:r>
              <a:rPr kumimoji="0" lang="en-GB" sz="2000" b="1" i="0" u="none" strike="noStrike" kern="0" cap="none" spc="0" normalizeH="0" baseline="0" noProof="0" dirty="0">
                <a:ln>
                  <a:noFill/>
                </a:ln>
                <a:solidFill>
                  <a:srgbClr val="000000"/>
                </a:solidFill>
                <a:effectLst/>
                <a:uLnTx/>
                <a:uFillTx/>
                <a:latin typeface="Consolas" pitchFamily="49" charset="0"/>
              </a:rPr>
              <a:t>(</a:t>
            </a:r>
            <a:r>
              <a:rPr kumimoji="0" lang="en-GB" sz="2000" b="1" i="0" u="none" strike="noStrike" kern="0" cap="none" spc="0" normalizeH="0" baseline="0" noProof="0" dirty="0" err="1">
                <a:ln>
                  <a:noFill/>
                </a:ln>
                <a:solidFill>
                  <a:srgbClr val="000000"/>
                </a:solidFill>
                <a:effectLst/>
                <a:uLnTx/>
                <a:uFillTx/>
                <a:latin typeface="Consolas" pitchFamily="49" charset="0"/>
              </a:rPr>
              <a:t>pojoEmployee</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em.getTransaction</a:t>
            </a:r>
            <a:r>
              <a:rPr kumimoji="0" lang="en-GB" sz="2000" b="1" i="0" u="none" strike="noStrike" kern="0" cap="none" spc="0" normalizeH="0" baseline="0" noProof="0" dirty="0">
                <a:ln>
                  <a:noFill/>
                </a:ln>
                <a:solidFill>
                  <a:srgbClr val="000000"/>
                </a:solidFill>
                <a:effectLst/>
                <a:uLnTx/>
                <a:uFillTx/>
                <a:latin typeface="Consolas" pitchFamily="49" charset="0"/>
              </a:rPr>
              <a:t>().commit();</a:t>
            </a:r>
          </a:p>
        </p:txBody>
      </p:sp>
    </p:spTree>
    <p:extLst>
      <p:ext uri="{BB962C8B-B14F-4D97-AF65-F5344CB8AC3E}">
        <p14:creationId xmlns:p14="http://schemas.microsoft.com/office/powerpoint/2010/main" val="2671251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E76E33F-9991-B90D-F4FE-AA57F877C2ED}"/>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Managing Entities</a:t>
            </a:r>
            <a:endPar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6" name="Content Placeholder 2">
            <a:extLst>
              <a:ext uri="{FF2B5EF4-FFF2-40B4-BE49-F238E27FC236}">
                <a16:creationId xmlns:a16="http://schemas.microsoft.com/office/drawing/2014/main" id="{99FA4F4F-BB37-9148-2DEF-710AAC2C48B2}"/>
              </a:ext>
            </a:extLst>
          </p:cNvPr>
          <p:cNvSpPr txBox="1">
            <a:spLocks/>
          </p:cNvSpPr>
          <p:nvPr/>
        </p:nvSpPr>
        <p:spPr>
          <a:xfrm>
            <a:off x="601490" y="2300147"/>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2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Querying: </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The JPQL code above will retrieve all Employees from the database.</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JPQL also allows the use of various clauses (WHERE, GROUP BY…)</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7" name="Rectangle 6">
            <a:extLst>
              <a:ext uri="{FF2B5EF4-FFF2-40B4-BE49-F238E27FC236}">
                <a16:creationId xmlns:a16="http://schemas.microsoft.com/office/drawing/2014/main" id="{8A025136-0E89-FA46-AD37-DB4F72194578}"/>
              </a:ext>
            </a:extLst>
          </p:cNvPr>
          <p:cNvSpPr/>
          <p:nvPr/>
        </p:nvSpPr>
        <p:spPr>
          <a:xfrm>
            <a:off x="781216" y="2798220"/>
            <a:ext cx="10643684" cy="1015663"/>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srgbClr val="3099D9"/>
                </a:solidFill>
                <a:effectLst/>
                <a:uLnTx/>
                <a:uFillTx/>
                <a:latin typeface="Consolas" pitchFamily="49" charset="0"/>
              </a:rPr>
              <a:t>Query </a:t>
            </a:r>
            <a:r>
              <a:rPr kumimoji="0" lang="en-GB" sz="2000" b="1" i="0" u="none" strike="noStrike" kern="0" cap="none" spc="0" normalizeH="0" baseline="0" noProof="0" dirty="0" err="1">
                <a:ln>
                  <a:noFill/>
                </a:ln>
                <a:solidFill>
                  <a:srgbClr val="3099D9"/>
                </a:solidFill>
                <a:effectLst/>
                <a:uLnTx/>
                <a:uFillTx/>
                <a:latin typeface="Consolas" pitchFamily="49" charset="0"/>
              </a:rPr>
              <a:t>query</a:t>
            </a:r>
            <a:r>
              <a:rPr kumimoji="0" lang="en-GB" sz="2000" b="1" i="0" u="none" strike="noStrike" kern="0" cap="none" spc="0" normalizeH="0" baseline="0" noProof="0" dirty="0">
                <a:ln>
                  <a:noFill/>
                </a:ln>
                <a:solidFill>
                  <a:srgbClr val="3099D9"/>
                </a:solidFill>
                <a:effectLst/>
                <a:uLnTx/>
                <a:uFillTx/>
                <a:latin typeface="Consolas" pitchFamily="49" charset="0"/>
              </a:rPr>
              <a:t> </a:t>
            </a: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err="1">
                <a:ln>
                  <a:noFill/>
                </a:ln>
                <a:solidFill>
                  <a:srgbClr val="000000"/>
                </a:solidFill>
                <a:effectLst/>
                <a:uLnTx/>
                <a:uFillTx/>
                <a:latin typeface="Consolas" pitchFamily="49" charset="0"/>
              </a:rPr>
              <a:t>em.</a:t>
            </a:r>
            <a:r>
              <a:rPr kumimoji="0" lang="en-GB" sz="2000" b="1" i="0" u="none" strike="noStrike" kern="0" cap="none" spc="0" normalizeH="0" baseline="0" noProof="0" dirty="0" err="1">
                <a:ln>
                  <a:noFill/>
                </a:ln>
                <a:solidFill>
                  <a:srgbClr val="3099D9"/>
                </a:solidFill>
                <a:effectLst/>
                <a:uLnTx/>
                <a:uFillTx/>
                <a:latin typeface="Consolas" pitchFamily="49" charset="0"/>
              </a:rPr>
              <a:t>createQuery</a:t>
            </a:r>
            <a:r>
              <a:rPr kumimoji="0" lang="en-GB" sz="2000" b="1" i="0" u="none" strike="noStrike" kern="0" cap="none" spc="0" normalizeH="0" baseline="0" noProof="0" dirty="0">
                <a:ln>
                  <a:noFill/>
                </a:ln>
                <a:solidFill>
                  <a:srgbClr val="000000"/>
                </a:solidFill>
                <a:effectLst/>
                <a:uLnTx/>
                <a:uFillTx/>
                <a:latin typeface="Consolas" pitchFamily="49" charset="0"/>
              </a:rPr>
              <a:t>("SELECT e FROM Employee e", </a:t>
            </a:r>
            <a:r>
              <a:rPr kumimoji="0" lang="en-GB" sz="2000" b="1" i="0" u="none" strike="noStrike" kern="0" cap="none" spc="0" normalizeH="0" baseline="0" noProof="0" dirty="0" err="1">
                <a:ln>
                  <a:noFill/>
                </a:ln>
                <a:solidFill>
                  <a:srgbClr val="000000"/>
                </a:solidFill>
                <a:effectLst/>
                <a:uLnTx/>
                <a:uFillTx/>
                <a:latin typeface="Consolas" pitchFamily="49" charset="0"/>
              </a:rPr>
              <a:t>Employee.class</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List&lt;Employee&gt; </a:t>
            </a:r>
            <a:r>
              <a:rPr kumimoji="0" lang="en-GB" sz="2000" b="1" i="0" u="none" strike="noStrike" kern="0" cap="none" spc="0" normalizeH="0" baseline="0" noProof="0" dirty="0" err="1">
                <a:ln>
                  <a:noFill/>
                </a:ln>
                <a:solidFill>
                  <a:srgbClr val="000000"/>
                </a:solidFill>
                <a:effectLst/>
                <a:uLnTx/>
                <a:uFillTx/>
                <a:latin typeface="Consolas" pitchFamily="49" charset="0"/>
              </a:rPr>
              <a:t>allEmployees</a:t>
            </a:r>
            <a:r>
              <a:rPr kumimoji="0" lang="en-GB" sz="2000" b="1" i="0" u="none" strike="noStrike" kern="0" cap="none" spc="0" normalizeH="0" baseline="0" noProof="0" dirty="0">
                <a:ln>
                  <a:noFill/>
                </a:ln>
                <a:solidFill>
                  <a:srgbClr val="000000"/>
                </a:solidFill>
                <a:effectLst/>
                <a:uLnTx/>
                <a:uFillTx/>
                <a:latin typeface="Consolas" pitchFamily="49" charset="0"/>
              </a:rPr>
              <a:t> = </a:t>
            </a:r>
            <a:r>
              <a:rPr kumimoji="0" lang="en-GB" sz="2000" b="1" i="0" u="none" strike="noStrike" kern="0" cap="none" spc="0" normalizeH="0" baseline="0" noProof="0" dirty="0" err="1">
                <a:ln>
                  <a:noFill/>
                </a:ln>
                <a:solidFill>
                  <a:srgbClr val="3099D9"/>
                </a:solidFill>
                <a:effectLst/>
                <a:uLnTx/>
                <a:uFillTx/>
                <a:latin typeface="Consolas" pitchFamily="49" charset="0"/>
              </a:rPr>
              <a:t>query.getResultList</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Tree>
    <p:extLst>
      <p:ext uri="{BB962C8B-B14F-4D97-AF65-F5344CB8AC3E}">
        <p14:creationId xmlns:p14="http://schemas.microsoft.com/office/powerpoint/2010/main" val="1515714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lowchart: Connector 2">
            <a:extLst>
              <a:ext uri="{FF2B5EF4-FFF2-40B4-BE49-F238E27FC236}">
                <a16:creationId xmlns:a16="http://schemas.microsoft.com/office/drawing/2014/main" id="{1F088202-80BF-1E06-D21E-59BCB05B84B5}"/>
              </a:ext>
            </a:extLst>
          </p:cNvPr>
          <p:cNvSpPr/>
          <p:nvPr/>
        </p:nvSpPr>
        <p:spPr>
          <a:xfrm>
            <a:off x="4303054" y="1727830"/>
            <a:ext cx="1250576" cy="103554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Flowchart: Connector 3">
            <a:extLst>
              <a:ext uri="{FF2B5EF4-FFF2-40B4-BE49-F238E27FC236}">
                <a16:creationId xmlns:a16="http://schemas.microsoft.com/office/drawing/2014/main" id="{976D3B04-4B2F-459A-0CC5-9D75074D57A9}"/>
              </a:ext>
            </a:extLst>
          </p:cNvPr>
          <p:cNvSpPr/>
          <p:nvPr/>
        </p:nvSpPr>
        <p:spPr>
          <a:xfrm>
            <a:off x="4303054" y="5212561"/>
            <a:ext cx="1250576" cy="103554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Flowchart: Connector 4">
            <a:extLst>
              <a:ext uri="{FF2B5EF4-FFF2-40B4-BE49-F238E27FC236}">
                <a16:creationId xmlns:a16="http://schemas.microsoft.com/office/drawing/2014/main" id="{75C51379-FB0A-7515-8922-AE3E8D4FA67C}"/>
              </a:ext>
            </a:extLst>
          </p:cNvPr>
          <p:cNvSpPr/>
          <p:nvPr/>
        </p:nvSpPr>
        <p:spPr>
          <a:xfrm>
            <a:off x="842677" y="3316823"/>
            <a:ext cx="1250576" cy="103554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Flowchart: Connector 5">
            <a:extLst>
              <a:ext uri="{FF2B5EF4-FFF2-40B4-BE49-F238E27FC236}">
                <a16:creationId xmlns:a16="http://schemas.microsoft.com/office/drawing/2014/main" id="{334D1F8F-67E6-BF22-A779-C32627A9C2B6}"/>
              </a:ext>
            </a:extLst>
          </p:cNvPr>
          <p:cNvSpPr/>
          <p:nvPr/>
        </p:nvSpPr>
        <p:spPr>
          <a:xfrm>
            <a:off x="4303054" y="3316824"/>
            <a:ext cx="1250576" cy="103554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Cylinder 6">
            <a:extLst>
              <a:ext uri="{FF2B5EF4-FFF2-40B4-BE49-F238E27FC236}">
                <a16:creationId xmlns:a16="http://schemas.microsoft.com/office/drawing/2014/main" id="{6093D1CB-7D3B-E414-BD7E-159B9A773EC1}"/>
              </a:ext>
            </a:extLst>
          </p:cNvPr>
          <p:cNvSpPr/>
          <p:nvPr/>
        </p:nvSpPr>
        <p:spPr>
          <a:xfrm>
            <a:off x="9316706" y="3164216"/>
            <a:ext cx="1707777" cy="130436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8" name="Straight Arrow Connector 7">
            <a:extLst>
              <a:ext uri="{FF2B5EF4-FFF2-40B4-BE49-F238E27FC236}">
                <a16:creationId xmlns:a16="http://schemas.microsoft.com/office/drawing/2014/main" id="{99432295-72A5-5C2A-CCC7-BDD172DC1924}"/>
              </a:ext>
            </a:extLst>
          </p:cNvPr>
          <p:cNvCxnSpPr>
            <a:cxnSpLocks/>
            <a:stCxn id="3" idx="5"/>
            <a:endCxn id="6" idx="7"/>
          </p:cNvCxnSpPr>
          <p:nvPr/>
        </p:nvCxnSpPr>
        <p:spPr>
          <a:xfrm>
            <a:off x="5370487" y="2611720"/>
            <a:ext cx="0" cy="8567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D07DDAB-13B3-E1DC-ED82-277FF4EDFD3E}"/>
              </a:ext>
            </a:extLst>
          </p:cNvPr>
          <p:cNvCxnSpPr>
            <a:cxnSpLocks/>
            <a:stCxn id="6" idx="3"/>
            <a:endCxn id="4" idx="1"/>
          </p:cNvCxnSpPr>
          <p:nvPr/>
        </p:nvCxnSpPr>
        <p:spPr>
          <a:xfrm>
            <a:off x="4486197" y="4200714"/>
            <a:ext cx="0" cy="11634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0EC6346-5B37-3BF3-8647-8432DF4B0518}"/>
              </a:ext>
            </a:extLst>
          </p:cNvPr>
          <p:cNvCxnSpPr>
            <a:stCxn id="5" idx="6"/>
            <a:endCxn id="6" idx="2"/>
          </p:cNvCxnSpPr>
          <p:nvPr/>
        </p:nvCxnSpPr>
        <p:spPr>
          <a:xfrm>
            <a:off x="2093253" y="3834594"/>
            <a:ext cx="22098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D2EAF82-A3AB-38B6-C06A-EAAEF0D8C52C}"/>
              </a:ext>
            </a:extLst>
          </p:cNvPr>
          <p:cNvCxnSpPr>
            <a:stCxn id="6" idx="1"/>
            <a:endCxn id="3" idx="3"/>
          </p:cNvCxnSpPr>
          <p:nvPr/>
        </p:nvCxnSpPr>
        <p:spPr>
          <a:xfrm flipV="1">
            <a:off x="4486197" y="2611720"/>
            <a:ext cx="0" cy="8567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BCD9AAC-27A2-9E09-2922-7B9263624195}"/>
              </a:ext>
            </a:extLst>
          </p:cNvPr>
          <p:cNvCxnSpPr>
            <a:cxnSpLocks/>
            <a:stCxn id="4" idx="7"/>
            <a:endCxn id="6" idx="5"/>
          </p:cNvCxnSpPr>
          <p:nvPr/>
        </p:nvCxnSpPr>
        <p:spPr>
          <a:xfrm flipV="1">
            <a:off x="5370487" y="4200714"/>
            <a:ext cx="0" cy="11634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9DA972C-16D0-EB96-AD39-C698F1DEEE4A}"/>
              </a:ext>
            </a:extLst>
          </p:cNvPr>
          <p:cNvCxnSpPr>
            <a:cxnSpLocks/>
            <a:stCxn id="6" idx="5"/>
          </p:cNvCxnSpPr>
          <p:nvPr/>
        </p:nvCxnSpPr>
        <p:spPr>
          <a:xfrm>
            <a:off x="5370487" y="4200714"/>
            <a:ext cx="39462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C979982-48BC-185C-CDFF-2B2A49884B30}"/>
              </a:ext>
            </a:extLst>
          </p:cNvPr>
          <p:cNvCxnSpPr>
            <a:cxnSpLocks/>
            <a:stCxn id="7" idx="2"/>
            <a:endCxn id="6" idx="6"/>
          </p:cNvCxnSpPr>
          <p:nvPr/>
        </p:nvCxnSpPr>
        <p:spPr>
          <a:xfrm flipH="1">
            <a:off x="5553630" y="3816398"/>
            <a:ext cx="3763076" cy="181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3090A61-0B03-1FB2-5D59-CD7168DBCD36}"/>
              </a:ext>
            </a:extLst>
          </p:cNvPr>
          <p:cNvSpPr txBox="1"/>
          <p:nvPr/>
        </p:nvSpPr>
        <p:spPr>
          <a:xfrm>
            <a:off x="4397183" y="3647261"/>
            <a:ext cx="1156447" cy="369332"/>
          </a:xfrm>
          <a:prstGeom prst="rect">
            <a:avLst/>
          </a:prstGeom>
          <a:noFill/>
        </p:spPr>
        <p:txBody>
          <a:bodyPr wrap="square" rtlCol="0">
            <a:spAutoFit/>
          </a:bodyPr>
          <a:lstStyle/>
          <a:p>
            <a:r>
              <a:rPr lang="en-CA" dirty="0">
                <a:solidFill>
                  <a:schemeClr val="bg1"/>
                </a:solidFill>
              </a:rPr>
              <a:t>Managed</a:t>
            </a:r>
          </a:p>
        </p:txBody>
      </p:sp>
      <p:sp>
        <p:nvSpPr>
          <p:cNvPr id="16" name="TextBox 15">
            <a:extLst>
              <a:ext uri="{FF2B5EF4-FFF2-40B4-BE49-F238E27FC236}">
                <a16:creationId xmlns:a16="http://schemas.microsoft.com/office/drawing/2014/main" id="{D83506FD-6FDA-B61D-4768-875386921EA6}"/>
              </a:ext>
            </a:extLst>
          </p:cNvPr>
          <p:cNvSpPr txBox="1"/>
          <p:nvPr/>
        </p:nvSpPr>
        <p:spPr>
          <a:xfrm>
            <a:off x="4397183" y="2037096"/>
            <a:ext cx="1156447" cy="369332"/>
          </a:xfrm>
          <a:prstGeom prst="rect">
            <a:avLst/>
          </a:prstGeom>
          <a:noFill/>
        </p:spPr>
        <p:txBody>
          <a:bodyPr wrap="square" rtlCol="0">
            <a:spAutoFit/>
          </a:bodyPr>
          <a:lstStyle/>
          <a:p>
            <a:r>
              <a:rPr lang="en-CA" dirty="0">
                <a:solidFill>
                  <a:schemeClr val="bg1"/>
                </a:solidFill>
              </a:rPr>
              <a:t>Detached</a:t>
            </a:r>
          </a:p>
        </p:txBody>
      </p:sp>
      <p:sp>
        <p:nvSpPr>
          <p:cNvPr id="17" name="TextBox 16">
            <a:extLst>
              <a:ext uri="{FF2B5EF4-FFF2-40B4-BE49-F238E27FC236}">
                <a16:creationId xmlns:a16="http://schemas.microsoft.com/office/drawing/2014/main" id="{623A897A-E2F1-A49F-7D5B-60C71415CFD9}"/>
              </a:ext>
            </a:extLst>
          </p:cNvPr>
          <p:cNvSpPr txBox="1"/>
          <p:nvPr/>
        </p:nvSpPr>
        <p:spPr>
          <a:xfrm>
            <a:off x="4397183" y="5564777"/>
            <a:ext cx="1156447" cy="369332"/>
          </a:xfrm>
          <a:prstGeom prst="rect">
            <a:avLst/>
          </a:prstGeom>
          <a:noFill/>
        </p:spPr>
        <p:txBody>
          <a:bodyPr wrap="square" rtlCol="0">
            <a:spAutoFit/>
          </a:bodyPr>
          <a:lstStyle/>
          <a:p>
            <a:r>
              <a:rPr lang="en-CA" dirty="0">
                <a:solidFill>
                  <a:schemeClr val="bg1"/>
                </a:solidFill>
              </a:rPr>
              <a:t>Removed</a:t>
            </a:r>
          </a:p>
        </p:txBody>
      </p:sp>
      <p:sp>
        <p:nvSpPr>
          <p:cNvPr id="18" name="TextBox 17">
            <a:extLst>
              <a:ext uri="{FF2B5EF4-FFF2-40B4-BE49-F238E27FC236}">
                <a16:creationId xmlns:a16="http://schemas.microsoft.com/office/drawing/2014/main" id="{928F8C10-FCB4-5D18-62A7-B8A9B340B19C}"/>
              </a:ext>
            </a:extLst>
          </p:cNvPr>
          <p:cNvSpPr txBox="1"/>
          <p:nvPr/>
        </p:nvSpPr>
        <p:spPr>
          <a:xfrm>
            <a:off x="983870" y="3508761"/>
            <a:ext cx="1156447" cy="646331"/>
          </a:xfrm>
          <a:prstGeom prst="rect">
            <a:avLst/>
          </a:prstGeom>
          <a:noFill/>
        </p:spPr>
        <p:txBody>
          <a:bodyPr wrap="square" rtlCol="0">
            <a:spAutoFit/>
          </a:bodyPr>
          <a:lstStyle/>
          <a:p>
            <a:r>
              <a:rPr lang="en-CA" dirty="0">
                <a:solidFill>
                  <a:schemeClr val="bg1"/>
                </a:solidFill>
              </a:rPr>
              <a:t>   New Transient</a:t>
            </a:r>
          </a:p>
        </p:txBody>
      </p:sp>
      <p:cxnSp>
        <p:nvCxnSpPr>
          <p:cNvPr id="19" name="Straight Connector 18">
            <a:extLst>
              <a:ext uri="{FF2B5EF4-FFF2-40B4-BE49-F238E27FC236}">
                <a16:creationId xmlns:a16="http://schemas.microsoft.com/office/drawing/2014/main" id="{64E7BAA5-92B3-B120-D002-12DD3E6310C7}"/>
              </a:ext>
            </a:extLst>
          </p:cNvPr>
          <p:cNvCxnSpPr>
            <a:cxnSpLocks/>
            <a:stCxn id="17" idx="3"/>
          </p:cNvCxnSpPr>
          <p:nvPr/>
        </p:nvCxnSpPr>
        <p:spPr>
          <a:xfrm>
            <a:off x="5553630" y="5749443"/>
            <a:ext cx="4616965" cy="2371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08B9ECA-14F0-3EC0-E210-ADAA9CDC2E53}"/>
              </a:ext>
            </a:extLst>
          </p:cNvPr>
          <p:cNvCxnSpPr>
            <a:cxnSpLocks/>
          </p:cNvCxnSpPr>
          <p:nvPr/>
        </p:nvCxnSpPr>
        <p:spPr>
          <a:xfrm flipV="1">
            <a:off x="10170595" y="4485569"/>
            <a:ext cx="0" cy="12875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11C9D58-7BA8-2D3F-D940-A6B47DC4963E}"/>
              </a:ext>
            </a:extLst>
          </p:cNvPr>
          <p:cNvSpPr txBox="1"/>
          <p:nvPr/>
        </p:nvSpPr>
        <p:spPr>
          <a:xfrm>
            <a:off x="5457973" y="2763371"/>
            <a:ext cx="1359681" cy="276999"/>
          </a:xfrm>
          <a:prstGeom prst="rect">
            <a:avLst/>
          </a:prstGeom>
          <a:noFill/>
        </p:spPr>
        <p:txBody>
          <a:bodyPr wrap="square" rtlCol="0">
            <a:spAutoFit/>
          </a:bodyPr>
          <a:lstStyle/>
          <a:p>
            <a:r>
              <a:rPr lang="en-CA" sz="1200" dirty="0"/>
              <a:t>merge(entity)</a:t>
            </a:r>
          </a:p>
        </p:txBody>
      </p:sp>
      <p:sp>
        <p:nvSpPr>
          <p:cNvPr id="22" name="TextBox 21">
            <a:extLst>
              <a:ext uri="{FF2B5EF4-FFF2-40B4-BE49-F238E27FC236}">
                <a16:creationId xmlns:a16="http://schemas.microsoft.com/office/drawing/2014/main" id="{971B4EBF-63E5-836D-0840-3080FE17526D}"/>
              </a:ext>
            </a:extLst>
          </p:cNvPr>
          <p:cNvSpPr txBox="1"/>
          <p:nvPr/>
        </p:nvSpPr>
        <p:spPr>
          <a:xfrm>
            <a:off x="3408144" y="2760585"/>
            <a:ext cx="1359681" cy="646331"/>
          </a:xfrm>
          <a:prstGeom prst="rect">
            <a:avLst/>
          </a:prstGeom>
          <a:noFill/>
        </p:spPr>
        <p:txBody>
          <a:bodyPr wrap="square" rtlCol="0">
            <a:spAutoFit/>
          </a:bodyPr>
          <a:lstStyle/>
          <a:p>
            <a:r>
              <a:rPr lang="en-CA" sz="1200" dirty="0"/>
              <a:t>detach (entity)</a:t>
            </a:r>
          </a:p>
          <a:p>
            <a:r>
              <a:rPr lang="en-CA" sz="1200" dirty="0"/>
              <a:t>clear()</a:t>
            </a:r>
          </a:p>
          <a:p>
            <a:r>
              <a:rPr lang="en-CA" sz="1200" dirty="0"/>
              <a:t>close()</a:t>
            </a:r>
          </a:p>
        </p:txBody>
      </p:sp>
      <p:sp>
        <p:nvSpPr>
          <p:cNvPr id="23" name="TextBox 22">
            <a:extLst>
              <a:ext uri="{FF2B5EF4-FFF2-40B4-BE49-F238E27FC236}">
                <a16:creationId xmlns:a16="http://schemas.microsoft.com/office/drawing/2014/main" id="{3CAD428C-F052-7390-ACC8-EFCD448BB998}"/>
              </a:ext>
            </a:extLst>
          </p:cNvPr>
          <p:cNvSpPr txBox="1"/>
          <p:nvPr/>
        </p:nvSpPr>
        <p:spPr>
          <a:xfrm>
            <a:off x="2263532" y="3927744"/>
            <a:ext cx="1359681" cy="276999"/>
          </a:xfrm>
          <a:prstGeom prst="rect">
            <a:avLst/>
          </a:prstGeom>
          <a:noFill/>
        </p:spPr>
        <p:txBody>
          <a:bodyPr wrap="square" rtlCol="0">
            <a:spAutoFit/>
          </a:bodyPr>
          <a:lstStyle/>
          <a:p>
            <a:r>
              <a:rPr lang="en-CA" sz="1200" dirty="0"/>
              <a:t>persist(entity)</a:t>
            </a:r>
          </a:p>
        </p:txBody>
      </p:sp>
      <p:sp>
        <p:nvSpPr>
          <p:cNvPr id="24" name="TextBox 23">
            <a:extLst>
              <a:ext uri="{FF2B5EF4-FFF2-40B4-BE49-F238E27FC236}">
                <a16:creationId xmlns:a16="http://schemas.microsoft.com/office/drawing/2014/main" id="{14FAC4D9-F96D-7337-C271-2275230C9234}"/>
              </a:ext>
            </a:extLst>
          </p:cNvPr>
          <p:cNvSpPr txBox="1"/>
          <p:nvPr/>
        </p:nvSpPr>
        <p:spPr>
          <a:xfrm>
            <a:off x="5466491" y="4667121"/>
            <a:ext cx="1359681" cy="276999"/>
          </a:xfrm>
          <a:prstGeom prst="rect">
            <a:avLst/>
          </a:prstGeom>
          <a:noFill/>
        </p:spPr>
        <p:txBody>
          <a:bodyPr wrap="square" rtlCol="0">
            <a:spAutoFit/>
          </a:bodyPr>
          <a:lstStyle/>
          <a:p>
            <a:r>
              <a:rPr lang="en-CA" sz="1200" dirty="0"/>
              <a:t>persist(entity)</a:t>
            </a:r>
          </a:p>
        </p:txBody>
      </p:sp>
      <p:sp>
        <p:nvSpPr>
          <p:cNvPr id="25" name="TextBox 24">
            <a:extLst>
              <a:ext uri="{FF2B5EF4-FFF2-40B4-BE49-F238E27FC236}">
                <a16:creationId xmlns:a16="http://schemas.microsoft.com/office/drawing/2014/main" id="{C6CCDEB5-A348-1A41-603A-50D117AF0D6A}"/>
              </a:ext>
            </a:extLst>
          </p:cNvPr>
          <p:cNvSpPr txBox="1"/>
          <p:nvPr/>
        </p:nvSpPr>
        <p:spPr>
          <a:xfrm>
            <a:off x="3378968" y="4662842"/>
            <a:ext cx="1359681" cy="276999"/>
          </a:xfrm>
          <a:prstGeom prst="rect">
            <a:avLst/>
          </a:prstGeom>
          <a:noFill/>
        </p:spPr>
        <p:txBody>
          <a:bodyPr wrap="square" rtlCol="0">
            <a:spAutoFit/>
          </a:bodyPr>
          <a:lstStyle/>
          <a:p>
            <a:r>
              <a:rPr lang="en-CA" sz="1200" dirty="0"/>
              <a:t>remove(entity)</a:t>
            </a:r>
          </a:p>
        </p:txBody>
      </p:sp>
      <p:sp>
        <p:nvSpPr>
          <p:cNvPr id="26" name="TextBox 25">
            <a:extLst>
              <a:ext uri="{FF2B5EF4-FFF2-40B4-BE49-F238E27FC236}">
                <a16:creationId xmlns:a16="http://schemas.microsoft.com/office/drawing/2014/main" id="{00FB7158-C469-F85D-869B-46A55D8E757F}"/>
              </a:ext>
            </a:extLst>
          </p:cNvPr>
          <p:cNvSpPr txBox="1"/>
          <p:nvPr/>
        </p:nvSpPr>
        <p:spPr>
          <a:xfrm>
            <a:off x="6756378" y="4256106"/>
            <a:ext cx="1359681" cy="276999"/>
          </a:xfrm>
          <a:prstGeom prst="rect">
            <a:avLst/>
          </a:prstGeom>
          <a:noFill/>
        </p:spPr>
        <p:txBody>
          <a:bodyPr wrap="square" rtlCol="0">
            <a:spAutoFit/>
          </a:bodyPr>
          <a:lstStyle/>
          <a:p>
            <a:r>
              <a:rPr lang="en-CA" sz="1200" dirty="0"/>
              <a:t>flush()</a:t>
            </a:r>
          </a:p>
        </p:txBody>
      </p:sp>
      <p:sp>
        <p:nvSpPr>
          <p:cNvPr id="27" name="TextBox 26">
            <a:extLst>
              <a:ext uri="{FF2B5EF4-FFF2-40B4-BE49-F238E27FC236}">
                <a16:creationId xmlns:a16="http://schemas.microsoft.com/office/drawing/2014/main" id="{54A4E039-6DF5-B97F-E05F-1A0E904FE4D2}"/>
              </a:ext>
            </a:extLst>
          </p:cNvPr>
          <p:cNvSpPr txBox="1"/>
          <p:nvPr/>
        </p:nvSpPr>
        <p:spPr>
          <a:xfrm>
            <a:off x="6826172" y="5838563"/>
            <a:ext cx="1359681" cy="276999"/>
          </a:xfrm>
          <a:prstGeom prst="rect">
            <a:avLst/>
          </a:prstGeom>
          <a:noFill/>
        </p:spPr>
        <p:txBody>
          <a:bodyPr wrap="square" rtlCol="0">
            <a:spAutoFit/>
          </a:bodyPr>
          <a:lstStyle/>
          <a:p>
            <a:r>
              <a:rPr lang="en-CA" sz="1200" dirty="0"/>
              <a:t>flush()</a:t>
            </a:r>
          </a:p>
        </p:txBody>
      </p:sp>
      <p:sp>
        <p:nvSpPr>
          <p:cNvPr id="28" name="TextBox 27">
            <a:extLst>
              <a:ext uri="{FF2B5EF4-FFF2-40B4-BE49-F238E27FC236}">
                <a16:creationId xmlns:a16="http://schemas.microsoft.com/office/drawing/2014/main" id="{A89E083D-BED9-0B21-2EF5-C0D5FFD75ADD}"/>
              </a:ext>
            </a:extLst>
          </p:cNvPr>
          <p:cNvSpPr txBox="1"/>
          <p:nvPr/>
        </p:nvSpPr>
        <p:spPr>
          <a:xfrm>
            <a:off x="7019000" y="3145309"/>
            <a:ext cx="2101064" cy="646331"/>
          </a:xfrm>
          <a:prstGeom prst="rect">
            <a:avLst/>
          </a:prstGeom>
          <a:noFill/>
        </p:spPr>
        <p:txBody>
          <a:bodyPr wrap="square" rtlCol="0">
            <a:spAutoFit/>
          </a:bodyPr>
          <a:lstStyle/>
          <a:p>
            <a:r>
              <a:rPr lang="en-CA" sz="1200" dirty="0"/>
              <a:t>find(</a:t>
            </a:r>
            <a:r>
              <a:rPr lang="en-CA" sz="1200" dirty="0" err="1"/>
              <a:t>entityClass</a:t>
            </a:r>
            <a:r>
              <a:rPr lang="en-CA" sz="1200" dirty="0"/>
              <a:t>, </a:t>
            </a:r>
            <a:r>
              <a:rPr lang="en-CA" sz="1200" dirty="0" err="1"/>
              <a:t>primaryKey</a:t>
            </a:r>
            <a:r>
              <a:rPr lang="en-CA" sz="1200" dirty="0"/>
              <a:t>)</a:t>
            </a:r>
          </a:p>
          <a:p>
            <a:r>
              <a:rPr lang="en-CA" sz="1200" dirty="0" err="1"/>
              <a:t>createQuery</a:t>
            </a:r>
            <a:r>
              <a:rPr lang="en-CA" sz="1200" dirty="0"/>
              <a:t>().</a:t>
            </a:r>
            <a:r>
              <a:rPr lang="en-CA" sz="1200" dirty="0" err="1"/>
              <a:t>getResultList</a:t>
            </a:r>
            <a:r>
              <a:rPr lang="en-CA" sz="1200" dirty="0"/>
              <a:t>()</a:t>
            </a:r>
          </a:p>
          <a:p>
            <a:r>
              <a:rPr lang="en-CA" sz="1200" dirty="0" err="1"/>
              <a:t>createQuery.getSingleResult</a:t>
            </a:r>
            <a:r>
              <a:rPr lang="en-CA" sz="1200" dirty="0"/>
              <a:t>()</a:t>
            </a:r>
          </a:p>
        </p:txBody>
      </p:sp>
      <p:sp>
        <p:nvSpPr>
          <p:cNvPr id="29" name="TextBox 28">
            <a:extLst>
              <a:ext uri="{FF2B5EF4-FFF2-40B4-BE49-F238E27FC236}">
                <a16:creationId xmlns:a16="http://schemas.microsoft.com/office/drawing/2014/main" id="{AD17B31A-858A-CCC5-2952-587A2086E5A3}"/>
              </a:ext>
            </a:extLst>
          </p:cNvPr>
          <p:cNvSpPr txBox="1"/>
          <p:nvPr/>
        </p:nvSpPr>
        <p:spPr>
          <a:xfrm>
            <a:off x="9672912" y="3692734"/>
            <a:ext cx="1156447" cy="369332"/>
          </a:xfrm>
          <a:prstGeom prst="rect">
            <a:avLst/>
          </a:prstGeom>
          <a:noFill/>
        </p:spPr>
        <p:txBody>
          <a:bodyPr wrap="square" rtlCol="0">
            <a:spAutoFit/>
          </a:bodyPr>
          <a:lstStyle/>
          <a:p>
            <a:r>
              <a:rPr lang="en-CA" dirty="0">
                <a:solidFill>
                  <a:schemeClr val="bg1"/>
                </a:solidFill>
              </a:rPr>
              <a:t>Database</a:t>
            </a:r>
          </a:p>
        </p:txBody>
      </p:sp>
      <p:sp>
        <p:nvSpPr>
          <p:cNvPr id="30" name="Title 1">
            <a:extLst>
              <a:ext uri="{FF2B5EF4-FFF2-40B4-BE49-F238E27FC236}">
                <a16:creationId xmlns:a16="http://schemas.microsoft.com/office/drawing/2014/main" id="{8C322414-CB5D-FF48-3A7C-DD1BB4443F23}"/>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rPr>
              <a:t>Entity Life Cycle</a:t>
            </a:r>
          </a:p>
        </p:txBody>
      </p:sp>
    </p:spTree>
    <p:extLst>
      <p:ext uri="{BB962C8B-B14F-4D97-AF65-F5344CB8AC3E}">
        <p14:creationId xmlns:p14="http://schemas.microsoft.com/office/powerpoint/2010/main" val="37493925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1C2213D-EC41-6C75-ABED-F8DA9CBF8363}"/>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Java Persistence Query Language (JPQL)</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7" name="Content Placeholder 2">
            <a:extLst>
              <a:ext uri="{FF2B5EF4-FFF2-40B4-BE49-F238E27FC236}">
                <a16:creationId xmlns:a16="http://schemas.microsoft.com/office/drawing/2014/main" id="{5D737A50-05B6-A4FE-7B4E-193DAE344FFA}"/>
              </a:ext>
            </a:extLst>
          </p:cNvPr>
          <p:cNvSpPr txBox="1">
            <a:spLocks/>
          </p:cNvSpPr>
          <p:nvPr/>
        </p:nvSpPr>
        <p:spPr>
          <a:xfrm>
            <a:off x="594432" y="1950524"/>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JPQL works with entities defined in the application which is analogous to SQL where it is based on tables and columns defined in the database.</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Some of the methods defined for querying using JPQL are</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createQuery()</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createNamedQuery()</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createNativeQuery()</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createStoredProcedureQuery()</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457200"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CA" sz="18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8" name="Rectangle 7">
            <a:extLst>
              <a:ext uri="{FF2B5EF4-FFF2-40B4-BE49-F238E27FC236}">
                <a16:creationId xmlns:a16="http://schemas.microsoft.com/office/drawing/2014/main" id="{C8DFD58B-DF74-9AAC-6EBD-D56998E4DE31}"/>
              </a:ext>
            </a:extLst>
          </p:cNvPr>
          <p:cNvSpPr/>
          <p:nvPr/>
        </p:nvSpPr>
        <p:spPr>
          <a:xfrm>
            <a:off x="999350" y="4632078"/>
            <a:ext cx="10425887" cy="707886"/>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Query </a:t>
            </a:r>
            <a:r>
              <a:rPr kumimoji="0" lang="en-GB" sz="2000" b="1" i="0" u="none" strike="noStrike" kern="0" cap="none" spc="0" normalizeH="0" baseline="0" noProof="0" dirty="0" err="1">
                <a:ln>
                  <a:noFill/>
                </a:ln>
                <a:solidFill>
                  <a:srgbClr val="000000"/>
                </a:solidFill>
                <a:effectLst/>
                <a:uLnTx/>
                <a:uFillTx/>
                <a:latin typeface="Consolas" pitchFamily="49" charset="0"/>
              </a:rPr>
              <a:t>query</a:t>
            </a:r>
            <a:r>
              <a:rPr kumimoji="0" lang="en-GB" sz="2000" b="1" i="0" u="none" strike="noStrike" kern="0" cap="none" spc="0" normalizeH="0" baseline="0" noProof="0" dirty="0">
                <a:ln>
                  <a:noFill/>
                </a:ln>
                <a:solidFill>
                  <a:srgbClr val="000000"/>
                </a:solidFill>
                <a:effectLst/>
                <a:uLnTx/>
                <a:uFillTx/>
                <a:latin typeface="Consolas" pitchFamily="49" charset="0"/>
              </a:rPr>
              <a:t> = </a:t>
            </a:r>
            <a:r>
              <a:rPr kumimoji="0" lang="en-GB" sz="2000" b="1" i="0" u="none" strike="noStrike" kern="0" cap="none" spc="0" normalizeH="0" baseline="0" noProof="0" dirty="0" err="1">
                <a:ln>
                  <a:noFill/>
                </a:ln>
                <a:solidFill>
                  <a:srgbClr val="000000"/>
                </a:solidFill>
                <a:effectLst/>
                <a:uLnTx/>
                <a:uFillTx/>
                <a:latin typeface="Consolas" pitchFamily="49" charset="0"/>
              </a:rPr>
              <a:t>e.createQuery</a:t>
            </a:r>
            <a:r>
              <a:rPr kumimoji="0" lang="en-GB" sz="2000" b="1" i="0" u="none" strike="noStrike" kern="0" cap="none" spc="0" normalizeH="0" baseline="0" noProof="0" dirty="0">
                <a:ln>
                  <a:noFill/>
                </a:ln>
                <a:solidFill>
                  <a:srgbClr val="000000"/>
                </a:solidFill>
                <a:effectLst/>
                <a:uLnTx/>
                <a:uFillTx/>
                <a:latin typeface="Consolas" pitchFamily="49" charset="0"/>
              </a:rPr>
              <a:t>(“Select e from Employee e”, </a:t>
            </a:r>
            <a:r>
              <a:rPr kumimoji="0" lang="en-GB" sz="2000" b="1" i="0" u="none" strike="noStrike" kern="0" cap="none" spc="0" normalizeH="0" baseline="0" noProof="0" dirty="0" err="1">
                <a:ln>
                  <a:noFill/>
                </a:ln>
                <a:solidFill>
                  <a:srgbClr val="000000"/>
                </a:solidFill>
                <a:effectLst/>
                <a:uLnTx/>
                <a:uFillTx/>
                <a:latin typeface="Consolas" pitchFamily="49" charset="0"/>
              </a:rPr>
              <a:t>Employee.class</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List&lt;Employee&gt; employees = </a:t>
            </a:r>
            <a:r>
              <a:rPr kumimoji="0" lang="en-GB" sz="2000" b="1" i="0" u="none" strike="noStrike" kern="0" cap="none" spc="0" normalizeH="0" baseline="0" noProof="0" dirty="0" err="1">
                <a:ln>
                  <a:noFill/>
                </a:ln>
                <a:solidFill>
                  <a:srgbClr val="000000"/>
                </a:solidFill>
                <a:effectLst/>
                <a:uLnTx/>
                <a:uFillTx/>
                <a:latin typeface="Consolas" pitchFamily="49" charset="0"/>
              </a:rPr>
              <a:t>query.getResultList</a:t>
            </a: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
        <p:nvSpPr>
          <p:cNvPr id="9" name="TextBox 8">
            <a:extLst>
              <a:ext uri="{FF2B5EF4-FFF2-40B4-BE49-F238E27FC236}">
                <a16:creationId xmlns:a16="http://schemas.microsoft.com/office/drawing/2014/main" id="{71071571-5BF4-A519-3A67-2971C0B4D765}"/>
              </a:ext>
            </a:extLst>
          </p:cNvPr>
          <p:cNvSpPr txBox="1"/>
          <p:nvPr/>
        </p:nvSpPr>
        <p:spPr>
          <a:xfrm>
            <a:off x="1627094" y="5731295"/>
            <a:ext cx="6165278" cy="64633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1" u="none" strike="noStrike" kern="0" cap="none" spc="0" normalizeH="0" baseline="0" noProof="0" dirty="0">
                <a:ln>
                  <a:noFill/>
                </a:ln>
                <a:solidFill>
                  <a:srgbClr val="000000"/>
                </a:solidFill>
                <a:effectLst/>
                <a:uLnTx/>
                <a:uFillTx/>
              </a:rPr>
              <a:t>Note: Employee is the name of the Entity class in the application</a:t>
            </a: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32286345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2D91144-5AF0-B944-28CD-EDF6120441AA}"/>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Parameters in JPQL Queries</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7" name="Content Placeholder 2">
            <a:extLst>
              <a:ext uri="{FF2B5EF4-FFF2-40B4-BE49-F238E27FC236}">
                <a16:creationId xmlns:a16="http://schemas.microsoft.com/office/drawing/2014/main" id="{2E258387-4FAD-C701-A1B6-C7ADF2858DAB}"/>
              </a:ext>
            </a:extLst>
          </p:cNvPr>
          <p:cNvSpPr txBox="1">
            <a:spLocks/>
          </p:cNvSpPr>
          <p:nvPr/>
        </p:nvSpPr>
        <p:spPr>
          <a:xfrm>
            <a:off x="601490" y="1727830"/>
            <a:ext cx="11003136" cy="4544383"/>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Named Parameters</a:t>
            </a:r>
          </a:p>
          <a:p>
            <a:pPr marL="457200"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Query parameters are prefixed with a colon (:) followed by a name for the parameter.</a:t>
            </a:r>
          </a:p>
          <a:p>
            <a:pPr marL="457200"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457200"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457200"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457200"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Positional Parameters</a:t>
            </a:r>
          </a:p>
          <a:p>
            <a:pPr marL="457200"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Query parameters are prefixed with a question mark (?) followed by a numeric position of parameter in the query.</a:t>
            </a:r>
          </a:p>
          <a:p>
            <a:pPr marL="457200"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8" name="Rectangle 7">
            <a:extLst>
              <a:ext uri="{FF2B5EF4-FFF2-40B4-BE49-F238E27FC236}">
                <a16:creationId xmlns:a16="http://schemas.microsoft.com/office/drawing/2014/main" id="{0C2AAB76-A71B-8680-E939-2F23BEA80CFA}"/>
              </a:ext>
            </a:extLst>
          </p:cNvPr>
          <p:cNvSpPr/>
          <p:nvPr/>
        </p:nvSpPr>
        <p:spPr>
          <a:xfrm>
            <a:off x="1184217" y="2679498"/>
            <a:ext cx="9837682" cy="1015663"/>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Query </a:t>
            </a:r>
            <a:r>
              <a:rPr kumimoji="0" lang="en-GB" sz="2000" b="1" i="0" u="none" strike="noStrike" kern="0" cap="none" spc="0" normalizeH="0" baseline="0" noProof="0" dirty="0" err="1">
                <a:ln>
                  <a:noFill/>
                </a:ln>
                <a:solidFill>
                  <a:srgbClr val="000000"/>
                </a:solidFill>
                <a:effectLst/>
                <a:uLnTx/>
                <a:uFillTx/>
                <a:latin typeface="Consolas" pitchFamily="49" charset="0"/>
              </a:rPr>
              <a:t>query</a:t>
            </a:r>
            <a:r>
              <a:rPr kumimoji="0" lang="en-GB" sz="2000" b="1" i="0" u="none" strike="noStrike" kern="0" cap="none" spc="0" normalizeH="0" baseline="0" noProof="0" dirty="0">
                <a:ln>
                  <a:noFill/>
                </a:ln>
                <a:solidFill>
                  <a:srgbClr val="000000"/>
                </a:solidFill>
                <a:effectLst/>
                <a:uLnTx/>
                <a:uFillTx/>
                <a:latin typeface="Consolas" pitchFamily="49" charset="0"/>
              </a:rPr>
              <a:t> = </a:t>
            </a:r>
            <a:r>
              <a:rPr kumimoji="0" lang="en-GB" sz="2000" b="1" i="0" u="none" strike="noStrike" kern="0" cap="none" spc="0" normalizeH="0" baseline="0" noProof="0" dirty="0" err="1">
                <a:ln>
                  <a:noFill/>
                </a:ln>
                <a:solidFill>
                  <a:srgbClr val="000000"/>
                </a:solidFill>
                <a:effectLst/>
                <a:uLnTx/>
                <a:uFillTx/>
                <a:latin typeface="Consolas" pitchFamily="49" charset="0"/>
              </a:rPr>
              <a:t>e.createQuery</a:t>
            </a:r>
            <a:r>
              <a:rPr kumimoji="0" lang="en-GB" sz="2000" b="1" i="0" u="none" strike="noStrike" kern="0" cap="none" spc="0" normalizeH="0" baseline="0" noProof="0" dirty="0">
                <a:ln>
                  <a:noFill/>
                </a:ln>
                <a:solidFill>
                  <a:srgbClr val="000000"/>
                </a:solidFill>
                <a:effectLst/>
                <a:uLnTx/>
                <a:uFillTx/>
                <a:latin typeface="Consolas" pitchFamily="49" charset="0"/>
              </a:rPr>
              <a:t>(“SELECT e FROM Employee e WHERE e.name LIKE </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GB" sz="2000" b="1" i="0" u="none" strike="noStrike" kern="0" cap="none" spc="0" normalizeH="0" baseline="0" noProof="0" dirty="0" err="1">
                <a:ln>
                  <a:noFill/>
                </a:ln>
                <a:solidFill>
                  <a:srgbClr val="3099D9"/>
                </a:solidFill>
                <a:effectLst/>
                <a:uLnTx/>
                <a:uFillTx/>
                <a:latin typeface="Consolas" pitchFamily="49" charset="0"/>
              </a:rPr>
              <a:t>empName</a:t>
            </a: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err="1">
                <a:ln>
                  <a:noFill/>
                </a:ln>
                <a:solidFill>
                  <a:srgbClr val="000000"/>
                </a:solidFill>
                <a:effectLst/>
                <a:uLnTx/>
                <a:uFillTx/>
                <a:latin typeface="Consolas" pitchFamily="49" charset="0"/>
              </a:rPr>
              <a:t>Employee.class</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query.setParameter</a:t>
            </a:r>
            <a:r>
              <a:rPr kumimoji="0" lang="en-GB" sz="2000" b="1" i="0" u="none" strike="noStrike" kern="0" cap="none" spc="0" normalizeH="0" baseline="0" noProof="0" dirty="0">
                <a:ln>
                  <a:noFill/>
                </a:ln>
                <a:solidFill>
                  <a:srgbClr val="000000"/>
                </a:solidFill>
                <a:effectLst/>
                <a:uLnTx/>
                <a:uFillTx/>
                <a:latin typeface="Consolas" pitchFamily="49" charset="0"/>
              </a:rPr>
              <a:t>(</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GB" sz="2000" b="1" i="0" u="none" strike="noStrike" kern="0" cap="none" spc="0" normalizeH="0" baseline="0" noProof="0" dirty="0" err="1">
                <a:ln>
                  <a:noFill/>
                </a:ln>
                <a:solidFill>
                  <a:srgbClr val="3099D9"/>
                </a:solidFill>
                <a:effectLst/>
                <a:uLnTx/>
                <a:uFillTx/>
                <a:latin typeface="Consolas" pitchFamily="49" charset="0"/>
              </a:rPr>
              <a:t>empName</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GB" sz="2000" b="1" i="0" u="none" strike="noStrike" kern="0" cap="none" spc="0" normalizeH="0" baseline="0" noProof="0" dirty="0">
                <a:ln>
                  <a:noFill/>
                </a:ln>
                <a:solidFill>
                  <a:srgbClr val="000000"/>
                </a:solidFill>
                <a:effectLst/>
                <a:uLnTx/>
                <a:uFillTx/>
                <a:latin typeface="Consolas" pitchFamily="49" charset="0"/>
              </a:rPr>
              <a:t>, “John Doe”);</a:t>
            </a:r>
          </a:p>
        </p:txBody>
      </p:sp>
      <p:sp>
        <p:nvSpPr>
          <p:cNvPr id="9" name="Rectangle 8">
            <a:extLst>
              <a:ext uri="{FF2B5EF4-FFF2-40B4-BE49-F238E27FC236}">
                <a16:creationId xmlns:a16="http://schemas.microsoft.com/office/drawing/2014/main" id="{0270674E-2832-2BE4-5283-53310511E30A}"/>
              </a:ext>
            </a:extLst>
          </p:cNvPr>
          <p:cNvSpPr/>
          <p:nvPr/>
        </p:nvSpPr>
        <p:spPr>
          <a:xfrm>
            <a:off x="1184217" y="5232439"/>
            <a:ext cx="9837682" cy="1015663"/>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Query </a:t>
            </a:r>
            <a:r>
              <a:rPr kumimoji="0" lang="en-GB" sz="2000" b="1" i="0" u="none" strike="noStrike" kern="0" cap="none" spc="0" normalizeH="0" baseline="0" noProof="0" dirty="0" err="1">
                <a:ln>
                  <a:noFill/>
                </a:ln>
                <a:solidFill>
                  <a:srgbClr val="000000"/>
                </a:solidFill>
                <a:effectLst/>
                <a:uLnTx/>
                <a:uFillTx/>
                <a:latin typeface="Consolas" pitchFamily="49" charset="0"/>
              </a:rPr>
              <a:t>query</a:t>
            </a:r>
            <a:r>
              <a:rPr kumimoji="0" lang="en-GB" sz="2000" b="1" i="0" u="none" strike="noStrike" kern="0" cap="none" spc="0" normalizeH="0" baseline="0" noProof="0" dirty="0">
                <a:ln>
                  <a:noFill/>
                </a:ln>
                <a:solidFill>
                  <a:srgbClr val="000000"/>
                </a:solidFill>
                <a:effectLst/>
                <a:uLnTx/>
                <a:uFillTx/>
                <a:latin typeface="Consolas" pitchFamily="49" charset="0"/>
              </a:rPr>
              <a:t> = </a:t>
            </a:r>
            <a:r>
              <a:rPr kumimoji="0" lang="en-GB" sz="2000" b="1" i="0" u="none" strike="noStrike" kern="0" cap="none" spc="0" normalizeH="0" baseline="0" noProof="0" dirty="0" err="1">
                <a:ln>
                  <a:noFill/>
                </a:ln>
                <a:solidFill>
                  <a:srgbClr val="000000"/>
                </a:solidFill>
                <a:effectLst/>
                <a:uLnTx/>
                <a:uFillTx/>
                <a:latin typeface="Consolas" pitchFamily="49" charset="0"/>
              </a:rPr>
              <a:t>e.createQuery</a:t>
            </a:r>
            <a:r>
              <a:rPr kumimoji="0" lang="en-GB" sz="2000" b="1" i="0" u="none" strike="noStrike" kern="0" cap="none" spc="0" normalizeH="0" baseline="0" noProof="0" dirty="0">
                <a:ln>
                  <a:noFill/>
                </a:ln>
                <a:solidFill>
                  <a:srgbClr val="000000"/>
                </a:solidFill>
                <a:effectLst/>
                <a:uLnTx/>
                <a:uFillTx/>
                <a:latin typeface="Consolas" pitchFamily="49" charset="0"/>
              </a:rPr>
              <a:t>(“SELECT e FROM Employee e WHERE e.name LIKE </a:t>
            </a:r>
            <a:r>
              <a:rPr kumimoji="0" lang="en-GB" sz="2000" b="1" i="0" u="none" strike="noStrike" kern="0" cap="none" spc="0" normalizeH="0" baseline="0" noProof="0" dirty="0">
                <a:ln>
                  <a:noFill/>
                </a:ln>
                <a:solidFill>
                  <a:srgbClr val="3099D9"/>
                </a:solidFill>
                <a:effectLst/>
                <a:uLnTx/>
                <a:uFillTx/>
                <a:latin typeface="Consolas" pitchFamily="49" charset="0"/>
              </a:rPr>
              <a:t>?1</a:t>
            </a: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err="1">
                <a:ln>
                  <a:noFill/>
                </a:ln>
                <a:solidFill>
                  <a:srgbClr val="000000"/>
                </a:solidFill>
                <a:effectLst/>
                <a:uLnTx/>
                <a:uFillTx/>
                <a:latin typeface="Consolas" pitchFamily="49" charset="0"/>
              </a:rPr>
              <a:t>Employee.class</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query.setParameter</a:t>
            </a:r>
            <a:r>
              <a:rPr kumimoji="0" lang="en-GB" sz="2000" b="1" i="0" u="none" strike="noStrike" kern="0" cap="none" spc="0" normalizeH="0" baseline="0" noProof="0" dirty="0">
                <a:ln>
                  <a:noFill/>
                </a:ln>
                <a:solidFill>
                  <a:srgbClr val="000000"/>
                </a:solidFill>
                <a:effectLst/>
                <a:uLnTx/>
                <a:uFillTx/>
                <a:latin typeface="Consolas" pitchFamily="49" charset="0"/>
              </a:rPr>
              <a:t>(</a:t>
            </a:r>
            <a:r>
              <a:rPr kumimoji="0" lang="en-GB" sz="2000" b="1" i="0" u="none" strike="noStrike" kern="0" cap="none" spc="0" normalizeH="0" baseline="0" noProof="0" dirty="0">
                <a:ln>
                  <a:noFill/>
                </a:ln>
                <a:solidFill>
                  <a:srgbClr val="3099D9"/>
                </a:solidFill>
                <a:effectLst/>
                <a:uLnTx/>
                <a:uFillTx/>
                <a:latin typeface="Consolas" pitchFamily="49" charset="0"/>
              </a:rPr>
              <a:t>1</a:t>
            </a:r>
            <a:r>
              <a:rPr kumimoji="0" lang="en-GB" sz="2000" b="1" i="0" u="none" strike="noStrike" kern="0" cap="none" spc="0" normalizeH="0" baseline="0" noProof="0" dirty="0">
                <a:ln>
                  <a:noFill/>
                </a:ln>
                <a:solidFill>
                  <a:srgbClr val="000000"/>
                </a:solidFill>
                <a:effectLst/>
                <a:uLnTx/>
                <a:uFillTx/>
                <a:latin typeface="Consolas" pitchFamily="49" charset="0"/>
              </a:rPr>
              <a:t>, “John Doe”);</a:t>
            </a:r>
          </a:p>
        </p:txBody>
      </p:sp>
    </p:spTree>
    <p:extLst>
      <p:ext uri="{BB962C8B-B14F-4D97-AF65-F5344CB8AC3E}">
        <p14:creationId xmlns:p14="http://schemas.microsoft.com/office/powerpoint/2010/main" val="20637001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D6D2021-F7DB-E180-E734-9B1555CEA2A0}"/>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createQuery() – Dynamic Queries</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6" name="Content Placeholder 2">
            <a:extLst>
              <a:ext uri="{FF2B5EF4-FFF2-40B4-BE49-F238E27FC236}">
                <a16:creationId xmlns:a16="http://schemas.microsoft.com/office/drawing/2014/main" id="{8FE37ADA-AFC6-3F4D-393E-0BE98742DAE8}"/>
              </a:ext>
            </a:extLst>
          </p:cNvPr>
          <p:cNvSpPr txBox="1">
            <a:spLocks/>
          </p:cNvSpPr>
          <p:nvPr/>
        </p:nvSpPr>
        <p:spPr>
          <a:xfrm>
            <a:off x="601490" y="2300147"/>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The createQuery method is used to create dynamic queries, which are defined directly within an application’s business logic.</a:t>
            </a: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7" name="Rectangle 6">
            <a:extLst>
              <a:ext uri="{FF2B5EF4-FFF2-40B4-BE49-F238E27FC236}">
                <a16:creationId xmlns:a16="http://schemas.microsoft.com/office/drawing/2014/main" id="{5DC4DFD3-23E6-5992-0767-CC8BC4237A9A}"/>
              </a:ext>
            </a:extLst>
          </p:cNvPr>
          <p:cNvSpPr/>
          <p:nvPr/>
        </p:nvSpPr>
        <p:spPr>
          <a:xfrm>
            <a:off x="1184217" y="3429000"/>
            <a:ext cx="9837682" cy="2554545"/>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List&lt;Employee&gt; </a:t>
            </a:r>
            <a:r>
              <a:rPr kumimoji="0" lang="en-GB" sz="2000" b="1" i="0" u="none" strike="noStrike" kern="0" cap="none" spc="0" normalizeH="0" baseline="0" noProof="0" dirty="0" err="1">
                <a:ln>
                  <a:noFill/>
                </a:ln>
                <a:solidFill>
                  <a:srgbClr val="000000"/>
                </a:solidFill>
                <a:effectLst/>
                <a:uLnTx/>
                <a:uFillTx/>
                <a:latin typeface="Consolas" pitchFamily="49" charset="0"/>
              </a:rPr>
              <a:t>findEmployeeByName</a:t>
            </a:r>
            <a:r>
              <a:rPr kumimoji="0" lang="en-GB" sz="2000" b="1" i="0" u="none" strike="noStrike" kern="0" cap="none" spc="0" normalizeH="0" baseline="0" noProof="0" dirty="0">
                <a:ln>
                  <a:noFill/>
                </a:ln>
                <a:solidFill>
                  <a:srgbClr val="000000"/>
                </a:solidFill>
                <a:effectLst/>
                <a:uLnTx/>
                <a:uFillTx/>
                <a:latin typeface="Consolas" pitchFamily="49" charset="0"/>
              </a:rPr>
              <a:t>(String </a:t>
            </a:r>
            <a:r>
              <a:rPr kumimoji="0" lang="en-GB" sz="2000" b="1" i="0" u="none" strike="noStrike" kern="0" cap="none" spc="0" normalizeH="0" baseline="0" noProof="0" dirty="0" err="1">
                <a:ln>
                  <a:noFill/>
                </a:ln>
                <a:solidFill>
                  <a:srgbClr val="000000"/>
                </a:solidFill>
                <a:effectLst/>
                <a:uLnTx/>
                <a:uFillTx/>
                <a:latin typeface="Consolas" pitchFamily="49" charset="0"/>
              </a:rPr>
              <a:t>eName</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Query </a:t>
            </a:r>
            <a:r>
              <a:rPr kumimoji="0" lang="en-GB" sz="2000" b="1" i="0" u="none" strike="noStrike" kern="0" cap="none" spc="0" normalizeH="0" baseline="0" noProof="0" dirty="0" err="1">
                <a:ln>
                  <a:noFill/>
                </a:ln>
                <a:solidFill>
                  <a:srgbClr val="000000"/>
                </a:solidFill>
                <a:effectLst/>
                <a:uLnTx/>
                <a:uFillTx/>
                <a:latin typeface="Consolas" pitchFamily="49" charset="0"/>
              </a:rPr>
              <a:t>query</a:t>
            </a:r>
            <a:r>
              <a:rPr kumimoji="0" lang="en-GB" sz="2000" b="1" i="0" u="none" strike="noStrike" kern="0" cap="none" spc="0" normalizeH="0" baseline="0" noProof="0" dirty="0">
                <a:ln>
                  <a:noFill/>
                </a:ln>
                <a:solidFill>
                  <a:srgbClr val="000000"/>
                </a:solidFill>
                <a:effectLst/>
                <a:uLnTx/>
                <a:uFillTx/>
                <a:latin typeface="Consolas" pitchFamily="49" charset="0"/>
              </a:rPr>
              <a:t> = </a:t>
            </a:r>
            <a:r>
              <a:rPr kumimoji="0" lang="en-GB" sz="2000" b="1" i="0" u="none" strike="noStrike" kern="0" cap="none" spc="0" normalizeH="0" baseline="0" noProof="0" dirty="0" err="1">
                <a:ln>
                  <a:noFill/>
                </a:ln>
                <a:solidFill>
                  <a:srgbClr val="000000"/>
                </a:solidFill>
                <a:effectLst/>
                <a:uLnTx/>
                <a:uFillTx/>
                <a:latin typeface="Consolas" pitchFamily="49" charset="0"/>
              </a:rPr>
              <a:t>em.</a:t>
            </a:r>
            <a:r>
              <a:rPr kumimoji="0" lang="en-GB" sz="2000" b="1" i="0" u="none" strike="noStrike" kern="0" cap="none" spc="0" normalizeH="0" baseline="0" noProof="0" dirty="0" err="1">
                <a:ln>
                  <a:noFill/>
                </a:ln>
                <a:solidFill>
                  <a:srgbClr val="3099D9"/>
                </a:solidFill>
                <a:effectLst/>
                <a:uLnTx/>
                <a:uFillTx/>
                <a:latin typeface="Consolas" pitchFamily="49" charset="0"/>
              </a:rPr>
              <a:t>createQuery</a:t>
            </a:r>
            <a:r>
              <a:rPr kumimoji="0" lang="en-GB" sz="2000" b="1" i="0" u="none" strike="noStrike" kern="0" cap="none" spc="0" normalizeH="0" baseline="0" noProof="0" dirty="0">
                <a:ln>
                  <a:noFill/>
                </a:ln>
                <a:solidFill>
                  <a:srgbClr val="000000"/>
                </a:solidFill>
                <a:effectLst/>
                <a:uLnTx/>
                <a:uFillTx/>
                <a:latin typeface="Consolas" pitchFamily="49" charset="0"/>
              </a:rPr>
              <a:t>(“SELECT e FROM Employee e WHERE 	e.name LIKE :</a:t>
            </a:r>
            <a:r>
              <a:rPr kumimoji="0" lang="en-GB" sz="2000" b="1" i="0" u="none" strike="noStrike" kern="0" cap="none" spc="0" normalizeH="0" baseline="0" noProof="0" dirty="0" err="1">
                <a:ln>
                  <a:noFill/>
                </a:ln>
                <a:solidFill>
                  <a:srgbClr val="000000"/>
                </a:solidFill>
                <a:effectLst/>
                <a:uLnTx/>
                <a:uFillTx/>
                <a:latin typeface="Consolas" pitchFamily="49" charset="0"/>
              </a:rPr>
              <a:t>empName</a:t>
            </a: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err="1">
                <a:ln>
                  <a:noFill/>
                </a:ln>
                <a:solidFill>
                  <a:srgbClr val="000000"/>
                </a:solidFill>
                <a:effectLst/>
                <a:uLnTx/>
                <a:uFillTx/>
                <a:latin typeface="Consolas" pitchFamily="49" charset="0"/>
              </a:rPr>
              <a:t>Employee.class</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err="1">
                <a:ln>
                  <a:noFill/>
                </a:ln>
                <a:solidFill>
                  <a:srgbClr val="000000"/>
                </a:solidFill>
                <a:effectLst/>
                <a:uLnTx/>
                <a:uFillTx/>
                <a:latin typeface="Consolas" pitchFamily="49" charset="0"/>
              </a:rPr>
              <a:t>query.setParameter</a:t>
            </a:r>
            <a:r>
              <a:rPr kumimoji="0" lang="en-GB" sz="2000" b="1" i="0" u="none" strike="noStrike" kern="0" cap="none" spc="0" normalizeH="0" baseline="0" noProof="0" dirty="0">
                <a:ln>
                  <a:noFill/>
                </a:ln>
                <a:solidFill>
                  <a:srgbClr val="000000"/>
                </a:solidFill>
                <a:effectLst/>
                <a:uLnTx/>
                <a:uFillTx/>
                <a:latin typeface="Consolas" pitchFamily="49" charset="0"/>
              </a:rPr>
              <a:t>(“</a:t>
            </a:r>
            <a:r>
              <a:rPr kumimoji="0" lang="en-GB" sz="2000" b="1" i="0" u="none" strike="noStrike" kern="0" cap="none" spc="0" normalizeH="0" baseline="0" noProof="0" dirty="0" err="1">
                <a:ln>
                  <a:noFill/>
                </a:ln>
                <a:solidFill>
                  <a:srgbClr val="000000"/>
                </a:solidFill>
                <a:effectLst/>
                <a:uLnTx/>
                <a:uFillTx/>
                <a:latin typeface="Consolas" pitchFamily="49" charset="0"/>
              </a:rPr>
              <a:t>empName</a:t>
            </a: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err="1">
                <a:ln>
                  <a:noFill/>
                </a:ln>
                <a:solidFill>
                  <a:srgbClr val="000000"/>
                </a:solidFill>
                <a:effectLst/>
                <a:uLnTx/>
                <a:uFillTx/>
                <a:latin typeface="Consolas" pitchFamily="49" charset="0"/>
              </a:rPr>
              <a:t>eName</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return </a:t>
            </a:r>
            <a:r>
              <a:rPr kumimoji="0" lang="en-GB" sz="2000" b="1" i="0" u="none" strike="noStrike" kern="0" cap="none" spc="0" normalizeH="0" baseline="0" noProof="0" dirty="0" err="1">
                <a:ln>
                  <a:noFill/>
                </a:ln>
                <a:solidFill>
                  <a:srgbClr val="000000"/>
                </a:solidFill>
                <a:effectLst/>
                <a:uLnTx/>
                <a:uFillTx/>
                <a:latin typeface="Consolas" pitchFamily="49" charset="0"/>
              </a:rPr>
              <a:t>query.getResultList</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Tree>
    <p:extLst>
      <p:ext uri="{BB962C8B-B14F-4D97-AF65-F5344CB8AC3E}">
        <p14:creationId xmlns:p14="http://schemas.microsoft.com/office/powerpoint/2010/main" val="31099468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B78D0D9-D8E9-A474-F271-2C9AD6EE0764}"/>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createNamedQuery – Static Queries</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7" name="Content Placeholder 2">
            <a:extLst>
              <a:ext uri="{FF2B5EF4-FFF2-40B4-BE49-F238E27FC236}">
                <a16:creationId xmlns:a16="http://schemas.microsoft.com/office/drawing/2014/main" id="{83178622-6043-3135-2D58-413C9B95A992}"/>
              </a:ext>
            </a:extLst>
          </p:cNvPr>
          <p:cNvSpPr txBox="1">
            <a:spLocks/>
          </p:cNvSpPr>
          <p:nvPr/>
        </p:nvSpPr>
        <p:spPr>
          <a:xfrm>
            <a:off x="601490" y="1727830"/>
            <a:ext cx="11003136" cy="4544383"/>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The createNamedQuery method is used to create static queries, which are defined in the metadata by using @NamedQuery annotation. </a:t>
            </a: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8" name="Rectangle 7">
            <a:extLst>
              <a:ext uri="{FF2B5EF4-FFF2-40B4-BE49-F238E27FC236}">
                <a16:creationId xmlns:a16="http://schemas.microsoft.com/office/drawing/2014/main" id="{5A7B9F28-E9BB-398B-2508-B8274CEBCDDE}"/>
              </a:ext>
            </a:extLst>
          </p:cNvPr>
          <p:cNvSpPr/>
          <p:nvPr/>
        </p:nvSpPr>
        <p:spPr>
          <a:xfrm>
            <a:off x="1177159" y="2709822"/>
            <a:ext cx="9837682" cy="1938992"/>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GB" sz="2000" b="1" i="0" u="none" strike="noStrike" kern="0" cap="none" spc="0" normalizeH="0" baseline="0" noProof="0" dirty="0" err="1">
                <a:ln>
                  <a:noFill/>
                </a:ln>
                <a:solidFill>
                  <a:srgbClr val="3099D9"/>
                </a:solidFill>
                <a:effectLst/>
                <a:uLnTx/>
                <a:uFillTx/>
                <a:latin typeface="Consolas" pitchFamily="49" charset="0"/>
              </a:rPr>
              <a:t>NamedQuery</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name = “</a:t>
            </a:r>
            <a:r>
              <a:rPr kumimoji="0" lang="en-GB" sz="2000" b="1" i="0" u="none" strike="noStrike" kern="0" cap="none" spc="0" normalizeH="0" baseline="0" noProof="0" dirty="0" err="1">
                <a:ln>
                  <a:noFill/>
                </a:ln>
                <a:solidFill>
                  <a:srgbClr val="3099D9"/>
                </a:solidFill>
                <a:effectLst/>
                <a:uLnTx/>
                <a:uFillTx/>
                <a:latin typeface="Consolas" pitchFamily="49" charset="0"/>
              </a:rPr>
              <a:t>findEmployeeByName</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query = “SELECT e FROM Employee e WHERE e.name LIKE :</a:t>
            </a:r>
            <a:r>
              <a:rPr kumimoji="0" lang="en-GB" sz="2000" b="1" i="0" u="none" strike="noStrike" kern="0" cap="none" spc="0" normalizeH="0" baseline="0" noProof="0" dirty="0" err="1">
                <a:ln>
                  <a:noFill/>
                </a:ln>
                <a:solidFill>
                  <a:srgbClr val="000000"/>
                </a:solidFill>
                <a:effectLst/>
                <a:uLnTx/>
                <a:uFillTx/>
                <a:latin typeface="Consolas" pitchFamily="49" charset="0"/>
              </a:rPr>
              <a:t>empName</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Employee{  }</a:t>
            </a:r>
          </a:p>
        </p:txBody>
      </p:sp>
      <p:sp>
        <p:nvSpPr>
          <p:cNvPr id="9" name="Rectangle 8">
            <a:extLst>
              <a:ext uri="{FF2B5EF4-FFF2-40B4-BE49-F238E27FC236}">
                <a16:creationId xmlns:a16="http://schemas.microsoft.com/office/drawing/2014/main" id="{D4B9F6BC-35A7-E692-7D02-ADC3D67EA39F}"/>
              </a:ext>
            </a:extLst>
          </p:cNvPr>
          <p:cNvSpPr/>
          <p:nvPr/>
        </p:nvSpPr>
        <p:spPr>
          <a:xfrm>
            <a:off x="1177159" y="5232439"/>
            <a:ext cx="9837682" cy="1015663"/>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List&lt;Employee&gt; employees = </a:t>
            </a:r>
            <a:r>
              <a:rPr kumimoji="0" lang="en-GB" sz="2000" b="1" i="0" u="none" strike="noStrike" kern="0" cap="none" spc="0" normalizeH="0" baseline="0" noProof="0" dirty="0" err="1">
                <a:ln>
                  <a:noFill/>
                </a:ln>
                <a:solidFill>
                  <a:srgbClr val="000000"/>
                </a:solidFill>
                <a:effectLst/>
                <a:uLnTx/>
                <a:uFillTx/>
                <a:latin typeface="Consolas" pitchFamily="49" charset="0"/>
              </a:rPr>
              <a:t>em.</a:t>
            </a:r>
            <a:r>
              <a:rPr kumimoji="0" lang="en-GB" sz="2000" b="1" i="0" u="none" strike="noStrike" kern="0" cap="none" spc="0" normalizeH="0" baseline="0" noProof="0" dirty="0" err="1">
                <a:ln>
                  <a:noFill/>
                </a:ln>
                <a:solidFill>
                  <a:srgbClr val="3099D9"/>
                </a:solidFill>
                <a:effectLst/>
                <a:uLnTx/>
                <a:uFillTx/>
                <a:latin typeface="Consolas" pitchFamily="49" charset="0"/>
              </a:rPr>
              <a:t>createNamedQuery</a:t>
            </a:r>
            <a:r>
              <a:rPr kumimoji="0" lang="en-GB" sz="2000" b="1" i="0" u="none" strike="noStrike" kern="0" cap="none" spc="0" normalizeH="0" baseline="0" noProof="0" dirty="0">
                <a:ln>
                  <a:noFill/>
                </a:ln>
                <a:solidFill>
                  <a:srgbClr val="000000"/>
                </a:solidFill>
                <a:effectLst/>
                <a:uLnTx/>
                <a:uFillTx/>
                <a:latin typeface="Consolas" pitchFamily="49" charset="0"/>
              </a:rPr>
              <a:t>(“</a:t>
            </a:r>
            <a:r>
              <a:rPr kumimoji="0" lang="en-GB" sz="2000" b="1" i="0" u="none" strike="noStrike" kern="0" cap="none" spc="0" normalizeH="0" baseline="0" noProof="0" dirty="0" err="1">
                <a:ln>
                  <a:noFill/>
                </a:ln>
                <a:solidFill>
                  <a:srgbClr val="3099D9"/>
                </a:solidFill>
                <a:effectLst/>
                <a:uLnTx/>
                <a:uFillTx/>
                <a:latin typeface="Consolas" pitchFamily="49" charset="0"/>
              </a:rPr>
              <a:t>findEmployeeByName</a:t>
            </a: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err="1">
                <a:ln>
                  <a:noFill/>
                </a:ln>
                <a:solidFill>
                  <a:srgbClr val="000000"/>
                </a:solidFill>
                <a:effectLst/>
                <a:uLnTx/>
                <a:uFillTx/>
                <a:latin typeface="Consolas" pitchFamily="49" charset="0"/>
              </a:rPr>
              <a:t>setParameter</a:t>
            </a:r>
            <a:r>
              <a:rPr kumimoji="0" lang="en-GB" sz="2000" b="1" i="0" u="none" strike="noStrike" kern="0" cap="none" spc="0" normalizeH="0" baseline="0" noProof="0" dirty="0">
                <a:ln>
                  <a:noFill/>
                </a:ln>
                <a:solidFill>
                  <a:srgbClr val="000000"/>
                </a:solidFill>
                <a:effectLst/>
                <a:uLnTx/>
                <a:uFillTx/>
                <a:latin typeface="Consolas" pitchFamily="49" charset="0"/>
              </a:rPr>
              <a:t>(“</a:t>
            </a:r>
            <a:r>
              <a:rPr kumimoji="0" lang="en-GB" sz="2000" b="1" i="0" u="none" strike="noStrike" kern="0" cap="none" spc="0" normalizeH="0" baseline="0" noProof="0" dirty="0" err="1">
                <a:ln>
                  <a:noFill/>
                </a:ln>
                <a:solidFill>
                  <a:srgbClr val="000000"/>
                </a:solidFill>
                <a:effectLst/>
                <a:uLnTx/>
                <a:uFillTx/>
                <a:latin typeface="Consolas" pitchFamily="49" charset="0"/>
              </a:rPr>
              <a:t>empName</a:t>
            </a:r>
            <a:r>
              <a:rPr kumimoji="0" lang="en-GB" sz="2000" b="1" i="0" u="none" strike="noStrike" kern="0" cap="none" spc="0" normalizeH="0" baseline="0" noProof="0" dirty="0">
                <a:ln>
                  <a:noFill/>
                </a:ln>
                <a:solidFill>
                  <a:srgbClr val="000000"/>
                </a:solidFill>
                <a:effectLst/>
                <a:uLnTx/>
                <a:uFillTx/>
                <a:latin typeface="Consolas" pitchFamily="49" charset="0"/>
              </a:rPr>
              <a:t>”,“John Doe”)					.</a:t>
            </a:r>
            <a:r>
              <a:rPr kumimoji="0" lang="en-GB" sz="2000" b="1" i="0" u="none" strike="noStrike" kern="0" cap="none" spc="0" normalizeH="0" baseline="0" noProof="0" dirty="0" err="1">
                <a:ln>
                  <a:noFill/>
                </a:ln>
                <a:solidFill>
                  <a:srgbClr val="000000"/>
                </a:solidFill>
                <a:effectLst/>
                <a:uLnTx/>
                <a:uFillTx/>
                <a:latin typeface="Consolas" pitchFamily="49" charset="0"/>
              </a:rPr>
              <a:t>getResultList</a:t>
            </a: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Tree>
    <p:extLst>
      <p:ext uri="{BB962C8B-B14F-4D97-AF65-F5344CB8AC3E}">
        <p14:creationId xmlns:p14="http://schemas.microsoft.com/office/powerpoint/2010/main" val="2326822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D664FA4-7FE0-F0C7-108D-E9A4CFF761AD}"/>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Primary Key Generation</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5" name="Content Placeholder 2">
            <a:extLst>
              <a:ext uri="{FF2B5EF4-FFF2-40B4-BE49-F238E27FC236}">
                <a16:creationId xmlns:a16="http://schemas.microsoft.com/office/drawing/2014/main" id="{4202C52E-A641-079B-3C53-09EEDB95F4CD}"/>
              </a:ext>
            </a:extLst>
          </p:cNvPr>
          <p:cNvSpPr txBox="1">
            <a:spLocks/>
          </p:cNvSpPr>
          <p:nvPr/>
        </p:nvSpPr>
        <p:spPr>
          <a:xfrm>
            <a:off x="586616" y="1727830"/>
            <a:ext cx="11003136" cy="4874109"/>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Every JPA entity must have a primary key and the primary key values can be assigned yourself, or the primary key field can be assigned with a primary key value generator.</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Annotations used</a:t>
            </a:r>
          </a:p>
          <a:p>
            <a:pPr marL="457200"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@GeneratedValue ( strategy, generatorName) </a:t>
            </a: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provides the primary key generation strategies for the values of primary key.</a:t>
            </a:r>
          </a:p>
          <a:p>
            <a:pPr marL="91440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strategy – optional. GenerationType enum is used to specify the primary key generation strategy.</a:t>
            </a:r>
          </a:p>
          <a:p>
            <a:pPr marL="91440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generator – optional. The name of the primary key generator as specified in @SequenceGenerator.</a:t>
            </a:r>
          </a:p>
          <a:p>
            <a:pPr marL="91440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457200"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@SequenceGenerator ( generatorName, sequenceName) </a:t>
            </a: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defines a primary key generator that may be referenced by name in @GeneratedValue annotation.</a:t>
            </a:r>
          </a:p>
          <a:p>
            <a:pPr marL="91440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generatorName – required. The name that can be referenced in @GeneratedValue.</a:t>
            </a:r>
          </a:p>
          <a:p>
            <a:pPr marL="91440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sequenceName – optional. The name of the database sequence object for SEQUENCE strategy type.</a:t>
            </a:r>
          </a:p>
          <a:p>
            <a:pPr marL="91440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91440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p>
          <a:p>
            <a:pPr marL="457200"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5428718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7306419-A9A7-0267-27F1-802085CF45B6}"/>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Primary Key Generation Type</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5" name="Content Placeholder 2">
            <a:extLst>
              <a:ext uri="{FF2B5EF4-FFF2-40B4-BE49-F238E27FC236}">
                <a16:creationId xmlns:a16="http://schemas.microsoft.com/office/drawing/2014/main" id="{12BA0405-579A-1D01-6404-3D93AFFEEEAA}"/>
              </a:ext>
            </a:extLst>
          </p:cNvPr>
          <p:cNvSpPr txBox="1">
            <a:spLocks/>
          </p:cNvSpPr>
          <p:nvPr/>
        </p:nvSpPr>
        <p:spPr>
          <a:xfrm>
            <a:off x="601490" y="1530626"/>
            <a:ext cx="11003136" cy="500269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GenerationType.AUTO</a:t>
            </a: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Tx/>
              <a:buChar char="-"/>
              <a:tabLst/>
              <a:defRPr/>
            </a:pPr>
            <a:r>
              <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Indicates that the persistence provider should pick an appropriate strategy for the particular database.</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GenerationType.IDENTITY</a:t>
            </a: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Tx/>
              <a:buChar char="-"/>
              <a:tabLst/>
              <a:defRPr/>
            </a:pPr>
            <a:r>
              <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Indicates that the persistence provider must assign primary keys for the entity using a </a:t>
            </a:r>
            <a:r>
              <a:rPr kumimoji="0" lang="en-CA"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databse</a:t>
            </a:r>
            <a:r>
              <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entity column.</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GenerationType.SEQUENCE</a:t>
            </a: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Tx/>
              <a:buChar char="-"/>
              <a:tabLst/>
              <a:defRPr/>
            </a:pPr>
            <a:r>
              <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Indicates that the persistence provider must assign primary keys for the entity using a database sequence.</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GenerationType.TABLE</a:t>
            </a: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Tx/>
              <a:buChar char="-"/>
              <a:tabLst/>
              <a:defRPr/>
            </a:pPr>
            <a:r>
              <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Indicates that the persistence provider must assign primary keys for the entity using an underlying database table to ensure uniqueness.</a:t>
            </a:r>
          </a:p>
        </p:txBody>
      </p:sp>
    </p:spTree>
    <p:extLst>
      <p:ext uri="{BB962C8B-B14F-4D97-AF65-F5344CB8AC3E}">
        <p14:creationId xmlns:p14="http://schemas.microsoft.com/office/powerpoint/2010/main" val="39095711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0338F2B-41BD-B6B8-E785-5DB40D46F963}"/>
              </a:ext>
            </a:extLst>
          </p:cNvPr>
          <p:cNvSpPr txBox="1">
            <a:spLocks/>
          </p:cNvSpPr>
          <p:nvPr/>
        </p:nvSpPr>
        <p:spPr>
          <a:xfrm>
            <a:off x="404191" y="609898"/>
            <a:ext cx="11496261"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PK Generation using default strategy</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6" name="Rectangle 5">
            <a:extLst>
              <a:ext uri="{FF2B5EF4-FFF2-40B4-BE49-F238E27FC236}">
                <a16:creationId xmlns:a16="http://schemas.microsoft.com/office/drawing/2014/main" id="{99A5FE89-A7BC-12B9-9341-D7F9505CD64F}"/>
              </a:ext>
            </a:extLst>
          </p:cNvPr>
          <p:cNvSpPr/>
          <p:nvPr/>
        </p:nvSpPr>
        <p:spPr>
          <a:xfrm>
            <a:off x="1113182" y="2096295"/>
            <a:ext cx="10257183" cy="2862322"/>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Employee{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3099D9"/>
                </a:solidFill>
                <a:effectLst/>
                <a:uLnTx/>
                <a:uFillTx/>
                <a:latin typeface="Consolas" pitchFamily="49" charset="0"/>
              </a:rPr>
              <a:t>	@</a:t>
            </a:r>
            <a:r>
              <a:rPr kumimoji="0" lang="en-GB" sz="2000" b="1" i="0" u="none" strike="noStrike" kern="0" cap="none" spc="0" normalizeH="0" baseline="0" noProof="0" dirty="0" err="1">
                <a:ln>
                  <a:noFill/>
                </a:ln>
                <a:solidFill>
                  <a:srgbClr val="3099D9"/>
                </a:solidFill>
                <a:effectLst/>
                <a:uLnTx/>
                <a:uFillTx/>
                <a:latin typeface="Consolas" pitchFamily="49" charset="0"/>
              </a:rPr>
              <a:t>GeneratedValue</a:t>
            </a:r>
            <a:r>
              <a:rPr kumimoji="0" lang="en-GB" sz="2000" b="1" i="0" u="none" strike="noStrike" kern="0" cap="none" spc="0" normalizeH="0" baseline="0" noProof="0" dirty="0">
                <a:ln>
                  <a:noFill/>
                </a:ln>
                <a:solidFill>
                  <a:srgbClr val="3099D9"/>
                </a:solidFill>
                <a:effectLst/>
                <a:uLnTx/>
                <a:uFillTx/>
                <a:latin typeface="Consolas" pitchFamily="49" charset="0"/>
              </a:rPr>
              <a:t>(strategy =</a:t>
            </a:r>
            <a:r>
              <a:rPr kumimoji="0" lang="en-GB" sz="2000" b="1" i="0" u="none" strike="noStrike" kern="0" cap="none" spc="0" normalizeH="0" baseline="0" noProof="0" dirty="0" err="1">
                <a:ln>
                  <a:noFill/>
                </a:ln>
                <a:solidFill>
                  <a:srgbClr val="3099D9"/>
                </a:solidFill>
                <a:effectLst/>
                <a:uLnTx/>
                <a:uFillTx/>
                <a:latin typeface="Consolas" pitchFamily="49" charset="0"/>
              </a:rPr>
              <a:t>GenerationType.AUTO</a:t>
            </a:r>
            <a:r>
              <a:rPr kumimoji="0" lang="en-GB" sz="2000" b="1" i="0" u="none" strike="noStrike" kern="0" cap="none" spc="0" normalizeH="0" baseline="0" noProof="0" dirty="0">
                <a:ln>
                  <a:noFill/>
                </a:ln>
                <a:solidFill>
                  <a:srgbClr val="3099D9"/>
                </a:solidFill>
                <a:effectLst/>
                <a:uLnTx/>
                <a:uFillTx/>
                <a:latin typeface="Consolas" pitchFamily="49" charset="0"/>
              </a:rPr>
              <a:t>) </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int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String name;</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a:t>
            </a:r>
          </a:p>
        </p:txBody>
      </p:sp>
      <p:sp>
        <p:nvSpPr>
          <p:cNvPr id="7" name="TextBox 6">
            <a:extLst>
              <a:ext uri="{FF2B5EF4-FFF2-40B4-BE49-F238E27FC236}">
                <a16:creationId xmlns:a16="http://schemas.microsoft.com/office/drawing/2014/main" id="{9D389F8A-C111-9E72-57D5-CEC65DE781BE}"/>
              </a:ext>
            </a:extLst>
          </p:cNvPr>
          <p:cNvSpPr txBox="1"/>
          <p:nvPr/>
        </p:nvSpPr>
        <p:spPr>
          <a:xfrm>
            <a:off x="1113182" y="5685183"/>
            <a:ext cx="10164418" cy="6463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1" u="none" strike="noStrike" kern="0" cap="none" spc="0" normalizeH="0" baseline="0" noProof="0" dirty="0">
                <a:ln>
                  <a:noFill/>
                </a:ln>
                <a:solidFill>
                  <a:srgbClr val="000000"/>
                </a:solidFill>
                <a:effectLst/>
                <a:uLnTx/>
                <a:uFillTx/>
              </a:rPr>
              <a:t>Note: </a:t>
            </a:r>
            <a:r>
              <a:rPr kumimoji="0" lang="en-US" sz="1800" b="0" i="1" u="none" strike="noStrike" kern="0" cap="none" spc="0" normalizeH="0" baseline="0" noProof="0" dirty="0">
                <a:ln>
                  <a:noFill/>
                </a:ln>
                <a:solidFill>
                  <a:srgbClr val="000000"/>
                </a:solidFill>
                <a:effectLst/>
                <a:uLnTx/>
                <a:uFillTx/>
              </a:rPr>
              <a:t>If you use Hibernate as the persistence provider, it selects a generation strategy based on the database specific dialect. For most popular databases, it selects </a:t>
            </a:r>
            <a:r>
              <a:rPr kumimoji="0" lang="en-US" sz="1800" b="0" i="1" u="none" strike="noStrike" kern="0" cap="none" spc="0" normalizeH="0" baseline="0" noProof="0" dirty="0" err="1">
                <a:ln>
                  <a:noFill/>
                </a:ln>
                <a:solidFill>
                  <a:srgbClr val="000000"/>
                </a:solidFill>
                <a:effectLst/>
                <a:uLnTx/>
                <a:uFillTx/>
              </a:rPr>
              <a:t>GenerationType.SEQUENCE</a:t>
            </a:r>
            <a:r>
              <a:rPr kumimoji="0" lang="en-US" sz="1800" b="0" i="1" u="none" strike="noStrike" kern="0" cap="none" spc="0" normalizeH="0" baseline="0" noProof="0" dirty="0">
                <a:ln>
                  <a:noFill/>
                </a:ln>
                <a:solidFill>
                  <a:srgbClr val="000000"/>
                </a:solidFill>
                <a:effectLst/>
                <a:uLnTx/>
                <a:uFillTx/>
              </a:rPr>
              <a:t>.</a:t>
            </a:r>
            <a:endParaRPr kumimoji="0" lang="en-CA" sz="1800" b="0" i="1"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20084151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9F96308-A362-C09A-30BA-BE5059B88380}"/>
              </a:ext>
            </a:extLst>
          </p:cNvPr>
          <p:cNvSpPr txBox="1">
            <a:spLocks/>
          </p:cNvSpPr>
          <p:nvPr/>
        </p:nvSpPr>
        <p:spPr>
          <a:xfrm>
            <a:off x="404191" y="609898"/>
            <a:ext cx="11496261"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PK Generation using user-defined Sequence </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5" name="Rectangle 4">
            <a:extLst>
              <a:ext uri="{FF2B5EF4-FFF2-40B4-BE49-F238E27FC236}">
                <a16:creationId xmlns:a16="http://schemas.microsoft.com/office/drawing/2014/main" id="{8595B19B-FC8F-A717-5B6F-9AA80A68B743}"/>
              </a:ext>
            </a:extLst>
          </p:cNvPr>
          <p:cNvSpPr/>
          <p:nvPr/>
        </p:nvSpPr>
        <p:spPr>
          <a:xfrm>
            <a:off x="404191" y="1871008"/>
            <a:ext cx="11627388" cy="3785652"/>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Employee{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GB" sz="2000" b="1" i="0" u="none" strike="noStrike" kern="0" cap="none" spc="0" normalizeH="0" baseline="0" noProof="0" dirty="0" err="1">
                <a:ln>
                  <a:noFill/>
                </a:ln>
                <a:solidFill>
                  <a:srgbClr val="3099D9"/>
                </a:solidFill>
                <a:effectLst/>
                <a:uLnTx/>
                <a:uFillTx/>
                <a:latin typeface="Consolas" pitchFamily="49" charset="0"/>
              </a:rPr>
              <a:t>SequenceGenerator</a:t>
            </a:r>
            <a:r>
              <a:rPr kumimoji="0" lang="en-GB" sz="2000" b="1" i="0" u="none" strike="noStrike" kern="0" cap="none" spc="0" normalizeH="0" baseline="0" noProof="0" dirty="0">
                <a:ln>
                  <a:noFill/>
                </a:ln>
                <a:solidFill>
                  <a:srgbClr val="3099D9"/>
                </a:solidFill>
                <a:effectLst/>
                <a:uLnTx/>
                <a:uFillTx/>
                <a:latin typeface="Consolas" pitchFamily="49" charset="0"/>
              </a:rPr>
              <a:t>(name = “EMP_SEQ_GNTR”, </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3099D9"/>
                </a:solidFill>
                <a:effectLst/>
                <a:uLnTx/>
                <a:uFillTx/>
                <a:latin typeface="Consolas" pitchFamily="49" charset="0"/>
              </a:rPr>
              <a:t>							</a:t>
            </a:r>
            <a:r>
              <a:rPr kumimoji="0" lang="en-GB" sz="2000" b="1" i="0" u="none" strike="noStrike" kern="0" cap="none" spc="0" normalizeH="0" baseline="0" noProof="0" dirty="0" err="1">
                <a:ln>
                  <a:noFill/>
                </a:ln>
                <a:solidFill>
                  <a:srgbClr val="3099D9"/>
                </a:solidFill>
                <a:effectLst/>
                <a:uLnTx/>
                <a:uFillTx/>
                <a:latin typeface="Consolas" pitchFamily="49" charset="0"/>
              </a:rPr>
              <a:t>sequenceName</a:t>
            </a:r>
            <a:r>
              <a:rPr kumimoji="0" lang="en-GB" sz="2000" b="1" i="0" u="none" strike="noStrike" kern="0" cap="none" spc="0" normalizeH="0" baseline="0" noProof="0" dirty="0">
                <a:ln>
                  <a:noFill/>
                </a:ln>
                <a:solidFill>
                  <a:srgbClr val="3099D9"/>
                </a:solidFill>
                <a:effectLst/>
                <a:uLnTx/>
                <a:uFillTx/>
                <a:latin typeface="Consolas" pitchFamily="49" charset="0"/>
              </a:rPr>
              <a:t> = “EMP_SEQ”)</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3099D9"/>
                </a:solidFill>
                <a:effectLst/>
                <a:uLnTx/>
                <a:uFillTx/>
                <a:latin typeface="Consolas" pitchFamily="49" charset="0"/>
              </a:rPr>
              <a:t>	@</a:t>
            </a:r>
            <a:r>
              <a:rPr kumimoji="0" lang="en-GB" sz="2000" b="1" i="0" u="none" strike="noStrike" kern="0" cap="none" spc="0" normalizeH="0" baseline="0" noProof="0" dirty="0" err="1">
                <a:ln>
                  <a:noFill/>
                </a:ln>
                <a:solidFill>
                  <a:srgbClr val="3099D9"/>
                </a:solidFill>
                <a:effectLst/>
                <a:uLnTx/>
                <a:uFillTx/>
                <a:latin typeface="Consolas" pitchFamily="49" charset="0"/>
              </a:rPr>
              <a:t>GeneratedValue</a:t>
            </a:r>
            <a:r>
              <a:rPr kumimoji="0" lang="en-GB" sz="2000" b="1" i="0" u="none" strike="noStrike" kern="0" cap="none" spc="0" normalizeH="0" baseline="0" noProof="0" dirty="0">
                <a:ln>
                  <a:noFill/>
                </a:ln>
                <a:solidFill>
                  <a:srgbClr val="3099D9"/>
                </a:solidFill>
                <a:effectLst/>
                <a:uLnTx/>
                <a:uFillTx/>
                <a:latin typeface="Consolas" pitchFamily="49" charset="0"/>
              </a:rPr>
              <a:t>(strategy =</a:t>
            </a:r>
            <a:r>
              <a:rPr kumimoji="0" lang="en-GB" sz="2000" b="1" i="0" u="none" strike="noStrike" kern="0" cap="none" spc="0" normalizeH="0" baseline="0" noProof="0" dirty="0" err="1">
                <a:ln>
                  <a:noFill/>
                </a:ln>
                <a:solidFill>
                  <a:srgbClr val="3099D9"/>
                </a:solidFill>
                <a:effectLst/>
                <a:uLnTx/>
                <a:uFillTx/>
                <a:latin typeface="Consolas" pitchFamily="49" charset="0"/>
              </a:rPr>
              <a:t>GenerationType.SEQUENCE</a:t>
            </a:r>
            <a:r>
              <a:rPr kumimoji="0" lang="en-GB" sz="2000" b="1" i="0" u="none" strike="noStrike" kern="0" cap="none" spc="0" normalizeH="0" baseline="0" noProof="0" dirty="0">
                <a:ln>
                  <a:noFill/>
                </a:ln>
                <a:solidFill>
                  <a:srgbClr val="3099D9"/>
                </a:solidFill>
                <a:effectLst/>
                <a:uLnTx/>
                <a:uFillTx/>
                <a:latin typeface="Consolas" pitchFamily="49" charset="0"/>
              </a:rPr>
              <a:t>, </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3099D9"/>
                </a:solidFill>
                <a:effectLst/>
                <a:uLnTx/>
                <a:uFillTx/>
                <a:latin typeface="Consolas" pitchFamily="49" charset="0"/>
              </a:rPr>
              <a:t>						generator=“EMP_SEQ_GNTR”)</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int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String name;</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a:t>
            </a:r>
          </a:p>
        </p:txBody>
      </p:sp>
    </p:spTree>
    <p:extLst>
      <p:ext uri="{BB962C8B-B14F-4D97-AF65-F5344CB8AC3E}">
        <p14:creationId xmlns:p14="http://schemas.microsoft.com/office/powerpoint/2010/main" val="11356550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3">
            <a:extLst>
              <a:ext uri="{FF2B5EF4-FFF2-40B4-BE49-F238E27FC236}">
                <a16:creationId xmlns:a16="http://schemas.microsoft.com/office/drawing/2014/main" id="{6CA4847E-AD1D-3C09-D1AC-7D9808EAC326}"/>
              </a:ext>
            </a:extLst>
          </p:cNvPr>
          <p:cNvSpPr/>
          <p:nvPr/>
        </p:nvSpPr>
        <p:spPr>
          <a:xfrm>
            <a:off x="2174630" y="2422904"/>
            <a:ext cx="7842739" cy="1335179"/>
          </a:xfrm>
          <a:prstGeom prst="roundRect">
            <a:avLst/>
          </a:prstGeom>
          <a:solidFill>
            <a:schemeClr val="accent1"/>
          </a:solidFill>
          <a:ln w="63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3600" b="1" i="0" u="none" strike="noStrike" kern="0" cap="none" spc="0" normalizeH="0" baseline="0" noProof="0" dirty="0">
                <a:ln>
                  <a:noFill/>
                </a:ln>
                <a:solidFill>
                  <a:srgbClr val="000000"/>
                </a:solidFill>
                <a:effectLst/>
                <a:uLnTx/>
                <a:uFillTx/>
                <a:latin typeface="Calibri" panose="020F0502020204030204"/>
                <a:ea typeface="+mn-ea"/>
                <a:cs typeface="+mn-cs"/>
              </a:rPr>
              <a:t>JPA – Entity Relationships</a:t>
            </a:r>
          </a:p>
        </p:txBody>
      </p:sp>
    </p:spTree>
    <p:extLst>
      <p:ext uri="{BB962C8B-B14F-4D97-AF65-F5344CB8AC3E}">
        <p14:creationId xmlns:p14="http://schemas.microsoft.com/office/powerpoint/2010/main" val="18936139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B9DBB45-CE68-D231-FD7A-C1B968D3BE05}"/>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Entity Relationship</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13" name="Content Placeholder 2">
            <a:extLst>
              <a:ext uri="{FF2B5EF4-FFF2-40B4-BE49-F238E27FC236}">
                <a16:creationId xmlns:a16="http://schemas.microsoft.com/office/drawing/2014/main" id="{EAF26274-406A-259F-8CCE-62B2C9569449}"/>
              </a:ext>
            </a:extLst>
          </p:cNvPr>
          <p:cNvSpPr txBox="1">
            <a:spLocks/>
          </p:cNvSpPr>
          <p:nvPr/>
        </p:nvSpPr>
        <p:spPr>
          <a:xfrm>
            <a:off x="601490" y="1639614"/>
            <a:ext cx="11003136" cy="4632599"/>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Entity relationship relates to the entities involved in the relationship and how they are related to each other.</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In every relationship there are two entities involved, one acting as the owning side and the other as non-owning or inverse side.</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The owning side refers to the side containing the corresponding foreign key.</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The inverse side is the other entity involved in the relationship.</a:t>
            </a: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4" name="Rectangle 13">
            <a:extLst>
              <a:ext uri="{FF2B5EF4-FFF2-40B4-BE49-F238E27FC236}">
                <a16:creationId xmlns:a16="http://schemas.microsoft.com/office/drawing/2014/main" id="{B4894C07-16F0-6DA4-AEF0-549E822EBD4D}"/>
              </a:ext>
            </a:extLst>
          </p:cNvPr>
          <p:cNvSpPr/>
          <p:nvPr/>
        </p:nvSpPr>
        <p:spPr>
          <a:xfrm>
            <a:off x="2041634" y="4162097"/>
            <a:ext cx="2238704" cy="1395248"/>
          </a:xfrm>
          <a:prstGeom prst="rect">
            <a:avLst/>
          </a:prstGeom>
          <a:solidFill>
            <a:srgbClr val="009FE3"/>
          </a:solidFill>
          <a:ln w="12700" cap="flat" cmpd="sng" algn="ctr">
            <a:solidFill>
              <a:srgbClr val="009F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1AE6D5E2-76B3-2FA0-FBF5-96C2CC2FD590}"/>
              </a:ext>
            </a:extLst>
          </p:cNvPr>
          <p:cNvSpPr/>
          <p:nvPr/>
        </p:nvSpPr>
        <p:spPr>
          <a:xfrm>
            <a:off x="7357241" y="4162097"/>
            <a:ext cx="2238704" cy="1395248"/>
          </a:xfrm>
          <a:prstGeom prst="rect">
            <a:avLst/>
          </a:prstGeom>
          <a:solidFill>
            <a:srgbClr val="009FE3"/>
          </a:solidFill>
          <a:ln w="12700" cap="flat" cmpd="sng" algn="ctr">
            <a:solidFill>
              <a:srgbClr val="009F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FEBA84D7-F816-B30C-2CAF-EA026E989739}"/>
              </a:ext>
            </a:extLst>
          </p:cNvPr>
          <p:cNvSpPr txBox="1"/>
          <p:nvPr/>
        </p:nvSpPr>
        <p:spPr>
          <a:xfrm>
            <a:off x="2514600" y="4634409"/>
            <a:ext cx="1529255"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prstClr val="white"/>
                </a:solidFill>
                <a:effectLst/>
                <a:uLnTx/>
                <a:uFillTx/>
              </a:rPr>
              <a:t>EMPLOYEE</a:t>
            </a:r>
          </a:p>
        </p:txBody>
      </p:sp>
      <p:sp>
        <p:nvSpPr>
          <p:cNvPr id="17" name="TextBox 16">
            <a:extLst>
              <a:ext uri="{FF2B5EF4-FFF2-40B4-BE49-F238E27FC236}">
                <a16:creationId xmlns:a16="http://schemas.microsoft.com/office/drawing/2014/main" id="{5BB02F66-9735-2081-B97A-D8DADC775065}"/>
              </a:ext>
            </a:extLst>
          </p:cNvPr>
          <p:cNvSpPr txBox="1"/>
          <p:nvPr/>
        </p:nvSpPr>
        <p:spPr>
          <a:xfrm>
            <a:off x="8066690" y="4634409"/>
            <a:ext cx="1529255"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prstClr val="white"/>
                </a:solidFill>
                <a:effectLst/>
                <a:uLnTx/>
                <a:uFillTx/>
              </a:rPr>
              <a:t>PAYROLL</a:t>
            </a:r>
          </a:p>
        </p:txBody>
      </p:sp>
      <p:sp>
        <p:nvSpPr>
          <p:cNvPr id="18" name="TextBox 17">
            <a:extLst>
              <a:ext uri="{FF2B5EF4-FFF2-40B4-BE49-F238E27FC236}">
                <a16:creationId xmlns:a16="http://schemas.microsoft.com/office/drawing/2014/main" id="{16D685A8-4A9D-930E-FBB2-42236751C546}"/>
              </a:ext>
            </a:extLst>
          </p:cNvPr>
          <p:cNvSpPr txBox="1"/>
          <p:nvPr/>
        </p:nvSpPr>
        <p:spPr>
          <a:xfrm>
            <a:off x="5449613" y="4548351"/>
            <a:ext cx="1552903"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HAS - A</a:t>
            </a:r>
          </a:p>
        </p:txBody>
      </p:sp>
      <p:sp>
        <p:nvSpPr>
          <p:cNvPr id="19" name="TextBox 18">
            <a:extLst>
              <a:ext uri="{FF2B5EF4-FFF2-40B4-BE49-F238E27FC236}">
                <a16:creationId xmlns:a16="http://schemas.microsoft.com/office/drawing/2014/main" id="{8DDCF55A-D035-C78B-C8DA-AA9732A1DA5F}"/>
              </a:ext>
            </a:extLst>
          </p:cNvPr>
          <p:cNvSpPr txBox="1"/>
          <p:nvPr/>
        </p:nvSpPr>
        <p:spPr>
          <a:xfrm>
            <a:off x="2435772" y="5649481"/>
            <a:ext cx="1450427"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Owning side</a:t>
            </a:r>
          </a:p>
        </p:txBody>
      </p:sp>
      <p:sp>
        <p:nvSpPr>
          <p:cNvPr id="20" name="TextBox 19">
            <a:extLst>
              <a:ext uri="{FF2B5EF4-FFF2-40B4-BE49-F238E27FC236}">
                <a16:creationId xmlns:a16="http://schemas.microsoft.com/office/drawing/2014/main" id="{23AA5D2B-55E5-7BB7-8658-E88C516A07BC}"/>
              </a:ext>
            </a:extLst>
          </p:cNvPr>
          <p:cNvSpPr txBox="1"/>
          <p:nvPr/>
        </p:nvSpPr>
        <p:spPr>
          <a:xfrm>
            <a:off x="7751379" y="5649481"/>
            <a:ext cx="1450427"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Inverse side</a:t>
            </a:r>
          </a:p>
        </p:txBody>
      </p:sp>
      <p:cxnSp>
        <p:nvCxnSpPr>
          <p:cNvPr id="21" name="Straight Arrow Connector 20">
            <a:extLst>
              <a:ext uri="{FF2B5EF4-FFF2-40B4-BE49-F238E27FC236}">
                <a16:creationId xmlns:a16="http://schemas.microsoft.com/office/drawing/2014/main" id="{AAD5FF5E-437D-6982-4270-70ECBFF2B7AF}"/>
              </a:ext>
            </a:extLst>
          </p:cNvPr>
          <p:cNvCxnSpPr>
            <a:stCxn id="14" idx="3"/>
            <a:endCxn id="15" idx="1"/>
          </p:cNvCxnSpPr>
          <p:nvPr/>
        </p:nvCxnSpPr>
        <p:spPr>
          <a:xfrm>
            <a:off x="4280338" y="4859721"/>
            <a:ext cx="3076903" cy="0"/>
          </a:xfrm>
          <a:prstGeom prst="straightConnector1">
            <a:avLst/>
          </a:prstGeom>
          <a:noFill/>
          <a:ln w="6350" cap="flat" cmpd="sng" algn="ctr">
            <a:solidFill>
              <a:srgbClr val="009FE3"/>
            </a:solidFill>
            <a:prstDash val="solid"/>
            <a:miter lim="800000"/>
            <a:tailEnd type="triangle"/>
          </a:ln>
          <a:effectLst/>
        </p:spPr>
      </p:cxnSp>
    </p:spTree>
    <p:extLst>
      <p:ext uri="{BB962C8B-B14F-4D97-AF65-F5344CB8AC3E}">
        <p14:creationId xmlns:p14="http://schemas.microsoft.com/office/powerpoint/2010/main" val="32092618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A93D9B-4E11-2AB2-F290-B3D87E8CDE7C}"/>
              </a:ext>
            </a:extLst>
          </p:cNvPr>
          <p:cNvSpPr txBox="1">
            <a:spLocks/>
          </p:cNvSpPr>
          <p:nvPr/>
        </p:nvSpPr>
        <p:spPr>
          <a:xfrm>
            <a:off x="594811" y="169027"/>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Entity Relationship</a:t>
            </a:r>
            <a:endPar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5" name="Content Placeholder 2">
            <a:extLst>
              <a:ext uri="{FF2B5EF4-FFF2-40B4-BE49-F238E27FC236}">
                <a16:creationId xmlns:a16="http://schemas.microsoft.com/office/drawing/2014/main" id="{C37E87F5-76B9-91DD-E0BB-D688D40B8F6A}"/>
              </a:ext>
            </a:extLst>
          </p:cNvPr>
          <p:cNvSpPr txBox="1">
            <a:spLocks/>
          </p:cNvSpPr>
          <p:nvPr/>
        </p:nvSpPr>
        <p:spPr>
          <a:xfrm>
            <a:off x="594053" y="1088383"/>
            <a:ext cx="11003136" cy="5013435"/>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800"/>
              </a:spcBef>
              <a:spcAft>
                <a:spcPts val="60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Entity Relationship is defined by direction of relationship and multiplicity of relationship.</a:t>
            </a:r>
          </a:p>
          <a:p>
            <a:pPr marL="0" marR="0" lvl="0" indent="0" algn="l" defTabSz="914400" rtl="0" eaLnBrk="1" fontAlgn="auto" latinLnBrk="0" hangingPunct="1">
              <a:lnSpc>
                <a:spcPct val="100000"/>
              </a:lnSpc>
              <a:spcBef>
                <a:spcPts val="1800"/>
              </a:spcBef>
              <a:spcAft>
                <a:spcPts val="600"/>
              </a:spcAft>
              <a:buClrTx/>
              <a:buSzTx/>
              <a:buFont typeface="Arial" panose="020B0604020202020204" pitchFamily="34" charset="0"/>
              <a:buNone/>
              <a:tabLst/>
              <a:defRPr/>
            </a:pPr>
            <a:r>
              <a:rPr kumimoji="0" lang="en-GB"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Direction of relationship </a:t>
            </a: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determines whether a query can navigate from one entity to another.</a:t>
            </a:r>
          </a:p>
          <a:p>
            <a:pPr marL="685800" marR="0" lvl="1" indent="-228600" algn="l" defTabSz="914400" rtl="0" eaLnBrk="1" fontAlgn="auto" latinLnBrk="0" hangingPunct="1">
              <a:lnSpc>
                <a:spcPct val="100000"/>
              </a:lnSpc>
              <a:spcBef>
                <a:spcPts val="1800"/>
              </a:spcBef>
              <a:spcAft>
                <a:spcPts val="60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Unidirectional – has only an owning side.</a:t>
            </a:r>
          </a:p>
          <a:p>
            <a:pPr marL="685800" marR="0" lvl="1" indent="-228600" algn="l" defTabSz="914400" rtl="0" eaLnBrk="1" fontAlgn="auto" latinLnBrk="0" hangingPunct="1">
              <a:lnSpc>
                <a:spcPct val="100000"/>
              </a:lnSpc>
              <a:spcBef>
                <a:spcPts val="1800"/>
              </a:spcBef>
              <a:spcAft>
                <a:spcPts val="60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Bidirectional – has an owning side and an inverse side.</a:t>
            </a:r>
          </a:p>
          <a:p>
            <a:pPr marL="0" marR="0" lvl="0" indent="0" algn="l" defTabSz="914400" rtl="0" eaLnBrk="1" fontAlgn="auto" latinLnBrk="0" hangingPunct="1">
              <a:lnSpc>
                <a:spcPct val="100000"/>
              </a:lnSpc>
              <a:spcBef>
                <a:spcPts val="1800"/>
              </a:spcBef>
              <a:spcAft>
                <a:spcPts val="600"/>
              </a:spcAft>
              <a:buClrTx/>
              <a:buSzTx/>
              <a:buFont typeface="Arial" panose="020B0604020202020204" pitchFamily="34" charset="0"/>
              <a:buNone/>
              <a:tabLst/>
              <a:defRPr/>
            </a:pPr>
            <a:r>
              <a:rPr kumimoji="0" lang="en-GB"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Multiplicity of relationship </a:t>
            </a: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defines how many objects participate in a relationship.</a:t>
            </a:r>
          </a:p>
          <a:p>
            <a:pPr marL="685800" marR="0" lvl="1" indent="-228600" algn="l" defTabSz="914400" rtl="0" eaLnBrk="1" fontAlgn="auto" latinLnBrk="0" hangingPunct="1">
              <a:lnSpc>
                <a:spcPct val="100000"/>
              </a:lnSpc>
              <a:spcBef>
                <a:spcPts val="1800"/>
              </a:spcBef>
              <a:spcAft>
                <a:spcPts val="60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One-to-one – each entity instance is related to single instance of another entity.</a:t>
            </a:r>
          </a:p>
          <a:p>
            <a:pPr marL="685800" marR="0" lvl="1" indent="-228600" algn="l" defTabSz="914400" rtl="0" eaLnBrk="1" fontAlgn="auto" latinLnBrk="0" hangingPunct="1">
              <a:lnSpc>
                <a:spcPct val="100000"/>
              </a:lnSpc>
              <a:spcBef>
                <a:spcPts val="1800"/>
              </a:spcBef>
              <a:spcAft>
                <a:spcPts val="60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One-to-many – an entity instance is related to multiple instances of other entities.</a:t>
            </a:r>
          </a:p>
          <a:p>
            <a:pPr marL="685800" marR="0" lvl="1" indent="-228600" algn="l" defTabSz="914400" rtl="0" eaLnBrk="1" fontAlgn="auto" latinLnBrk="0" hangingPunct="1">
              <a:lnSpc>
                <a:spcPct val="100000"/>
              </a:lnSpc>
              <a:spcBef>
                <a:spcPts val="1800"/>
              </a:spcBef>
              <a:spcAft>
                <a:spcPts val="60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Many-to-one – multiple instances of an entity is related to a single instance of other entity.</a:t>
            </a:r>
          </a:p>
          <a:p>
            <a:pPr marL="685800" marR="0" lvl="1" indent="-228600" algn="l" defTabSz="914400" rtl="0" eaLnBrk="1" fontAlgn="auto" latinLnBrk="0" hangingPunct="1">
              <a:lnSpc>
                <a:spcPct val="100000"/>
              </a:lnSpc>
              <a:spcBef>
                <a:spcPts val="1800"/>
              </a:spcBef>
              <a:spcAft>
                <a:spcPts val="60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Many-to-many – entity instances are related to multiple instances of each other.</a:t>
            </a:r>
          </a:p>
          <a:p>
            <a:pPr marL="685800" marR="0" lvl="1" indent="-228600" algn="l" defTabSz="914400" rtl="0" eaLnBrk="1" fontAlgn="auto" latinLnBrk="0" hangingPunct="1">
              <a:lnSpc>
                <a:spcPct val="100000"/>
              </a:lnSpc>
              <a:spcBef>
                <a:spcPts val="180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180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180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1800"/>
              </a:spcBef>
              <a:spcAft>
                <a:spcPts val="600"/>
              </a:spcAft>
              <a:buClrTx/>
              <a:buSzTx/>
              <a:buFont typeface="Arial" panose="020B0604020202020204" pitchFamily="34" charset="0"/>
              <a:buNone/>
              <a:tabLst/>
              <a:defRPr/>
            </a:pPr>
            <a:b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br>
            <a:endParaRPr kumimoji="0" lang="en-GB"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3415409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621BC1D-7E4D-5444-79E2-6350B357EAD5}"/>
              </a:ext>
            </a:extLst>
          </p:cNvPr>
          <p:cNvSpPr txBox="1">
            <a:spLocks/>
          </p:cNvSpPr>
          <p:nvPr/>
        </p:nvSpPr>
        <p:spPr>
          <a:xfrm>
            <a:off x="594811" y="283326"/>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Unidirectional Relationship</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15" name="Rectangle 14">
            <a:extLst>
              <a:ext uri="{FF2B5EF4-FFF2-40B4-BE49-F238E27FC236}">
                <a16:creationId xmlns:a16="http://schemas.microsoft.com/office/drawing/2014/main" id="{869EA3AE-3475-8B5C-0AFD-88DE35105C42}"/>
              </a:ext>
            </a:extLst>
          </p:cNvPr>
          <p:cNvSpPr/>
          <p:nvPr/>
        </p:nvSpPr>
        <p:spPr>
          <a:xfrm>
            <a:off x="1773535" y="1440673"/>
            <a:ext cx="2238704" cy="1409200"/>
          </a:xfrm>
          <a:prstGeom prst="rect">
            <a:avLst/>
          </a:prstGeom>
          <a:solidFill>
            <a:srgbClr val="009FE3"/>
          </a:solidFill>
          <a:ln w="12700" cap="flat" cmpd="sng" algn="ctr">
            <a:solidFill>
              <a:srgbClr val="009F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E0C0EBFD-EC30-9ABE-DAFF-CAAEB2AB6DB8}"/>
              </a:ext>
            </a:extLst>
          </p:cNvPr>
          <p:cNvCxnSpPr>
            <a:cxnSpLocks/>
            <a:stCxn id="15" idx="3"/>
            <a:endCxn id="17" idx="1"/>
          </p:cNvCxnSpPr>
          <p:nvPr/>
        </p:nvCxnSpPr>
        <p:spPr>
          <a:xfrm>
            <a:off x="4012239" y="2145273"/>
            <a:ext cx="4297839" cy="0"/>
          </a:xfrm>
          <a:prstGeom prst="straightConnector1">
            <a:avLst/>
          </a:prstGeom>
          <a:noFill/>
          <a:ln w="6350" cap="flat" cmpd="sng" algn="ctr">
            <a:solidFill>
              <a:srgbClr val="009FE3"/>
            </a:solidFill>
            <a:prstDash val="solid"/>
            <a:miter lim="800000"/>
            <a:tailEnd type="triangle"/>
          </a:ln>
          <a:effectLst/>
        </p:spPr>
      </p:cxnSp>
      <p:sp>
        <p:nvSpPr>
          <p:cNvPr id="17" name="Rectangle 16">
            <a:extLst>
              <a:ext uri="{FF2B5EF4-FFF2-40B4-BE49-F238E27FC236}">
                <a16:creationId xmlns:a16="http://schemas.microsoft.com/office/drawing/2014/main" id="{8321A548-28F7-A9F3-C90D-4A48DCA52C06}"/>
              </a:ext>
            </a:extLst>
          </p:cNvPr>
          <p:cNvSpPr/>
          <p:nvPr/>
        </p:nvSpPr>
        <p:spPr>
          <a:xfrm>
            <a:off x="8310078" y="1440673"/>
            <a:ext cx="2238704" cy="1409200"/>
          </a:xfrm>
          <a:prstGeom prst="rect">
            <a:avLst/>
          </a:prstGeom>
          <a:solidFill>
            <a:srgbClr val="009FE3"/>
          </a:solidFill>
          <a:ln w="12700" cap="flat" cmpd="sng" algn="ctr">
            <a:solidFill>
              <a:srgbClr val="009F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CA756BE8-1E56-1134-75CF-8F6C8BB1F981}"/>
              </a:ext>
            </a:extLst>
          </p:cNvPr>
          <p:cNvSpPr txBox="1"/>
          <p:nvPr/>
        </p:nvSpPr>
        <p:spPr>
          <a:xfrm>
            <a:off x="2341094" y="1958761"/>
            <a:ext cx="1529255" cy="37302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prstClr val="white"/>
                </a:solidFill>
                <a:effectLst/>
                <a:uLnTx/>
                <a:uFillTx/>
              </a:rPr>
              <a:t>EMPLOYEE</a:t>
            </a:r>
          </a:p>
        </p:txBody>
      </p:sp>
      <p:sp>
        <p:nvSpPr>
          <p:cNvPr id="19" name="TextBox 18">
            <a:extLst>
              <a:ext uri="{FF2B5EF4-FFF2-40B4-BE49-F238E27FC236}">
                <a16:creationId xmlns:a16="http://schemas.microsoft.com/office/drawing/2014/main" id="{B775E8B6-6E46-2D75-1A03-3B91EF0D950A}"/>
              </a:ext>
            </a:extLst>
          </p:cNvPr>
          <p:cNvSpPr txBox="1"/>
          <p:nvPr/>
        </p:nvSpPr>
        <p:spPr>
          <a:xfrm>
            <a:off x="8917051" y="1958761"/>
            <a:ext cx="1529255" cy="37302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prstClr val="white"/>
                </a:solidFill>
                <a:effectLst/>
                <a:uLnTx/>
                <a:uFillTx/>
              </a:rPr>
              <a:t>PAYROLL</a:t>
            </a:r>
          </a:p>
        </p:txBody>
      </p:sp>
      <p:sp>
        <p:nvSpPr>
          <p:cNvPr id="20" name="Rectangle 19">
            <a:extLst>
              <a:ext uri="{FF2B5EF4-FFF2-40B4-BE49-F238E27FC236}">
                <a16:creationId xmlns:a16="http://schemas.microsoft.com/office/drawing/2014/main" id="{DCEF94AD-1055-7D9C-31F0-DBCE0CEE5606}"/>
              </a:ext>
            </a:extLst>
          </p:cNvPr>
          <p:cNvSpPr/>
          <p:nvPr/>
        </p:nvSpPr>
        <p:spPr>
          <a:xfrm>
            <a:off x="433138" y="3520138"/>
            <a:ext cx="4643806" cy="1631216"/>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Employee{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int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String name;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a:t>
            </a:r>
            <a:r>
              <a:rPr kumimoji="0" lang="en-GB" sz="2000" b="1" i="0" u="none" strike="noStrike" kern="0" cap="none" spc="0" normalizeH="0" baseline="0" noProof="0" dirty="0">
                <a:ln>
                  <a:noFill/>
                </a:ln>
                <a:solidFill>
                  <a:srgbClr val="3099D9"/>
                </a:solidFill>
                <a:effectLst/>
                <a:uLnTx/>
                <a:uFillTx/>
                <a:latin typeface="Consolas" pitchFamily="49" charset="0"/>
              </a:rPr>
              <a:t>Payroll</a:t>
            </a: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err="1">
                <a:ln>
                  <a:noFill/>
                </a:ln>
                <a:solidFill>
                  <a:srgbClr val="000000"/>
                </a:solidFill>
                <a:effectLst/>
                <a:uLnTx/>
                <a:uFillTx/>
                <a:latin typeface="Consolas" pitchFamily="49" charset="0"/>
              </a:rPr>
              <a:t>payroll</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
        <p:nvSpPr>
          <p:cNvPr id="21" name="Rectangle 20">
            <a:extLst>
              <a:ext uri="{FF2B5EF4-FFF2-40B4-BE49-F238E27FC236}">
                <a16:creationId xmlns:a16="http://schemas.microsoft.com/office/drawing/2014/main" id="{C0873322-7220-D1E8-841C-84F55BBE3BEB}"/>
              </a:ext>
            </a:extLst>
          </p:cNvPr>
          <p:cNvSpPr/>
          <p:nvPr/>
        </p:nvSpPr>
        <p:spPr>
          <a:xfrm>
            <a:off x="7557562" y="3519903"/>
            <a:ext cx="4591285" cy="1323439"/>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Payroll{</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int </a:t>
            </a:r>
            <a:r>
              <a:rPr kumimoji="0" lang="en-GB" sz="2000" b="1" i="0" u="none" strike="noStrike" kern="0" cap="none" spc="0" normalizeH="0" baseline="0" noProof="0" dirty="0" err="1">
                <a:ln>
                  <a:noFill/>
                </a:ln>
                <a:solidFill>
                  <a:srgbClr val="000000"/>
                </a:solidFill>
                <a:effectLst/>
                <a:uLnTx/>
                <a:uFillTx/>
                <a:latin typeface="Consolas" pitchFamily="49" charset="0"/>
              </a:rPr>
              <a:t>payrollNo</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float </a:t>
            </a:r>
            <a:r>
              <a:rPr kumimoji="0" lang="en-GB" sz="2000" b="1" i="0" u="none" strike="noStrike" kern="0" cap="none" spc="0" normalizeH="0" baseline="0" noProof="0" dirty="0" err="1">
                <a:ln>
                  <a:noFill/>
                </a:ln>
                <a:solidFill>
                  <a:srgbClr val="000000"/>
                </a:solidFill>
                <a:effectLst/>
                <a:uLnTx/>
                <a:uFillTx/>
                <a:latin typeface="Consolas" pitchFamily="49" charset="0"/>
              </a:rPr>
              <a:t>hrlyRate</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cxnSp>
        <p:nvCxnSpPr>
          <p:cNvPr id="22" name="Straight Arrow Connector 21">
            <a:extLst>
              <a:ext uri="{FF2B5EF4-FFF2-40B4-BE49-F238E27FC236}">
                <a16:creationId xmlns:a16="http://schemas.microsoft.com/office/drawing/2014/main" id="{B93B8D99-0CA1-CC30-4758-69BE69093E62}"/>
              </a:ext>
            </a:extLst>
          </p:cNvPr>
          <p:cNvCxnSpPr>
            <a:cxnSpLocks/>
            <a:stCxn id="20" idx="3"/>
            <a:endCxn id="21" idx="1"/>
          </p:cNvCxnSpPr>
          <p:nvPr/>
        </p:nvCxnSpPr>
        <p:spPr>
          <a:xfrm flipV="1">
            <a:off x="5076944" y="4181623"/>
            <a:ext cx="2480618" cy="154123"/>
          </a:xfrm>
          <a:prstGeom prst="straightConnector1">
            <a:avLst/>
          </a:prstGeom>
          <a:noFill/>
          <a:ln w="6350" cap="flat" cmpd="sng" algn="ctr">
            <a:solidFill>
              <a:srgbClr val="009FE3"/>
            </a:solidFill>
            <a:prstDash val="solid"/>
            <a:miter lim="800000"/>
            <a:tailEnd type="triangle"/>
          </a:ln>
          <a:effectLst/>
        </p:spPr>
      </p:cxnSp>
      <p:sp>
        <p:nvSpPr>
          <p:cNvPr id="23" name="TextBox 22">
            <a:extLst>
              <a:ext uri="{FF2B5EF4-FFF2-40B4-BE49-F238E27FC236}">
                <a16:creationId xmlns:a16="http://schemas.microsoft.com/office/drawing/2014/main" id="{9F070CF5-5FBC-3F8A-3D48-255C1E08967A}"/>
              </a:ext>
            </a:extLst>
          </p:cNvPr>
          <p:cNvSpPr txBox="1"/>
          <p:nvPr/>
        </p:nvSpPr>
        <p:spPr>
          <a:xfrm>
            <a:off x="5515039" y="1825420"/>
            <a:ext cx="235694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Unidirectional</a:t>
            </a:r>
          </a:p>
        </p:txBody>
      </p:sp>
      <p:sp>
        <p:nvSpPr>
          <p:cNvPr id="24" name="TextBox 23">
            <a:extLst>
              <a:ext uri="{FF2B5EF4-FFF2-40B4-BE49-F238E27FC236}">
                <a16:creationId xmlns:a16="http://schemas.microsoft.com/office/drawing/2014/main" id="{EFC8A33C-F51E-8BF8-6059-1E409FD790AE}"/>
              </a:ext>
            </a:extLst>
          </p:cNvPr>
          <p:cNvSpPr txBox="1"/>
          <p:nvPr/>
        </p:nvSpPr>
        <p:spPr>
          <a:xfrm>
            <a:off x="5518516" y="3921471"/>
            <a:ext cx="235694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Unidirectional</a:t>
            </a:r>
          </a:p>
        </p:txBody>
      </p:sp>
      <p:sp>
        <p:nvSpPr>
          <p:cNvPr id="25" name="TextBox 24">
            <a:extLst>
              <a:ext uri="{FF2B5EF4-FFF2-40B4-BE49-F238E27FC236}">
                <a16:creationId xmlns:a16="http://schemas.microsoft.com/office/drawing/2014/main" id="{A62A2A8C-9871-30B1-C9D5-7E21C07691F2}"/>
              </a:ext>
            </a:extLst>
          </p:cNvPr>
          <p:cNvSpPr txBox="1"/>
          <p:nvPr/>
        </p:nvSpPr>
        <p:spPr>
          <a:xfrm>
            <a:off x="1037316" y="5498453"/>
            <a:ext cx="11111531" cy="6463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1" u="none" strike="noStrike" kern="0" cap="none" spc="0" normalizeH="0" baseline="0" noProof="0" dirty="0">
                <a:ln>
                  <a:noFill/>
                </a:ln>
                <a:solidFill>
                  <a:srgbClr val="000000"/>
                </a:solidFill>
                <a:effectLst/>
                <a:uLnTx/>
                <a:uFillTx/>
              </a:rPr>
              <a:t>Note: Query can be navigated in one direction only. Given the employee, his/her payroll details can be retrieved. </a:t>
            </a:r>
          </a:p>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1" u="none" strike="noStrike" kern="0" cap="none" spc="0" normalizeH="0" baseline="0" noProof="0" dirty="0">
                <a:ln>
                  <a:noFill/>
                </a:ln>
                <a:solidFill>
                  <a:srgbClr val="000000"/>
                </a:solidFill>
                <a:effectLst/>
                <a:uLnTx/>
                <a:uFillTx/>
              </a:rPr>
              <a:t>But the other way is not possible.</a:t>
            </a:r>
          </a:p>
        </p:txBody>
      </p:sp>
    </p:spTree>
    <p:extLst>
      <p:ext uri="{BB962C8B-B14F-4D97-AF65-F5344CB8AC3E}">
        <p14:creationId xmlns:p14="http://schemas.microsoft.com/office/powerpoint/2010/main" val="40591033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89534C41-CD70-E36B-D83D-B05EF1339988}"/>
              </a:ext>
            </a:extLst>
          </p:cNvPr>
          <p:cNvSpPr txBox="1">
            <a:spLocks/>
          </p:cNvSpPr>
          <p:nvPr/>
        </p:nvSpPr>
        <p:spPr>
          <a:xfrm>
            <a:off x="594811" y="2669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Bidirectional Relationship</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15" name="Rectangle 14">
            <a:extLst>
              <a:ext uri="{FF2B5EF4-FFF2-40B4-BE49-F238E27FC236}">
                <a16:creationId xmlns:a16="http://schemas.microsoft.com/office/drawing/2014/main" id="{1E4BCCE2-73F0-4181-7D81-9AD81808669D}"/>
              </a:ext>
            </a:extLst>
          </p:cNvPr>
          <p:cNvSpPr/>
          <p:nvPr/>
        </p:nvSpPr>
        <p:spPr>
          <a:xfrm>
            <a:off x="1773535" y="1455871"/>
            <a:ext cx="2238704" cy="1409200"/>
          </a:xfrm>
          <a:prstGeom prst="rect">
            <a:avLst/>
          </a:prstGeom>
          <a:solidFill>
            <a:srgbClr val="009FE3"/>
          </a:solidFill>
          <a:ln w="12700" cap="flat" cmpd="sng" algn="ctr">
            <a:solidFill>
              <a:srgbClr val="009F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60EFF17F-CAD1-B305-FB0F-CE1DE4AD92AB}"/>
              </a:ext>
            </a:extLst>
          </p:cNvPr>
          <p:cNvSpPr/>
          <p:nvPr/>
        </p:nvSpPr>
        <p:spPr>
          <a:xfrm>
            <a:off x="8310078" y="1455871"/>
            <a:ext cx="2238704" cy="1409200"/>
          </a:xfrm>
          <a:prstGeom prst="rect">
            <a:avLst/>
          </a:prstGeom>
          <a:solidFill>
            <a:srgbClr val="009FE3"/>
          </a:solidFill>
          <a:ln w="12700" cap="flat" cmpd="sng" algn="ctr">
            <a:solidFill>
              <a:srgbClr val="009F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0DDDCEC0-BF30-F436-4C46-5AF9BB7ED11C}"/>
              </a:ext>
            </a:extLst>
          </p:cNvPr>
          <p:cNvSpPr txBox="1"/>
          <p:nvPr/>
        </p:nvSpPr>
        <p:spPr>
          <a:xfrm>
            <a:off x="2341094" y="1973959"/>
            <a:ext cx="1529255" cy="37302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prstClr val="white"/>
                </a:solidFill>
                <a:effectLst/>
                <a:uLnTx/>
                <a:uFillTx/>
              </a:rPr>
              <a:t>EMPLOYEE</a:t>
            </a:r>
          </a:p>
        </p:txBody>
      </p:sp>
      <p:sp>
        <p:nvSpPr>
          <p:cNvPr id="18" name="TextBox 17">
            <a:extLst>
              <a:ext uri="{FF2B5EF4-FFF2-40B4-BE49-F238E27FC236}">
                <a16:creationId xmlns:a16="http://schemas.microsoft.com/office/drawing/2014/main" id="{63DAFDD1-8630-0451-FBBB-747D591CE849}"/>
              </a:ext>
            </a:extLst>
          </p:cNvPr>
          <p:cNvSpPr txBox="1"/>
          <p:nvPr/>
        </p:nvSpPr>
        <p:spPr>
          <a:xfrm>
            <a:off x="8917051" y="1973959"/>
            <a:ext cx="1529255" cy="37302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prstClr val="white"/>
                </a:solidFill>
                <a:effectLst/>
                <a:uLnTx/>
                <a:uFillTx/>
              </a:rPr>
              <a:t>PAYROLL</a:t>
            </a:r>
          </a:p>
        </p:txBody>
      </p:sp>
      <p:sp>
        <p:nvSpPr>
          <p:cNvPr id="19" name="Rectangle 18">
            <a:extLst>
              <a:ext uri="{FF2B5EF4-FFF2-40B4-BE49-F238E27FC236}">
                <a16:creationId xmlns:a16="http://schemas.microsoft.com/office/drawing/2014/main" id="{CFEC2E20-281E-DFA9-D59C-3C399DC9A002}"/>
              </a:ext>
            </a:extLst>
          </p:cNvPr>
          <p:cNvSpPr/>
          <p:nvPr/>
        </p:nvSpPr>
        <p:spPr>
          <a:xfrm>
            <a:off x="277586" y="3535336"/>
            <a:ext cx="4799357" cy="1631216"/>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Employee{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int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String name;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a:t>
            </a:r>
            <a:r>
              <a:rPr kumimoji="0" lang="en-GB" sz="2000" b="1" i="0" u="none" strike="noStrike" kern="0" cap="none" spc="0" normalizeH="0" baseline="0" noProof="0" dirty="0">
                <a:ln>
                  <a:noFill/>
                </a:ln>
                <a:solidFill>
                  <a:srgbClr val="3099D9"/>
                </a:solidFill>
                <a:effectLst/>
                <a:uLnTx/>
                <a:uFillTx/>
                <a:latin typeface="Consolas" pitchFamily="49" charset="0"/>
              </a:rPr>
              <a:t>Payroll</a:t>
            </a: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err="1">
                <a:ln>
                  <a:noFill/>
                </a:ln>
                <a:solidFill>
                  <a:srgbClr val="000000"/>
                </a:solidFill>
                <a:effectLst/>
                <a:uLnTx/>
                <a:uFillTx/>
                <a:latin typeface="Consolas" pitchFamily="49" charset="0"/>
              </a:rPr>
              <a:t>payroll</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
        <p:nvSpPr>
          <p:cNvPr id="20" name="Rectangle 19">
            <a:extLst>
              <a:ext uri="{FF2B5EF4-FFF2-40B4-BE49-F238E27FC236}">
                <a16:creationId xmlns:a16="http://schemas.microsoft.com/office/drawing/2014/main" id="{FD88D721-6854-5671-7151-C986741BC32C}"/>
              </a:ext>
            </a:extLst>
          </p:cNvPr>
          <p:cNvSpPr/>
          <p:nvPr/>
        </p:nvSpPr>
        <p:spPr>
          <a:xfrm>
            <a:off x="7115060" y="3535101"/>
            <a:ext cx="4482130" cy="1631216"/>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Payroll{</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int </a:t>
            </a:r>
            <a:r>
              <a:rPr kumimoji="0" lang="en-GB" sz="2000" b="1" i="0" u="none" strike="noStrike" kern="0" cap="none" spc="0" normalizeH="0" baseline="0" noProof="0" dirty="0" err="1">
                <a:ln>
                  <a:noFill/>
                </a:ln>
                <a:solidFill>
                  <a:srgbClr val="000000"/>
                </a:solidFill>
                <a:effectLst/>
                <a:uLnTx/>
                <a:uFillTx/>
                <a:latin typeface="Consolas" pitchFamily="49" charset="0"/>
              </a:rPr>
              <a:t>payrollNo</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float </a:t>
            </a:r>
            <a:r>
              <a:rPr kumimoji="0" lang="en-GB" sz="2000" b="1" i="0" u="none" strike="noStrike" kern="0" cap="none" spc="0" normalizeH="0" baseline="0" noProof="0" dirty="0" err="1">
                <a:ln>
                  <a:noFill/>
                </a:ln>
                <a:solidFill>
                  <a:srgbClr val="000000"/>
                </a:solidFill>
                <a:effectLst/>
                <a:uLnTx/>
                <a:uFillTx/>
                <a:latin typeface="Consolas" pitchFamily="49" charset="0"/>
              </a:rPr>
              <a:t>hrlyRate</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a:t>
            </a:r>
            <a:r>
              <a:rPr kumimoji="0" lang="en-GB" sz="2000" b="1" i="0" u="none" strike="noStrike" kern="0" cap="none" spc="0" normalizeH="0" baseline="0" noProof="0" dirty="0">
                <a:ln>
                  <a:noFill/>
                </a:ln>
                <a:solidFill>
                  <a:srgbClr val="3099D9"/>
                </a:solidFill>
                <a:effectLst/>
                <a:uLnTx/>
                <a:uFillTx/>
                <a:latin typeface="Consolas" pitchFamily="49" charset="0"/>
              </a:rPr>
              <a:t>Employee</a:t>
            </a:r>
            <a:r>
              <a:rPr kumimoji="0" lang="en-GB" sz="2000" b="1" i="0" u="none" strike="noStrike" kern="0" cap="none" spc="0" normalizeH="0" baseline="0" noProof="0" dirty="0">
                <a:ln>
                  <a:noFill/>
                </a:ln>
                <a:solidFill>
                  <a:srgbClr val="000000"/>
                </a:solidFill>
                <a:effectLst/>
                <a:uLnTx/>
                <a:uFillTx/>
                <a:latin typeface="Consolas" pitchFamily="49" charset="0"/>
              </a:rPr>
              <a:t> emp;</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
        <p:nvSpPr>
          <p:cNvPr id="21" name="TextBox 20">
            <a:extLst>
              <a:ext uri="{FF2B5EF4-FFF2-40B4-BE49-F238E27FC236}">
                <a16:creationId xmlns:a16="http://schemas.microsoft.com/office/drawing/2014/main" id="{23E3F166-98A7-E345-2F0A-1CC9C60CA3AC}"/>
              </a:ext>
            </a:extLst>
          </p:cNvPr>
          <p:cNvSpPr txBox="1"/>
          <p:nvPr/>
        </p:nvSpPr>
        <p:spPr>
          <a:xfrm>
            <a:off x="5515039" y="1840618"/>
            <a:ext cx="235694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Bidirectional</a:t>
            </a:r>
          </a:p>
        </p:txBody>
      </p:sp>
      <p:sp>
        <p:nvSpPr>
          <p:cNvPr id="22" name="TextBox 21">
            <a:extLst>
              <a:ext uri="{FF2B5EF4-FFF2-40B4-BE49-F238E27FC236}">
                <a16:creationId xmlns:a16="http://schemas.microsoft.com/office/drawing/2014/main" id="{7E1D9B77-73EF-F18A-06A1-3825B14DE38C}"/>
              </a:ext>
            </a:extLst>
          </p:cNvPr>
          <p:cNvSpPr txBox="1"/>
          <p:nvPr/>
        </p:nvSpPr>
        <p:spPr>
          <a:xfrm>
            <a:off x="5518516" y="3936669"/>
            <a:ext cx="235694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Bidirectional</a:t>
            </a:r>
          </a:p>
        </p:txBody>
      </p:sp>
      <p:sp>
        <p:nvSpPr>
          <p:cNvPr id="23" name="TextBox 22">
            <a:extLst>
              <a:ext uri="{FF2B5EF4-FFF2-40B4-BE49-F238E27FC236}">
                <a16:creationId xmlns:a16="http://schemas.microsoft.com/office/drawing/2014/main" id="{7878836C-8CB2-B9C4-7951-69340588ACE6}"/>
              </a:ext>
            </a:extLst>
          </p:cNvPr>
          <p:cNvSpPr txBox="1"/>
          <p:nvPr/>
        </p:nvSpPr>
        <p:spPr>
          <a:xfrm>
            <a:off x="895426" y="5511089"/>
            <a:ext cx="11111531" cy="6463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1" u="none" strike="noStrike" kern="0" cap="none" spc="0" normalizeH="0" baseline="0" noProof="0" dirty="0">
                <a:ln>
                  <a:noFill/>
                </a:ln>
                <a:solidFill>
                  <a:srgbClr val="000000"/>
                </a:solidFill>
                <a:effectLst/>
                <a:uLnTx/>
                <a:uFillTx/>
              </a:rPr>
              <a:t>Note: Query can be navigated in both directions. Given the employee details, his/her payroll details can be retrieved. Given the Payroll details, corresponding employee details can be retrieved.</a:t>
            </a:r>
          </a:p>
        </p:txBody>
      </p:sp>
      <p:cxnSp>
        <p:nvCxnSpPr>
          <p:cNvPr id="24" name="Straight Arrow Connector 23">
            <a:extLst>
              <a:ext uri="{FF2B5EF4-FFF2-40B4-BE49-F238E27FC236}">
                <a16:creationId xmlns:a16="http://schemas.microsoft.com/office/drawing/2014/main" id="{599ADB95-8B11-6E70-A456-AE4FA12FF4D7}"/>
              </a:ext>
            </a:extLst>
          </p:cNvPr>
          <p:cNvCxnSpPr>
            <a:stCxn id="15" idx="3"/>
            <a:endCxn id="16" idx="1"/>
          </p:cNvCxnSpPr>
          <p:nvPr/>
        </p:nvCxnSpPr>
        <p:spPr>
          <a:xfrm>
            <a:off x="4012239" y="2160471"/>
            <a:ext cx="4297839" cy="0"/>
          </a:xfrm>
          <a:prstGeom prst="straightConnector1">
            <a:avLst/>
          </a:prstGeom>
          <a:noFill/>
          <a:ln w="6350" cap="flat" cmpd="sng" algn="ctr">
            <a:solidFill>
              <a:srgbClr val="009FE3"/>
            </a:solidFill>
            <a:prstDash val="solid"/>
            <a:miter lim="800000"/>
            <a:headEnd type="triangle"/>
            <a:tailEnd type="triangle"/>
          </a:ln>
          <a:effectLst/>
        </p:spPr>
      </p:cxnSp>
      <p:cxnSp>
        <p:nvCxnSpPr>
          <p:cNvPr id="25" name="Straight Arrow Connector 24">
            <a:extLst>
              <a:ext uri="{FF2B5EF4-FFF2-40B4-BE49-F238E27FC236}">
                <a16:creationId xmlns:a16="http://schemas.microsoft.com/office/drawing/2014/main" id="{C730DE56-230E-14C3-F929-2BF8E6F98584}"/>
              </a:ext>
            </a:extLst>
          </p:cNvPr>
          <p:cNvCxnSpPr>
            <a:cxnSpLocks/>
            <a:stCxn id="19" idx="3"/>
            <a:endCxn id="20" idx="1"/>
          </p:cNvCxnSpPr>
          <p:nvPr/>
        </p:nvCxnSpPr>
        <p:spPr>
          <a:xfrm flipV="1">
            <a:off x="5076943" y="4350709"/>
            <a:ext cx="2038117" cy="235"/>
          </a:xfrm>
          <a:prstGeom prst="straightConnector1">
            <a:avLst/>
          </a:prstGeom>
          <a:noFill/>
          <a:ln w="6350" cap="flat" cmpd="sng" algn="ctr">
            <a:solidFill>
              <a:srgbClr val="009FE3"/>
            </a:solidFill>
            <a:prstDash val="solid"/>
            <a:miter lim="800000"/>
            <a:headEnd type="triangle"/>
            <a:tailEnd type="triangle"/>
          </a:ln>
          <a:effectLst/>
        </p:spPr>
      </p:cxnSp>
    </p:spTree>
    <p:extLst>
      <p:ext uri="{BB962C8B-B14F-4D97-AF65-F5344CB8AC3E}">
        <p14:creationId xmlns:p14="http://schemas.microsoft.com/office/powerpoint/2010/main" val="38626297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61791011-1E47-8155-49CA-02B40849E6DE}"/>
              </a:ext>
            </a:extLst>
          </p:cNvPr>
          <p:cNvSpPr txBox="1">
            <a:spLocks/>
          </p:cNvSpPr>
          <p:nvPr/>
        </p:nvSpPr>
        <p:spPr>
          <a:xfrm>
            <a:off x="594811" y="234340"/>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Multiplicity of Relationship</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28" name="Rectangle 27">
            <a:extLst>
              <a:ext uri="{FF2B5EF4-FFF2-40B4-BE49-F238E27FC236}">
                <a16:creationId xmlns:a16="http://schemas.microsoft.com/office/drawing/2014/main" id="{DDBC344F-E8EA-B274-178A-80608E96221F}"/>
              </a:ext>
            </a:extLst>
          </p:cNvPr>
          <p:cNvSpPr/>
          <p:nvPr/>
        </p:nvSpPr>
        <p:spPr>
          <a:xfrm>
            <a:off x="1773535" y="2869293"/>
            <a:ext cx="2238704" cy="1409200"/>
          </a:xfrm>
          <a:prstGeom prst="rect">
            <a:avLst/>
          </a:prstGeom>
          <a:solidFill>
            <a:srgbClr val="009FE3"/>
          </a:solidFill>
          <a:ln w="12700" cap="flat" cmpd="sng" algn="ctr">
            <a:solidFill>
              <a:srgbClr val="009F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EC451952-9397-599F-E561-F15B0B982FCB}"/>
              </a:ext>
            </a:extLst>
          </p:cNvPr>
          <p:cNvSpPr/>
          <p:nvPr/>
        </p:nvSpPr>
        <p:spPr>
          <a:xfrm>
            <a:off x="8310078" y="2869293"/>
            <a:ext cx="2238704" cy="1409200"/>
          </a:xfrm>
          <a:prstGeom prst="rect">
            <a:avLst/>
          </a:prstGeom>
          <a:solidFill>
            <a:srgbClr val="009FE3"/>
          </a:solidFill>
          <a:ln w="12700" cap="flat" cmpd="sng" algn="ctr">
            <a:solidFill>
              <a:srgbClr val="009F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46D9C868-AA1A-3C54-4E97-E0B87C9763FF}"/>
              </a:ext>
            </a:extLst>
          </p:cNvPr>
          <p:cNvSpPr txBox="1"/>
          <p:nvPr/>
        </p:nvSpPr>
        <p:spPr>
          <a:xfrm>
            <a:off x="2222853" y="3387381"/>
            <a:ext cx="1529255" cy="37302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prstClr val="white"/>
                </a:solidFill>
                <a:effectLst/>
                <a:uLnTx/>
                <a:uFillTx/>
              </a:rPr>
              <a:t>EMPLOYEE</a:t>
            </a:r>
          </a:p>
        </p:txBody>
      </p:sp>
      <p:sp>
        <p:nvSpPr>
          <p:cNvPr id="31" name="TextBox 30">
            <a:extLst>
              <a:ext uri="{FF2B5EF4-FFF2-40B4-BE49-F238E27FC236}">
                <a16:creationId xmlns:a16="http://schemas.microsoft.com/office/drawing/2014/main" id="{D886B40A-D48D-1FF1-2B82-A8A17A1F9379}"/>
              </a:ext>
            </a:extLst>
          </p:cNvPr>
          <p:cNvSpPr txBox="1"/>
          <p:nvPr/>
        </p:nvSpPr>
        <p:spPr>
          <a:xfrm>
            <a:off x="8751513" y="3387381"/>
            <a:ext cx="1529255" cy="37302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prstClr val="white"/>
                </a:solidFill>
                <a:effectLst/>
                <a:uLnTx/>
                <a:uFillTx/>
              </a:rPr>
              <a:t>DEPARTMENT</a:t>
            </a:r>
          </a:p>
        </p:txBody>
      </p:sp>
      <p:sp>
        <p:nvSpPr>
          <p:cNvPr id="32" name="Rectangle 31">
            <a:extLst>
              <a:ext uri="{FF2B5EF4-FFF2-40B4-BE49-F238E27FC236}">
                <a16:creationId xmlns:a16="http://schemas.microsoft.com/office/drawing/2014/main" id="{38B7ADF8-D307-3458-DEB0-D06E3FF7097D}"/>
              </a:ext>
            </a:extLst>
          </p:cNvPr>
          <p:cNvSpPr/>
          <p:nvPr/>
        </p:nvSpPr>
        <p:spPr>
          <a:xfrm>
            <a:off x="1773535" y="4716732"/>
            <a:ext cx="2238704" cy="1409200"/>
          </a:xfrm>
          <a:prstGeom prst="rect">
            <a:avLst/>
          </a:prstGeom>
          <a:solidFill>
            <a:srgbClr val="009FE3"/>
          </a:solidFill>
          <a:ln w="12700" cap="flat" cmpd="sng" algn="ctr">
            <a:solidFill>
              <a:srgbClr val="009F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3063000A-D42C-8D69-BA45-90587DD03B9E}"/>
              </a:ext>
            </a:extLst>
          </p:cNvPr>
          <p:cNvSpPr/>
          <p:nvPr/>
        </p:nvSpPr>
        <p:spPr>
          <a:xfrm>
            <a:off x="8310078" y="4716732"/>
            <a:ext cx="2238704" cy="1409200"/>
          </a:xfrm>
          <a:prstGeom prst="rect">
            <a:avLst/>
          </a:prstGeom>
          <a:solidFill>
            <a:srgbClr val="009FE3"/>
          </a:solidFill>
          <a:ln w="12700" cap="flat" cmpd="sng" algn="ctr">
            <a:solidFill>
              <a:srgbClr val="009F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4" name="TextBox 33">
            <a:extLst>
              <a:ext uri="{FF2B5EF4-FFF2-40B4-BE49-F238E27FC236}">
                <a16:creationId xmlns:a16="http://schemas.microsoft.com/office/drawing/2014/main" id="{337C60A7-F839-C9FD-9B4F-C204A8D7F68D}"/>
              </a:ext>
            </a:extLst>
          </p:cNvPr>
          <p:cNvSpPr txBox="1"/>
          <p:nvPr/>
        </p:nvSpPr>
        <p:spPr>
          <a:xfrm>
            <a:off x="2222853" y="5234820"/>
            <a:ext cx="1529255" cy="37302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prstClr val="white"/>
                </a:solidFill>
                <a:effectLst/>
                <a:uLnTx/>
                <a:uFillTx/>
              </a:rPr>
              <a:t>EMPLOYEE</a:t>
            </a:r>
          </a:p>
        </p:txBody>
      </p:sp>
      <p:sp>
        <p:nvSpPr>
          <p:cNvPr id="35" name="TextBox 34">
            <a:extLst>
              <a:ext uri="{FF2B5EF4-FFF2-40B4-BE49-F238E27FC236}">
                <a16:creationId xmlns:a16="http://schemas.microsoft.com/office/drawing/2014/main" id="{F7BF50FC-7CF8-7E89-E109-F45788F590E1}"/>
              </a:ext>
            </a:extLst>
          </p:cNvPr>
          <p:cNvSpPr txBox="1"/>
          <p:nvPr/>
        </p:nvSpPr>
        <p:spPr>
          <a:xfrm>
            <a:off x="8751513" y="5234820"/>
            <a:ext cx="1529255" cy="37302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prstClr val="white"/>
                </a:solidFill>
                <a:effectLst/>
                <a:uLnTx/>
                <a:uFillTx/>
              </a:rPr>
              <a:t>SKILL</a:t>
            </a:r>
          </a:p>
        </p:txBody>
      </p:sp>
      <p:cxnSp>
        <p:nvCxnSpPr>
          <p:cNvPr id="36" name="Straight Connector 35">
            <a:extLst>
              <a:ext uri="{FF2B5EF4-FFF2-40B4-BE49-F238E27FC236}">
                <a16:creationId xmlns:a16="http://schemas.microsoft.com/office/drawing/2014/main" id="{B06EF9DC-001F-1925-DCD8-AB5FD0CF0FD4}"/>
              </a:ext>
            </a:extLst>
          </p:cNvPr>
          <p:cNvCxnSpPr>
            <a:cxnSpLocks/>
            <a:stCxn id="28" idx="3"/>
            <a:endCxn id="29" idx="1"/>
          </p:cNvCxnSpPr>
          <p:nvPr/>
        </p:nvCxnSpPr>
        <p:spPr>
          <a:xfrm>
            <a:off x="4012239" y="3573893"/>
            <a:ext cx="4297839" cy="0"/>
          </a:xfrm>
          <a:prstGeom prst="line">
            <a:avLst/>
          </a:prstGeom>
          <a:noFill/>
          <a:ln w="6350" cap="flat" cmpd="sng" algn="ctr">
            <a:solidFill>
              <a:srgbClr val="009FE3"/>
            </a:solidFill>
            <a:prstDash val="solid"/>
            <a:miter lim="800000"/>
          </a:ln>
          <a:effectLst/>
        </p:spPr>
      </p:cxnSp>
      <p:cxnSp>
        <p:nvCxnSpPr>
          <p:cNvPr id="37" name="Straight Connector 36">
            <a:extLst>
              <a:ext uri="{FF2B5EF4-FFF2-40B4-BE49-F238E27FC236}">
                <a16:creationId xmlns:a16="http://schemas.microsoft.com/office/drawing/2014/main" id="{C0A66C8C-5F27-E256-13E4-E7215A8FFD0C}"/>
              </a:ext>
            </a:extLst>
          </p:cNvPr>
          <p:cNvCxnSpPr>
            <a:cxnSpLocks/>
            <a:stCxn id="32" idx="3"/>
            <a:endCxn id="33" idx="1"/>
          </p:cNvCxnSpPr>
          <p:nvPr/>
        </p:nvCxnSpPr>
        <p:spPr>
          <a:xfrm>
            <a:off x="4012239" y="5421332"/>
            <a:ext cx="4297839" cy="0"/>
          </a:xfrm>
          <a:prstGeom prst="line">
            <a:avLst/>
          </a:prstGeom>
          <a:noFill/>
          <a:ln w="6350" cap="flat" cmpd="sng" algn="ctr">
            <a:solidFill>
              <a:srgbClr val="009FE3"/>
            </a:solidFill>
            <a:prstDash val="solid"/>
            <a:miter lim="800000"/>
          </a:ln>
          <a:effectLst/>
        </p:spPr>
      </p:cxnSp>
      <p:sp>
        <p:nvSpPr>
          <p:cNvPr id="38" name="TextBox 37">
            <a:extLst>
              <a:ext uri="{FF2B5EF4-FFF2-40B4-BE49-F238E27FC236}">
                <a16:creationId xmlns:a16="http://schemas.microsoft.com/office/drawing/2014/main" id="{C508A695-77CE-BDC4-E6B9-3E81A8DF2724}"/>
              </a:ext>
            </a:extLst>
          </p:cNvPr>
          <p:cNvSpPr txBox="1"/>
          <p:nvPr/>
        </p:nvSpPr>
        <p:spPr>
          <a:xfrm>
            <a:off x="4083715" y="3175214"/>
            <a:ext cx="26801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a:t>
            </a:r>
          </a:p>
        </p:txBody>
      </p:sp>
      <p:sp>
        <p:nvSpPr>
          <p:cNvPr id="39" name="TextBox 38">
            <a:extLst>
              <a:ext uri="{FF2B5EF4-FFF2-40B4-BE49-F238E27FC236}">
                <a16:creationId xmlns:a16="http://schemas.microsoft.com/office/drawing/2014/main" id="{C3D6669C-A684-C592-C741-A49D65F4318B}"/>
              </a:ext>
            </a:extLst>
          </p:cNvPr>
          <p:cNvSpPr txBox="1"/>
          <p:nvPr/>
        </p:nvSpPr>
        <p:spPr>
          <a:xfrm>
            <a:off x="7873258" y="3155875"/>
            <a:ext cx="436820"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1</a:t>
            </a:r>
          </a:p>
        </p:txBody>
      </p:sp>
      <p:sp>
        <p:nvSpPr>
          <p:cNvPr id="40" name="TextBox 39">
            <a:extLst>
              <a:ext uri="{FF2B5EF4-FFF2-40B4-BE49-F238E27FC236}">
                <a16:creationId xmlns:a16="http://schemas.microsoft.com/office/drawing/2014/main" id="{41D91F0E-C207-8BC6-CC79-C079A8809CE8}"/>
              </a:ext>
            </a:extLst>
          </p:cNvPr>
          <p:cNvSpPr txBox="1"/>
          <p:nvPr/>
        </p:nvSpPr>
        <p:spPr>
          <a:xfrm>
            <a:off x="5534142" y="3632414"/>
            <a:ext cx="2238704" cy="6463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many-to-one &amp; </a:t>
            </a:r>
          </a:p>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one-to-many</a:t>
            </a:r>
          </a:p>
        </p:txBody>
      </p:sp>
      <p:sp>
        <p:nvSpPr>
          <p:cNvPr id="41" name="TextBox 40">
            <a:extLst>
              <a:ext uri="{FF2B5EF4-FFF2-40B4-BE49-F238E27FC236}">
                <a16:creationId xmlns:a16="http://schemas.microsoft.com/office/drawing/2014/main" id="{AD6809A8-A45D-45F2-9312-86DE90FE5818}"/>
              </a:ext>
            </a:extLst>
          </p:cNvPr>
          <p:cNvSpPr txBox="1"/>
          <p:nvPr/>
        </p:nvSpPr>
        <p:spPr>
          <a:xfrm>
            <a:off x="4062690" y="5022645"/>
            <a:ext cx="26801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a:t>
            </a:r>
          </a:p>
        </p:txBody>
      </p:sp>
      <p:sp>
        <p:nvSpPr>
          <p:cNvPr id="42" name="TextBox 41">
            <a:extLst>
              <a:ext uri="{FF2B5EF4-FFF2-40B4-BE49-F238E27FC236}">
                <a16:creationId xmlns:a16="http://schemas.microsoft.com/office/drawing/2014/main" id="{00439CC1-86BC-4732-6384-1B747D697844}"/>
              </a:ext>
            </a:extLst>
          </p:cNvPr>
          <p:cNvSpPr txBox="1"/>
          <p:nvPr/>
        </p:nvSpPr>
        <p:spPr>
          <a:xfrm>
            <a:off x="7852233" y="5003306"/>
            <a:ext cx="436820"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a:t>
            </a:r>
          </a:p>
        </p:txBody>
      </p:sp>
      <p:sp>
        <p:nvSpPr>
          <p:cNvPr id="43" name="TextBox 42">
            <a:extLst>
              <a:ext uri="{FF2B5EF4-FFF2-40B4-BE49-F238E27FC236}">
                <a16:creationId xmlns:a16="http://schemas.microsoft.com/office/drawing/2014/main" id="{DE1B5104-8728-760D-4F56-5FF3041E4435}"/>
              </a:ext>
            </a:extLst>
          </p:cNvPr>
          <p:cNvSpPr txBox="1"/>
          <p:nvPr/>
        </p:nvSpPr>
        <p:spPr>
          <a:xfrm>
            <a:off x="5513117" y="5479845"/>
            <a:ext cx="223870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many-to-many</a:t>
            </a:r>
          </a:p>
        </p:txBody>
      </p:sp>
      <p:sp>
        <p:nvSpPr>
          <p:cNvPr id="44" name="Rectangle 43">
            <a:extLst>
              <a:ext uri="{FF2B5EF4-FFF2-40B4-BE49-F238E27FC236}">
                <a16:creationId xmlns:a16="http://schemas.microsoft.com/office/drawing/2014/main" id="{E7915C47-CD6B-9D21-C676-208ABC13F3BC}"/>
              </a:ext>
            </a:extLst>
          </p:cNvPr>
          <p:cNvSpPr/>
          <p:nvPr/>
        </p:nvSpPr>
        <p:spPr>
          <a:xfrm>
            <a:off x="1773535" y="1153151"/>
            <a:ext cx="2238704" cy="1409200"/>
          </a:xfrm>
          <a:prstGeom prst="rect">
            <a:avLst/>
          </a:prstGeom>
          <a:solidFill>
            <a:srgbClr val="009FE3"/>
          </a:solidFill>
          <a:ln w="12700" cap="flat" cmpd="sng" algn="ctr">
            <a:solidFill>
              <a:srgbClr val="009F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5" name="Rectangle 44">
            <a:extLst>
              <a:ext uri="{FF2B5EF4-FFF2-40B4-BE49-F238E27FC236}">
                <a16:creationId xmlns:a16="http://schemas.microsoft.com/office/drawing/2014/main" id="{DB87D6BD-CB2F-9BA7-B1FD-E8D63ABB7DC5}"/>
              </a:ext>
            </a:extLst>
          </p:cNvPr>
          <p:cNvSpPr/>
          <p:nvPr/>
        </p:nvSpPr>
        <p:spPr>
          <a:xfrm>
            <a:off x="8310078" y="1153151"/>
            <a:ext cx="2238704" cy="1409200"/>
          </a:xfrm>
          <a:prstGeom prst="rect">
            <a:avLst/>
          </a:prstGeom>
          <a:solidFill>
            <a:srgbClr val="009FE3"/>
          </a:solidFill>
          <a:ln w="12700" cap="flat" cmpd="sng" algn="ctr">
            <a:solidFill>
              <a:srgbClr val="009F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6" name="TextBox 45">
            <a:extLst>
              <a:ext uri="{FF2B5EF4-FFF2-40B4-BE49-F238E27FC236}">
                <a16:creationId xmlns:a16="http://schemas.microsoft.com/office/drawing/2014/main" id="{055305EA-FD50-E758-1019-B435652E4C7A}"/>
              </a:ext>
            </a:extLst>
          </p:cNvPr>
          <p:cNvSpPr txBox="1"/>
          <p:nvPr/>
        </p:nvSpPr>
        <p:spPr>
          <a:xfrm>
            <a:off x="2341094" y="1671239"/>
            <a:ext cx="1529255" cy="37302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prstClr val="white"/>
                </a:solidFill>
                <a:effectLst/>
                <a:uLnTx/>
                <a:uFillTx/>
              </a:rPr>
              <a:t>EMPLOYEE</a:t>
            </a:r>
          </a:p>
        </p:txBody>
      </p:sp>
      <p:sp>
        <p:nvSpPr>
          <p:cNvPr id="47" name="TextBox 46">
            <a:extLst>
              <a:ext uri="{FF2B5EF4-FFF2-40B4-BE49-F238E27FC236}">
                <a16:creationId xmlns:a16="http://schemas.microsoft.com/office/drawing/2014/main" id="{86C4D38C-E590-44A6-1780-41244FEF0697}"/>
              </a:ext>
            </a:extLst>
          </p:cNvPr>
          <p:cNvSpPr txBox="1"/>
          <p:nvPr/>
        </p:nvSpPr>
        <p:spPr>
          <a:xfrm>
            <a:off x="8917051" y="1671239"/>
            <a:ext cx="1529255" cy="37302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prstClr val="white"/>
                </a:solidFill>
                <a:effectLst/>
                <a:uLnTx/>
                <a:uFillTx/>
              </a:rPr>
              <a:t>PAYROLL</a:t>
            </a:r>
          </a:p>
        </p:txBody>
      </p:sp>
      <p:sp>
        <p:nvSpPr>
          <p:cNvPr id="48" name="TextBox 47">
            <a:extLst>
              <a:ext uri="{FF2B5EF4-FFF2-40B4-BE49-F238E27FC236}">
                <a16:creationId xmlns:a16="http://schemas.microsoft.com/office/drawing/2014/main" id="{DD1F64C8-0446-BD93-1A21-7EF783DE8648}"/>
              </a:ext>
            </a:extLst>
          </p:cNvPr>
          <p:cNvSpPr txBox="1"/>
          <p:nvPr/>
        </p:nvSpPr>
        <p:spPr>
          <a:xfrm>
            <a:off x="4077091" y="1505438"/>
            <a:ext cx="26801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1</a:t>
            </a:r>
          </a:p>
        </p:txBody>
      </p:sp>
      <p:sp>
        <p:nvSpPr>
          <p:cNvPr id="49" name="TextBox 48">
            <a:extLst>
              <a:ext uri="{FF2B5EF4-FFF2-40B4-BE49-F238E27FC236}">
                <a16:creationId xmlns:a16="http://schemas.microsoft.com/office/drawing/2014/main" id="{68117159-3B6E-103C-22AE-6B9F3274842A}"/>
              </a:ext>
            </a:extLst>
          </p:cNvPr>
          <p:cNvSpPr txBox="1"/>
          <p:nvPr/>
        </p:nvSpPr>
        <p:spPr>
          <a:xfrm>
            <a:off x="7966606" y="1525318"/>
            <a:ext cx="26801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1</a:t>
            </a:r>
          </a:p>
        </p:txBody>
      </p:sp>
      <p:sp>
        <p:nvSpPr>
          <p:cNvPr id="50" name="TextBox 49">
            <a:extLst>
              <a:ext uri="{FF2B5EF4-FFF2-40B4-BE49-F238E27FC236}">
                <a16:creationId xmlns:a16="http://schemas.microsoft.com/office/drawing/2014/main" id="{A2D6AE26-A264-9178-06FE-A1E8FAC26779}"/>
              </a:ext>
            </a:extLst>
          </p:cNvPr>
          <p:cNvSpPr txBox="1"/>
          <p:nvPr/>
        </p:nvSpPr>
        <p:spPr>
          <a:xfrm>
            <a:off x="5534142" y="1879770"/>
            <a:ext cx="223870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one-to-one</a:t>
            </a:r>
          </a:p>
        </p:txBody>
      </p:sp>
      <p:cxnSp>
        <p:nvCxnSpPr>
          <p:cNvPr id="51" name="Straight Connector 50">
            <a:extLst>
              <a:ext uri="{FF2B5EF4-FFF2-40B4-BE49-F238E27FC236}">
                <a16:creationId xmlns:a16="http://schemas.microsoft.com/office/drawing/2014/main" id="{C832C9E4-9ED5-8E01-4A89-B7553A0F5846}"/>
              </a:ext>
            </a:extLst>
          </p:cNvPr>
          <p:cNvCxnSpPr>
            <a:cxnSpLocks/>
          </p:cNvCxnSpPr>
          <p:nvPr/>
        </p:nvCxnSpPr>
        <p:spPr>
          <a:xfrm>
            <a:off x="3998989" y="1851106"/>
            <a:ext cx="4297839" cy="0"/>
          </a:xfrm>
          <a:prstGeom prst="line">
            <a:avLst/>
          </a:prstGeom>
          <a:noFill/>
          <a:ln w="6350" cap="flat" cmpd="sng" algn="ctr">
            <a:solidFill>
              <a:srgbClr val="009FE3"/>
            </a:solidFill>
            <a:prstDash val="solid"/>
            <a:miter lim="800000"/>
          </a:ln>
          <a:effectLst/>
        </p:spPr>
      </p:cxnSp>
    </p:spTree>
    <p:extLst>
      <p:ext uri="{BB962C8B-B14F-4D97-AF65-F5344CB8AC3E}">
        <p14:creationId xmlns:p14="http://schemas.microsoft.com/office/powerpoint/2010/main" val="2789600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E8DBDAA-7C45-C625-AD5F-89351A690F62}"/>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Annotations used in Entity Relationship</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5" name="Content Placeholder 2">
            <a:extLst>
              <a:ext uri="{FF2B5EF4-FFF2-40B4-BE49-F238E27FC236}">
                <a16:creationId xmlns:a16="http://schemas.microsoft.com/office/drawing/2014/main" id="{E7B6BD3F-8D2A-DE3C-539D-5584D435E1E3}"/>
              </a:ext>
            </a:extLst>
          </p:cNvPr>
          <p:cNvSpPr txBox="1">
            <a:spLocks/>
          </p:cNvSpPr>
          <p:nvPr/>
        </p:nvSpPr>
        <p:spPr>
          <a:xfrm>
            <a:off x="601490" y="1820917"/>
            <a:ext cx="11003136" cy="445129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Owning Side</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@OneToOne</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@ManyToOne</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@OneToMany</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@ManyToMany</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Inverse Side</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@OneToOne (mappedBy = “xxxx”)</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@OneToMany (mappedBy = “xxxx”)</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@ManyToMany (mappedBy = “xxxx”)</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“xxxx” is the property/field in the owning side entity that is holding the association.</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0029202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E375ED8-267F-07A9-BA0B-486C97614249}"/>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Cascade Operations and Relationship</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7" name="Content Placeholder 2">
            <a:extLst>
              <a:ext uri="{FF2B5EF4-FFF2-40B4-BE49-F238E27FC236}">
                <a16:creationId xmlns:a16="http://schemas.microsoft.com/office/drawing/2014/main" id="{FDF33B85-229B-FD7D-D11D-65F12183013B}"/>
              </a:ext>
            </a:extLst>
          </p:cNvPr>
          <p:cNvSpPr txBox="1">
            <a:spLocks/>
          </p:cNvSpPr>
          <p:nvPr/>
        </p:nvSpPr>
        <p:spPr>
          <a:xfrm>
            <a:off x="601490" y="1797269"/>
            <a:ext cx="11003136" cy="4474944"/>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Entities in the relationship often have dependencies on the existence of the other entity in the relationship.</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For example, If Employee is persisted, payroll is also persisted. If Employee is removed, payroll of the employee is also removed.</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The operation applied on one entity will also be applied to the other entity in the relationship.</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8" name="TextBox 7">
            <a:extLst>
              <a:ext uri="{FF2B5EF4-FFF2-40B4-BE49-F238E27FC236}">
                <a16:creationId xmlns:a16="http://schemas.microsoft.com/office/drawing/2014/main" id="{9E163883-4055-EA34-93B8-F7779816868E}"/>
              </a:ext>
            </a:extLst>
          </p:cNvPr>
          <p:cNvSpPr txBox="1"/>
          <p:nvPr/>
        </p:nvSpPr>
        <p:spPr>
          <a:xfrm>
            <a:off x="2088400" y="4161438"/>
            <a:ext cx="1529255" cy="37302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prstClr val="white"/>
                </a:solidFill>
                <a:effectLst/>
                <a:uLnTx/>
                <a:uFillTx/>
              </a:rPr>
              <a:t>EMPLOYEE</a:t>
            </a:r>
          </a:p>
        </p:txBody>
      </p:sp>
      <p:sp>
        <p:nvSpPr>
          <p:cNvPr id="9" name="Rectangle 8">
            <a:extLst>
              <a:ext uri="{FF2B5EF4-FFF2-40B4-BE49-F238E27FC236}">
                <a16:creationId xmlns:a16="http://schemas.microsoft.com/office/drawing/2014/main" id="{D8FB8F33-2C84-2B85-2B02-C69CF5240A18}"/>
              </a:ext>
            </a:extLst>
          </p:cNvPr>
          <p:cNvSpPr/>
          <p:nvPr/>
        </p:nvSpPr>
        <p:spPr>
          <a:xfrm>
            <a:off x="1455951" y="3787107"/>
            <a:ext cx="7451566" cy="2554545"/>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Employee{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int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String name;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GB" sz="2000" b="1" i="0" u="none" strike="noStrike" kern="0" cap="none" spc="0" normalizeH="0" baseline="0" noProof="0" dirty="0" err="1">
                <a:ln>
                  <a:noFill/>
                </a:ln>
                <a:solidFill>
                  <a:srgbClr val="3099D9"/>
                </a:solidFill>
                <a:effectLst/>
                <a:uLnTx/>
                <a:uFillTx/>
                <a:latin typeface="Consolas" pitchFamily="49" charset="0"/>
              </a:rPr>
              <a:t>OneToOne</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CA" sz="2000" b="1" i="0" u="none" strike="noStrike" kern="0" cap="none" spc="0" normalizeH="0" baseline="0" noProof="0" dirty="0">
                <a:ln>
                  <a:noFill/>
                </a:ln>
                <a:solidFill>
                  <a:srgbClr val="3099D9"/>
                </a:solidFill>
                <a:effectLst/>
                <a:uLnTx/>
                <a:uFillTx/>
                <a:latin typeface="Consolas" pitchFamily="49" charset="0"/>
              </a:rPr>
              <a:t>cascade=</a:t>
            </a:r>
            <a:r>
              <a:rPr kumimoji="0" lang="en-CA" sz="2000" b="1" i="0" u="none" strike="noStrike" kern="0" cap="none" spc="0" normalizeH="0" baseline="0" noProof="0" dirty="0" err="1">
                <a:ln>
                  <a:noFill/>
                </a:ln>
                <a:solidFill>
                  <a:srgbClr val="3099D9"/>
                </a:solidFill>
                <a:effectLst/>
                <a:uLnTx/>
                <a:uFillTx/>
                <a:latin typeface="Consolas" pitchFamily="49" charset="0"/>
              </a:rPr>
              <a:t>CascadeType.ALL</a:t>
            </a:r>
            <a:r>
              <a:rPr kumimoji="0" lang="en-GB" sz="2000" b="1" i="0" u="none" strike="noStrike" kern="0" cap="none" spc="0" normalizeH="0" baseline="0" noProof="0" dirty="0">
                <a:ln>
                  <a:noFill/>
                </a:ln>
                <a:solidFill>
                  <a:srgbClr val="3099D9"/>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Payroll </a:t>
            </a:r>
            <a:r>
              <a:rPr kumimoji="0" lang="en-GB" sz="2000" b="1" i="0" u="none" strike="noStrike" kern="0" cap="none" spc="0" normalizeH="0" baseline="0" noProof="0" dirty="0" err="1">
                <a:ln>
                  <a:noFill/>
                </a:ln>
                <a:solidFill>
                  <a:srgbClr val="000000"/>
                </a:solidFill>
                <a:effectLst/>
                <a:uLnTx/>
                <a:uFillTx/>
                <a:latin typeface="Consolas" pitchFamily="49" charset="0"/>
              </a:rPr>
              <a:t>payroll</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Tree>
    <p:extLst>
      <p:ext uri="{BB962C8B-B14F-4D97-AF65-F5344CB8AC3E}">
        <p14:creationId xmlns:p14="http://schemas.microsoft.com/office/powerpoint/2010/main" val="23704258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A1296-39F5-34B6-D0C8-197098A42191}"/>
              </a:ext>
            </a:extLst>
          </p:cNvPr>
          <p:cNvSpPr txBox="1">
            <a:spLocks/>
          </p:cNvSpPr>
          <p:nvPr/>
        </p:nvSpPr>
        <p:spPr>
          <a:xfrm>
            <a:off x="602248" y="609898"/>
            <a:ext cx="11002378" cy="111793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CA"/>
              <a:t>Cascade Operations</a:t>
            </a:r>
            <a:endParaRPr lang="en-CA" dirty="0"/>
          </a:p>
        </p:txBody>
      </p:sp>
      <p:graphicFrame>
        <p:nvGraphicFramePr>
          <p:cNvPr id="3" name="Table 4">
            <a:extLst>
              <a:ext uri="{FF2B5EF4-FFF2-40B4-BE49-F238E27FC236}">
                <a16:creationId xmlns:a16="http://schemas.microsoft.com/office/drawing/2014/main" id="{A8FF9CEF-38BC-726B-E10B-E4EAD32F5804}"/>
              </a:ext>
            </a:extLst>
          </p:cNvPr>
          <p:cNvGraphicFramePr>
            <a:graphicFrameLocks/>
          </p:cNvGraphicFramePr>
          <p:nvPr>
            <p:extLst>
              <p:ext uri="{D42A27DB-BD31-4B8C-83A1-F6EECF244321}">
                <p14:modId xmlns:p14="http://schemas.microsoft.com/office/powerpoint/2010/main" val="2751437522"/>
              </p:ext>
            </p:extLst>
          </p:nvPr>
        </p:nvGraphicFramePr>
        <p:xfrm>
          <a:off x="602248" y="1844566"/>
          <a:ext cx="11002962" cy="3955172"/>
        </p:xfrm>
        <a:graphic>
          <a:graphicData uri="http://schemas.openxmlformats.org/drawingml/2006/table">
            <a:tbl>
              <a:tblPr firstRow="1" bandRow="1">
                <a:tableStyleId>{5C22544A-7EE6-4342-B048-85BDC9FD1C3A}</a:tableStyleId>
              </a:tblPr>
              <a:tblGrid>
                <a:gridCol w="2756392">
                  <a:extLst>
                    <a:ext uri="{9D8B030D-6E8A-4147-A177-3AD203B41FA5}">
                      <a16:colId xmlns:a16="http://schemas.microsoft.com/office/drawing/2014/main" val="2570054857"/>
                    </a:ext>
                  </a:extLst>
                </a:gridCol>
                <a:gridCol w="8246570">
                  <a:extLst>
                    <a:ext uri="{9D8B030D-6E8A-4147-A177-3AD203B41FA5}">
                      <a16:colId xmlns:a16="http://schemas.microsoft.com/office/drawing/2014/main" val="3158959505"/>
                    </a:ext>
                  </a:extLst>
                </a:gridCol>
              </a:tblGrid>
              <a:tr h="377386">
                <a:tc>
                  <a:txBody>
                    <a:bodyPr/>
                    <a:lstStyle/>
                    <a:p>
                      <a:r>
                        <a:rPr lang="en-CA" dirty="0"/>
                        <a:t>CASCADE OPERATION</a:t>
                      </a:r>
                    </a:p>
                  </a:txBody>
                  <a:tcPr/>
                </a:tc>
                <a:tc>
                  <a:txBody>
                    <a:bodyPr/>
                    <a:lstStyle/>
                    <a:p>
                      <a:r>
                        <a:rPr lang="en-CA" dirty="0"/>
                        <a:t>DESCRIPTION</a:t>
                      </a:r>
                    </a:p>
                  </a:txBody>
                  <a:tcPr/>
                </a:tc>
                <a:extLst>
                  <a:ext uri="{0D108BD9-81ED-4DB2-BD59-A6C34878D82A}">
                    <a16:rowId xmlns:a16="http://schemas.microsoft.com/office/drawing/2014/main" val="3059802966"/>
                  </a:ext>
                </a:extLst>
              </a:tr>
              <a:tr h="377386">
                <a:tc>
                  <a:txBody>
                    <a:bodyPr/>
                    <a:lstStyle/>
                    <a:p>
                      <a:r>
                        <a:rPr lang="en-CA" dirty="0"/>
                        <a:t>ALL</a:t>
                      </a:r>
                    </a:p>
                  </a:txBody>
                  <a:tcPr/>
                </a:tc>
                <a:tc>
                  <a:txBody>
                    <a:bodyPr/>
                    <a:lstStyle/>
                    <a:p>
                      <a:r>
                        <a:rPr lang="en-US" dirty="0"/>
                        <a:t>All</a:t>
                      </a:r>
                      <a:r>
                        <a:rPr lang="en-US" sz="1800" b="0" i="0" kern="1200" dirty="0">
                          <a:solidFill>
                            <a:schemeClr val="dk1"/>
                          </a:solidFill>
                          <a:effectLst/>
                          <a:latin typeface="+mn-lt"/>
                          <a:ea typeface="+mn-ea"/>
                          <a:cs typeface="+mn-cs"/>
                        </a:rPr>
                        <a:t> is equivalent to specifying </a:t>
                      </a:r>
                      <a:r>
                        <a:rPr lang="en-US" dirty="0"/>
                        <a:t>cascade={DETACH, MERGE, PERSIST, REFRESH, REMOVE}</a:t>
                      </a:r>
                      <a:endParaRPr lang="en-CA" dirty="0"/>
                    </a:p>
                  </a:txBody>
                  <a:tcPr/>
                </a:tc>
                <a:extLst>
                  <a:ext uri="{0D108BD9-81ED-4DB2-BD59-A6C34878D82A}">
                    <a16:rowId xmlns:a16="http://schemas.microsoft.com/office/drawing/2014/main" val="2813360561"/>
                  </a:ext>
                </a:extLst>
              </a:tr>
              <a:tr h="377386">
                <a:tc>
                  <a:txBody>
                    <a:bodyPr/>
                    <a:lstStyle/>
                    <a:p>
                      <a:r>
                        <a:rPr lang="en-CA" dirty="0"/>
                        <a:t>DETACH</a:t>
                      </a:r>
                    </a:p>
                  </a:txBody>
                  <a:tcPr/>
                </a:tc>
                <a:tc>
                  <a:txBody>
                    <a:bodyPr/>
                    <a:lstStyle/>
                    <a:p>
                      <a:r>
                        <a:rPr lang="en-US" sz="1800" b="0" i="0" kern="1200" dirty="0">
                          <a:solidFill>
                            <a:schemeClr val="dk1"/>
                          </a:solidFill>
                          <a:effectLst/>
                          <a:latin typeface="+mn-lt"/>
                          <a:ea typeface="+mn-ea"/>
                          <a:cs typeface="+mn-cs"/>
                        </a:rPr>
                        <a:t>If the parent entity is detached from the persistence context, the related entity will also be detached. </a:t>
                      </a:r>
                      <a:endParaRPr lang="en-CA" dirty="0"/>
                    </a:p>
                  </a:txBody>
                  <a:tcPr/>
                </a:tc>
                <a:extLst>
                  <a:ext uri="{0D108BD9-81ED-4DB2-BD59-A6C34878D82A}">
                    <a16:rowId xmlns:a16="http://schemas.microsoft.com/office/drawing/2014/main" val="3555128155"/>
                  </a:ext>
                </a:extLst>
              </a:tr>
              <a:tr h="377386">
                <a:tc>
                  <a:txBody>
                    <a:bodyPr/>
                    <a:lstStyle/>
                    <a:p>
                      <a:r>
                        <a:rPr lang="en-CA" dirty="0"/>
                        <a:t>MERGE</a:t>
                      </a:r>
                    </a:p>
                  </a:txBody>
                  <a:tcPr/>
                </a:tc>
                <a:tc>
                  <a:txBody>
                    <a:bodyPr/>
                    <a:lstStyle/>
                    <a:p>
                      <a:r>
                        <a:rPr lang="en-US" sz="1800" b="0" i="0" kern="1200" dirty="0">
                          <a:solidFill>
                            <a:schemeClr val="dk1"/>
                          </a:solidFill>
                          <a:effectLst/>
                          <a:latin typeface="+mn-lt"/>
                          <a:ea typeface="+mn-ea"/>
                          <a:cs typeface="+mn-cs"/>
                        </a:rPr>
                        <a:t>If the parent entity is merged into the persistence context, the related entity will also be merged. </a:t>
                      </a:r>
                      <a:endParaRPr lang="en-CA" dirty="0"/>
                    </a:p>
                  </a:txBody>
                  <a:tcPr/>
                </a:tc>
                <a:extLst>
                  <a:ext uri="{0D108BD9-81ED-4DB2-BD59-A6C34878D82A}">
                    <a16:rowId xmlns:a16="http://schemas.microsoft.com/office/drawing/2014/main" val="2341298548"/>
                  </a:ext>
                </a:extLst>
              </a:tr>
              <a:tr h="377386">
                <a:tc>
                  <a:txBody>
                    <a:bodyPr/>
                    <a:lstStyle/>
                    <a:p>
                      <a:r>
                        <a:rPr lang="en-CA" dirty="0"/>
                        <a:t>PERSIST</a:t>
                      </a:r>
                    </a:p>
                  </a:txBody>
                  <a:tcPr/>
                </a:tc>
                <a:tc>
                  <a:txBody>
                    <a:bodyPr/>
                    <a:lstStyle/>
                    <a:p>
                      <a:r>
                        <a:rPr lang="en-US" sz="1800" b="0" i="0" kern="1200" dirty="0">
                          <a:solidFill>
                            <a:schemeClr val="dk1"/>
                          </a:solidFill>
                          <a:effectLst/>
                          <a:latin typeface="+mn-lt"/>
                          <a:ea typeface="+mn-ea"/>
                          <a:cs typeface="+mn-cs"/>
                        </a:rPr>
                        <a:t>If the parent entity is persisted into the persistence context, the related entity will also be persisted. </a:t>
                      </a:r>
                      <a:endParaRPr lang="en-CA" dirty="0"/>
                    </a:p>
                  </a:txBody>
                  <a:tcPr/>
                </a:tc>
                <a:extLst>
                  <a:ext uri="{0D108BD9-81ED-4DB2-BD59-A6C34878D82A}">
                    <a16:rowId xmlns:a16="http://schemas.microsoft.com/office/drawing/2014/main" val="2343401130"/>
                  </a:ext>
                </a:extLst>
              </a:tr>
              <a:tr h="377386">
                <a:tc>
                  <a:txBody>
                    <a:bodyPr/>
                    <a:lstStyle/>
                    <a:p>
                      <a:r>
                        <a:rPr lang="en-CA" dirty="0"/>
                        <a:t>REFRESH</a:t>
                      </a:r>
                    </a:p>
                  </a:txBody>
                  <a:tcPr/>
                </a:tc>
                <a:tc>
                  <a:txBody>
                    <a:bodyPr/>
                    <a:lstStyle/>
                    <a:p>
                      <a:r>
                        <a:rPr lang="en-US" sz="1800" b="0" i="0" kern="1200" dirty="0">
                          <a:solidFill>
                            <a:schemeClr val="dk1"/>
                          </a:solidFill>
                          <a:effectLst/>
                          <a:latin typeface="+mn-lt"/>
                          <a:ea typeface="+mn-ea"/>
                          <a:cs typeface="+mn-cs"/>
                        </a:rPr>
                        <a:t>If the parent entity is refreshed in the current persistence context, the related entity will also be refreshed.</a:t>
                      </a:r>
                      <a:endParaRPr lang="en-CA" dirty="0"/>
                    </a:p>
                  </a:txBody>
                  <a:tcPr/>
                </a:tc>
                <a:extLst>
                  <a:ext uri="{0D108BD9-81ED-4DB2-BD59-A6C34878D82A}">
                    <a16:rowId xmlns:a16="http://schemas.microsoft.com/office/drawing/2014/main" val="1589766530"/>
                  </a:ext>
                </a:extLst>
              </a:tr>
              <a:tr h="377386">
                <a:tc>
                  <a:txBody>
                    <a:bodyPr/>
                    <a:lstStyle/>
                    <a:p>
                      <a:r>
                        <a:rPr lang="en-CA" dirty="0"/>
                        <a:t>REMOVE</a:t>
                      </a:r>
                    </a:p>
                  </a:txBody>
                  <a:tcPr/>
                </a:tc>
                <a:tc>
                  <a:txBody>
                    <a:bodyPr/>
                    <a:lstStyle/>
                    <a:p>
                      <a:r>
                        <a:rPr lang="en-US" sz="1800" b="0" i="0" kern="1200" dirty="0">
                          <a:solidFill>
                            <a:schemeClr val="dk1"/>
                          </a:solidFill>
                          <a:effectLst/>
                          <a:latin typeface="+mn-lt"/>
                          <a:ea typeface="+mn-ea"/>
                          <a:cs typeface="+mn-cs"/>
                        </a:rPr>
                        <a:t>If the parent entity is removed from the current persistence context, the related entity will also be removed. </a:t>
                      </a:r>
                      <a:endParaRPr lang="en-CA" dirty="0"/>
                    </a:p>
                  </a:txBody>
                  <a:tcPr/>
                </a:tc>
                <a:extLst>
                  <a:ext uri="{0D108BD9-81ED-4DB2-BD59-A6C34878D82A}">
                    <a16:rowId xmlns:a16="http://schemas.microsoft.com/office/drawing/2014/main" val="1151951415"/>
                  </a:ext>
                </a:extLst>
              </a:tr>
            </a:tbl>
          </a:graphicData>
        </a:graphic>
      </p:graphicFrame>
    </p:spTree>
    <p:extLst>
      <p:ext uri="{BB962C8B-B14F-4D97-AF65-F5344CB8AC3E}">
        <p14:creationId xmlns:p14="http://schemas.microsoft.com/office/powerpoint/2010/main" val="16096488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F414088-E981-2C80-5069-8184CF7A025C}"/>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One to One Unidirectional</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15" name="Content Placeholder 25">
            <a:extLst>
              <a:ext uri="{FF2B5EF4-FFF2-40B4-BE49-F238E27FC236}">
                <a16:creationId xmlns:a16="http://schemas.microsoft.com/office/drawing/2014/main" id="{9BE04235-31CC-1CB2-0D30-311D5B9BA5B2}"/>
              </a:ext>
            </a:extLst>
          </p:cNvPr>
          <p:cNvSpPr txBox="1">
            <a:spLocks/>
          </p:cNvSpPr>
          <p:nvPr/>
        </p:nvSpPr>
        <p:spPr>
          <a:xfrm>
            <a:off x="602248" y="1237130"/>
            <a:ext cx="11003136" cy="5010972"/>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Class Diagram</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Relational Model</a:t>
            </a: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graphicFrame>
        <p:nvGraphicFramePr>
          <p:cNvPr id="16" name="Table 10">
            <a:extLst>
              <a:ext uri="{FF2B5EF4-FFF2-40B4-BE49-F238E27FC236}">
                <a16:creationId xmlns:a16="http://schemas.microsoft.com/office/drawing/2014/main" id="{C4FAE1EC-B954-9ABB-1B76-728DA44ABDBF}"/>
              </a:ext>
            </a:extLst>
          </p:cNvPr>
          <p:cNvGraphicFramePr>
            <a:graphicFrameLocks noGrp="1"/>
          </p:cNvGraphicFramePr>
          <p:nvPr>
            <p:extLst>
              <p:ext uri="{D42A27DB-BD31-4B8C-83A1-F6EECF244321}">
                <p14:modId xmlns:p14="http://schemas.microsoft.com/office/powerpoint/2010/main" val="4196895584"/>
              </p:ext>
            </p:extLst>
          </p:nvPr>
        </p:nvGraphicFramePr>
        <p:xfrm>
          <a:off x="1748221" y="2043150"/>
          <a:ext cx="2122214" cy="1112520"/>
        </p:xfrm>
        <a:graphic>
          <a:graphicData uri="http://schemas.openxmlformats.org/drawingml/2006/table">
            <a:tbl>
              <a:tblPr firstRow="1" bandRow="1"/>
              <a:tblGrid>
                <a:gridCol w="2122214">
                  <a:extLst>
                    <a:ext uri="{9D8B030D-6E8A-4147-A177-3AD203B41FA5}">
                      <a16:colId xmlns:a16="http://schemas.microsoft.com/office/drawing/2014/main" val="1516275933"/>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Employee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332464068"/>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id</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146633629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name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2443523511"/>
                  </a:ext>
                </a:extLst>
              </a:tr>
            </a:tbl>
          </a:graphicData>
        </a:graphic>
      </p:graphicFrame>
      <p:graphicFrame>
        <p:nvGraphicFramePr>
          <p:cNvPr id="17" name="Table 10">
            <a:extLst>
              <a:ext uri="{FF2B5EF4-FFF2-40B4-BE49-F238E27FC236}">
                <a16:creationId xmlns:a16="http://schemas.microsoft.com/office/drawing/2014/main" id="{0AB19D5F-2FDE-2E51-6428-95F892D9B29F}"/>
              </a:ext>
            </a:extLst>
          </p:cNvPr>
          <p:cNvGraphicFramePr>
            <a:graphicFrameLocks noGrp="1"/>
          </p:cNvGraphicFramePr>
          <p:nvPr>
            <p:extLst>
              <p:ext uri="{D42A27DB-BD31-4B8C-83A1-F6EECF244321}">
                <p14:modId xmlns:p14="http://schemas.microsoft.com/office/powerpoint/2010/main" val="1020336999"/>
              </p:ext>
            </p:extLst>
          </p:nvPr>
        </p:nvGraphicFramePr>
        <p:xfrm>
          <a:off x="7623504" y="2043150"/>
          <a:ext cx="2122214" cy="1112520"/>
        </p:xfrm>
        <a:graphic>
          <a:graphicData uri="http://schemas.openxmlformats.org/drawingml/2006/table">
            <a:tbl>
              <a:tblPr firstRow="1" bandRow="1"/>
              <a:tblGrid>
                <a:gridCol w="2122214">
                  <a:extLst>
                    <a:ext uri="{9D8B030D-6E8A-4147-A177-3AD203B41FA5}">
                      <a16:colId xmlns:a16="http://schemas.microsoft.com/office/drawing/2014/main" val="1516275933"/>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Payroll</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332464068"/>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payrollNo</a:t>
                      </a:r>
                      <a:endParaRPr lang="en-CA"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146633629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hrlyRate</a:t>
                      </a:r>
                      <a:endParaRPr lang="en-CA"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2443523511"/>
                  </a:ext>
                </a:extLst>
              </a:tr>
            </a:tbl>
          </a:graphicData>
        </a:graphic>
      </p:graphicFrame>
      <p:cxnSp>
        <p:nvCxnSpPr>
          <p:cNvPr id="18" name="Straight Arrow Connector 17">
            <a:extLst>
              <a:ext uri="{FF2B5EF4-FFF2-40B4-BE49-F238E27FC236}">
                <a16:creationId xmlns:a16="http://schemas.microsoft.com/office/drawing/2014/main" id="{F11F7D75-BFCD-B971-1530-07E53DFA7B3B}"/>
              </a:ext>
            </a:extLst>
          </p:cNvPr>
          <p:cNvCxnSpPr>
            <a:cxnSpLocks/>
            <a:stCxn id="16" idx="3"/>
            <a:endCxn id="17" idx="1"/>
          </p:cNvCxnSpPr>
          <p:nvPr/>
        </p:nvCxnSpPr>
        <p:spPr>
          <a:xfrm>
            <a:off x="3870435" y="2599410"/>
            <a:ext cx="3753069" cy="0"/>
          </a:xfrm>
          <a:prstGeom prst="straightConnector1">
            <a:avLst/>
          </a:prstGeom>
          <a:noFill/>
          <a:ln w="6350" cap="flat" cmpd="sng" algn="ctr">
            <a:solidFill>
              <a:srgbClr val="009FE3"/>
            </a:solidFill>
            <a:prstDash val="solid"/>
            <a:miter lim="800000"/>
            <a:tailEnd type="triangle"/>
          </a:ln>
          <a:effectLst/>
        </p:spPr>
      </p:cxnSp>
      <p:sp>
        <p:nvSpPr>
          <p:cNvPr id="19" name="TextBox 18">
            <a:extLst>
              <a:ext uri="{FF2B5EF4-FFF2-40B4-BE49-F238E27FC236}">
                <a16:creationId xmlns:a16="http://schemas.microsoft.com/office/drawing/2014/main" id="{67D06494-E473-0F00-7E9D-AA94402CB7A7}"/>
              </a:ext>
            </a:extLst>
          </p:cNvPr>
          <p:cNvSpPr txBox="1"/>
          <p:nvPr/>
        </p:nvSpPr>
        <p:spPr>
          <a:xfrm>
            <a:off x="3870435" y="2230078"/>
            <a:ext cx="29954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1</a:t>
            </a:r>
          </a:p>
        </p:txBody>
      </p:sp>
      <p:sp>
        <p:nvSpPr>
          <p:cNvPr id="20" name="TextBox 19">
            <a:extLst>
              <a:ext uri="{FF2B5EF4-FFF2-40B4-BE49-F238E27FC236}">
                <a16:creationId xmlns:a16="http://schemas.microsoft.com/office/drawing/2014/main" id="{0D694853-C234-B5D2-58AF-E84D0AE6648D}"/>
              </a:ext>
            </a:extLst>
          </p:cNvPr>
          <p:cNvSpPr txBox="1"/>
          <p:nvPr/>
        </p:nvSpPr>
        <p:spPr>
          <a:xfrm>
            <a:off x="7323960" y="2230078"/>
            <a:ext cx="29954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1</a:t>
            </a:r>
          </a:p>
        </p:txBody>
      </p:sp>
      <p:sp>
        <p:nvSpPr>
          <p:cNvPr id="21" name="TextBox 20">
            <a:extLst>
              <a:ext uri="{FF2B5EF4-FFF2-40B4-BE49-F238E27FC236}">
                <a16:creationId xmlns:a16="http://schemas.microsoft.com/office/drawing/2014/main" id="{2E3E64B8-4DF9-C26F-5F52-23B4C0DF3DA1}"/>
              </a:ext>
            </a:extLst>
          </p:cNvPr>
          <p:cNvSpPr txBox="1"/>
          <p:nvPr/>
        </p:nvSpPr>
        <p:spPr>
          <a:xfrm>
            <a:off x="4918841" y="2695913"/>
            <a:ext cx="193127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unidirectional</a:t>
            </a:r>
          </a:p>
        </p:txBody>
      </p:sp>
      <p:graphicFrame>
        <p:nvGraphicFramePr>
          <p:cNvPr id="22" name="Table 27">
            <a:extLst>
              <a:ext uri="{FF2B5EF4-FFF2-40B4-BE49-F238E27FC236}">
                <a16:creationId xmlns:a16="http://schemas.microsoft.com/office/drawing/2014/main" id="{C86B1CC8-7639-C42E-4299-5607635376F6}"/>
              </a:ext>
            </a:extLst>
          </p:cNvPr>
          <p:cNvGraphicFramePr>
            <a:graphicFrameLocks noGrp="1"/>
          </p:cNvGraphicFramePr>
          <p:nvPr>
            <p:extLst>
              <p:ext uri="{D42A27DB-BD31-4B8C-83A1-F6EECF244321}">
                <p14:modId xmlns:p14="http://schemas.microsoft.com/office/powerpoint/2010/main" val="537539519"/>
              </p:ext>
            </p:extLst>
          </p:nvPr>
        </p:nvGraphicFramePr>
        <p:xfrm>
          <a:off x="1545021" y="4651684"/>
          <a:ext cx="4351281" cy="1112520"/>
        </p:xfrm>
        <a:graphic>
          <a:graphicData uri="http://schemas.openxmlformats.org/drawingml/2006/table">
            <a:tbl>
              <a:tblPr firstRow="1" bandRow="1"/>
              <a:tblGrid>
                <a:gridCol w="922282">
                  <a:extLst>
                    <a:ext uri="{9D8B030D-6E8A-4147-A177-3AD203B41FA5}">
                      <a16:colId xmlns:a16="http://schemas.microsoft.com/office/drawing/2014/main" val="1937561263"/>
                    </a:ext>
                  </a:extLst>
                </a:gridCol>
                <a:gridCol w="1568669">
                  <a:extLst>
                    <a:ext uri="{9D8B030D-6E8A-4147-A177-3AD203B41FA5}">
                      <a16:colId xmlns:a16="http://schemas.microsoft.com/office/drawing/2014/main" val="1249479470"/>
                    </a:ext>
                  </a:extLst>
                </a:gridCol>
                <a:gridCol w="1860330">
                  <a:extLst>
                    <a:ext uri="{9D8B030D-6E8A-4147-A177-3AD203B41FA5}">
                      <a16:colId xmlns:a16="http://schemas.microsoft.com/office/drawing/2014/main" val="1511144887"/>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ID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NAME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FK_PAYROLL_NO</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133708801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John Doe</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411870652"/>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Jane Doe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3019261411"/>
                  </a:ext>
                </a:extLst>
              </a:tr>
            </a:tbl>
          </a:graphicData>
        </a:graphic>
      </p:graphicFrame>
      <p:graphicFrame>
        <p:nvGraphicFramePr>
          <p:cNvPr id="23" name="Table 27">
            <a:extLst>
              <a:ext uri="{FF2B5EF4-FFF2-40B4-BE49-F238E27FC236}">
                <a16:creationId xmlns:a16="http://schemas.microsoft.com/office/drawing/2014/main" id="{17232F4E-C1A8-03C5-168E-4F6FF9ECC031}"/>
              </a:ext>
            </a:extLst>
          </p:cNvPr>
          <p:cNvGraphicFramePr>
            <a:graphicFrameLocks noGrp="1"/>
          </p:cNvGraphicFramePr>
          <p:nvPr>
            <p:extLst>
              <p:ext uri="{D42A27DB-BD31-4B8C-83A1-F6EECF244321}">
                <p14:modId xmlns:p14="http://schemas.microsoft.com/office/powerpoint/2010/main" val="2402297257"/>
              </p:ext>
            </p:extLst>
          </p:nvPr>
        </p:nvGraphicFramePr>
        <p:xfrm>
          <a:off x="6961352" y="4651684"/>
          <a:ext cx="3262586" cy="1112520"/>
        </p:xfrm>
        <a:graphic>
          <a:graphicData uri="http://schemas.openxmlformats.org/drawingml/2006/table">
            <a:tbl>
              <a:tblPr firstRow="1" bandRow="1"/>
              <a:tblGrid>
                <a:gridCol w="1631293">
                  <a:extLst>
                    <a:ext uri="{9D8B030D-6E8A-4147-A177-3AD203B41FA5}">
                      <a16:colId xmlns:a16="http://schemas.microsoft.com/office/drawing/2014/main" val="1937561263"/>
                    </a:ext>
                  </a:extLst>
                </a:gridCol>
                <a:gridCol w="1631293">
                  <a:extLst>
                    <a:ext uri="{9D8B030D-6E8A-4147-A177-3AD203B41FA5}">
                      <a16:colId xmlns:a16="http://schemas.microsoft.com/office/drawing/2014/main" val="1249479470"/>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PAYROLL_NO</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HRLY_RATE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133708801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55.00</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411870652"/>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60.00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3019261411"/>
                  </a:ext>
                </a:extLst>
              </a:tr>
            </a:tbl>
          </a:graphicData>
        </a:graphic>
      </p:graphicFrame>
      <p:sp>
        <p:nvSpPr>
          <p:cNvPr id="24" name="TextBox 23">
            <a:extLst>
              <a:ext uri="{FF2B5EF4-FFF2-40B4-BE49-F238E27FC236}">
                <a16:creationId xmlns:a16="http://schemas.microsoft.com/office/drawing/2014/main" id="{6F66EF92-721E-30F8-E489-DD6E57C3286A}"/>
              </a:ext>
            </a:extLst>
          </p:cNvPr>
          <p:cNvSpPr txBox="1"/>
          <p:nvPr/>
        </p:nvSpPr>
        <p:spPr>
          <a:xfrm>
            <a:off x="2435772" y="4264572"/>
            <a:ext cx="221505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EMPLOYEE TABLE</a:t>
            </a:r>
          </a:p>
        </p:txBody>
      </p:sp>
      <p:sp>
        <p:nvSpPr>
          <p:cNvPr id="25" name="TextBox 24">
            <a:extLst>
              <a:ext uri="{FF2B5EF4-FFF2-40B4-BE49-F238E27FC236}">
                <a16:creationId xmlns:a16="http://schemas.microsoft.com/office/drawing/2014/main" id="{317CE493-B743-2227-DC19-B59E2ED4F57B}"/>
              </a:ext>
            </a:extLst>
          </p:cNvPr>
          <p:cNvSpPr txBox="1"/>
          <p:nvPr/>
        </p:nvSpPr>
        <p:spPr>
          <a:xfrm>
            <a:off x="7623504" y="4232306"/>
            <a:ext cx="221505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PAYROLL TABLE</a:t>
            </a:r>
          </a:p>
        </p:txBody>
      </p:sp>
    </p:spTree>
    <p:extLst>
      <p:ext uri="{BB962C8B-B14F-4D97-AF65-F5344CB8AC3E}">
        <p14:creationId xmlns:p14="http://schemas.microsoft.com/office/powerpoint/2010/main" val="34892687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0A9AF91-2D03-17E7-6698-A6FBC6C8F055}"/>
              </a:ext>
            </a:extLst>
          </p:cNvPr>
          <p:cNvSpPr txBox="1">
            <a:spLocks/>
          </p:cNvSpPr>
          <p:nvPr/>
        </p:nvSpPr>
        <p:spPr>
          <a:xfrm>
            <a:off x="101184" y="609898"/>
            <a:ext cx="11503442"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One to One Unidirectional</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6" name="Rectangle 5">
            <a:extLst>
              <a:ext uri="{FF2B5EF4-FFF2-40B4-BE49-F238E27FC236}">
                <a16:creationId xmlns:a16="http://schemas.microsoft.com/office/drawing/2014/main" id="{F8796A92-D532-2F3C-E8AD-C54528564CC6}"/>
              </a:ext>
            </a:extLst>
          </p:cNvPr>
          <p:cNvSpPr/>
          <p:nvPr/>
        </p:nvSpPr>
        <p:spPr>
          <a:xfrm>
            <a:off x="326571" y="2042946"/>
            <a:ext cx="6694715" cy="3785652"/>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Employee{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int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String name;</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GB" sz="2000" b="1" i="0" u="none" strike="noStrike" kern="0" cap="none" spc="0" normalizeH="0" baseline="0" noProof="0" dirty="0" err="1">
                <a:ln>
                  <a:noFill/>
                </a:ln>
                <a:solidFill>
                  <a:srgbClr val="3099D9"/>
                </a:solidFill>
                <a:effectLst/>
                <a:uLnTx/>
                <a:uFillTx/>
                <a:latin typeface="Consolas" pitchFamily="49" charset="0"/>
              </a:rPr>
              <a:t>OneToOne</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CA" sz="2000" b="1" i="0" u="none" strike="noStrike" kern="0" cap="none" spc="0" normalizeH="0" baseline="0" noProof="0" dirty="0">
                <a:ln>
                  <a:noFill/>
                </a:ln>
                <a:solidFill>
                  <a:srgbClr val="3099D9"/>
                </a:solidFill>
                <a:effectLst/>
                <a:uLnTx/>
                <a:uFillTx/>
                <a:latin typeface="Consolas" pitchFamily="49" charset="0"/>
              </a:rPr>
              <a:t>cascade = </a:t>
            </a:r>
            <a:r>
              <a:rPr kumimoji="0" lang="en-CA" sz="2000" b="1" i="0" u="none" strike="noStrike" kern="0" cap="none" spc="0" normalizeH="0" baseline="0" noProof="0" dirty="0" err="1">
                <a:ln>
                  <a:noFill/>
                </a:ln>
                <a:solidFill>
                  <a:srgbClr val="3099D9"/>
                </a:solidFill>
                <a:effectLst/>
                <a:uLnTx/>
                <a:uFillTx/>
                <a:latin typeface="Consolas" pitchFamily="49" charset="0"/>
              </a:rPr>
              <a:t>CascadeType.ALL</a:t>
            </a:r>
            <a:r>
              <a:rPr kumimoji="0" lang="en-GB" sz="2000" b="1" i="0" u="none" strike="noStrike" kern="0" cap="none" spc="0" normalizeH="0" baseline="0" noProof="0" dirty="0">
                <a:ln>
                  <a:noFill/>
                </a:ln>
                <a:solidFill>
                  <a:srgbClr val="3099D9"/>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3099D9"/>
                </a:solidFill>
                <a:effectLst/>
                <a:uLnTx/>
                <a:uFillTx/>
                <a:latin typeface="Consolas" pitchFamily="49" charset="0"/>
              </a:rPr>
              <a:t>	@</a:t>
            </a:r>
            <a:r>
              <a:rPr kumimoji="0" lang="en-GB" sz="2000" b="1" i="0" u="none" strike="noStrike" kern="0" cap="none" spc="0" normalizeH="0" baseline="0" noProof="0" dirty="0" err="1">
                <a:ln>
                  <a:noFill/>
                </a:ln>
                <a:solidFill>
                  <a:srgbClr val="3099D9"/>
                </a:solidFill>
                <a:effectLst/>
                <a:uLnTx/>
                <a:uFillTx/>
                <a:latin typeface="Consolas" pitchFamily="49" charset="0"/>
              </a:rPr>
              <a:t>JoinColumn</a:t>
            </a:r>
            <a:r>
              <a:rPr kumimoji="0" lang="en-GB" sz="2000" b="1" i="0" u="none" strike="noStrike" kern="0" cap="none" spc="0" normalizeH="0" baseline="0" noProof="0" dirty="0">
                <a:ln>
                  <a:noFill/>
                </a:ln>
                <a:solidFill>
                  <a:srgbClr val="3099D9"/>
                </a:solidFill>
                <a:effectLst/>
                <a:uLnTx/>
                <a:uFillTx/>
                <a:latin typeface="Consolas" pitchFamily="49" charset="0"/>
              </a:rPr>
              <a:t>(name = “FK_PAYROLL_NO”)</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Payroll </a:t>
            </a:r>
            <a:r>
              <a:rPr kumimoji="0" lang="en-GB" sz="2000" b="1" i="0" u="none" strike="noStrike" kern="0" cap="none" spc="0" normalizeH="0" baseline="0" noProof="0" dirty="0" err="1">
                <a:ln>
                  <a:noFill/>
                </a:ln>
                <a:solidFill>
                  <a:srgbClr val="000000"/>
                </a:solidFill>
                <a:effectLst/>
                <a:uLnTx/>
                <a:uFillTx/>
                <a:latin typeface="Consolas" pitchFamily="49" charset="0"/>
              </a:rPr>
              <a:t>payroll</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
        <p:nvSpPr>
          <p:cNvPr id="7" name="Rectangle 6">
            <a:extLst>
              <a:ext uri="{FF2B5EF4-FFF2-40B4-BE49-F238E27FC236}">
                <a16:creationId xmlns:a16="http://schemas.microsoft.com/office/drawing/2014/main" id="{856A4113-3BB3-101A-7FD6-BF5007D49723}"/>
              </a:ext>
            </a:extLst>
          </p:cNvPr>
          <p:cNvSpPr/>
          <p:nvPr/>
        </p:nvSpPr>
        <p:spPr>
          <a:xfrm>
            <a:off x="7021286" y="2042290"/>
            <a:ext cx="5045528" cy="3785652"/>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Payroll{</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@Column(name = “PAYROLL_NO”)</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int </a:t>
            </a:r>
            <a:r>
              <a:rPr kumimoji="0" lang="en-GB" sz="2000" b="1" i="0" u="none" strike="noStrike" kern="0" cap="none" spc="0" normalizeH="0" baseline="0" noProof="0" dirty="0" err="1">
                <a:ln>
                  <a:noFill/>
                </a:ln>
                <a:solidFill>
                  <a:srgbClr val="000000"/>
                </a:solidFill>
                <a:effectLst/>
                <a:uLnTx/>
                <a:uFillTx/>
                <a:latin typeface="Consolas" pitchFamily="49" charset="0"/>
              </a:rPr>
              <a:t>payrollNo</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@Column(name = “HRLY_RATE”)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float </a:t>
            </a:r>
            <a:r>
              <a:rPr kumimoji="0" lang="en-GB" sz="2000" b="1" i="0" u="none" strike="noStrike" kern="0" cap="none" spc="0" normalizeH="0" baseline="0" noProof="0" dirty="0" err="1">
                <a:ln>
                  <a:noFill/>
                </a:ln>
                <a:solidFill>
                  <a:srgbClr val="000000"/>
                </a:solidFill>
                <a:effectLst/>
                <a:uLnTx/>
                <a:uFillTx/>
                <a:latin typeface="Consolas" pitchFamily="49" charset="0"/>
              </a:rPr>
              <a:t>hrlyRate</a:t>
            </a:r>
            <a:r>
              <a:rPr kumimoji="0" lang="en-GB" sz="2000" b="1" i="0" u="none" strike="noStrike" kern="0" cap="none" spc="0" normalizeH="0" baseline="0" noProof="0" dirty="0">
                <a:ln>
                  <a:noFill/>
                </a:ln>
                <a:solidFill>
                  <a:srgbClr val="000000"/>
                </a:solidFill>
                <a:effectLst/>
                <a:uLnTx/>
                <a:uFillTx/>
                <a:latin typeface="Consolas" pitchFamily="49" charset="0"/>
              </a:rPr>
              <a:t>;	</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Tree>
    <p:extLst>
      <p:ext uri="{BB962C8B-B14F-4D97-AF65-F5344CB8AC3E}">
        <p14:creationId xmlns:p14="http://schemas.microsoft.com/office/powerpoint/2010/main" val="14807462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9A237BBA-70BA-4E1C-5C7D-BDA4FABC7B73}"/>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One to One Bidirectional</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15" name="Content Placeholder 25">
            <a:extLst>
              <a:ext uri="{FF2B5EF4-FFF2-40B4-BE49-F238E27FC236}">
                <a16:creationId xmlns:a16="http://schemas.microsoft.com/office/drawing/2014/main" id="{8B0DE2C0-62ED-8C42-4CBF-429E8B299D69}"/>
              </a:ext>
            </a:extLst>
          </p:cNvPr>
          <p:cNvSpPr txBox="1">
            <a:spLocks/>
          </p:cNvSpPr>
          <p:nvPr/>
        </p:nvSpPr>
        <p:spPr>
          <a:xfrm>
            <a:off x="602248" y="1237130"/>
            <a:ext cx="11003136" cy="5010972"/>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Class Diagram</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Relational Model</a:t>
            </a: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graphicFrame>
        <p:nvGraphicFramePr>
          <p:cNvPr id="16" name="Table 10">
            <a:extLst>
              <a:ext uri="{FF2B5EF4-FFF2-40B4-BE49-F238E27FC236}">
                <a16:creationId xmlns:a16="http://schemas.microsoft.com/office/drawing/2014/main" id="{1665858B-3EA3-4683-4FB6-950833DA5989}"/>
              </a:ext>
            </a:extLst>
          </p:cNvPr>
          <p:cNvGraphicFramePr>
            <a:graphicFrameLocks noGrp="1"/>
          </p:cNvGraphicFramePr>
          <p:nvPr/>
        </p:nvGraphicFramePr>
        <p:xfrm>
          <a:off x="1748221" y="2043150"/>
          <a:ext cx="2122214" cy="1112520"/>
        </p:xfrm>
        <a:graphic>
          <a:graphicData uri="http://schemas.openxmlformats.org/drawingml/2006/table">
            <a:tbl>
              <a:tblPr firstRow="1" bandRow="1"/>
              <a:tblGrid>
                <a:gridCol w="2122214">
                  <a:extLst>
                    <a:ext uri="{9D8B030D-6E8A-4147-A177-3AD203B41FA5}">
                      <a16:colId xmlns:a16="http://schemas.microsoft.com/office/drawing/2014/main" val="1516275933"/>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Employee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332464068"/>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id</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146633629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name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2443523511"/>
                  </a:ext>
                </a:extLst>
              </a:tr>
            </a:tbl>
          </a:graphicData>
        </a:graphic>
      </p:graphicFrame>
      <p:graphicFrame>
        <p:nvGraphicFramePr>
          <p:cNvPr id="17" name="Table 10">
            <a:extLst>
              <a:ext uri="{FF2B5EF4-FFF2-40B4-BE49-F238E27FC236}">
                <a16:creationId xmlns:a16="http://schemas.microsoft.com/office/drawing/2014/main" id="{4BB26703-2893-02F3-6B1D-C32D4D99861C}"/>
              </a:ext>
            </a:extLst>
          </p:cNvPr>
          <p:cNvGraphicFramePr>
            <a:graphicFrameLocks noGrp="1"/>
          </p:cNvGraphicFramePr>
          <p:nvPr/>
        </p:nvGraphicFramePr>
        <p:xfrm>
          <a:off x="7623504" y="2043150"/>
          <a:ext cx="2122214" cy="1112520"/>
        </p:xfrm>
        <a:graphic>
          <a:graphicData uri="http://schemas.openxmlformats.org/drawingml/2006/table">
            <a:tbl>
              <a:tblPr firstRow="1" bandRow="1"/>
              <a:tblGrid>
                <a:gridCol w="2122214">
                  <a:extLst>
                    <a:ext uri="{9D8B030D-6E8A-4147-A177-3AD203B41FA5}">
                      <a16:colId xmlns:a16="http://schemas.microsoft.com/office/drawing/2014/main" val="1516275933"/>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Payroll</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332464068"/>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payrollNo</a:t>
                      </a:r>
                      <a:endParaRPr lang="en-CA"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146633629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hrlyRate</a:t>
                      </a:r>
                      <a:endParaRPr lang="en-CA"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2443523511"/>
                  </a:ext>
                </a:extLst>
              </a:tr>
            </a:tbl>
          </a:graphicData>
        </a:graphic>
      </p:graphicFrame>
      <p:sp>
        <p:nvSpPr>
          <p:cNvPr id="18" name="TextBox 17">
            <a:extLst>
              <a:ext uri="{FF2B5EF4-FFF2-40B4-BE49-F238E27FC236}">
                <a16:creationId xmlns:a16="http://schemas.microsoft.com/office/drawing/2014/main" id="{8266872A-5A47-D112-0125-C69603FDD8B9}"/>
              </a:ext>
            </a:extLst>
          </p:cNvPr>
          <p:cNvSpPr txBox="1"/>
          <p:nvPr/>
        </p:nvSpPr>
        <p:spPr>
          <a:xfrm>
            <a:off x="3870435" y="2230078"/>
            <a:ext cx="29954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1</a:t>
            </a:r>
          </a:p>
        </p:txBody>
      </p:sp>
      <p:sp>
        <p:nvSpPr>
          <p:cNvPr id="19" name="TextBox 18">
            <a:extLst>
              <a:ext uri="{FF2B5EF4-FFF2-40B4-BE49-F238E27FC236}">
                <a16:creationId xmlns:a16="http://schemas.microsoft.com/office/drawing/2014/main" id="{769534F5-450C-9462-94FE-A61AF85FBA23}"/>
              </a:ext>
            </a:extLst>
          </p:cNvPr>
          <p:cNvSpPr txBox="1"/>
          <p:nvPr/>
        </p:nvSpPr>
        <p:spPr>
          <a:xfrm>
            <a:off x="7323960" y="2230078"/>
            <a:ext cx="29954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1</a:t>
            </a:r>
          </a:p>
        </p:txBody>
      </p:sp>
      <p:sp>
        <p:nvSpPr>
          <p:cNvPr id="20" name="TextBox 19">
            <a:extLst>
              <a:ext uri="{FF2B5EF4-FFF2-40B4-BE49-F238E27FC236}">
                <a16:creationId xmlns:a16="http://schemas.microsoft.com/office/drawing/2014/main" id="{DE982FB1-42BF-361E-8661-A7B203F9D0B0}"/>
              </a:ext>
            </a:extLst>
          </p:cNvPr>
          <p:cNvSpPr txBox="1"/>
          <p:nvPr/>
        </p:nvSpPr>
        <p:spPr>
          <a:xfrm>
            <a:off x="4918841" y="2695913"/>
            <a:ext cx="193127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Bidirectional</a:t>
            </a:r>
          </a:p>
        </p:txBody>
      </p:sp>
      <p:graphicFrame>
        <p:nvGraphicFramePr>
          <p:cNvPr id="21" name="Table 27">
            <a:extLst>
              <a:ext uri="{FF2B5EF4-FFF2-40B4-BE49-F238E27FC236}">
                <a16:creationId xmlns:a16="http://schemas.microsoft.com/office/drawing/2014/main" id="{D4738533-9D17-6B84-75BA-9EF659568CCD}"/>
              </a:ext>
            </a:extLst>
          </p:cNvPr>
          <p:cNvGraphicFramePr>
            <a:graphicFrameLocks noGrp="1"/>
          </p:cNvGraphicFramePr>
          <p:nvPr>
            <p:extLst>
              <p:ext uri="{D42A27DB-BD31-4B8C-83A1-F6EECF244321}">
                <p14:modId xmlns:p14="http://schemas.microsoft.com/office/powerpoint/2010/main" val="382746435"/>
              </p:ext>
            </p:extLst>
          </p:nvPr>
        </p:nvGraphicFramePr>
        <p:xfrm>
          <a:off x="1545021" y="4651684"/>
          <a:ext cx="4351281" cy="1112520"/>
        </p:xfrm>
        <a:graphic>
          <a:graphicData uri="http://schemas.openxmlformats.org/drawingml/2006/table">
            <a:tbl>
              <a:tblPr firstRow="1" bandRow="1"/>
              <a:tblGrid>
                <a:gridCol w="922282">
                  <a:extLst>
                    <a:ext uri="{9D8B030D-6E8A-4147-A177-3AD203B41FA5}">
                      <a16:colId xmlns:a16="http://schemas.microsoft.com/office/drawing/2014/main" val="1937561263"/>
                    </a:ext>
                  </a:extLst>
                </a:gridCol>
                <a:gridCol w="1568669">
                  <a:extLst>
                    <a:ext uri="{9D8B030D-6E8A-4147-A177-3AD203B41FA5}">
                      <a16:colId xmlns:a16="http://schemas.microsoft.com/office/drawing/2014/main" val="1249479470"/>
                    </a:ext>
                  </a:extLst>
                </a:gridCol>
                <a:gridCol w="1860330">
                  <a:extLst>
                    <a:ext uri="{9D8B030D-6E8A-4147-A177-3AD203B41FA5}">
                      <a16:colId xmlns:a16="http://schemas.microsoft.com/office/drawing/2014/main" val="1511144887"/>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ID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NAME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FK_PAYROLL_NO</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133708801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John Doe</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411870652"/>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Jane Doe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3019261411"/>
                  </a:ext>
                </a:extLst>
              </a:tr>
            </a:tbl>
          </a:graphicData>
        </a:graphic>
      </p:graphicFrame>
      <p:graphicFrame>
        <p:nvGraphicFramePr>
          <p:cNvPr id="22" name="Table 27">
            <a:extLst>
              <a:ext uri="{FF2B5EF4-FFF2-40B4-BE49-F238E27FC236}">
                <a16:creationId xmlns:a16="http://schemas.microsoft.com/office/drawing/2014/main" id="{C5D1EC9C-6BAA-EE6A-0580-58309534F4CB}"/>
              </a:ext>
            </a:extLst>
          </p:cNvPr>
          <p:cNvGraphicFramePr>
            <a:graphicFrameLocks noGrp="1"/>
          </p:cNvGraphicFramePr>
          <p:nvPr>
            <p:extLst>
              <p:ext uri="{D42A27DB-BD31-4B8C-83A1-F6EECF244321}">
                <p14:modId xmlns:p14="http://schemas.microsoft.com/office/powerpoint/2010/main" val="2333217322"/>
              </p:ext>
            </p:extLst>
          </p:nvPr>
        </p:nvGraphicFramePr>
        <p:xfrm>
          <a:off x="6961352" y="4651684"/>
          <a:ext cx="3262586" cy="1112520"/>
        </p:xfrm>
        <a:graphic>
          <a:graphicData uri="http://schemas.openxmlformats.org/drawingml/2006/table">
            <a:tbl>
              <a:tblPr firstRow="1" bandRow="1"/>
              <a:tblGrid>
                <a:gridCol w="1631293">
                  <a:extLst>
                    <a:ext uri="{9D8B030D-6E8A-4147-A177-3AD203B41FA5}">
                      <a16:colId xmlns:a16="http://schemas.microsoft.com/office/drawing/2014/main" val="1937561263"/>
                    </a:ext>
                  </a:extLst>
                </a:gridCol>
                <a:gridCol w="1631293">
                  <a:extLst>
                    <a:ext uri="{9D8B030D-6E8A-4147-A177-3AD203B41FA5}">
                      <a16:colId xmlns:a16="http://schemas.microsoft.com/office/drawing/2014/main" val="1249479470"/>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PAYROLL_NO</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HRLY_RATE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133708801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55.00</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411870652"/>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60.00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3019261411"/>
                  </a:ext>
                </a:extLst>
              </a:tr>
            </a:tbl>
          </a:graphicData>
        </a:graphic>
      </p:graphicFrame>
      <p:sp>
        <p:nvSpPr>
          <p:cNvPr id="23" name="TextBox 22">
            <a:extLst>
              <a:ext uri="{FF2B5EF4-FFF2-40B4-BE49-F238E27FC236}">
                <a16:creationId xmlns:a16="http://schemas.microsoft.com/office/drawing/2014/main" id="{52877430-BC64-267E-F20C-305F037540D8}"/>
              </a:ext>
            </a:extLst>
          </p:cNvPr>
          <p:cNvSpPr txBox="1"/>
          <p:nvPr/>
        </p:nvSpPr>
        <p:spPr>
          <a:xfrm>
            <a:off x="2435772" y="4264572"/>
            <a:ext cx="221505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EMPLOYEE TABLE</a:t>
            </a:r>
          </a:p>
        </p:txBody>
      </p:sp>
      <p:sp>
        <p:nvSpPr>
          <p:cNvPr id="24" name="TextBox 23">
            <a:extLst>
              <a:ext uri="{FF2B5EF4-FFF2-40B4-BE49-F238E27FC236}">
                <a16:creationId xmlns:a16="http://schemas.microsoft.com/office/drawing/2014/main" id="{66BFD0CA-FDF5-FDE7-8916-21FFEECB51D6}"/>
              </a:ext>
            </a:extLst>
          </p:cNvPr>
          <p:cNvSpPr txBox="1"/>
          <p:nvPr/>
        </p:nvSpPr>
        <p:spPr>
          <a:xfrm>
            <a:off x="7623504" y="4232306"/>
            <a:ext cx="221505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PAYROLL TABLE</a:t>
            </a:r>
          </a:p>
        </p:txBody>
      </p:sp>
      <p:cxnSp>
        <p:nvCxnSpPr>
          <p:cNvPr id="25" name="Straight Arrow Connector 24">
            <a:extLst>
              <a:ext uri="{FF2B5EF4-FFF2-40B4-BE49-F238E27FC236}">
                <a16:creationId xmlns:a16="http://schemas.microsoft.com/office/drawing/2014/main" id="{6C0858C7-72E8-4B18-B2F2-30EE12C89DD3}"/>
              </a:ext>
            </a:extLst>
          </p:cNvPr>
          <p:cNvCxnSpPr>
            <a:endCxn id="17" idx="1"/>
          </p:cNvCxnSpPr>
          <p:nvPr/>
        </p:nvCxnSpPr>
        <p:spPr>
          <a:xfrm>
            <a:off x="3870435" y="2599410"/>
            <a:ext cx="3753069" cy="0"/>
          </a:xfrm>
          <a:prstGeom prst="straightConnector1">
            <a:avLst/>
          </a:prstGeom>
          <a:noFill/>
          <a:ln w="6350" cap="flat" cmpd="sng" algn="ctr">
            <a:solidFill>
              <a:srgbClr val="009FE3"/>
            </a:solidFill>
            <a:prstDash val="solid"/>
            <a:miter lim="800000"/>
            <a:headEnd type="triangle"/>
            <a:tailEnd type="triangle"/>
          </a:ln>
          <a:effectLst/>
        </p:spPr>
      </p:cxnSp>
    </p:spTree>
    <p:extLst>
      <p:ext uri="{BB962C8B-B14F-4D97-AF65-F5344CB8AC3E}">
        <p14:creationId xmlns:p14="http://schemas.microsoft.com/office/powerpoint/2010/main" val="30441686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0FBCF15-DC4D-E4DF-FE1C-828C2CBF0FCB}"/>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One to One Bidirectional</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6" name="Rectangle 5">
            <a:extLst>
              <a:ext uri="{FF2B5EF4-FFF2-40B4-BE49-F238E27FC236}">
                <a16:creationId xmlns:a16="http://schemas.microsoft.com/office/drawing/2014/main" id="{145621D8-F02E-FAF4-4AAF-C21894221DE8}"/>
              </a:ext>
            </a:extLst>
          </p:cNvPr>
          <p:cNvSpPr/>
          <p:nvPr/>
        </p:nvSpPr>
        <p:spPr>
          <a:xfrm>
            <a:off x="114300" y="2042946"/>
            <a:ext cx="6176141" cy="4093428"/>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Employee{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int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String name;</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GB" sz="2000" b="1" i="0" u="none" strike="noStrike" kern="0" cap="none" spc="0" normalizeH="0" baseline="0" noProof="0" dirty="0" err="1">
                <a:ln>
                  <a:noFill/>
                </a:ln>
                <a:solidFill>
                  <a:srgbClr val="3099D9"/>
                </a:solidFill>
                <a:effectLst/>
                <a:uLnTx/>
                <a:uFillTx/>
                <a:latin typeface="Consolas" pitchFamily="49" charset="0"/>
              </a:rPr>
              <a:t>OneToOne</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CA" sz="2000" b="1" i="0" u="none" strike="noStrike" kern="0" cap="none" spc="0" normalizeH="0" baseline="0" noProof="0" dirty="0">
                <a:ln>
                  <a:noFill/>
                </a:ln>
                <a:solidFill>
                  <a:srgbClr val="3099D9"/>
                </a:solidFill>
                <a:effectLst/>
                <a:uLnTx/>
                <a:uFillTx/>
                <a:latin typeface="Consolas" pitchFamily="49" charset="0"/>
              </a:rPr>
              <a:t>cascade = </a:t>
            </a:r>
            <a:r>
              <a:rPr kumimoji="0" lang="en-CA" sz="2000" b="1" i="0" u="none" strike="noStrike" kern="0" cap="none" spc="0" normalizeH="0" baseline="0" noProof="0" dirty="0" err="1">
                <a:ln>
                  <a:noFill/>
                </a:ln>
                <a:solidFill>
                  <a:srgbClr val="3099D9"/>
                </a:solidFill>
                <a:effectLst/>
                <a:uLnTx/>
                <a:uFillTx/>
                <a:latin typeface="Consolas" pitchFamily="49" charset="0"/>
              </a:rPr>
              <a:t>CascadeType.ALL</a:t>
            </a:r>
            <a:r>
              <a:rPr kumimoji="0" lang="en-GB" sz="2000" b="1" i="0" u="none" strike="noStrike" kern="0" cap="none" spc="0" normalizeH="0" baseline="0" noProof="0" dirty="0">
                <a:ln>
                  <a:noFill/>
                </a:ln>
                <a:solidFill>
                  <a:srgbClr val="3099D9"/>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3099D9"/>
                </a:solidFill>
                <a:effectLst/>
                <a:uLnTx/>
                <a:uFillTx/>
                <a:latin typeface="Consolas" pitchFamily="49" charset="0"/>
              </a:rPr>
              <a:t>	@</a:t>
            </a:r>
            <a:r>
              <a:rPr kumimoji="0" lang="en-GB" sz="2000" b="1" i="0" u="none" strike="noStrike" kern="0" cap="none" spc="0" normalizeH="0" baseline="0" noProof="0" dirty="0" err="1">
                <a:ln>
                  <a:noFill/>
                </a:ln>
                <a:solidFill>
                  <a:srgbClr val="3099D9"/>
                </a:solidFill>
                <a:effectLst/>
                <a:uLnTx/>
                <a:uFillTx/>
                <a:latin typeface="Consolas" pitchFamily="49" charset="0"/>
              </a:rPr>
              <a:t>JoinColumn</a:t>
            </a:r>
            <a:r>
              <a:rPr kumimoji="0" lang="en-GB" sz="2000" b="1" i="0" u="none" strike="noStrike" kern="0" cap="none" spc="0" normalizeH="0" baseline="0" noProof="0" dirty="0">
                <a:ln>
                  <a:noFill/>
                </a:ln>
                <a:solidFill>
                  <a:srgbClr val="3099D9"/>
                </a:solidFill>
                <a:effectLst/>
                <a:uLnTx/>
                <a:uFillTx/>
                <a:latin typeface="Consolas" pitchFamily="49" charset="0"/>
              </a:rPr>
              <a:t>(name = “FK_PAYROLL_NO”)</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Payroll </a:t>
            </a:r>
            <a:r>
              <a:rPr kumimoji="0" lang="en-GB" sz="2000" b="1" i="0" u="none" strike="noStrike" kern="0" cap="none" spc="0" normalizeH="0" baseline="0" noProof="0" dirty="0" err="1">
                <a:ln>
                  <a:noFill/>
                </a:ln>
                <a:solidFill>
                  <a:srgbClr val="3099D9"/>
                </a:solidFill>
                <a:effectLst/>
                <a:uLnTx/>
                <a:uFillTx/>
                <a:latin typeface="Consolas" pitchFamily="49" charset="0"/>
              </a:rPr>
              <a:t>payroll</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
        <p:nvSpPr>
          <p:cNvPr id="7" name="Rectangle 6">
            <a:extLst>
              <a:ext uri="{FF2B5EF4-FFF2-40B4-BE49-F238E27FC236}">
                <a16:creationId xmlns:a16="http://schemas.microsoft.com/office/drawing/2014/main" id="{D8A5EFA7-E130-A22F-E8E3-DB9E8E018AA6}"/>
              </a:ext>
            </a:extLst>
          </p:cNvPr>
          <p:cNvSpPr/>
          <p:nvPr/>
        </p:nvSpPr>
        <p:spPr>
          <a:xfrm>
            <a:off x="6400800" y="2042290"/>
            <a:ext cx="5676899" cy="4093428"/>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Payroll{</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@Column(name = “PAYROLL_NO”)</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int </a:t>
            </a:r>
            <a:r>
              <a:rPr kumimoji="0" lang="en-GB" sz="2000" b="1" i="0" u="none" strike="noStrike" kern="0" cap="none" spc="0" normalizeH="0" baseline="0" noProof="0" dirty="0" err="1">
                <a:ln>
                  <a:noFill/>
                </a:ln>
                <a:solidFill>
                  <a:srgbClr val="000000"/>
                </a:solidFill>
                <a:effectLst/>
                <a:uLnTx/>
                <a:uFillTx/>
                <a:latin typeface="Consolas" pitchFamily="49" charset="0"/>
              </a:rPr>
              <a:t>payrollNo</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@Column(name = “HRLY_RATE”)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float </a:t>
            </a:r>
            <a:r>
              <a:rPr kumimoji="0" lang="en-GB" sz="2000" b="1" i="0" u="none" strike="noStrike" kern="0" cap="none" spc="0" normalizeH="0" baseline="0" noProof="0" dirty="0" err="1">
                <a:ln>
                  <a:noFill/>
                </a:ln>
                <a:solidFill>
                  <a:srgbClr val="000000"/>
                </a:solidFill>
                <a:effectLst/>
                <a:uLnTx/>
                <a:uFillTx/>
                <a:latin typeface="Consolas" pitchFamily="49" charset="0"/>
              </a:rPr>
              <a:t>hrlyRate</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GB" sz="2000" b="1" i="0" u="none" strike="noStrike" kern="0" cap="none" spc="0" normalizeH="0" baseline="0" noProof="0" dirty="0" err="1">
                <a:ln>
                  <a:noFill/>
                </a:ln>
                <a:solidFill>
                  <a:srgbClr val="3099D9"/>
                </a:solidFill>
                <a:effectLst/>
                <a:uLnTx/>
                <a:uFillTx/>
                <a:latin typeface="Consolas" pitchFamily="49" charset="0"/>
              </a:rPr>
              <a:t>OneToOne</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CA" sz="2000" b="1" i="0" u="none" strike="noStrike" kern="0" cap="none" spc="0" normalizeH="0" baseline="0" noProof="0" dirty="0" err="1">
                <a:ln>
                  <a:noFill/>
                </a:ln>
                <a:solidFill>
                  <a:srgbClr val="3099D9"/>
                </a:solidFill>
                <a:effectLst/>
                <a:uLnTx/>
                <a:uFillTx/>
                <a:latin typeface="Consolas" pitchFamily="49" charset="0"/>
              </a:rPr>
              <a:t>mappedBy</a:t>
            </a:r>
            <a:r>
              <a:rPr kumimoji="0" lang="en-CA" sz="2000" b="1" i="0" u="none" strike="noStrike" kern="0" cap="none" spc="0" normalizeH="0" baseline="0" noProof="0" dirty="0">
                <a:ln>
                  <a:noFill/>
                </a:ln>
                <a:solidFill>
                  <a:srgbClr val="3099D9"/>
                </a:solidFill>
                <a:effectLst/>
                <a:uLnTx/>
                <a:uFillTx/>
                <a:latin typeface="Consolas" pitchFamily="49" charset="0"/>
              </a:rPr>
              <a:t> = “</a:t>
            </a:r>
            <a:r>
              <a:rPr kumimoji="0" lang="en-GB" sz="2000" b="1" i="0" u="none" strike="noStrike" kern="0" cap="none" spc="0" normalizeH="0" baseline="0" noProof="0" dirty="0">
                <a:ln>
                  <a:noFill/>
                </a:ln>
                <a:solidFill>
                  <a:srgbClr val="3099D9"/>
                </a:solidFill>
                <a:effectLst/>
                <a:uLnTx/>
                <a:uFillTx/>
                <a:latin typeface="Consolas" pitchFamily="49" charset="0"/>
              </a:rPr>
              <a:t>payroll”)</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3099D9"/>
                </a:solidFill>
                <a:effectLst/>
                <a:uLnTx/>
                <a:uFillTx/>
                <a:latin typeface="Consolas" pitchFamily="49" charset="0"/>
              </a:rPr>
              <a:t>	</a:t>
            </a:r>
            <a:r>
              <a:rPr kumimoji="0" lang="en-GB" sz="2000" b="1" i="0" u="none" strike="noStrike" kern="0" cap="none" spc="0" normalizeH="0" baseline="0" noProof="0" dirty="0">
                <a:ln>
                  <a:noFill/>
                </a:ln>
                <a:solidFill>
                  <a:srgbClr val="000000"/>
                </a:solidFill>
                <a:effectLst/>
                <a:uLnTx/>
                <a:uFillTx/>
                <a:latin typeface="Consolas" pitchFamily="49" charset="0"/>
              </a:rPr>
              <a:t>private Employee </a:t>
            </a:r>
            <a:r>
              <a:rPr kumimoji="0" lang="en-GB" sz="2000" b="1" i="0" u="none" strike="noStrike" kern="0" cap="none" spc="0" normalizeH="0" baseline="0" noProof="0" dirty="0" err="1">
                <a:ln>
                  <a:noFill/>
                </a:ln>
                <a:solidFill>
                  <a:srgbClr val="000000"/>
                </a:solidFill>
                <a:effectLst/>
                <a:uLnTx/>
                <a:uFillTx/>
                <a:latin typeface="Consolas" pitchFamily="49" charset="0"/>
              </a:rPr>
              <a:t>employee</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Tree>
    <p:extLst>
      <p:ext uri="{BB962C8B-B14F-4D97-AF65-F5344CB8AC3E}">
        <p14:creationId xmlns:p14="http://schemas.microsoft.com/office/powerpoint/2010/main" val="27321140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4CFF8731-EA45-6E67-9D66-9D28500DC287}"/>
              </a:ext>
            </a:extLst>
          </p:cNvPr>
          <p:cNvSpPr txBox="1">
            <a:spLocks/>
          </p:cNvSpPr>
          <p:nvPr/>
        </p:nvSpPr>
        <p:spPr>
          <a:xfrm>
            <a:off x="594811" y="332312"/>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Many to One Unidirectional</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16" name="Content Placeholder 25">
            <a:extLst>
              <a:ext uri="{FF2B5EF4-FFF2-40B4-BE49-F238E27FC236}">
                <a16:creationId xmlns:a16="http://schemas.microsoft.com/office/drawing/2014/main" id="{061B4A7F-7E45-A8A7-5AD3-CB867D56FA08}"/>
              </a:ext>
            </a:extLst>
          </p:cNvPr>
          <p:cNvSpPr txBox="1">
            <a:spLocks/>
          </p:cNvSpPr>
          <p:nvPr/>
        </p:nvSpPr>
        <p:spPr>
          <a:xfrm>
            <a:off x="594811" y="959544"/>
            <a:ext cx="11003136" cy="5010972"/>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Class Diagram</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Relational Model</a:t>
            </a: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graphicFrame>
        <p:nvGraphicFramePr>
          <p:cNvPr id="17" name="Table 10">
            <a:extLst>
              <a:ext uri="{FF2B5EF4-FFF2-40B4-BE49-F238E27FC236}">
                <a16:creationId xmlns:a16="http://schemas.microsoft.com/office/drawing/2014/main" id="{7CDCE090-91EC-F1C9-6B0C-A189F62F4B26}"/>
              </a:ext>
            </a:extLst>
          </p:cNvPr>
          <p:cNvGraphicFramePr>
            <a:graphicFrameLocks noGrp="1"/>
          </p:cNvGraphicFramePr>
          <p:nvPr>
            <p:extLst>
              <p:ext uri="{D42A27DB-BD31-4B8C-83A1-F6EECF244321}">
                <p14:modId xmlns:p14="http://schemas.microsoft.com/office/powerpoint/2010/main" val="3401209723"/>
              </p:ext>
            </p:extLst>
          </p:nvPr>
        </p:nvGraphicFramePr>
        <p:xfrm>
          <a:off x="1740784" y="1765564"/>
          <a:ext cx="2122214" cy="1112520"/>
        </p:xfrm>
        <a:graphic>
          <a:graphicData uri="http://schemas.openxmlformats.org/drawingml/2006/table">
            <a:tbl>
              <a:tblPr firstRow="1" bandRow="1"/>
              <a:tblGrid>
                <a:gridCol w="2122214">
                  <a:extLst>
                    <a:ext uri="{9D8B030D-6E8A-4147-A177-3AD203B41FA5}">
                      <a16:colId xmlns:a16="http://schemas.microsoft.com/office/drawing/2014/main" val="1516275933"/>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Employee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332464068"/>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id</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146633629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name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2443523511"/>
                  </a:ext>
                </a:extLst>
              </a:tr>
            </a:tbl>
          </a:graphicData>
        </a:graphic>
      </p:graphicFrame>
      <p:graphicFrame>
        <p:nvGraphicFramePr>
          <p:cNvPr id="18" name="Table 10">
            <a:extLst>
              <a:ext uri="{FF2B5EF4-FFF2-40B4-BE49-F238E27FC236}">
                <a16:creationId xmlns:a16="http://schemas.microsoft.com/office/drawing/2014/main" id="{68229E53-D583-BBEC-4777-870C20845187}"/>
              </a:ext>
            </a:extLst>
          </p:cNvPr>
          <p:cNvGraphicFramePr>
            <a:graphicFrameLocks noGrp="1"/>
          </p:cNvGraphicFramePr>
          <p:nvPr>
            <p:extLst>
              <p:ext uri="{D42A27DB-BD31-4B8C-83A1-F6EECF244321}">
                <p14:modId xmlns:p14="http://schemas.microsoft.com/office/powerpoint/2010/main" val="1489454931"/>
              </p:ext>
            </p:extLst>
          </p:nvPr>
        </p:nvGraphicFramePr>
        <p:xfrm>
          <a:off x="7616067" y="1765564"/>
          <a:ext cx="2122214" cy="1112520"/>
        </p:xfrm>
        <a:graphic>
          <a:graphicData uri="http://schemas.openxmlformats.org/drawingml/2006/table">
            <a:tbl>
              <a:tblPr firstRow="1" bandRow="1"/>
              <a:tblGrid>
                <a:gridCol w="2122214">
                  <a:extLst>
                    <a:ext uri="{9D8B030D-6E8A-4147-A177-3AD203B41FA5}">
                      <a16:colId xmlns:a16="http://schemas.microsoft.com/office/drawing/2014/main" val="1516275933"/>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Department</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332464068"/>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deptNo</a:t>
                      </a:r>
                      <a:endParaRPr lang="en-CA"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146633629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deptName</a:t>
                      </a:r>
                      <a:endParaRPr lang="en-CA"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2443523511"/>
                  </a:ext>
                </a:extLst>
              </a:tr>
            </a:tbl>
          </a:graphicData>
        </a:graphic>
      </p:graphicFrame>
      <p:cxnSp>
        <p:nvCxnSpPr>
          <p:cNvPr id="19" name="Straight Arrow Connector 18">
            <a:extLst>
              <a:ext uri="{FF2B5EF4-FFF2-40B4-BE49-F238E27FC236}">
                <a16:creationId xmlns:a16="http://schemas.microsoft.com/office/drawing/2014/main" id="{B1EAFA52-9DD4-756F-581A-EDEF3CCBEFE4}"/>
              </a:ext>
            </a:extLst>
          </p:cNvPr>
          <p:cNvCxnSpPr>
            <a:cxnSpLocks/>
            <a:stCxn id="17" idx="3"/>
            <a:endCxn id="18" idx="1"/>
          </p:cNvCxnSpPr>
          <p:nvPr/>
        </p:nvCxnSpPr>
        <p:spPr>
          <a:xfrm>
            <a:off x="3862998" y="2321824"/>
            <a:ext cx="3753069" cy="0"/>
          </a:xfrm>
          <a:prstGeom prst="straightConnector1">
            <a:avLst/>
          </a:prstGeom>
          <a:noFill/>
          <a:ln w="6350" cap="flat" cmpd="sng" algn="ctr">
            <a:solidFill>
              <a:srgbClr val="009FE3"/>
            </a:solidFill>
            <a:prstDash val="solid"/>
            <a:miter lim="800000"/>
            <a:tailEnd type="triangle"/>
          </a:ln>
          <a:effectLst/>
        </p:spPr>
      </p:cxnSp>
      <p:sp>
        <p:nvSpPr>
          <p:cNvPr id="20" name="TextBox 19">
            <a:extLst>
              <a:ext uri="{FF2B5EF4-FFF2-40B4-BE49-F238E27FC236}">
                <a16:creationId xmlns:a16="http://schemas.microsoft.com/office/drawing/2014/main" id="{5AE9F4FA-8A3F-B770-70B3-3CFC200B9B2B}"/>
              </a:ext>
            </a:extLst>
          </p:cNvPr>
          <p:cNvSpPr txBox="1"/>
          <p:nvPr/>
        </p:nvSpPr>
        <p:spPr>
          <a:xfrm>
            <a:off x="3862998" y="1952492"/>
            <a:ext cx="29954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a:t>
            </a:r>
          </a:p>
        </p:txBody>
      </p:sp>
      <p:sp>
        <p:nvSpPr>
          <p:cNvPr id="21" name="TextBox 20">
            <a:extLst>
              <a:ext uri="{FF2B5EF4-FFF2-40B4-BE49-F238E27FC236}">
                <a16:creationId xmlns:a16="http://schemas.microsoft.com/office/drawing/2014/main" id="{5DD272ED-EAED-ACBA-A13D-7AF31B75C252}"/>
              </a:ext>
            </a:extLst>
          </p:cNvPr>
          <p:cNvSpPr txBox="1"/>
          <p:nvPr/>
        </p:nvSpPr>
        <p:spPr>
          <a:xfrm>
            <a:off x="7316523" y="1952492"/>
            <a:ext cx="29954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1</a:t>
            </a:r>
          </a:p>
        </p:txBody>
      </p:sp>
      <p:sp>
        <p:nvSpPr>
          <p:cNvPr id="22" name="TextBox 21">
            <a:extLst>
              <a:ext uri="{FF2B5EF4-FFF2-40B4-BE49-F238E27FC236}">
                <a16:creationId xmlns:a16="http://schemas.microsoft.com/office/drawing/2014/main" id="{36AFDCEF-45A1-AA1E-AAB6-4C2EC2BB060C}"/>
              </a:ext>
            </a:extLst>
          </p:cNvPr>
          <p:cNvSpPr txBox="1"/>
          <p:nvPr/>
        </p:nvSpPr>
        <p:spPr>
          <a:xfrm>
            <a:off x="4911404" y="2418327"/>
            <a:ext cx="193127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unidirectional</a:t>
            </a:r>
          </a:p>
        </p:txBody>
      </p:sp>
      <p:graphicFrame>
        <p:nvGraphicFramePr>
          <p:cNvPr id="23" name="Table 27">
            <a:extLst>
              <a:ext uri="{FF2B5EF4-FFF2-40B4-BE49-F238E27FC236}">
                <a16:creationId xmlns:a16="http://schemas.microsoft.com/office/drawing/2014/main" id="{7B30DA06-7A2D-422C-4345-8BA651C7AEB9}"/>
              </a:ext>
            </a:extLst>
          </p:cNvPr>
          <p:cNvGraphicFramePr>
            <a:graphicFrameLocks noGrp="1"/>
          </p:cNvGraphicFramePr>
          <p:nvPr>
            <p:extLst>
              <p:ext uri="{D42A27DB-BD31-4B8C-83A1-F6EECF244321}">
                <p14:modId xmlns:p14="http://schemas.microsoft.com/office/powerpoint/2010/main" val="875486746"/>
              </p:ext>
            </p:extLst>
          </p:nvPr>
        </p:nvGraphicFramePr>
        <p:xfrm>
          <a:off x="1537584" y="4374098"/>
          <a:ext cx="4351281" cy="1112520"/>
        </p:xfrm>
        <a:graphic>
          <a:graphicData uri="http://schemas.openxmlformats.org/drawingml/2006/table">
            <a:tbl>
              <a:tblPr firstRow="1" bandRow="1"/>
              <a:tblGrid>
                <a:gridCol w="922282">
                  <a:extLst>
                    <a:ext uri="{9D8B030D-6E8A-4147-A177-3AD203B41FA5}">
                      <a16:colId xmlns:a16="http://schemas.microsoft.com/office/drawing/2014/main" val="1937561263"/>
                    </a:ext>
                  </a:extLst>
                </a:gridCol>
                <a:gridCol w="1568669">
                  <a:extLst>
                    <a:ext uri="{9D8B030D-6E8A-4147-A177-3AD203B41FA5}">
                      <a16:colId xmlns:a16="http://schemas.microsoft.com/office/drawing/2014/main" val="1249479470"/>
                    </a:ext>
                  </a:extLst>
                </a:gridCol>
                <a:gridCol w="1860330">
                  <a:extLst>
                    <a:ext uri="{9D8B030D-6E8A-4147-A177-3AD203B41FA5}">
                      <a16:colId xmlns:a16="http://schemas.microsoft.com/office/drawing/2014/main" val="1511144887"/>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ID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NAME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FK_DEPT_NO</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133708801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John Doe</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411870652"/>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Jane Doe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101</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3019261411"/>
                  </a:ext>
                </a:extLst>
              </a:tr>
            </a:tbl>
          </a:graphicData>
        </a:graphic>
      </p:graphicFrame>
      <p:graphicFrame>
        <p:nvGraphicFramePr>
          <p:cNvPr id="24" name="Table 27">
            <a:extLst>
              <a:ext uri="{FF2B5EF4-FFF2-40B4-BE49-F238E27FC236}">
                <a16:creationId xmlns:a16="http://schemas.microsoft.com/office/drawing/2014/main" id="{CBEABA47-2479-B860-71DA-45784757A0B4}"/>
              </a:ext>
            </a:extLst>
          </p:cNvPr>
          <p:cNvGraphicFramePr>
            <a:graphicFrameLocks noGrp="1"/>
          </p:cNvGraphicFramePr>
          <p:nvPr>
            <p:extLst>
              <p:ext uri="{D42A27DB-BD31-4B8C-83A1-F6EECF244321}">
                <p14:modId xmlns:p14="http://schemas.microsoft.com/office/powerpoint/2010/main" val="2847191381"/>
              </p:ext>
            </p:extLst>
          </p:nvPr>
        </p:nvGraphicFramePr>
        <p:xfrm>
          <a:off x="6953915" y="4374098"/>
          <a:ext cx="3262586" cy="1112520"/>
        </p:xfrm>
        <a:graphic>
          <a:graphicData uri="http://schemas.openxmlformats.org/drawingml/2006/table">
            <a:tbl>
              <a:tblPr firstRow="1" bandRow="1"/>
              <a:tblGrid>
                <a:gridCol w="1631293">
                  <a:extLst>
                    <a:ext uri="{9D8B030D-6E8A-4147-A177-3AD203B41FA5}">
                      <a16:colId xmlns:a16="http://schemas.microsoft.com/office/drawing/2014/main" val="1937561263"/>
                    </a:ext>
                  </a:extLst>
                </a:gridCol>
                <a:gridCol w="1631293">
                  <a:extLst>
                    <a:ext uri="{9D8B030D-6E8A-4147-A177-3AD203B41FA5}">
                      <a16:colId xmlns:a16="http://schemas.microsoft.com/office/drawing/2014/main" val="1249479470"/>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DEPT_NO</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DEPT_NAME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133708801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Academy</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411870652"/>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Sales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3019261411"/>
                  </a:ext>
                </a:extLst>
              </a:tr>
            </a:tbl>
          </a:graphicData>
        </a:graphic>
      </p:graphicFrame>
      <p:sp>
        <p:nvSpPr>
          <p:cNvPr id="25" name="TextBox 24">
            <a:extLst>
              <a:ext uri="{FF2B5EF4-FFF2-40B4-BE49-F238E27FC236}">
                <a16:creationId xmlns:a16="http://schemas.microsoft.com/office/drawing/2014/main" id="{D2E378BF-B986-3512-55B8-47700E9E413D}"/>
              </a:ext>
            </a:extLst>
          </p:cNvPr>
          <p:cNvSpPr txBox="1"/>
          <p:nvPr/>
        </p:nvSpPr>
        <p:spPr>
          <a:xfrm>
            <a:off x="2428335" y="3986986"/>
            <a:ext cx="221505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EMPLOYEE TABLE</a:t>
            </a:r>
          </a:p>
        </p:txBody>
      </p:sp>
      <p:sp>
        <p:nvSpPr>
          <p:cNvPr id="26" name="TextBox 25">
            <a:extLst>
              <a:ext uri="{FF2B5EF4-FFF2-40B4-BE49-F238E27FC236}">
                <a16:creationId xmlns:a16="http://schemas.microsoft.com/office/drawing/2014/main" id="{EE22AC1D-ECC9-0687-A832-41EF93DA0677}"/>
              </a:ext>
            </a:extLst>
          </p:cNvPr>
          <p:cNvSpPr txBox="1"/>
          <p:nvPr/>
        </p:nvSpPr>
        <p:spPr>
          <a:xfrm>
            <a:off x="7616067" y="3954720"/>
            <a:ext cx="221505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DEPARTMENT TABLE</a:t>
            </a:r>
          </a:p>
        </p:txBody>
      </p:sp>
      <p:sp>
        <p:nvSpPr>
          <p:cNvPr id="27" name="TextBox 26">
            <a:extLst>
              <a:ext uri="{FF2B5EF4-FFF2-40B4-BE49-F238E27FC236}">
                <a16:creationId xmlns:a16="http://schemas.microsoft.com/office/drawing/2014/main" id="{483D889A-242A-F73B-5239-C674602CEE6D}"/>
              </a:ext>
            </a:extLst>
          </p:cNvPr>
          <p:cNvSpPr txBox="1"/>
          <p:nvPr/>
        </p:nvSpPr>
        <p:spPr>
          <a:xfrm>
            <a:off x="594811" y="5792138"/>
            <a:ext cx="11245538"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1" u="none" strike="noStrike" kern="0" cap="none" spc="0" normalizeH="0" baseline="0" noProof="0" dirty="0">
                <a:ln>
                  <a:noFill/>
                </a:ln>
                <a:solidFill>
                  <a:srgbClr val="000000"/>
                </a:solidFill>
                <a:effectLst/>
                <a:uLnTx/>
                <a:uFillTx/>
              </a:rPr>
              <a:t>Note: In many-to-one and one-to-many, the owing side is usually defined on the ‘many’ side of the relationship</a:t>
            </a:r>
          </a:p>
        </p:txBody>
      </p:sp>
    </p:spTree>
    <p:extLst>
      <p:ext uri="{BB962C8B-B14F-4D97-AF65-F5344CB8AC3E}">
        <p14:creationId xmlns:p14="http://schemas.microsoft.com/office/powerpoint/2010/main" val="12090757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F819CAE-3B9C-6C24-7F05-0E832FB4D4AE}"/>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Many to One Unidirectional</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6" name="Rectangle 5">
            <a:extLst>
              <a:ext uri="{FF2B5EF4-FFF2-40B4-BE49-F238E27FC236}">
                <a16:creationId xmlns:a16="http://schemas.microsoft.com/office/drawing/2014/main" id="{DDE514EF-D77A-137E-3D7E-79C33795826A}"/>
              </a:ext>
            </a:extLst>
          </p:cNvPr>
          <p:cNvSpPr/>
          <p:nvPr/>
        </p:nvSpPr>
        <p:spPr>
          <a:xfrm>
            <a:off x="176463" y="2042946"/>
            <a:ext cx="5830199" cy="3785652"/>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Employee{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int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String name;</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GB" sz="2000" b="1" i="0" u="none" strike="noStrike" kern="0" cap="none" spc="0" normalizeH="0" baseline="0" noProof="0" dirty="0" err="1">
                <a:ln>
                  <a:noFill/>
                </a:ln>
                <a:solidFill>
                  <a:srgbClr val="3099D9"/>
                </a:solidFill>
                <a:effectLst/>
                <a:uLnTx/>
                <a:uFillTx/>
                <a:latin typeface="Consolas" pitchFamily="49" charset="0"/>
              </a:rPr>
              <a:t>ManyToOne</a:t>
            </a:r>
            <a:endParaRPr kumimoji="0" lang="en-GB" sz="2000" b="1" i="0" u="none" strike="noStrike" kern="0" cap="none" spc="0" normalizeH="0" baseline="0" noProof="0" dirty="0">
              <a:ln>
                <a:noFill/>
              </a:ln>
              <a:solidFill>
                <a:srgbClr val="3099D9"/>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3099D9"/>
                </a:solidFill>
                <a:effectLst/>
                <a:uLnTx/>
                <a:uFillTx/>
                <a:latin typeface="Consolas" pitchFamily="49" charset="0"/>
              </a:rPr>
              <a:t>	@</a:t>
            </a:r>
            <a:r>
              <a:rPr kumimoji="0" lang="en-GB" sz="2000" b="1" i="0" u="none" strike="noStrike" kern="0" cap="none" spc="0" normalizeH="0" baseline="0" noProof="0" dirty="0" err="1">
                <a:ln>
                  <a:noFill/>
                </a:ln>
                <a:solidFill>
                  <a:srgbClr val="3099D9"/>
                </a:solidFill>
                <a:effectLst/>
                <a:uLnTx/>
                <a:uFillTx/>
                <a:latin typeface="Consolas" pitchFamily="49" charset="0"/>
              </a:rPr>
              <a:t>JoinColumn</a:t>
            </a:r>
            <a:r>
              <a:rPr kumimoji="0" lang="en-GB" sz="2000" b="1" i="0" u="none" strike="noStrike" kern="0" cap="none" spc="0" normalizeH="0" baseline="0" noProof="0" dirty="0">
                <a:ln>
                  <a:noFill/>
                </a:ln>
                <a:solidFill>
                  <a:srgbClr val="3099D9"/>
                </a:solidFill>
                <a:effectLst/>
                <a:uLnTx/>
                <a:uFillTx/>
                <a:latin typeface="Consolas" pitchFamily="49" charset="0"/>
              </a:rPr>
              <a:t>(name = “FK_DEPT_NO”)</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Department dept;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
        <p:nvSpPr>
          <p:cNvPr id="7" name="Rectangle 6">
            <a:extLst>
              <a:ext uri="{FF2B5EF4-FFF2-40B4-BE49-F238E27FC236}">
                <a16:creationId xmlns:a16="http://schemas.microsoft.com/office/drawing/2014/main" id="{94A1F92D-3A5E-DCFE-FBD1-1550E79407BA}"/>
              </a:ext>
            </a:extLst>
          </p:cNvPr>
          <p:cNvSpPr/>
          <p:nvPr/>
        </p:nvSpPr>
        <p:spPr>
          <a:xfrm>
            <a:off x="6424448" y="2042290"/>
            <a:ext cx="4958255" cy="3785652"/>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Department{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@Column(name = “DEPT_NO”)</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int </a:t>
            </a:r>
            <a:r>
              <a:rPr kumimoji="0" lang="en-GB" sz="2000" b="1" i="0" u="none" strike="noStrike" kern="0" cap="none" spc="0" normalizeH="0" baseline="0" noProof="0" dirty="0" err="1">
                <a:ln>
                  <a:noFill/>
                </a:ln>
                <a:solidFill>
                  <a:srgbClr val="000000"/>
                </a:solidFill>
                <a:effectLst/>
                <a:uLnTx/>
                <a:uFillTx/>
                <a:latin typeface="Consolas" pitchFamily="49" charset="0"/>
              </a:rPr>
              <a:t>deptNo</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@Column(name = “DEPT_NAME”)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String </a:t>
            </a:r>
            <a:r>
              <a:rPr kumimoji="0" lang="en-GB" sz="2000" b="1" i="0" u="none" strike="noStrike" kern="0" cap="none" spc="0" normalizeH="0" baseline="0" noProof="0" dirty="0" err="1">
                <a:ln>
                  <a:noFill/>
                </a:ln>
                <a:solidFill>
                  <a:srgbClr val="000000"/>
                </a:solidFill>
                <a:effectLst/>
                <a:uLnTx/>
                <a:uFillTx/>
                <a:latin typeface="Consolas" pitchFamily="49" charset="0"/>
              </a:rPr>
              <a:t>deptName</a:t>
            </a:r>
            <a:r>
              <a:rPr kumimoji="0" lang="en-GB" sz="2000" b="1" i="0" u="none" strike="noStrike" kern="0" cap="none" spc="0" normalizeH="0" baseline="0" noProof="0" dirty="0">
                <a:ln>
                  <a:noFill/>
                </a:ln>
                <a:solidFill>
                  <a:srgbClr val="000000"/>
                </a:solidFill>
                <a:effectLst/>
                <a:uLnTx/>
                <a:uFillTx/>
                <a:latin typeface="Consolas" pitchFamily="49" charset="0"/>
              </a:rPr>
              <a:t>;	</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Tree>
    <p:extLst>
      <p:ext uri="{BB962C8B-B14F-4D97-AF65-F5344CB8AC3E}">
        <p14:creationId xmlns:p14="http://schemas.microsoft.com/office/powerpoint/2010/main" val="36789963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7C0DA7E8-B411-507D-0D2A-4E5F23DD62A8}"/>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Many to One Bidirectional</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15" name="Content Placeholder 25">
            <a:extLst>
              <a:ext uri="{FF2B5EF4-FFF2-40B4-BE49-F238E27FC236}">
                <a16:creationId xmlns:a16="http://schemas.microsoft.com/office/drawing/2014/main" id="{80F9628E-E724-1A31-0F23-1C0A0F4A4F7A}"/>
              </a:ext>
            </a:extLst>
          </p:cNvPr>
          <p:cNvSpPr txBox="1">
            <a:spLocks/>
          </p:cNvSpPr>
          <p:nvPr/>
        </p:nvSpPr>
        <p:spPr>
          <a:xfrm>
            <a:off x="602248" y="1237130"/>
            <a:ext cx="11003136" cy="5010972"/>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Class Diagram</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Relational Model</a:t>
            </a: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graphicFrame>
        <p:nvGraphicFramePr>
          <p:cNvPr id="16" name="Table 10">
            <a:extLst>
              <a:ext uri="{FF2B5EF4-FFF2-40B4-BE49-F238E27FC236}">
                <a16:creationId xmlns:a16="http://schemas.microsoft.com/office/drawing/2014/main" id="{76F76289-A3B2-9C8E-3E9D-7A9896766DBA}"/>
              </a:ext>
            </a:extLst>
          </p:cNvPr>
          <p:cNvGraphicFramePr>
            <a:graphicFrameLocks noGrp="1"/>
          </p:cNvGraphicFramePr>
          <p:nvPr/>
        </p:nvGraphicFramePr>
        <p:xfrm>
          <a:off x="1748221" y="2043150"/>
          <a:ext cx="2122214" cy="1112520"/>
        </p:xfrm>
        <a:graphic>
          <a:graphicData uri="http://schemas.openxmlformats.org/drawingml/2006/table">
            <a:tbl>
              <a:tblPr firstRow="1" bandRow="1"/>
              <a:tblGrid>
                <a:gridCol w="2122214">
                  <a:extLst>
                    <a:ext uri="{9D8B030D-6E8A-4147-A177-3AD203B41FA5}">
                      <a16:colId xmlns:a16="http://schemas.microsoft.com/office/drawing/2014/main" val="1516275933"/>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Employee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332464068"/>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id</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146633629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name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2443523511"/>
                  </a:ext>
                </a:extLst>
              </a:tr>
            </a:tbl>
          </a:graphicData>
        </a:graphic>
      </p:graphicFrame>
      <p:graphicFrame>
        <p:nvGraphicFramePr>
          <p:cNvPr id="17" name="Table 10">
            <a:extLst>
              <a:ext uri="{FF2B5EF4-FFF2-40B4-BE49-F238E27FC236}">
                <a16:creationId xmlns:a16="http://schemas.microsoft.com/office/drawing/2014/main" id="{FE732FC1-0941-92F2-3DFF-618F6A85A83F}"/>
              </a:ext>
            </a:extLst>
          </p:cNvPr>
          <p:cNvGraphicFramePr>
            <a:graphicFrameLocks noGrp="1"/>
          </p:cNvGraphicFramePr>
          <p:nvPr/>
        </p:nvGraphicFramePr>
        <p:xfrm>
          <a:off x="7623504" y="2043150"/>
          <a:ext cx="2122214" cy="1112520"/>
        </p:xfrm>
        <a:graphic>
          <a:graphicData uri="http://schemas.openxmlformats.org/drawingml/2006/table">
            <a:tbl>
              <a:tblPr firstRow="1" bandRow="1"/>
              <a:tblGrid>
                <a:gridCol w="2122214">
                  <a:extLst>
                    <a:ext uri="{9D8B030D-6E8A-4147-A177-3AD203B41FA5}">
                      <a16:colId xmlns:a16="http://schemas.microsoft.com/office/drawing/2014/main" val="1516275933"/>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Department</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332464068"/>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deptNo</a:t>
                      </a:r>
                      <a:endParaRPr lang="en-CA"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146633629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deptName</a:t>
                      </a:r>
                      <a:endParaRPr lang="en-CA"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2443523511"/>
                  </a:ext>
                </a:extLst>
              </a:tr>
            </a:tbl>
          </a:graphicData>
        </a:graphic>
      </p:graphicFrame>
      <p:sp>
        <p:nvSpPr>
          <p:cNvPr id="18" name="TextBox 17">
            <a:extLst>
              <a:ext uri="{FF2B5EF4-FFF2-40B4-BE49-F238E27FC236}">
                <a16:creationId xmlns:a16="http://schemas.microsoft.com/office/drawing/2014/main" id="{F5745E1F-A6DB-4AF4-836C-2ECA8F6920EF}"/>
              </a:ext>
            </a:extLst>
          </p:cNvPr>
          <p:cNvSpPr txBox="1"/>
          <p:nvPr/>
        </p:nvSpPr>
        <p:spPr>
          <a:xfrm>
            <a:off x="3870435" y="2230078"/>
            <a:ext cx="29954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a:t>
            </a:r>
          </a:p>
        </p:txBody>
      </p:sp>
      <p:sp>
        <p:nvSpPr>
          <p:cNvPr id="19" name="TextBox 18">
            <a:extLst>
              <a:ext uri="{FF2B5EF4-FFF2-40B4-BE49-F238E27FC236}">
                <a16:creationId xmlns:a16="http://schemas.microsoft.com/office/drawing/2014/main" id="{EBFD600C-8764-31FA-8986-F237BBFF698C}"/>
              </a:ext>
            </a:extLst>
          </p:cNvPr>
          <p:cNvSpPr txBox="1"/>
          <p:nvPr/>
        </p:nvSpPr>
        <p:spPr>
          <a:xfrm>
            <a:off x="7323960" y="2230078"/>
            <a:ext cx="29954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1</a:t>
            </a:r>
          </a:p>
        </p:txBody>
      </p:sp>
      <p:sp>
        <p:nvSpPr>
          <p:cNvPr id="20" name="TextBox 19">
            <a:extLst>
              <a:ext uri="{FF2B5EF4-FFF2-40B4-BE49-F238E27FC236}">
                <a16:creationId xmlns:a16="http://schemas.microsoft.com/office/drawing/2014/main" id="{945294F8-16A9-A7EB-7032-639E0456C38C}"/>
              </a:ext>
            </a:extLst>
          </p:cNvPr>
          <p:cNvSpPr txBox="1"/>
          <p:nvPr/>
        </p:nvSpPr>
        <p:spPr>
          <a:xfrm>
            <a:off x="4918841" y="2695913"/>
            <a:ext cx="193127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bidirectional</a:t>
            </a:r>
          </a:p>
        </p:txBody>
      </p:sp>
      <p:graphicFrame>
        <p:nvGraphicFramePr>
          <p:cNvPr id="21" name="Table 27">
            <a:extLst>
              <a:ext uri="{FF2B5EF4-FFF2-40B4-BE49-F238E27FC236}">
                <a16:creationId xmlns:a16="http://schemas.microsoft.com/office/drawing/2014/main" id="{738F895F-2AFA-9C49-B1ED-ABEE9C78187A}"/>
              </a:ext>
            </a:extLst>
          </p:cNvPr>
          <p:cNvGraphicFramePr>
            <a:graphicFrameLocks noGrp="1"/>
          </p:cNvGraphicFramePr>
          <p:nvPr/>
        </p:nvGraphicFramePr>
        <p:xfrm>
          <a:off x="1545021" y="4651684"/>
          <a:ext cx="4351281" cy="1112520"/>
        </p:xfrm>
        <a:graphic>
          <a:graphicData uri="http://schemas.openxmlformats.org/drawingml/2006/table">
            <a:tbl>
              <a:tblPr firstRow="1" bandRow="1"/>
              <a:tblGrid>
                <a:gridCol w="922282">
                  <a:extLst>
                    <a:ext uri="{9D8B030D-6E8A-4147-A177-3AD203B41FA5}">
                      <a16:colId xmlns:a16="http://schemas.microsoft.com/office/drawing/2014/main" val="1937561263"/>
                    </a:ext>
                  </a:extLst>
                </a:gridCol>
                <a:gridCol w="1568669">
                  <a:extLst>
                    <a:ext uri="{9D8B030D-6E8A-4147-A177-3AD203B41FA5}">
                      <a16:colId xmlns:a16="http://schemas.microsoft.com/office/drawing/2014/main" val="1249479470"/>
                    </a:ext>
                  </a:extLst>
                </a:gridCol>
                <a:gridCol w="1860330">
                  <a:extLst>
                    <a:ext uri="{9D8B030D-6E8A-4147-A177-3AD203B41FA5}">
                      <a16:colId xmlns:a16="http://schemas.microsoft.com/office/drawing/2014/main" val="1511144887"/>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ID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NAME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FK_DEPT_NO</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133708801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John Doe</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411870652"/>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Jane Doe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101</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3019261411"/>
                  </a:ext>
                </a:extLst>
              </a:tr>
            </a:tbl>
          </a:graphicData>
        </a:graphic>
      </p:graphicFrame>
      <p:graphicFrame>
        <p:nvGraphicFramePr>
          <p:cNvPr id="22" name="Table 27">
            <a:extLst>
              <a:ext uri="{FF2B5EF4-FFF2-40B4-BE49-F238E27FC236}">
                <a16:creationId xmlns:a16="http://schemas.microsoft.com/office/drawing/2014/main" id="{57E76C34-28CB-6411-47D4-ADF6BE8D0C48}"/>
              </a:ext>
            </a:extLst>
          </p:cNvPr>
          <p:cNvGraphicFramePr>
            <a:graphicFrameLocks noGrp="1"/>
          </p:cNvGraphicFramePr>
          <p:nvPr/>
        </p:nvGraphicFramePr>
        <p:xfrm>
          <a:off x="6961352" y="4651684"/>
          <a:ext cx="3262586" cy="1112520"/>
        </p:xfrm>
        <a:graphic>
          <a:graphicData uri="http://schemas.openxmlformats.org/drawingml/2006/table">
            <a:tbl>
              <a:tblPr firstRow="1" bandRow="1"/>
              <a:tblGrid>
                <a:gridCol w="1631293">
                  <a:extLst>
                    <a:ext uri="{9D8B030D-6E8A-4147-A177-3AD203B41FA5}">
                      <a16:colId xmlns:a16="http://schemas.microsoft.com/office/drawing/2014/main" val="1937561263"/>
                    </a:ext>
                  </a:extLst>
                </a:gridCol>
                <a:gridCol w="1631293">
                  <a:extLst>
                    <a:ext uri="{9D8B030D-6E8A-4147-A177-3AD203B41FA5}">
                      <a16:colId xmlns:a16="http://schemas.microsoft.com/office/drawing/2014/main" val="1249479470"/>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DEPT_NO</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DEPT_NAME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133708801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Academy</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411870652"/>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Sales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3019261411"/>
                  </a:ext>
                </a:extLst>
              </a:tr>
            </a:tbl>
          </a:graphicData>
        </a:graphic>
      </p:graphicFrame>
      <p:sp>
        <p:nvSpPr>
          <p:cNvPr id="23" name="TextBox 22">
            <a:extLst>
              <a:ext uri="{FF2B5EF4-FFF2-40B4-BE49-F238E27FC236}">
                <a16:creationId xmlns:a16="http://schemas.microsoft.com/office/drawing/2014/main" id="{E189EC5C-29AD-8461-961A-F76D37F25F03}"/>
              </a:ext>
            </a:extLst>
          </p:cNvPr>
          <p:cNvSpPr txBox="1"/>
          <p:nvPr/>
        </p:nvSpPr>
        <p:spPr>
          <a:xfrm>
            <a:off x="2435772" y="4264572"/>
            <a:ext cx="221505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EMPLOYEE TABLE</a:t>
            </a:r>
          </a:p>
        </p:txBody>
      </p:sp>
      <p:sp>
        <p:nvSpPr>
          <p:cNvPr id="24" name="TextBox 23">
            <a:extLst>
              <a:ext uri="{FF2B5EF4-FFF2-40B4-BE49-F238E27FC236}">
                <a16:creationId xmlns:a16="http://schemas.microsoft.com/office/drawing/2014/main" id="{82C94519-911A-E3A6-99C1-1994A4F6B722}"/>
              </a:ext>
            </a:extLst>
          </p:cNvPr>
          <p:cNvSpPr txBox="1"/>
          <p:nvPr/>
        </p:nvSpPr>
        <p:spPr>
          <a:xfrm>
            <a:off x="7623504" y="4232306"/>
            <a:ext cx="221505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DEPARTMENT TABLE</a:t>
            </a:r>
          </a:p>
        </p:txBody>
      </p:sp>
      <p:cxnSp>
        <p:nvCxnSpPr>
          <p:cNvPr id="25" name="Straight Arrow Connector 24">
            <a:extLst>
              <a:ext uri="{FF2B5EF4-FFF2-40B4-BE49-F238E27FC236}">
                <a16:creationId xmlns:a16="http://schemas.microsoft.com/office/drawing/2014/main" id="{C9C230C6-8565-6BAE-5E9A-256F85DD5626}"/>
              </a:ext>
            </a:extLst>
          </p:cNvPr>
          <p:cNvCxnSpPr/>
          <p:nvPr/>
        </p:nvCxnSpPr>
        <p:spPr>
          <a:xfrm>
            <a:off x="3870435" y="2695913"/>
            <a:ext cx="3753069" cy="0"/>
          </a:xfrm>
          <a:prstGeom prst="straightConnector1">
            <a:avLst/>
          </a:prstGeom>
          <a:noFill/>
          <a:ln w="6350" cap="flat" cmpd="sng" algn="ctr">
            <a:solidFill>
              <a:srgbClr val="009FE3"/>
            </a:solidFill>
            <a:prstDash val="solid"/>
            <a:miter lim="800000"/>
            <a:headEnd type="triangle"/>
            <a:tailEnd type="triangle"/>
          </a:ln>
          <a:effectLst/>
        </p:spPr>
      </p:cxnSp>
    </p:spTree>
    <p:extLst>
      <p:ext uri="{BB962C8B-B14F-4D97-AF65-F5344CB8AC3E}">
        <p14:creationId xmlns:p14="http://schemas.microsoft.com/office/powerpoint/2010/main" val="25249990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5F55707-373A-29FD-7EF1-F6C0CB6418BC}"/>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Many to One Bidirectional</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6" name="Rectangle 5">
            <a:extLst>
              <a:ext uri="{FF2B5EF4-FFF2-40B4-BE49-F238E27FC236}">
                <a16:creationId xmlns:a16="http://schemas.microsoft.com/office/drawing/2014/main" id="{EE941B56-F5B9-22DC-20D9-0FCEE0FD0C29}"/>
              </a:ext>
            </a:extLst>
          </p:cNvPr>
          <p:cNvSpPr/>
          <p:nvPr/>
        </p:nvSpPr>
        <p:spPr>
          <a:xfrm>
            <a:off x="0" y="2042946"/>
            <a:ext cx="5896303" cy="4093428"/>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Employee{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int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String name;</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GB" sz="2000" b="1" i="0" u="none" strike="noStrike" kern="0" cap="none" spc="0" normalizeH="0" baseline="0" noProof="0" dirty="0" err="1">
                <a:ln>
                  <a:noFill/>
                </a:ln>
                <a:solidFill>
                  <a:srgbClr val="3099D9"/>
                </a:solidFill>
                <a:effectLst/>
                <a:uLnTx/>
                <a:uFillTx/>
                <a:latin typeface="Consolas" pitchFamily="49" charset="0"/>
              </a:rPr>
              <a:t>ManyToOne</a:t>
            </a:r>
            <a:endParaRPr kumimoji="0" lang="en-GB" sz="2000" b="1" i="0" u="none" strike="noStrike" kern="0" cap="none" spc="0" normalizeH="0" baseline="0" noProof="0" dirty="0">
              <a:ln>
                <a:noFill/>
              </a:ln>
              <a:solidFill>
                <a:srgbClr val="3099D9"/>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3099D9"/>
                </a:solidFill>
                <a:effectLst/>
                <a:uLnTx/>
                <a:uFillTx/>
                <a:latin typeface="Consolas" pitchFamily="49" charset="0"/>
              </a:rPr>
              <a:t>	@</a:t>
            </a:r>
            <a:r>
              <a:rPr kumimoji="0" lang="en-GB" sz="2000" b="1" i="0" u="none" strike="noStrike" kern="0" cap="none" spc="0" normalizeH="0" baseline="0" noProof="0" dirty="0" err="1">
                <a:ln>
                  <a:noFill/>
                </a:ln>
                <a:solidFill>
                  <a:srgbClr val="3099D9"/>
                </a:solidFill>
                <a:effectLst/>
                <a:uLnTx/>
                <a:uFillTx/>
                <a:latin typeface="Consolas" pitchFamily="49" charset="0"/>
              </a:rPr>
              <a:t>JoinColumn</a:t>
            </a:r>
            <a:r>
              <a:rPr kumimoji="0" lang="en-GB" sz="2000" b="1" i="0" u="none" strike="noStrike" kern="0" cap="none" spc="0" normalizeH="0" baseline="0" noProof="0" dirty="0">
                <a:ln>
                  <a:noFill/>
                </a:ln>
                <a:solidFill>
                  <a:srgbClr val="3099D9"/>
                </a:solidFill>
                <a:effectLst/>
                <a:uLnTx/>
                <a:uFillTx/>
                <a:latin typeface="Consolas" pitchFamily="49" charset="0"/>
              </a:rPr>
              <a:t>(name = “FK_DEPT_NO”)</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Department </a:t>
            </a:r>
            <a:r>
              <a:rPr kumimoji="0" lang="en-GB" sz="2000" b="1" i="0" u="none" strike="noStrike" kern="0" cap="none" spc="0" normalizeH="0" baseline="0" noProof="0" dirty="0">
                <a:ln>
                  <a:noFill/>
                </a:ln>
                <a:solidFill>
                  <a:srgbClr val="3099D9"/>
                </a:solidFill>
                <a:effectLst/>
                <a:uLnTx/>
                <a:uFillTx/>
                <a:latin typeface="Consolas" pitchFamily="49" charset="0"/>
              </a:rPr>
              <a:t>dept</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
        <p:nvSpPr>
          <p:cNvPr id="7" name="Rectangle 6">
            <a:extLst>
              <a:ext uri="{FF2B5EF4-FFF2-40B4-BE49-F238E27FC236}">
                <a16:creationId xmlns:a16="http://schemas.microsoft.com/office/drawing/2014/main" id="{AFC32D8B-811B-404C-A3C3-C020F6D2F958}"/>
              </a:ext>
            </a:extLst>
          </p:cNvPr>
          <p:cNvSpPr/>
          <p:nvPr/>
        </p:nvSpPr>
        <p:spPr>
          <a:xfrm>
            <a:off x="6295698" y="2044258"/>
            <a:ext cx="5896301" cy="4093428"/>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Department{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@Column(name = “DEPT_NO”)</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int </a:t>
            </a:r>
            <a:r>
              <a:rPr kumimoji="0" lang="en-GB" sz="2000" b="1" i="0" u="none" strike="noStrike" kern="0" cap="none" spc="0" normalizeH="0" baseline="0" noProof="0" dirty="0" err="1">
                <a:ln>
                  <a:noFill/>
                </a:ln>
                <a:solidFill>
                  <a:srgbClr val="000000"/>
                </a:solidFill>
                <a:effectLst/>
                <a:uLnTx/>
                <a:uFillTx/>
                <a:latin typeface="Consolas" pitchFamily="49" charset="0"/>
              </a:rPr>
              <a:t>deptNo</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@Column(name = “DEPT_NAME”)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String </a:t>
            </a:r>
            <a:r>
              <a:rPr kumimoji="0" lang="en-GB" sz="2000" b="1" i="0" u="none" strike="noStrike" kern="0" cap="none" spc="0" normalizeH="0" baseline="0" noProof="0" dirty="0" err="1">
                <a:ln>
                  <a:noFill/>
                </a:ln>
                <a:solidFill>
                  <a:srgbClr val="000000"/>
                </a:solidFill>
                <a:effectLst/>
                <a:uLnTx/>
                <a:uFillTx/>
                <a:latin typeface="Consolas" pitchFamily="49" charset="0"/>
              </a:rPr>
              <a:t>deptName</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GB" sz="2000" b="1" i="0" u="none" strike="noStrike" kern="0" cap="none" spc="0" normalizeH="0" baseline="0" noProof="0" dirty="0" err="1">
                <a:ln>
                  <a:noFill/>
                </a:ln>
                <a:solidFill>
                  <a:srgbClr val="3099D9"/>
                </a:solidFill>
                <a:effectLst/>
                <a:uLnTx/>
                <a:uFillTx/>
                <a:latin typeface="Consolas" pitchFamily="49" charset="0"/>
              </a:rPr>
              <a:t>OneToMany</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CA" sz="2000" b="1" i="0" u="none" strike="noStrike" kern="0" cap="none" spc="0" normalizeH="0" baseline="0" noProof="0" dirty="0" err="1">
                <a:ln>
                  <a:noFill/>
                </a:ln>
                <a:solidFill>
                  <a:srgbClr val="3099D9"/>
                </a:solidFill>
                <a:effectLst/>
                <a:uLnTx/>
                <a:uFillTx/>
                <a:latin typeface="Consolas" pitchFamily="49" charset="0"/>
              </a:rPr>
              <a:t>mappedBy</a:t>
            </a:r>
            <a:r>
              <a:rPr kumimoji="0" lang="en-CA" sz="2000" b="1" i="0" u="none" strike="noStrike" kern="0" cap="none" spc="0" normalizeH="0" baseline="0" noProof="0" dirty="0">
                <a:ln>
                  <a:noFill/>
                </a:ln>
                <a:solidFill>
                  <a:srgbClr val="3099D9"/>
                </a:solidFill>
                <a:effectLst/>
                <a:uLnTx/>
                <a:uFillTx/>
                <a:latin typeface="Consolas" pitchFamily="49" charset="0"/>
              </a:rPr>
              <a:t> = “</a:t>
            </a:r>
            <a:r>
              <a:rPr kumimoji="0" lang="en-GB" sz="2000" b="1" i="0" u="none" strike="noStrike" kern="0" cap="none" spc="0" normalizeH="0" baseline="0" noProof="0" dirty="0">
                <a:ln>
                  <a:noFill/>
                </a:ln>
                <a:solidFill>
                  <a:srgbClr val="3099D9"/>
                </a:solidFill>
                <a:effectLst/>
                <a:uLnTx/>
                <a:uFillTx/>
                <a:latin typeface="Consolas" pitchFamily="49" charset="0"/>
              </a:rPr>
              <a:t>dept”)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3099D9"/>
                </a:solidFill>
                <a:effectLst/>
                <a:uLnTx/>
                <a:uFillTx/>
                <a:latin typeface="Consolas" pitchFamily="49" charset="0"/>
              </a:rPr>
              <a:t>	</a:t>
            </a:r>
            <a:r>
              <a:rPr kumimoji="0" lang="en-GB" sz="2000" b="1" i="0" u="none" strike="noStrike" kern="0" cap="none" spc="0" normalizeH="0" baseline="0" noProof="0" dirty="0">
                <a:ln>
                  <a:noFill/>
                </a:ln>
                <a:solidFill>
                  <a:srgbClr val="000000"/>
                </a:solidFill>
                <a:effectLst/>
                <a:uLnTx/>
                <a:uFillTx/>
                <a:latin typeface="Consolas" pitchFamily="49" charset="0"/>
              </a:rPr>
              <a:t>private List&lt;Employee&gt; employees;</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Tree>
    <p:extLst>
      <p:ext uri="{BB962C8B-B14F-4D97-AF65-F5344CB8AC3E}">
        <p14:creationId xmlns:p14="http://schemas.microsoft.com/office/powerpoint/2010/main" val="24063769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778717CA-CDE0-162F-817A-E10DBA07CDD7}"/>
              </a:ext>
            </a:extLst>
          </p:cNvPr>
          <p:cNvSpPr txBox="1">
            <a:spLocks/>
          </p:cNvSpPr>
          <p:nvPr/>
        </p:nvSpPr>
        <p:spPr>
          <a:xfrm>
            <a:off x="594811" y="1526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Many to Many Unidirectional</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17" name="Content Placeholder 25">
            <a:extLst>
              <a:ext uri="{FF2B5EF4-FFF2-40B4-BE49-F238E27FC236}">
                <a16:creationId xmlns:a16="http://schemas.microsoft.com/office/drawing/2014/main" id="{CFC42315-4C98-03F4-40D3-EBD388777ACD}"/>
              </a:ext>
            </a:extLst>
          </p:cNvPr>
          <p:cNvSpPr txBox="1">
            <a:spLocks/>
          </p:cNvSpPr>
          <p:nvPr/>
        </p:nvSpPr>
        <p:spPr>
          <a:xfrm>
            <a:off x="594811" y="779930"/>
            <a:ext cx="11003136" cy="5010972"/>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Class Diagram</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Relational Model</a:t>
            </a: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graphicFrame>
        <p:nvGraphicFramePr>
          <p:cNvPr id="18" name="Table 10">
            <a:extLst>
              <a:ext uri="{FF2B5EF4-FFF2-40B4-BE49-F238E27FC236}">
                <a16:creationId xmlns:a16="http://schemas.microsoft.com/office/drawing/2014/main" id="{9A8A7191-7BC4-58FF-8B96-9C33EFA222AE}"/>
              </a:ext>
            </a:extLst>
          </p:cNvPr>
          <p:cNvGraphicFramePr>
            <a:graphicFrameLocks noGrp="1"/>
          </p:cNvGraphicFramePr>
          <p:nvPr>
            <p:extLst>
              <p:ext uri="{D42A27DB-BD31-4B8C-83A1-F6EECF244321}">
                <p14:modId xmlns:p14="http://schemas.microsoft.com/office/powerpoint/2010/main" val="766227820"/>
              </p:ext>
            </p:extLst>
          </p:nvPr>
        </p:nvGraphicFramePr>
        <p:xfrm>
          <a:off x="1740784" y="1585950"/>
          <a:ext cx="2122214" cy="1112520"/>
        </p:xfrm>
        <a:graphic>
          <a:graphicData uri="http://schemas.openxmlformats.org/drawingml/2006/table">
            <a:tbl>
              <a:tblPr firstRow="1" bandRow="1"/>
              <a:tblGrid>
                <a:gridCol w="2122214">
                  <a:extLst>
                    <a:ext uri="{9D8B030D-6E8A-4147-A177-3AD203B41FA5}">
                      <a16:colId xmlns:a16="http://schemas.microsoft.com/office/drawing/2014/main" val="1516275933"/>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Employee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332464068"/>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id</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146633629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name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2443523511"/>
                  </a:ext>
                </a:extLst>
              </a:tr>
            </a:tbl>
          </a:graphicData>
        </a:graphic>
      </p:graphicFrame>
      <p:graphicFrame>
        <p:nvGraphicFramePr>
          <p:cNvPr id="19" name="Table 10">
            <a:extLst>
              <a:ext uri="{FF2B5EF4-FFF2-40B4-BE49-F238E27FC236}">
                <a16:creationId xmlns:a16="http://schemas.microsoft.com/office/drawing/2014/main" id="{B82DC5CF-AB7F-AC76-9B40-17EB4C2B779D}"/>
              </a:ext>
            </a:extLst>
          </p:cNvPr>
          <p:cNvGraphicFramePr>
            <a:graphicFrameLocks noGrp="1"/>
          </p:cNvGraphicFramePr>
          <p:nvPr>
            <p:extLst>
              <p:ext uri="{D42A27DB-BD31-4B8C-83A1-F6EECF244321}">
                <p14:modId xmlns:p14="http://schemas.microsoft.com/office/powerpoint/2010/main" val="2494421237"/>
              </p:ext>
            </p:extLst>
          </p:nvPr>
        </p:nvGraphicFramePr>
        <p:xfrm>
          <a:off x="7616067" y="1585950"/>
          <a:ext cx="2122214" cy="1112520"/>
        </p:xfrm>
        <a:graphic>
          <a:graphicData uri="http://schemas.openxmlformats.org/drawingml/2006/table">
            <a:tbl>
              <a:tblPr firstRow="1" bandRow="1"/>
              <a:tblGrid>
                <a:gridCol w="2122214">
                  <a:extLst>
                    <a:ext uri="{9D8B030D-6E8A-4147-A177-3AD203B41FA5}">
                      <a16:colId xmlns:a16="http://schemas.microsoft.com/office/drawing/2014/main" val="1516275933"/>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Skill</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332464068"/>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skillId</a:t>
                      </a:r>
                      <a:endParaRPr lang="en-CA"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146633629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skillName</a:t>
                      </a:r>
                      <a:endParaRPr lang="en-CA"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2443523511"/>
                  </a:ext>
                </a:extLst>
              </a:tr>
            </a:tbl>
          </a:graphicData>
        </a:graphic>
      </p:graphicFrame>
      <p:cxnSp>
        <p:nvCxnSpPr>
          <p:cNvPr id="20" name="Straight Arrow Connector 19">
            <a:extLst>
              <a:ext uri="{FF2B5EF4-FFF2-40B4-BE49-F238E27FC236}">
                <a16:creationId xmlns:a16="http://schemas.microsoft.com/office/drawing/2014/main" id="{FD70CF56-1A40-AC24-72E7-FC87F89FB968}"/>
              </a:ext>
            </a:extLst>
          </p:cNvPr>
          <p:cNvCxnSpPr>
            <a:cxnSpLocks/>
            <a:stCxn id="18" idx="3"/>
            <a:endCxn id="19" idx="1"/>
          </p:cNvCxnSpPr>
          <p:nvPr/>
        </p:nvCxnSpPr>
        <p:spPr>
          <a:xfrm>
            <a:off x="3862998" y="2142210"/>
            <a:ext cx="3753069" cy="0"/>
          </a:xfrm>
          <a:prstGeom prst="straightConnector1">
            <a:avLst/>
          </a:prstGeom>
          <a:noFill/>
          <a:ln w="6350" cap="flat" cmpd="sng" algn="ctr">
            <a:solidFill>
              <a:srgbClr val="009FE3"/>
            </a:solidFill>
            <a:prstDash val="solid"/>
            <a:miter lim="800000"/>
            <a:tailEnd type="triangle"/>
          </a:ln>
          <a:effectLst/>
        </p:spPr>
      </p:cxnSp>
      <p:sp>
        <p:nvSpPr>
          <p:cNvPr id="21" name="TextBox 20">
            <a:extLst>
              <a:ext uri="{FF2B5EF4-FFF2-40B4-BE49-F238E27FC236}">
                <a16:creationId xmlns:a16="http://schemas.microsoft.com/office/drawing/2014/main" id="{E22F18A5-10AE-CA46-74BE-416B7ECE6549}"/>
              </a:ext>
            </a:extLst>
          </p:cNvPr>
          <p:cNvSpPr txBox="1"/>
          <p:nvPr/>
        </p:nvSpPr>
        <p:spPr>
          <a:xfrm>
            <a:off x="3862998" y="1772878"/>
            <a:ext cx="29954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a:t>
            </a:r>
          </a:p>
        </p:txBody>
      </p:sp>
      <p:sp>
        <p:nvSpPr>
          <p:cNvPr id="22" name="TextBox 21">
            <a:extLst>
              <a:ext uri="{FF2B5EF4-FFF2-40B4-BE49-F238E27FC236}">
                <a16:creationId xmlns:a16="http://schemas.microsoft.com/office/drawing/2014/main" id="{87F01C0B-59C1-6A2C-0D8E-61F74D7469B9}"/>
              </a:ext>
            </a:extLst>
          </p:cNvPr>
          <p:cNvSpPr txBox="1"/>
          <p:nvPr/>
        </p:nvSpPr>
        <p:spPr>
          <a:xfrm>
            <a:off x="7316523" y="1772878"/>
            <a:ext cx="29954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a:t>
            </a:r>
          </a:p>
        </p:txBody>
      </p:sp>
      <p:sp>
        <p:nvSpPr>
          <p:cNvPr id="23" name="TextBox 22">
            <a:extLst>
              <a:ext uri="{FF2B5EF4-FFF2-40B4-BE49-F238E27FC236}">
                <a16:creationId xmlns:a16="http://schemas.microsoft.com/office/drawing/2014/main" id="{606E4390-D55F-EE73-0E65-B47DC6F21A31}"/>
              </a:ext>
            </a:extLst>
          </p:cNvPr>
          <p:cNvSpPr txBox="1"/>
          <p:nvPr/>
        </p:nvSpPr>
        <p:spPr>
          <a:xfrm>
            <a:off x="4911404" y="2238713"/>
            <a:ext cx="193127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unidirectional</a:t>
            </a:r>
          </a:p>
        </p:txBody>
      </p:sp>
      <p:graphicFrame>
        <p:nvGraphicFramePr>
          <p:cNvPr id="24" name="Table 27">
            <a:extLst>
              <a:ext uri="{FF2B5EF4-FFF2-40B4-BE49-F238E27FC236}">
                <a16:creationId xmlns:a16="http://schemas.microsoft.com/office/drawing/2014/main" id="{B183ADF4-6C83-FA6B-90ED-77FC255DF5FA}"/>
              </a:ext>
            </a:extLst>
          </p:cNvPr>
          <p:cNvGraphicFramePr>
            <a:graphicFrameLocks noGrp="1"/>
          </p:cNvGraphicFramePr>
          <p:nvPr>
            <p:extLst>
              <p:ext uri="{D42A27DB-BD31-4B8C-83A1-F6EECF244321}">
                <p14:modId xmlns:p14="http://schemas.microsoft.com/office/powerpoint/2010/main" val="1045535166"/>
              </p:ext>
            </p:extLst>
          </p:nvPr>
        </p:nvGraphicFramePr>
        <p:xfrm>
          <a:off x="970025" y="4212520"/>
          <a:ext cx="2490951" cy="1112520"/>
        </p:xfrm>
        <a:graphic>
          <a:graphicData uri="http://schemas.openxmlformats.org/drawingml/2006/table">
            <a:tbl>
              <a:tblPr firstRow="1" bandRow="1"/>
              <a:tblGrid>
                <a:gridCol w="922282">
                  <a:extLst>
                    <a:ext uri="{9D8B030D-6E8A-4147-A177-3AD203B41FA5}">
                      <a16:colId xmlns:a16="http://schemas.microsoft.com/office/drawing/2014/main" val="1937561263"/>
                    </a:ext>
                  </a:extLst>
                </a:gridCol>
                <a:gridCol w="1568669">
                  <a:extLst>
                    <a:ext uri="{9D8B030D-6E8A-4147-A177-3AD203B41FA5}">
                      <a16:colId xmlns:a16="http://schemas.microsoft.com/office/drawing/2014/main" val="1249479470"/>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ID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NAME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133708801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John Doe</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411870652"/>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Jane Doe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3019261411"/>
                  </a:ext>
                </a:extLst>
              </a:tr>
            </a:tbl>
          </a:graphicData>
        </a:graphic>
      </p:graphicFrame>
      <p:graphicFrame>
        <p:nvGraphicFramePr>
          <p:cNvPr id="25" name="Table 27">
            <a:extLst>
              <a:ext uri="{FF2B5EF4-FFF2-40B4-BE49-F238E27FC236}">
                <a16:creationId xmlns:a16="http://schemas.microsoft.com/office/drawing/2014/main" id="{4CCA6055-545F-0586-B6A8-7701461825AE}"/>
              </a:ext>
            </a:extLst>
          </p:cNvPr>
          <p:cNvGraphicFramePr>
            <a:graphicFrameLocks noGrp="1"/>
          </p:cNvGraphicFramePr>
          <p:nvPr>
            <p:extLst>
              <p:ext uri="{D42A27DB-BD31-4B8C-83A1-F6EECF244321}">
                <p14:modId xmlns:p14="http://schemas.microsoft.com/office/powerpoint/2010/main" val="2800986683"/>
              </p:ext>
            </p:extLst>
          </p:nvPr>
        </p:nvGraphicFramePr>
        <p:xfrm>
          <a:off x="3939199" y="4255308"/>
          <a:ext cx="3262586" cy="1112520"/>
        </p:xfrm>
        <a:graphic>
          <a:graphicData uri="http://schemas.openxmlformats.org/drawingml/2006/table">
            <a:tbl>
              <a:tblPr firstRow="1" bandRow="1"/>
              <a:tblGrid>
                <a:gridCol w="1631293">
                  <a:extLst>
                    <a:ext uri="{9D8B030D-6E8A-4147-A177-3AD203B41FA5}">
                      <a16:colId xmlns:a16="http://schemas.microsoft.com/office/drawing/2014/main" val="1937561263"/>
                    </a:ext>
                  </a:extLst>
                </a:gridCol>
                <a:gridCol w="1631293">
                  <a:extLst>
                    <a:ext uri="{9D8B030D-6E8A-4147-A177-3AD203B41FA5}">
                      <a16:colId xmlns:a16="http://schemas.microsoft.com/office/drawing/2014/main" val="1249479470"/>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SKILL_ID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SKILL_NAME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133708801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Java</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411870652"/>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Python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3019261411"/>
                  </a:ext>
                </a:extLst>
              </a:tr>
            </a:tbl>
          </a:graphicData>
        </a:graphic>
      </p:graphicFrame>
      <p:sp>
        <p:nvSpPr>
          <p:cNvPr id="26" name="TextBox 25">
            <a:extLst>
              <a:ext uri="{FF2B5EF4-FFF2-40B4-BE49-F238E27FC236}">
                <a16:creationId xmlns:a16="http://schemas.microsoft.com/office/drawing/2014/main" id="{85DE1587-721F-777E-4468-9B08C4764566}"/>
              </a:ext>
            </a:extLst>
          </p:cNvPr>
          <p:cNvSpPr txBox="1"/>
          <p:nvPr/>
        </p:nvSpPr>
        <p:spPr>
          <a:xfrm>
            <a:off x="970025" y="3739957"/>
            <a:ext cx="221505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EMPLOYEE TABLE</a:t>
            </a:r>
          </a:p>
        </p:txBody>
      </p:sp>
      <p:sp>
        <p:nvSpPr>
          <p:cNvPr id="27" name="TextBox 26">
            <a:extLst>
              <a:ext uri="{FF2B5EF4-FFF2-40B4-BE49-F238E27FC236}">
                <a16:creationId xmlns:a16="http://schemas.microsoft.com/office/drawing/2014/main" id="{87428777-F983-F5F0-AB63-C66C68AA87FF}"/>
              </a:ext>
            </a:extLst>
          </p:cNvPr>
          <p:cNvSpPr txBox="1"/>
          <p:nvPr/>
        </p:nvSpPr>
        <p:spPr>
          <a:xfrm>
            <a:off x="3939199" y="3739957"/>
            <a:ext cx="221505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SKILL TABLE</a:t>
            </a:r>
          </a:p>
        </p:txBody>
      </p:sp>
      <p:graphicFrame>
        <p:nvGraphicFramePr>
          <p:cNvPr id="28" name="Table 27">
            <a:extLst>
              <a:ext uri="{FF2B5EF4-FFF2-40B4-BE49-F238E27FC236}">
                <a16:creationId xmlns:a16="http://schemas.microsoft.com/office/drawing/2014/main" id="{992AA7A9-D47C-DFF3-35A5-69633010224E}"/>
              </a:ext>
            </a:extLst>
          </p:cNvPr>
          <p:cNvGraphicFramePr>
            <a:graphicFrameLocks noGrp="1"/>
          </p:cNvGraphicFramePr>
          <p:nvPr>
            <p:extLst>
              <p:ext uri="{D42A27DB-BD31-4B8C-83A1-F6EECF244321}">
                <p14:modId xmlns:p14="http://schemas.microsoft.com/office/powerpoint/2010/main" val="979779369"/>
              </p:ext>
            </p:extLst>
          </p:nvPr>
        </p:nvGraphicFramePr>
        <p:xfrm>
          <a:off x="7944515" y="4223530"/>
          <a:ext cx="3262586" cy="1854200"/>
        </p:xfrm>
        <a:graphic>
          <a:graphicData uri="http://schemas.openxmlformats.org/drawingml/2006/table">
            <a:tbl>
              <a:tblPr firstRow="1" bandRow="1"/>
              <a:tblGrid>
                <a:gridCol w="1631293">
                  <a:extLst>
                    <a:ext uri="{9D8B030D-6E8A-4147-A177-3AD203B41FA5}">
                      <a16:colId xmlns:a16="http://schemas.microsoft.com/office/drawing/2014/main" val="1937561263"/>
                    </a:ext>
                  </a:extLst>
                </a:gridCol>
                <a:gridCol w="1631293">
                  <a:extLst>
                    <a:ext uri="{9D8B030D-6E8A-4147-A177-3AD203B41FA5}">
                      <a16:colId xmlns:a16="http://schemas.microsoft.com/office/drawing/2014/main" val="1249479470"/>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FK_EMP_ID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FK_SKILL_ID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133708801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411870652"/>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10001</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3019261411"/>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101</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223888286"/>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3622492833"/>
                  </a:ext>
                </a:extLst>
              </a:tr>
            </a:tbl>
          </a:graphicData>
        </a:graphic>
      </p:graphicFrame>
      <p:sp>
        <p:nvSpPr>
          <p:cNvPr id="29" name="TextBox 28">
            <a:extLst>
              <a:ext uri="{FF2B5EF4-FFF2-40B4-BE49-F238E27FC236}">
                <a16:creationId xmlns:a16="http://schemas.microsoft.com/office/drawing/2014/main" id="{D8DEBD7E-F690-47AB-66D1-A3C702A74622}"/>
              </a:ext>
            </a:extLst>
          </p:cNvPr>
          <p:cNvSpPr txBox="1"/>
          <p:nvPr/>
        </p:nvSpPr>
        <p:spPr>
          <a:xfrm>
            <a:off x="7944514" y="3739957"/>
            <a:ext cx="3262585"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EMPLOYEE_SKILL TABLE</a:t>
            </a:r>
          </a:p>
        </p:txBody>
      </p:sp>
    </p:spTree>
    <p:extLst>
      <p:ext uri="{BB962C8B-B14F-4D97-AF65-F5344CB8AC3E}">
        <p14:creationId xmlns:p14="http://schemas.microsoft.com/office/powerpoint/2010/main" val="15968971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BB40D59-8DE9-D2E0-4514-459AAA007892}"/>
              </a:ext>
            </a:extLst>
          </p:cNvPr>
          <p:cNvSpPr txBox="1">
            <a:spLocks/>
          </p:cNvSpPr>
          <p:nvPr/>
        </p:nvSpPr>
        <p:spPr>
          <a:xfrm>
            <a:off x="594811" y="136370"/>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Many to Many Unidirectional</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6" name="Rectangle 5">
            <a:extLst>
              <a:ext uri="{FF2B5EF4-FFF2-40B4-BE49-F238E27FC236}">
                <a16:creationId xmlns:a16="http://schemas.microsoft.com/office/drawing/2014/main" id="{5ADB98B4-3D16-7E78-6F6A-A2047F2FBA9B}"/>
              </a:ext>
            </a:extLst>
          </p:cNvPr>
          <p:cNvSpPr/>
          <p:nvPr/>
        </p:nvSpPr>
        <p:spPr>
          <a:xfrm>
            <a:off x="0" y="1065116"/>
            <a:ext cx="6621963" cy="5016758"/>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Employee{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int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String name;</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GB" sz="2000" b="1" i="0" u="none" strike="noStrike" kern="0" cap="none" spc="0" normalizeH="0" baseline="0" noProof="0" dirty="0" err="1">
                <a:ln>
                  <a:noFill/>
                </a:ln>
                <a:solidFill>
                  <a:srgbClr val="3099D9"/>
                </a:solidFill>
                <a:effectLst/>
                <a:uLnTx/>
                <a:uFillTx/>
                <a:latin typeface="Consolas" pitchFamily="49" charset="0"/>
              </a:rPr>
              <a:t>ManyToMany</a:t>
            </a:r>
            <a:endParaRPr kumimoji="0" lang="en-GB" sz="2000" b="1" i="0" u="none" strike="noStrike" kern="0" cap="none" spc="0" normalizeH="0" baseline="0" noProof="0" dirty="0">
              <a:ln>
                <a:noFill/>
              </a:ln>
              <a:solidFill>
                <a:srgbClr val="3099D9"/>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srgbClr val="3099D9"/>
                </a:solidFill>
                <a:effectLst/>
                <a:uLnTx/>
                <a:uFillTx/>
                <a:latin typeface="Consolas" pitchFamily="49" charset="0"/>
              </a:rPr>
              <a:t>	</a:t>
            </a:r>
            <a:r>
              <a:rPr kumimoji="0" lang="en-US" sz="2000" b="1" i="0" u="none" strike="noStrike" kern="0" cap="none" spc="0" normalizeH="0" baseline="0" noProof="0" dirty="0">
                <a:ln>
                  <a:noFill/>
                </a:ln>
                <a:solidFill>
                  <a:srgbClr val="3099D9"/>
                </a:solidFill>
                <a:effectLst/>
                <a:uLnTx/>
                <a:uFillTx/>
                <a:latin typeface="Consolas" pitchFamily="49" charset="0"/>
              </a:rPr>
              <a:t>@</a:t>
            </a:r>
            <a:r>
              <a:rPr kumimoji="0" lang="en-US" sz="2000" b="1" i="0" u="none" strike="noStrike" kern="0" cap="none" spc="0" normalizeH="0" baseline="0" noProof="0" dirty="0" err="1">
                <a:ln>
                  <a:noFill/>
                </a:ln>
                <a:solidFill>
                  <a:srgbClr val="3099D9"/>
                </a:solidFill>
                <a:effectLst/>
                <a:uLnTx/>
                <a:uFillTx/>
                <a:latin typeface="Consolas" pitchFamily="49" charset="0"/>
              </a:rPr>
              <a:t>JoinTable</a:t>
            </a:r>
            <a:r>
              <a:rPr kumimoji="0" lang="en-US" sz="2000" b="1" i="0" u="none" strike="noStrike" kern="0" cap="none" spc="0" normalizeH="0" baseline="0" noProof="0" dirty="0">
                <a:ln>
                  <a:noFill/>
                </a:ln>
                <a:solidFill>
                  <a:srgbClr val="3099D9"/>
                </a:solidFill>
                <a:effectLst/>
                <a:uLnTx/>
                <a:uFillTx/>
                <a:latin typeface="Consolas" pitchFamily="49" charset="0"/>
              </a:rPr>
              <a:t>(name=“EMPLOYEE_SKILL”,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3099D9"/>
                </a:solidFill>
                <a:effectLst/>
                <a:uLnTx/>
                <a:uFillTx/>
                <a:latin typeface="Consolas" pitchFamily="49" charset="0"/>
              </a:rPr>
              <a:t>	</a:t>
            </a:r>
            <a:r>
              <a:rPr kumimoji="0" lang="en-US" sz="2000" b="1" i="0" u="none" strike="noStrike" kern="0" cap="none" spc="0" normalizeH="0" baseline="0" noProof="0" dirty="0" err="1">
                <a:ln>
                  <a:noFill/>
                </a:ln>
                <a:solidFill>
                  <a:srgbClr val="3099D9"/>
                </a:solidFill>
                <a:effectLst/>
                <a:uLnTx/>
                <a:uFillTx/>
                <a:latin typeface="Consolas" pitchFamily="49" charset="0"/>
              </a:rPr>
              <a:t>joinColumns</a:t>
            </a:r>
            <a:r>
              <a:rPr kumimoji="0" lang="en-US" sz="2000" b="1" i="0" u="none" strike="noStrike" kern="0" cap="none" spc="0" normalizeH="0" baseline="0" noProof="0" dirty="0">
                <a:ln>
                  <a:noFill/>
                </a:ln>
                <a:solidFill>
                  <a:srgbClr val="3099D9"/>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3099D9"/>
                </a:solidFill>
                <a:effectLst/>
                <a:uLnTx/>
                <a:uFillTx/>
                <a:latin typeface="Consolas" pitchFamily="49" charset="0"/>
              </a:rPr>
              <a:t>	@</a:t>
            </a:r>
            <a:r>
              <a:rPr kumimoji="0" lang="en-US" sz="2000" b="1" i="0" u="none" strike="noStrike" kern="0" cap="none" spc="0" normalizeH="0" baseline="0" noProof="0" dirty="0" err="1">
                <a:ln>
                  <a:noFill/>
                </a:ln>
                <a:solidFill>
                  <a:srgbClr val="3099D9"/>
                </a:solidFill>
                <a:effectLst/>
                <a:uLnTx/>
                <a:uFillTx/>
                <a:latin typeface="Consolas" pitchFamily="49" charset="0"/>
              </a:rPr>
              <a:t>JoinColumn</a:t>
            </a:r>
            <a:r>
              <a:rPr kumimoji="0" lang="en-US" sz="2000" b="1" i="0" u="none" strike="noStrike" kern="0" cap="none" spc="0" normalizeH="0" baseline="0" noProof="0" dirty="0">
                <a:ln>
                  <a:noFill/>
                </a:ln>
                <a:solidFill>
                  <a:srgbClr val="3099D9"/>
                </a:solidFill>
                <a:effectLst/>
                <a:uLnTx/>
                <a:uFillTx/>
                <a:latin typeface="Consolas" pitchFamily="49" charset="0"/>
              </a:rPr>
              <a:t>(name=“FK_EMP_ID”), 	</a:t>
            </a:r>
            <a:r>
              <a:rPr kumimoji="0" lang="en-US" sz="2000" b="1" i="0" u="none" strike="noStrike" kern="0" cap="none" spc="0" normalizeH="0" baseline="0" noProof="0" dirty="0" err="1">
                <a:ln>
                  <a:noFill/>
                </a:ln>
                <a:solidFill>
                  <a:srgbClr val="3099D9"/>
                </a:solidFill>
                <a:effectLst/>
                <a:uLnTx/>
                <a:uFillTx/>
                <a:latin typeface="Consolas" pitchFamily="49" charset="0"/>
              </a:rPr>
              <a:t>inverseJoinColumns</a:t>
            </a:r>
            <a:r>
              <a:rPr kumimoji="0" lang="en-US" sz="2000" b="1" i="0" u="none" strike="noStrike" kern="0" cap="none" spc="0" normalizeH="0" baseline="0" noProof="0" dirty="0">
                <a:ln>
                  <a:noFill/>
                </a:ln>
                <a:solidFill>
                  <a:srgbClr val="3099D9"/>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3099D9"/>
                </a:solidFill>
                <a:effectLst/>
                <a:uLnTx/>
                <a:uFillTx/>
                <a:latin typeface="Consolas" pitchFamily="49" charset="0"/>
              </a:rPr>
              <a:t>	@</a:t>
            </a:r>
            <a:r>
              <a:rPr kumimoji="0" lang="en-US" sz="2000" b="1" i="0" u="none" strike="noStrike" kern="0" cap="none" spc="0" normalizeH="0" baseline="0" noProof="0" dirty="0" err="1">
                <a:ln>
                  <a:noFill/>
                </a:ln>
                <a:solidFill>
                  <a:srgbClr val="3099D9"/>
                </a:solidFill>
                <a:effectLst/>
                <a:uLnTx/>
                <a:uFillTx/>
                <a:latin typeface="Consolas" pitchFamily="49" charset="0"/>
              </a:rPr>
              <a:t>JoinColumn</a:t>
            </a:r>
            <a:r>
              <a:rPr kumimoji="0" lang="en-US" sz="2000" b="1" i="0" u="none" strike="noStrike" kern="0" cap="none" spc="0" normalizeH="0" baseline="0" noProof="0" dirty="0">
                <a:ln>
                  <a:noFill/>
                </a:ln>
                <a:solidFill>
                  <a:srgbClr val="3099D9"/>
                </a:solidFill>
                <a:effectLst/>
                <a:uLnTx/>
                <a:uFillTx/>
                <a:latin typeface="Consolas" pitchFamily="49" charset="0"/>
              </a:rPr>
              <a:t>(name=“FK_SKILL_ID”)</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3099D9"/>
                </a:solidFill>
                <a:effectLst/>
                <a:uLnTx/>
                <a:uFillTx/>
                <a:latin typeface="Consolas" pitchFamily="49" charset="0"/>
              </a:rPr>
              <a:t>	) </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List&lt;Skill&gt; skills;</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
        <p:nvSpPr>
          <p:cNvPr id="7" name="Rectangle 6">
            <a:extLst>
              <a:ext uri="{FF2B5EF4-FFF2-40B4-BE49-F238E27FC236}">
                <a16:creationId xmlns:a16="http://schemas.microsoft.com/office/drawing/2014/main" id="{375730AD-5420-1EC2-977D-00619884AC5A}"/>
              </a:ext>
            </a:extLst>
          </p:cNvPr>
          <p:cNvSpPr/>
          <p:nvPr/>
        </p:nvSpPr>
        <p:spPr>
          <a:xfrm>
            <a:off x="6928500" y="1065116"/>
            <a:ext cx="5073000" cy="3170099"/>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Skill{</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@Column(name = “SKILL_ID”)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int </a:t>
            </a:r>
            <a:r>
              <a:rPr kumimoji="0" lang="en-GB" sz="2000" b="1" i="0" u="none" strike="noStrike" kern="0" cap="none" spc="0" normalizeH="0" baseline="0" noProof="0" dirty="0" err="1">
                <a:ln>
                  <a:noFill/>
                </a:ln>
                <a:solidFill>
                  <a:srgbClr val="000000"/>
                </a:solidFill>
                <a:effectLst/>
                <a:uLnTx/>
                <a:uFillTx/>
                <a:latin typeface="Consolas" pitchFamily="49" charset="0"/>
              </a:rPr>
              <a:t>skillId</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@Column(name = “SKILL_NAME”)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String </a:t>
            </a:r>
            <a:r>
              <a:rPr kumimoji="0" lang="en-GB" sz="2000" b="1" i="0" u="none" strike="noStrike" kern="0" cap="none" spc="0" normalizeH="0" baseline="0" noProof="0" dirty="0" err="1">
                <a:ln>
                  <a:noFill/>
                </a:ln>
                <a:solidFill>
                  <a:srgbClr val="000000"/>
                </a:solidFill>
                <a:effectLst/>
                <a:uLnTx/>
                <a:uFillTx/>
                <a:latin typeface="Consolas" pitchFamily="49" charset="0"/>
              </a:rPr>
              <a:t>skillName</a:t>
            </a:r>
            <a:r>
              <a:rPr kumimoji="0" lang="en-GB" sz="2000" b="1" i="0" u="none" strike="noStrike" kern="0" cap="none" spc="0" normalizeH="0" baseline="0" noProof="0" dirty="0">
                <a:ln>
                  <a:noFill/>
                </a:ln>
                <a:solidFill>
                  <a:srgbClr val="000000"/>
                </a:solidFill>
                <a:effectLst/>
                <a:uLnTx/>
                <a:uFillTx/>
                <a:latin typeface="Consolas" pitchFamily="49" charset="0"/>
              </a:rPr>
              <a:t>;	</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Tree>
    <p:extLst>
      <p:ext uri="{BB962C8B-B14F-4D97-AF65-F5344CB8AC3E}">
        <p14:creationId xmlns:p14="http://schemas.microsoft.com/office/powerpoint/2010/main" val="34497137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8D09324D-AD84-84B5-E60D-4E0357D7411D}"/>
              </a:ext>
            </a:extLst>
          </p:cNvPr>
          <p:cNvSpPr txBox="1">
            <a:spLocks/>
          </p:cNvSpPr>
          <p:nvPr/>
        </p:nvSpPr>
        <p:spPr>
          <a:xfrm>
            <a:off x="594811" y="1526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Many to Many Bidirectional</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17" name="Content Placeholder 25">
            <a:extLst>
              <a:ext uri="{FF2B5EF4-FFF2-40B4-BE49-F238E27FC236}">
                <a16:creationId xmlns:a16="http://schemas.microsoft.com/office/drawing/2014/main" id="{AADC2F2E-C524-2B17-26A5-3C05AB903787}"/>
              </a:ext>
            </a:extLst>
          </p:cNvPr>
          <p:cNvSpPr txBox="1">
            <a:spLocks/>
          </p:cNvSpPr>
          <p:nvPr/>
        </p:nvSpPr>
        <p:spPr>
          <a:xfrm>
            <a:off x="594811" y="779930"/>
            <a:ext cx="11003136" cy="5010972"/>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Class Diagram</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Relational Model</a:t>
            </a: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graphicFrame>
        <p:nvGraphicFramePr>
          <p:cNvPr id="18" name="Table 10">
            <a:extLst>
              <a:ext uri="{FF2B5EF4-FFF2-40B4-BE49-F238E27FC236}">
                <a16:creationId xmlns:a16="http://schemas.microsoft.com/office/drawing/2014/main" id="{31CB8337-DEB8-5717-FB17-3E7FC05CBF8F}"/>
              </a:ext>
            </a:extLst>
          </p:cNvPr>
          <p:cNvGraphicFramePr>
            <a:graphicFrameLocks noGrp="1"/>
          </p:cNvGraphicFramePr>
          <p:nvPr>
            <p:extLst>
              <p:ext uri="{D42A27DB-BD31-4B8C-83A1-F6EECF244321}">
                <p14:modId xmlns:p14="http://schemas.microsoft.com/office/powerpoint/2010/main" val="3286780934"/>
              </p:ext>
            </p:extLst>
          </p:nvPr>
        </p:nvGraphicFramePr>
        <p:xfrm>
          <a:off x="1740784" y="1585950"/>
          <a:ext cx="2122214" cy="1112520"/>
        </p:xfrm>
        <a:graphic>
          <a:graphicData uri="http://schemas.openxmlformats.org/drawingml/2006/table">
            <a:tbl>
              <a:tblPr firstRow="1" bandRow="1"/>
              <a:tblGrid>
                <a:gridCol w="2122214">
                  <a:extLst>
                    <a:ext uri="{9D8B030D-6E8A-4147-A177-3AD203B41FA5}">
                      <a16:colId xmlns:a16="http://schemas.microsoft.com/office/drawing/2014/main" val="1516275933"/>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Employee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332464068"/>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id</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146633629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name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2443523511"/>
                  </a:ext>
                </a:extLst>
              </a:tr>
            </a:tbl>
          </a:graphicData>
        </a:graphic>
      </p:graphicFrame>
      <p:graphicFrame>
        <p:nvGraphicFramePr>
          <p:cNvPr id="19" name="Table 10">
            <a:extLst>
              <a:ext uri="{FF2B5EF4-FFF2-40B4-BE49-F238E27FC236}">
                <a16:creationId xmlns:a16="http://schemas.microsoft.com/office/drawing/2014/main" id="{E128E34D-F037-21D6-ABBC-961327D79218}"/>
              </a:ext>
            </a:extLst>
          </p:cNvPr>
          <p:cNvGraphicFramePr>
            <a:graphicFrameLocks noGrp="1"/>
          </p:cNvGraphicFramePr>
          <p:nvPr>
            <p:extLst>
              <p:ext uri="{D42A27DB-BD31-4B8C-83A1-F6EECF244321}">
                <p14:modId xmlns:p14="http://schemas.microsoft.com/office/powerpoint/2010/main" val="3220543606"/>
              </p:ext>
            </p:extLst>
          </p:nvPr>
        </p:nvGraphicFramePr>
        <p:xfrm>
          <a:off x="7616067" y="1585950"/>
          <a:ext cx="2122214" cy="1112520"/>
        </p:xfrm>
        <a:graphic>
          <a:graphicData uri="http://schemas.openxmlformats.org/drawingml/2006/table">
            <a:tbl>
              <a:tblPr firstRow="1" bandRow="1"/>
              <a:tblGrid>
                <a:gridCol w="2122214">
                  <a:extLst>
                    <a:ext uri="{9D8B030D-6E8A-4147-A177-3AD203B41FA5}">
                      <a16:colId xmlns:a16="http://schemas.microsoft.com/office/drawing/2014/main" val="1516275933"/>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Skill</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332464068"/>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skillId</a:t>
                      </a:r>
                      <a:endParaRPr lang="en-CA"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146633629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skillName</a:t>
                      </a:r>
                      <a:endParaRPr lang="en-CA"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2443523511"/>
                  </a:ext>
                </a:extLst>
              </a:tr>
            </a:tbl>
          </a:graphicData>
        </a:graphic>
      </p:graphicFrame>
      <p:sp>
        <p:nvSpPr>
          <p:cNvPr id="20" name="TextBox 19">
            <a:extLst>
              <a:ext uri="{FF2B5EF4-FFF2-40B4-BE49-F238E27FC236}">
                <a16:creationId xmlns:a16="http://schemas.microsoft.com/office/drawing/2014/main" id="{C965E4C3-3BC5-8344-51CD-8E37E44EFEE0}"/>
              </a:ext>
            </a:extLst>
          </p:cNvPr>
          <p:cNvSpPr txBox="1"/>
          <p:nvPr/>
        </p:nvSpPr>
        <p:spPr>
          <a:xfrm>
            <a:off x="3862998" y="1772878"/>
            <a:ext cx="29954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a:t>
            </a:r>
          </a:p>
        </p:txBody>
      </p:sp>
      <p:sp>
        <p:nvSpPr>
          <p:cNvPr id="21" name="TextBox 20">
            <a:extLst>
              <a:ext uri="{FF2B5EF4-FFF2-40B4-BE49-F238E27FC236}">
                <a16:creationId xmlns:a16="http://schemas.microsoft.com/office/drawing/2014/main" id="{3899F2B5-9450-590A-95D5-7090A3E08E68}"/>
              </a:ext>
            </a:extLst>
          </p:cNvPr>
          <p:cNvSpPr txBox="1"/>
          <p:nvPr/>
        </p:nvSpPr>
        <p:spPr>
          <a:xfrm>
            <a:off x="7316523" y="1772878"/>
            <a:ext cx="29954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a:t>
            </a:r>
          </a:p>
        </p:txBody>
      </p:sp>
      <p:sp>
        <p:nvSpPr>
          <p:cNvPr id="22" name="TextBox 21">
            <a:extLst>
              <a:ext uri="{FF2B5EF4-FFF2-40B4-BE49-F238E27FC236}">
                <a16:creationId xmlns:a16="http://schemas.microsoft.com/office/drawing/2014/main" id="{0858C0AA-B0D8-2693-B6E3-5EA560FAA8FF}"/>
              </a:ext>
            </a:extLst>
          </p:cNvPr>
          <p:cNvSpPr txBox="1"/>
          <p:nvPr/>
        </p:nvSpPr>
        <p:spPr>
          <a:xfrm>
            <a:off x="4911404" y="2238713"/>
            <a:ext cx="193127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Bidirectional</a:t>
            </a:r>
          </a:p>
        </p:txBody>
      </p:sp>
      <p:graphicFrame>
        <p:nvGraphicFramePr>
          <p:cNvPr id="23" name="Table 27">
            <a:extLst>
              <a:ext uri="{FF2B5EF4-FFF2-40B4-BE49-F238E27FC236}">
                <a16:creationId xmlns:a16="http://schemas.microsoft.com/office/drawing/2014/main" id="{08794E0A-14CC-1048-4AD9-E3CFB9D24C2A}"/>
              </a:ext>
            </a:extLst>
          </p:cNvPr>
          <p:cNvGraphicFramePr>
            <a:graphicFrameLocks noGrp="1"/>
          </p:cNvGraphicFramePr>
          <p:nvPr>
            <p:extLst>
              <p:ext uri="{D42A27DB-BD31-4B8C-83A1-F6EECF244321}">
                <p14:modId xmlns:p14="http://schemas.microsoft.com/office/powerpoint/2010/main" val="2817105139"/>
              </p:ext>
            </p:extLst>
          </p:nvPr>
        </p:nvGraphicFramePr>
        <p:xfrm>
          <a:off x="970025" y="4212520"/>
          <a:ext cx="2490951" cy="1112520"/>
        </p:xfrm>
        <a:graphic>
          <a:graphicData uri="http://schemas.openxmlformats.org/drawingml/2006/table">
            <a:tbl>
              <a:tblPr firstRow="1" bandRow="1"/>
              <a:tblGrid>
                <a:gridCol w="922282">
                  <a:extLst>
                    <a:ext uri="{9D8B030D-6E8A-4147-A177-3AD203B41FA5}">
                      <a16:colId xmlns:a16="http://schemas.microsoft.com/office/drawing/2014/main" val="1937561263"/>
                    </a:ext>
                  </a:extLst>
                </a:gridCol>
                <a:gridCol w="1568669">
                  <a:extLst>
                    <a:ext uri="{9D8B030D-6E8A-4147-A177-3AD203B41FA5}">
                      <a16:colId xmlns:a16="http://schemas.microsoft.com/office/drawing/2014/main" val="1249479470"/>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ID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NAME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133708801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John Doe</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411870652"/>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Jane Doe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3019261411"/>
                  </a:ext>
                </a:extLst>
              </a:tr>
            </a:tbl>
          </a:graphicData>
        </a:graphic>
      </p:graphicFrame>
      <p:graphicFrame>
        <p:nvGraphicFramePr>
          <p:cNvPr id="24" name="Table 27">
            <a:extLst>
              <a:ext uri="{FF2B5EF4-FFF2-40B4-BE49-F238E27FC236}">
                <a16:creationId xmlns:a16="http://schemas.microsoft.com/office/drawing/2014/main" id="{77EE8120-FE6E-4818-9117-7284A5E7EF3B}"/>
              </a:ext>
            </a:extLst>
          </p:cNvPr>
          <p:cNvGraphicFramePr>
            <a:graphicFrameLocks noGrp="1"/>
          </p:cNvGraphicFramePr>
          <p:nvPr>
            <p:extLst>
              <p:ext uri="{D42A27DB-BD31-4B8C-83A1-F6EECF244321}">
                <p14:modId xmlns:p14="http://schemas.microsoft.com/office/powerpoint/2010/main" val="3090450544"/>
              </p:ext>
            </p:extLst>
          </p:nvPr>
        </p:nvGraphicFramePr>
        <p:xfrm>
          <a:off x="3939199" y="4255308"/>
          <a:ext cx="3262586" cy="1112520"/>
        </p:xfrm>
        <a:graphic>
          <a:graphicData uri="http://schemas.openxmlformats.org/drawingml/2006/table">
            <a:tbl>
              <a:tblPr firstRow="1" bandRow="1"/>
              <a:tblGrid>
                <a:gridCol w="1631293">
                  <a:extLst>
                    <a:ext uri="{9D8B030D-6E8A-4147-A177-3AD203B41FA5}">
                      <a16:colId xmlns:a16="http://schemas.microsoft.com/office/drawing/2014/main" val="1937561263"/>
                    </a:ext>
                  </a:extLst>
                </a:gridCol>
                <a:gridCol w="1631293">
                  <a:extLst>
                    <a:ext uri="{9D8B030D-6E8A-4147-A177-3AD203B41FA5}">
                      <a16:colId xmlns:a16="http://schemas.microsoft.com/office/drawing/2014/main" val="1249479470"/>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SKILL_ID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SKILL_NAME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133708801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Java</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411870652"/>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Python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3019261411"/>
                  </a:ext>
                </a:extLst>
              </a:tr>
            </a:tbl>
          </a:graphicData>
        </a:graphic>
      </p:graphicFrame>
      <p:sp>
        <p:nvSpPr>
          <p:cNvPr id="25" name="TextBox 24">
            <a:extLst>
              <a:ext uri="{FF2B5EF4-FFF2-40B4-BE49-F238E27FC236}">
                <a16:creationId xmlns:a16="http://schemas.microsoft.com/office/drawing/2014/main" id="{9A08FF4F-F5C3-181E-F349-9325CF594195}"/>
              </a:ext>
            </a:extLst>
          </p:cNvPr>
          <p:cNvSpPr txBox="1"/>
          <p:nvPr/>
        </p:nvSpPr>
        <p:spPr>
          <a:xfrm>
            <a:off x="970025" y="3739957"/>
            <a:ext cx="221505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EMPLOYEE TABLE</a:t>
            </a:r>
          </a:p>
        </p:txBody>
      </p:sp>
      <p:sp>
        <p:nvSpPr>
          <p:cNvPr id="26" name="TextBox 25">
            <a:extLst>
              <a:ext uri="{FF2B5EF4-FFF2-40B4-BE49-F238E27FC236}">
                <a16:creationId xmlns:a16="http://schemas.microsoft.com/office/drawing/2014/main" id="{57D67375-DB67-1F9C-203C-54FAE13E2DED}"/>
              </a:ext>
            </a:extLst>
          </p:cNvPr>
          <p:cNvSpPr txBox="1"/>
          <p:nvPr/>
        </p:nvSpPr>
        <p:spPr>
          <a:xfrm>
            <a:off x="3939199" y="3739957"/>
            <a:ext cx="221505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SKILL TABLE</a:t>
            </a:r>
          </a:p>
        </p:txBody>
      </p:sp>
      <p:graphicFrame>
        <p:nvGraphicFramePr>
          <p:cNvPr id="27" name="Table 27">
            <a:extLst>
              <a:ext uri="{FF2B5EF4-FFF2-40B4-BE49-F238E27FC236}">
                <a16:creationId xmlns:a16="http://schemas.microsoft.com/office/drawing/2014/main" id="{A245650F-DB26-5930-5866-EF11336526F7}"/>
              </a:ext>
            </a:extLst>
          </p:cNvPr>
          <p:cNvGraphicFramePr>
            <a:graphicFrameLocks noGrp="1"/>
          </p:cNvGraphicFramePr>
          <p:nvPr>
            <p:extLst>
              <p:ext uri="{D42A27DB-BD31-4B8C-83A1-F6EECF244321}">
                <p14:modId xmlns:p14="http://schemas.microsoft.com/office/powerpoint/2010/main" val="623295666"/>
              </p:ext>
            </p:extLst>
          </p:nvPr>
        </p:nvGraphicFramePr>
        <p:xfrm>
          <a:off x="7944515" y="4223530"/>
          <a:ext cx="3262586" cy="1854200"/>
        </p:xfrm>
        <a:graphic>
          <a:graphicData uri="http://schemas.openxmlformats.org/drawingml/2006/table">
            <a:tbl>
              <a:tblPr firstRow="1" bandRow="1"/>
              <a:tblGrid>
                <a:gridCol w="1631293">
                  <a:extLst>
                    <a:ext uri="{9D8B030D-6E8A-4147-A177-3AD203B41FA5}">
                      <a16:colId xmlns:a16="http://schemas.microsoft.com/office/drawing/2014/main" val="1937561263"/>
                    </a:ext>
                  </a:extLst>
                </a:gridCol>
                <a:gridCol w="1631293">
                  <a:extLst>
                    <a:ext uri="{9D8B030D-6E8A-4147-A177-3AD203B41FA5}">
                      <a16:colId xmlns:a16="http://schemas.microsoft.com/office/drawing/2014/main" val="1249479470"/>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FK_EMP_ID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FK_SKILL_ID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133708801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411870652"/>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10001</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3019261411"/>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101</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223888286"/>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3622492833"/>
                  </a:ext>
                </a:extLst>
              </a:tr>
            </a:tbl>
          </a:graphicData>
        </a:graphic>
      </p:graphicFrame>
      <p:sp>
        <p:nvSpPr>
          <p:cNvPr id="28" name="TextBox 27">
            <a:extLst>
              <a:ext uri="{FF2B5EF4-FFF2-40B4-BE49-F238E27FC236}">
                <a16:creationId xmlns:a16="http://schemas.microsoft.com/office/drawing/2014/main" id="{0D52A951-EC4E-C1ED-FFD7-F538AF25AA17}"/>
              </a:ext>
            </a:extLst>
          </p:cNvPr>
          <p:cNvSpPr txBox="1"/>
          <p:nvPr/>
        </p:nvSpPr>
        <p:spPr>
          <a:xfrm>
            <a:off x="7944514" y="3739957"/>
            <a:ext cx="3262585"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EMPLOYEE_SKILL TABLE</a:t>
            </a:r>
          </a:p>
        </p:txBody>
      </p:sp>
      <p:cxnSp>
        <p:nvCxnSpPr>
          <p:cNvPr id="29" name="Straight Arrow Connector 28">
            <a:extLst>
              <a:ext uri="{FF2B5EF4-FFF2-40B4-BE49-F238E27FC236}">
                <a16:creationId xmlns:a16="http://schemas.microsoft.com/office/drawing/2014/main" id="{BF72D1AA-6771-6543-49DE-1B6E517784B7}"/>
              </a:ext>
            </a:extLst>
          </p:cNvPr>
          <p:cNvCxnSpPr/>
          <p:nvPr/>
        </p:nvCxnSpPr>
        <p:spPr>
          <a:xfrm>
            <a:off x="3862998" y="2238713"/>
            <a:ext cx="3753069" cy="0"/>
          </a:xfrm>
          <a:prstGeom prst="straightConnector1">
            <a:avLst/>
          </a:prstGeom>
          <a:noFill/>
          <a:ln w="6350" cap="flat" cmpd="sng" algn="ctr">
            <a:solidFill>
              <a:srgbClr val="009FE3"/>
            </a:solidFill>
            <a:prstDash val="solid"/>
            <a:miter lim="800000"/>
            <a:headEnd type="triangle"/>
            <a:tailEnd type="triangle"/>
          </a:ln>
          <a:effectLst/>
        </p:spPr>
      </p:cxnSp>
    </p:spTree>
    <p:extLst>
      <p:ext uri="{BB962C8B-B14F-4D97-AF65-F5344CB8AC3E}">
        <p14:creationId xmlns:p14="http://schemas.microsoft.com/office/powerpoint/2010/main" val="32539050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56F836D-D763-077F-0DC9-52BF44BF0CD5}"/>
              </a:ext>
            </a:extLst>
          </p:cNvPr>
          <p:cNvSpPr txBox="1">
            <a:spLocks/>
          </p:cNvSpPr>
          <p:nvPr/>
        </p:nvSpPr>
        <p:spPr>
          <a:xfrm>
            <a:off x="594811" y="0"/>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Many to Many Bidirectional</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6" name="Rectangle 5">
            <a:extLst>
              <a:ext uri="{FF2B5EF4-FFF2-40B4-BE49-F238E27FC236}">
                <a16:creationId xmlns:a16="http://schemas.microsoft.com/office/drawing/2014/main" id="{A83A1529-1B3E-0CC2-9008-8323CD5B5A35}"/>
              </a:ext>
            </a:extLst>
          </p:cNvPr>
          <p:cNvSpPr/>
          <p:nvPr/>
        </p:nvSpPr>
        <p:spPr>
          <a:xfrm>
            <a:off x="0" y="928746"/>
            <a:ext cx="5823179" cy="4708981"/>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Employee{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int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String name;</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GB" sz="2000" b="1" i="0" u="none" strike="noStrike" kern="0" cap="none" spc="0" normalizeH="0" baseline="0" noProof="0" dirty="0" err="1">
                <a:ln>
                  <a:noFill/>
                </a:ln>
                <a:solidFill>
                  <a:srgbClr val="3099D9"/>
                </a:solidFill>
                <a:effectLst/>
                <a:uLnTx/>
                <a:uFillTx/>
                <a:latin typeface="Consolas" pitchFamily="49" charset="0"/>
              </a:rPr>
              <a:t>ManyToMany</a:t>
            </a:r>
            <a:endParaRPr kumimoji="0" lang="en-GB" sz="2000" b="1" i="0" u="none" strike="noStrike" kern="0" cap="none" spc="0" normalizeH="0" baseline="0" noProof="0" dirty="0">
              <a:ln>
                <a:noFill/>
              </a:ln>
              <a:solidFill>
                <a:srgbClr val="3099D9"/>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srgbClr val="3099D9"/>
                </a:solidFill>
                <a:effectLst/>
                <a:uLnTx/>
                <a:uFillTx/>
                <a:latin typeface="Consolas" pitchFamily="49" charset="0"/>
              </a:rPr>
              <a:t>	</a:t>
            </a:r>
            <a:r>
              <a:rPr kumimoji="0" lang="en-US" sz="2000" b="1" i="0" u="none" strike="noStrike" kern="0" cap="none" spc="0" normalizeH="0" baseline="0" noProof="0" dirty="0">
                <a:ln>
                  <a:noFill/>
                </a:ln>
                <a:solidFill>
                  <a:srgbClr val="3099D9"/>
                </a:solidFill>
                <a:effectLst/>
                <a:uLnTx/>
                <a:uFillTx/>
                <a:latin typeface="Consolas" pitchFamily="49" charset="0"/>
              </a:rPr>
              <a:t>@</a:t>
            </a:r>
            <a:r>
              <a:rPr kumimoji="0" lang="en-US" sz="2000" b="1" i="0" u="none" strike="noStrike" kern="0" cap="none" spc="0" normalizeH="0" baseline="0" noProof="0" dirty="0" err="1">
                <a:ln>
                  <a:noFill/>
                </a:ln>
                <a:solidFill>
                  <a:srgbClr val="3099D9"/>
                </a:solidFill>
                <a:effectLst/>
                <a:uLnTx/>
                <a:uFillTx/>
                <a:latin typeface="Consolas" pitchFamily="49" charset="0"/>
              </a:rPr>
              <a:t>JoinTable</a:t>
            </a:r>
            <a:r>
              <a:rPr kumimoji="0" lang="en-US" sz="2000" b="1" i="0" u="none" strike="noStrike" kern="0" cap="none" spc="0" normalizeH="0" baseline="0" noProof="0" dirty="0">
                <a:ln>
                  <a:noFill/>
                </a:ln>
                <a:solidFill>
                  <a:srgbClr val="3099D9"/>
                </a:solidFill>
                <a:effectLst/>
                <a:uLnTx/>
                <a:uFillTx/>
                <a:latin typeface="Consolas" pitchFamily="49" charset="0"/>
              </a:rPr>
              <a:t>(name=“EMPLOYEE_SKILL”,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3099D9"/>
                </a:solidFill>
                <a:effectLst/>
                <a:uLnTx/>
                <a:uFillTx/>
                <a:latin typeface="Consolas" pitchFamily="49" charset="0"/>
              </a:rPr>
              <a:t>	</a:t>
            </a:r>
            <a:r>
              <a:rPr kumimoji="0" lang="en-US" sz="2000" b="1" i="0" u="none" strike="noStrike" kern="0" cap="none" spc="0" normalizeH="0" baseline="0" noProof="0" dirty="0" err="1">
                <a:ln>
                  <a:noFill/>
                </a:ln>
                <a:solidFill>
                  <a:srgbClr val="3099D9"/>
                </a:solidFill>
                <a:effectLst/>
                <a:uLnTx/>
                <a:uFillTx/>
                <a:latin typeface="Consolas" pitchFamily="49" charset="0"/>
              </a:rPr>
              <a:t>joinColumns</a:t>
            </a:r>
            <a:r>
              <a:rPr kumimoji="0" lang="en-US" sz="2000" b="1" i="0" u="none" strike="noStrike" kern="0" cap="none" spc="0" normalizeH="0" baseline="0" noProof="0" dirty="0">
                <a:ln>
                  <a:noFill/>
                </a:ln>
                <a:solidFill>
                  <a:srgbClr val="3099D9"/>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3099D9"/>
                </a:solidFill>
                <a:effectLst/>
                <a:uLnTx/>
                <a:uFillTx/>
                <a:latin typeface="Consolas" pitchFamily="49" charset="0"/>
              </a:rPr>
              <a:t>	@</a:t>
            </a:r>
            <a:r>
              <a:rPr kumimoji="0" lang="en-US" sz="2000" b="1" i="0" u="none" strike="noStrike" kern="0" cap="none" spc="0" normalizeH="0" baseline="0" noProof="0" dirty="0" err="1">
                <a:ln>
                  <a:noFill/>
                </a:ln>
                <a:solidFill>
                  <a:srgbClr val="3099D9"/>
                </a:solidFill>
                <a:effectLst/>
                <a:uLnTx/>
                <a:uFillTx/>
                <a:latin typeface="Consolas" pitchFamily="49" charset="0"/>
              </a:rPr>
              <a:t>JoinColumn</a:t>
            </a:r>
            <a:r>
              <a:rPr kumimoji="0" lang="en-US" sz="2000" b="1" i="0" u="none" strike="noStrike" kern="0" cap="none" spc="0" normalizeH="0" baseline="0" noProof="0" dirty="0">
                <a:ln>
                  <a:noFill/>
                </a:ln>
                <a:solidFill>
                  <a:srgbClr val="3099D9"/>
                </a:solidFill>
                <a:effectLst/>
                <a:uLnTx/>
                <a:uFillTx/>
                <a:latin typeface="Consolas" pitchFamily="49" charset="0"/>
              </a:rPr>
              <a:t>(name=“FK_EMP_ID”), 	</a:t>
            </a:r>
            <a:r>
              <a:rPr kumimoji="0" lang="en-US" sz="2000" b="1" i="0" u="none" strike="noStrike" kern="0" cap="none" spc="0" normalizeH="0" baseline="0" noProof="0" dirty="0" err="1">
                <a:ln>
                  <a:noFill/>
                </a:ln>
                <a:solidFill>
                  <a:srgbClr val="3099D9"/>
                </a:solidFill>
                <a:effectLst/>
                <a:uLnTx/>
                <a:uFillTx/>
                <a:latin typeface="Consolas" pitchFamily="49" charset="0"/>
              </a:rPr>
              <a:t>inverseJoinColumns</a:t>
            </a:r>
            <a:r>
              <a:rPr kumimoji="0" lang="en-US" sz="2000" b="1" i="0" u="none" strike="noStrike" kern="0" cap="none" spc="0" normalizeH="0" baseline="0" noProof="0" dirty="0">
                <a:ln>
                  <a:noFill/>
                </a:ln>
                <a:solidFill>
                  <a:srgbClr val="3099D9"/>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3099D9"/>
                </a:solidFill>
                <a:effectLst/>
                <a:uLnTx/>
                <a:uFillTx/>
                <a:latin typeface="Consolas" pitchFamily="49" charset="0"/>
              </a:rPr>
              <a:t>	@</a:t>
            </a:r>
            <a:r>
              <a:rPr kumimoji="0" lang="en-US" sz="2000" b="1" i="0" u="none" strike="noStrike" kern="0" cap="none" spc="0" normalizeH="0" baseline="0" noProof="0" dirty="0" err="1">
                <a:ln>
                  <a:noFill/>
                </a:ln>
                <a:solidFill>
                  <a:srgbClr val="3099D9"/>
                </a:solidFill>
                <a:effectLst/>
                <a:uLnTx/>
                <a:uFillTx/>
                <a:latin typeface="Consolas" pitchFamily="49" charset="0"/>
              </a:rPr>
              <a:t>JoinColumn</a:t>
            </a:r>
            <a:r>
              <a:rPr kumimoji="0" lang="en-US" sz="2000" b="1" i="0" u="none" strike="noStrike" kern="0" cap="none" spc="0" normalizeH="0" baseline="0" noProof="0" dirty="0">
                <a:ln>
                  <a:noFill/>
                </a:ln>
                <a:solidFill>
                  <a:srgbClr val="3099D9"/>
                </a:solidFill>
                <a:effectLst/>
                <a:uLnTx/>
                <a:uFillTx/>
                <a:latin typeface="Consolas" pitchFamily="49" charset="0"/>
              </a:rPr>
              <a:t>(name=“FK_SKILL_ID”)</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3099D9"/>
                </a:solidFill>
                <a:effectLst/>
                <a:uLnTx/>
                <a:uFillTx/>
                <a:latin typeface="Consolas" pitchFamily="49" charset="0"/>
              </a:rPr>
              <a:t>	) </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List&lt;Skill&gt; </a:t>
            </a:r>
            <a:r>
              <a:rPr kumimoji="0" lang="en-GB" sz="2000" b="1" i="0" u="none" strike="noStrike" kern="0" cap="none" spc="0" normalizeH="0" baseline="0" noProof="0" dirty="0">
                <a:ln>
                  <a:noFill/>
                </a:ln>
                <a:solidFill>
                  <a:srgbClr val="3099D9"/>
                </a:solidFill>
                <a:effectLst/>
                <a:uLnTx/>
                <a:uFillTx/>
                <a:latin typeface="Consolas" pitchFamily="49" charset="0"/>
              </a:rPr>
              <a:t>skills</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
        <p:nvSpPr>
          <p:cNvPr id="7" name="Rectangle 6">
            <a:extLst>
              <a:ext uri="{FF2B5EF4-FFF2-40B4-BE49-F238E27FC236}">
                <a16:creationId xmlns:a16="http://schemas.microsoft.com/office/drawing/2014/main" id="{A02E210F-8254-7C3A-F66E-FE1236328D57}"/>
              </a:ext>
            </a:extLst>
          </p:cNvPr>
          <p:cNvSpPr/>
          <p:nvPr/>
        </p:nvSpPr>
        <p:spPr>
          <a:xfrm>
            <a:off x="6190508" y="928746"/>
            <a:ext cx="5823179" cy="4401205"/>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Skill{</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@Column(name = “SKILL_ID”)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int </a:t>
            </a:r>
            <a:r>
              <a:rPr kumimoji="0" lang="en-GB" sz="2000" b="1" i="0" u="none" strike="noStrike" kern="0" cap="none" spc="0" normalizeH="0" baseline="0" noProof="0" dirty="0" err="1">
                <a:ln>
                  <a:noFill/>
                </a:ln>
                <a:solidFill>
                  <a:srgbClr val="000000"/>
                </a:solidFill>
                <a:effectLst/>
                <a:uLnTx/>
                <a:uFillTx/>
                <a:latin typeface="Consolas" pitchFamily="49" charset="0"/>
              </a:rPr>
              <a:t>skillId</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@Column(name = “SKILL_NAME”)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String </a:t>
            </a:r>
            <a:r>
              <a:rPr kumimoji="0" lang="en-GB" sz="2000" b="1" i="0" u="none" strike="noStrike" kern="0" cap="none" spc="0" normalizeH="0" baseline="0" noProof="0" dirty="0" err="1">
                <a:ln>
                  <a:noFill/>
                </a:ln>
                <a:solidFill>
                  <a:srgbClr val="000000"/>
                </a:solidFill>
                <a:effectLst/>
                <a:uLnTx/>
                <a:uFillTx/>
                <a:latin typeface="Consolas" pitchFamily="49" charset="0"/>
              </a:rPr>
              <a:t>skillName</a:t>
            </a:r>
            <a:r>
              <a:rPr kumimoji="0" lang="en-GB" sz="2000" b="1" i="0" u="none" strike="noStrike" kern="0" cap="none" spc="0" normalizeH="0" baseline="0" noProof="0" dirty="0">
                <a:ln>
                  <a:noFill/>
                </a:ln>
                <a:solidFill>
                  <a:srgbClr val="000000"/>
                </a:solidFill>
                <a:effectLst/>
                <a:uLnTx/>
                <a:uFillTx/>
                <a:latin typeface="Consolas" pitchFamily="49" charset="0"/>
              </a:rPr>
              <a:t>;	</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GB" sz="2000" b="1" i="0" u="none" strike="noStrike" kern="0" cap="none" spc="0" normalizeH="0" baseline="0" noProof="0" dirty="0" err="1">
                <a:ln>
                  <a:noFill/>
                </a:ln>
                <a:solidFill>
                  <a:srgbClr val="3099D9"/>
                </a:solidFill>
                <a:effectLst/>
                <a:uLnTx/>
                <a:uFillTx/>
                <a:latin typeface="Consolas" pitchFamily="49" charset="0"/>
              </a:rPr>
              <a:t>ManyToMany</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GB" sz="2000" b="1" i="0" u="none" strike="noStrike" kern="0" cap="none" spc="0" normalizeH="0" baseline="0" noProof="0" dirty="0" err="1">
                <a:ln>
                  <a:noFill/>
                </a:ln>
                <a:solidFill>
                  <a:srgbClr val="3099D9"/>
                </a:solidFill>
                <a:effectLst/>
                <a:uLnTx/>
                <a:uFillTx/>
                <a:latin typeface="Consolas" pitchFamily="49" charset="0"/>
              </a:rPr>
              <a:t>mappedBy</a:t>
            </a:r>
            <a:r>
              <a:rPr kumimoji="0" lang="en-GB" sz="2000" b="1" i="0" u="none" strike="noStrike" kern="0" cap="none" spc="0" normalizeH="0" baseline="0" noProof="0" dirty="0">
                <a:ln>
                  <a:noFill/>
                </a:ln>
                <a:solidFill>
                  <a:srgbClr val="3099D9"/>
                </a:solidFill>
                <a:effectLst/>
                <a:uLnTx/>
                <a:uFillTx/>
                <a:latin typeface="Consolas" pitchFamily="49" charset="0"/>
              </a:rPr>
              <a:t> = “skills”)</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List&lt;Employee&gt; employees;</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Tree>
    <p:extLst>
      <p:ext uri="{BB962C8B-B14F-4D97-AF65-F5344CB8AC3E}">
        <p14:creationId xmlns:p14="http://schemas.microsoft.com/office/powerpoint/2010/main" val="33728068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3">
            <a:extLst>
              <a:ext uri="{FF2B5EF4-FFF2-40B4-BE49-F238E27FC236}">
                <a16:creationId xmlns:a16="http://schemas.microsoft.com/office/drawing/2014/main" id="{6CA4847E-AD1D-3C09-D1AC-7D9808EAC326}"/>
              </a:ext>
            </a:extLst>
          </p:cNvPr>
          <p:cNvSpPr/>
          <p:nvPr/>
        </p:nvSpPr>
        <p:spPr>
          <a:xfrm>
            <a:off x="2174630" y="2422904"/>
            <a:ext cx="7842739" cy="1335179"/>
          </a:xfrm>
          <a:prstGeom prst="roundRect">
            <a:avLst/>
          </a:prstGeom>
          <a:solidFill>
            <a:schemeClr val="accent1"/>
          </a:solidFill>
          <a:ln w="63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3600" b="1" i="0" u="none" strike="noStrike" kern="0" cap="none" spc="0" normalizeH="0" baseline="0" noProof="0" dirty="0">
                <a:ln>
                  <a:noFill/>
                </a:ln>
                <a:solidFill>
                  <a:srgbClr val="000000"/>
                </a:solidFill>
                <a:effectLst/>
                <a:uLnTx/>
                <a:uFillTx/>
                <a:latin typeface="Calibri" panose="020F0502020204030204"/>
                <a:ea typeface="+mn-ea"/>
                <a:cs typeface="+mn-cs"/>
              </a:rPr>
              <a:t>JPA – Entity Inheritance</a:t>
            </a:r>
          </a:p>
        </p:txBody>
      </p:sp>
    </p:spTree>
    <p:extLst>
      <p:ext uri="{BB962C8B-B14F-4D97-AF65-F5344CB8AC3E}">
        <p14:creationId xmlns:p14="http://schemas.microsoft.com/office/powerpoint/2010/main" val="4483978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E2F6E60-EBCB-E63D-1FD0-B7E970FF9431}"/>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Entity Inheritance</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5" name="Content Placeholder 2">
            <a:extLst>
              <a:ext uri="{FF2B5EF4-FFF2-40B4-BE49-F238E27FC236}">
                <a16:creationId xmlns:a16="http://schemas.microsoft.com/office/drawing/2014/main" id="{C6661A59-D0F0-AB87-EC56-D811CB648063}"/>
              </a:ext>
            </a:extLst>
          </p:cNvPr>
          <p:cNvSpPr txBox="1">
            <a:spLocks/>
          </p:cNvSpPr>
          <p:nvPr/>
        </p:nvSpPr>
        <p:spPr>
          <a:xfrm>
            <a:off x="495472" y="1630017"/>
            <a:ext cx="11003136" cy="4867483"/>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Entities support class inheritance, polymorphic associations, and polymorphic queries.</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Entity classes can extend non-entity classes, and non-entity classes can extend entity classes.</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Entity classes can be both abstract and concrete.</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Entity Inheritance mapping strategies: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Mapped Superclass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Single table per class hierarchy</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Table per concrete entity class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Joined Subclass</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Annotations used</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@MappedSuperclass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@Inheritance(strategy = InheritanceType.SINGLE_TABLE)</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@Inheritance(strategy = InheritanceType.TABLE_PER_CLASS)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@Inheritance(strategy = InheritanceType.JOINED)</a:t>
            </a: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8763021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2">
            <a:extLst>
              <a:ext uri="{FF2B5EF4-FFF2-40B4-BE49-F238E27FC236}">
                <a16:creationId xmlns:a16="http://schemas.microsoft.com/office/drawing/2014/main" id="{8E5AE155-AAFE-2EFD-BC95-2E866704CADC}"/>
              </a:ext>
            </a:extLst>
          </p:cNvPr>
          <p:cNvSpPr txBox="1">
            <a:spLocks/>
          </p:cNvSpPr>
          <p:nvPr/>
        </p:nvSpPr>
        <p:spPr>
          <a:xfrm>
            <a:off x="594811" y="250670"/>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Mapped Superclass</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16" name="Content Placeholder 3">
            <a:extLst>
              <a:ext uri="{FF2B5EF4-FFF2-40B4-BE49-F238E27FC236}">
                <a16:creationId xmlns:a16="http://schemas.microsoft.com/office/drawing/2014/main" id="{9DD8D01E-33D6-1200-D60D-2A29E7703582}"/>
              </a:ext>
            </a:extLst>
          </p:cNvPr>
          <p:cNvSpPr txBox="1">
            <a:spLocks/>
          </p:cNvSpPr>
          <p:nvPr/>
        </p:nvSpPr>
        <p:spPr>
          <a:xfrm>
            <a:off x="594053" y="1240972"/>
            <a:ext cx="11003136" cy="4672013"/>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Entities may inherit from super classes that contain persistent state and mapping information but are not entities.</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The superclass is not annotated with @Entity and is not mapped as an Entity.</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This strategy is used when you have properties and mapping information common to multiple entity classes.</a:t>
            </a: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graphicFrame>
        <p:nvGraphicFramePr>
          <p:cNvPr id="17" name="Table 11">
            <a:extLst>
              <a:ext uri="{FF2B5EF4-FFF2-40B4-BE49-F238E27FC236}">
                <a16:creationId xmlns:a16="http://schemas.microsoft.com/office/drawing/2014/main" id="{014E58A9-404E-A439-155D-EEA9DCBA7FA0}"/>
              </a:ext>
            </a:extLst>
          </p:cNvPr>
          <p:cNvGraphicFramePr>
            <a:graphicFrameLocks noGrp="1"/>
          </p:cNvGraphicFramePr>
          <p:nvPr>
            <p:extLst>
              <p:ext uri="{D42A27DB-BD31-4B8C-83A1-F6EECF244321}">
                <p14:modId xmlns:p14="http://schemas.microsoft.com/office/powerpoint/2010/main" val="522866662"/>
              </p:ext>
            </p:extLst>
          </p:nvPr>
        </p:nvGraphicFramePr>
        <p:xfrm>
          <a:off x="2162722" y="3069770"/>
          <a:ext cx="1920994" cy="1112520"/>
        </p:xfrm>
        <a:graphic>
          <a:graphicData uri="http://schemas.openxmlformats.org/drawingml/2006/table">
            <a:tbl>
              <a:tblPr firstRow="1" bandRow="1"/>
              <a:tblGrid>
                <a:gridCol w="1920994">
                  <a:extLst>
                    <a:ext uri="{9D8B030D-6E8A-4147-A177-3AD203B41FA5}">
                      <a16:colId xmlns:a16="http://schemas.microsoft.com/office/drawing/2014/main" val="1813786790"/>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Account</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406590911"/>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accNo</a:t>
                      </a:r>
                      <a:endParaRPr lang="en-CA"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244694391"/>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balance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4098390828"/>
                  </a:ext>
                </a:extLst>
              </a:tr>
            </a:tbl>
          </a:graphicData>
        </a:graphic>
      </p:graphicFrame>
      <p:graphicFrame>
        <p:nvGraphicFramePr>
          <p:cNvPr id="18" name="Table 11">
            <a:extLst>
              <a:ext uri="{FF2B5EF4-FFF2-40B4-BE49-F238E27FC236}">
                <a16:creationId xmlns:a16="http://schemas.microsoft.com/office/drawing/2014/main" id="{5A6B2327-2708-CF5F-FA3E-FFB9FC09BE1C}"/>
              </a:ext>
            </a:extLst>
          </p:cNvPr>
          <p:cNvGraphicFramePr>
            <a:graphicFrameLocks noGrp="1"/>
          </p:cNvGraphicFramePr>
          <p:nvPr>
            <p:extLst>
              <p:ext uri="{D42A27DB-BD31-4B8C-83A1-F6EECF244321}">
                <p14:modId xmlns:p14="http://schemas.microsoft.com/office/powerpoint/2010/main" val="1872260679"/>
              </p:ext>
            </p:extLst>
          </p:nvPr>
        </p:nvGraphicFramePr>
        <p:xfrm>
          <a:off x="3303550" y="5135053"/>
          <a:ext cx="1863186" cy="741680"/>
        </p:xfrm>
        <a:graphic>
          <a:graphicData uri="http://schemas.openxmlformats.org/drawingml/2006/table">
            <a:tbl>
              <a:tblPr firstRow="1" bandRow="1"/>
              <a:tblGrid>
                <a:gridCol w="1863186">
                  <a:extLst>
                    <a:ext uri="{9D8B030D-6E8A-4147-A177-3AD203B41FA5}">
                      <a16:colId xmlns:a16="http://schemas.microsoft.com/office/drawing/2014/main" val="1813786790"/>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err="1"/>
                        <a:t>CheckingAccount</a:t>
                      </a:r>
                      <a:endParaRPr lang="en-CA"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406590911"/>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minBalance</a:t>
                      </a:r>
                      <a:endParaRPr lang="en-CA"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244694391"/>
                  </a:ext>
                </a:extLst>
              </a:tr>
            </a:tbl>
          </a:graphicData>
        </a:graphic>
      </p:graphicFrame>
      <p:graphicFrame>
        <p:nvGraphicFramePr>
          <p:cNvPr id="19" name="Table 11">
            <a:extLst>
              <a:ext uri="{FF2B5EF4-FFF2-40B4-BE49-F238E27FC236}">
                <a16:creationId xmlns:a16="http://schemas.microsoft.com/office/drawing/2014/main" id="{AB4CCCB4-3D6B-7D4E-8276-DF4B9217C0AF}"/>
              </a:ext>
            </a:extLst>
          </p:cNvPr>
          <p:cNvGraphicFramePr>
            <a:graphicFrameLocks noGrp="1"/>
          </p:cNvGraphicFramePr>
          <p:nvPr>
            <p:extLst>
              <p:ext uri="{D42A27DB-BD31-4B8C-83A1-F6EECF244321}">
                <p14:modId xmlns:p14="http://schemas.microsoft.com/office/powerpoint/2010/main" val="1783817712"/>
              </p:ext>
            </p:extLst>
          </p:nvPr>
        </p:nvGraphicFramePr>
        <p:xfrm>
          <a:off x="804259" y="5135053"/>
          <a:ext cx="1805379" cy="741680"/>
        </p:xfrm>
        <a:graphic>
          <a:graphicData uri="http://schemas.openxmlformats.org/drawingml/2006/table">
            <a:tbl>
              <a:tblPr firstRow="1" bandRow="1"/>
              <a:tblGrid>
                <a:gridCol w="1805379">
                  <a:extLst>
                    <a:ext uri="{9D8B030D-6E8A-4147-A177-3AD203B41FA5}">
                      <a16:colId xmlns:a16="http://schemas.microsoft.com/office/drawing/2014/main" val="1813786790"/>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err="1"/>
                        <a:t>SavingsAccount</a:t>
                      </a:r>
                      <a:endParaRPr lang="en-CA"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406590911"/>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interestRate</a:t>
                      </a:r>
                      <a:endParaRPr lang="en-CA"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244694391"/>
                  </a:ext>
                </a:extLst>
              </a:tr>
            </a:tbl>
          </a:graphicData>
        </a:graphic>
      </p:graphicFrame>
      <p:cxnSp>
        <p:nvCxnSpPr>
          <p:cNvPr id="20" name="Straight Connector 19">
            <a:extLst>
              <a:ext uri="{FF2B5EF4-FFF2-40B4-BE49-F238E27FC236}">
                <a16:creationId xmlns:a16="http://schemas.microsoft.com/office/drawing/2014/main" id="{958ACD1A-8768-54DB-1F74-E104C63FA1A4}"/>
              </a:ext>
            </a:extLst>
          </p:cNvPr>
          <p:cNvCxnSpPr>
            <a:cxnSpLocks/>
          </p:cNvCxnSpPr>
          <p:nvPr/>
        </p:nvCxnSpPr>
        <p:spPr>
          <a:xfrm flipV="1">
            <a:off x="1986901" y="4331013"/>
            <a:ext cx="496614" cy="804040"/>
          </a:xfrm>
          <a:prstGeom prst="line">
            <a:avLst/>
          </a:prstGeom>
          <a:noFill/>
          <a:ln w="6350" cap="flat" cmpd="sng" algn="ctr">
            <a:solidFill>
              <a:srgbClr val="009FE3"/>
            </a:solidFill>
            <a:prstDash val="solid"/>
            <a:miter lim="800000"/>
          </a:ln>
          <a:effectLst/>
        </p:spPr>
      </p:cxnSp>
      <p:sp>
        <p:nvSpPr>
          <p:cNvPr id="21" name="Isosceles Triangle 20">
            <a:extLst>
              <a:ext uri="{FF2B5EF4-FFF2-40B4-BE49-F238E27FC236}">
                <a16:creationId xmlns:a16="http://schemas.microsoft.com/office/drawing/2014/main" id="{EE75E747-C96C-B9FB-8081-230B4D565FE2}"/>
              </a:ext>
            </a:extLst>
          </p:cNvPr>
          <p:cNvSpPr/>
          <p:nvPr/>
        </p:nvSpPr>
        <p:spPr>
          <a:xfrm rot="12935630" flipV="1">
            <a:off x="2446022" y="4201086"/>
            <a:ext cx="201108" cy="140679"/>
          </a:xfrm>
          <a:prstGeom prst="triangle">
            <a:avLst/>
          </a:prstGeom>
          <a:solidFill>
            <a:srgbClr val="009FE3"/>
          </a:solidFill>
          <a:ln w="12700" cap="flat" cmpd="sng" algn="ctr">
            <a:solidFill>
              <a:srgbClr val="009F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Connector 21">
            <a:extLst>
              <a:ext uri="{FF2B5EF4-FFF2-40B4-BE49-F238E27FC236}">
                <a16:creationId xmlns:a16="http://schemas.microsoft.com/office/drawing/2014/main" id="{701CAFDC-E361-36B8-FE51-A0A4D38C1589}"/>
              </a:ext>
            </a:extLst>
          </p:cNvPr>
          <p:cNvCxnSpPr>
            <a:cxnSpLocks/>
            <a:endCxn id="23" idx="3"/>
          </p:cNvCxnSpPr>
          <p:nvPr/>
        </p:nvCxnSpPr>
        <p:spPr>
          <a:xfrm flipH="1" flipV="1">
            <a:off x="3664787" y="4351424"/>
            <a:ext cx="382698" cy="784655"/>
          </a:xfrm>
          <a:prstGeom prst="line">
            <a:avLst/>
          </a:prstGeom>
          <a:noFill/>
          <a:ln w="6350" cap="flat" cmpd="sng" algn="ctr">
            <a:solidFill>
              <a:srgbClr val="009FE3"/>
            </a:solidFill>
            <a:prstDash val="solid"/>
            <a:miter lim="800000"/>
          </a:ln>
          <a:effectLst/>
        </p:spPr>
      </p:cxnSp>
      <p:sp>
        <p:nvSpPr>
          <p:cNvPr id="23" name="Isosceles Triangle 22">
            <a:extLst>
              <a:ext uri="{FF2B5EF4-FFF2-40B4-BE49-F238E27FC236}">
                <a16:creationId xmlns:a16="http://schemas.microsoft.com/office/drawing/2014/main" id="{4265845A-919A-9F5A-9267-F241EB3E7EA0}"/>
              </a:ext>
            </a:extLst>
          </p:cNvPr>
          <p:cNvSpPr/>
          <p:nvPr/>
        </p:nvSpPr>
        <p:spPr>
          <a:xfrm rot="9281949" flipV="1">
            <a:off x="3534172" y="4217492"/>
            <a:ext cx="201108" cy="140679"/>
          </a:xfrm>
          <a:prstGeom prst="triangle">
            <a:avLst/>
          </a:prstGeom>
          <a:solidFill>
            <a:srgbClr val="009FE3"/>
          </a:solidFill>
          <a:ln w="12700" cap="flat" cmpd="sng" algn="ctr">
            <a:solidFill>
              <a:srgbClr val="009F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24" name="Table 26">
            <a:extLst>
              <a:ext uri="{FF2B5EF4-FFF2-40B4-BE49-F238E27FC236}">
                <a16:creationId xmlns:a16="http://schemas.microsoft.com/office/drawing/2014/main" id="{F7714104-F6A7-1EBA-B833-EC957414DEB8}"/>
              </a:ext>
            </a:extLst>
          </p:cNvPr>
          <p:cNvGraphicFramePr>
            <a:graphicFrameLocks noGrp="1"/>
          </p:cNvGraphicFramePr>
          <p:nvPr>
            <p:extLst>
              <p:ext uri="{D42A27DB-BD31-4B8C-83A1-F6EECF244321}">
                <p14:modId xmlns:p14="http://schemas.microsoft.com/office/powerpoint/2010/main" val="3395914539"/>
              </p:ext>
            </p:extLst>
          </p:nvPr>
        </p:nvGraphicFramePr>
        <p:xfrm>
          <a:off x="6468384" y="3306253"/>
          <a:ext cx="4969947" cy="741680"/>
        </p:xfrm>
        <a:graphic>
          <a:graphicData uri="http://schemas.openxmlformats.org/drawingml/2006/table">
            <a:tbl>
              <a:tblPr firstRow="1" bandRow="1"/>
              <a:tblGrid>
                <a:gridCol w="1501531">
                  <a:extLst>
                    <a:ext uri="{9D8B030D-6E8A-4147-A177-3AD203B41FA5}">
                      <a16:colId xmlns:a16="http://schemas.microsoft.com/office/drawing/2014/main" val="3889799343"/>
                    </a:ext>
                  </a:extLst>
                </a:gridCol>
                <a:gridCol w="1474076">
                  <a:extLst>
                    <a:ext uri="{9D8B030D-6E8A-4147-A177-3AD203B41FA5}">
                      <a16:colId xmlns:a16="http://schemas.microsoft.com/office/drawing/2014/main" val="839232629"/>
                    </a:ext>
                  </a:extLst>
                </a:gridCol>
                <a:gridCol w="1994340">
                  <a:extLst>
                    <a:ext uri="{9D8B030D-6E8A-4147-A177-3AD203B41FA5}">
                      <a16:colId xmlns:a16="http://schemas.microsoft.com/office/drawing/2014/main" val="1736020805"/>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ACC_NO</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BALANCE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INTEREST_RATE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45396545"/>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1000001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5000</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2.5</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2558503289"/>
                  </a:ext>
                </a:extLst>
              </a:tr>
            </a:tbl>
          </a:graphicData>
        </a:graphic>
      </p:graphicFrame>
      <p:graphicFrame>
        <p:nvGraphicFramePr>
          <p:cNvPr id="25" name="Table 26">
            <a:extLst>
              <a:ext uri="{FF2B5EF4-FFF2-40B4-BE49-F238E27FC236}">
                <a16:creationId xmlns:a16="http://schemas.microsoft.com/office/drawing/2014/main" id="{9E1B2ED7-DD28-E3E6-4CBA-A79E9570F7E3}"/>
              </a:ext>
            </a:extLst>
          </p:cNvPr>
          <p:cNvGraphicFramePr>
            <a:graphicFrameLocks noGrp="1"/>
          </p:cNvGraphicFramePr>
          <p:nvPr>
            <p:extLst>
              <p:ext uri="{D42A27DB-BD31-4B8C-83A1-F6EECF244321}">
                <p14:modId xmlns:p14="http://schemas.microsoft.com/office/powerpoint/2010/main" val="484895629"/>
              </p:ext>
            </p:extLst>
          </p:nvPr>
        </p:nvGraphicFramePr>
        <p:xfrm>
          <a:off x="6468384" y="5007424"/>
          <a:ext cx="4969947" cy="736600"/>
        </p:xfrm>
        <a:graphic>
          <a:graphicData uri="http://schemas.openxmlformats.org/drawingml/2006/table">
            <a:tbl>
              <a:tblPr firstRow="1" bandRow="1"/>
              <a:tblGrid>
                <a:gridCol w="1656649">
                  <a:extLst>
                    <a:ext uri="{9D8B030D-6E8A-4147-A177-3AD203B41FA5}">
                      <a16:colId xmlns:a16="http://schemas.microsoft.com/office/drawing/2014/main" val="3889799343"/>
                    </a:ext>
                  </a:extLst>
                </a:gridCol>
                <a:gridCol w="1342606">
                  <a:extLst>
                    <a:ext uri="{9D8B030D-6E8A-4147-A177-3AD203B41FA5}">
                      <a16:colId xmlns:a16="http://schemas.microsoft.com/office/drawing/2014/main" val="839232629"/>
                    </a:ext>
                  </a:extLst>
                </a:gridCol>
                <a:gridCol w="1970692">
                  <a:extLst>
                    <a:ext uri="{9D8B030D-6E8A-4147-A177-3AD203B41FA5}">
                      <a16:colId xmlns:a16="http://schemas.microsoft.com/office/drawing/2014/main" val="1736020805"/>
                    </a:ext>
                  </a:extLst>
                </a:gridCol>
              </a:tblGrid>
              <a:tr h="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ACC_NO</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BALANCE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MIN_BALANCE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45396545"/>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10000002</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10000</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500</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2558503289"/>
                  </a:ext>
                </a:extLst>
              </a:tr>
            </a:tbl>
          </a:graphicData>
        </a:graphic>
      </p:graphicFrame>
      <p:sp>
        <p:nvSpPr>
          <p:cNvPr id="26" name="TextBox 25">
            <a:extLst>
              <a:ext uri="{FF2B5EF4-FFF2-40B4-BE49-F238E27FC236}">
                <a16:creationId xmlns:a16="http://schemas.microsoft.com/office/drawing/2014/main" id="{93C44B44-B80D-C1EA-4664-271A0FEBDDF8}"/>
              </a:ext>
            </a:extLst>
          </p:cNvPr>
          <p:cNvSpPr txBox="1"/>
          <p:nvPr/>
        </p:nvSpPr>
        <p:spPr>
          <a:xfrm>
            <a:off x="6468384" y="2936921"/>
            <a:ext cx="3594538"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SAVINGS_ACCOUNT TABLE</a:t>
            </a:r>
          </a:p>
        </p:txBody>
      </p:sp>
      <p:sp>
        <p:nvSpPr>
          <p:cNvPr id="27" name="TextBox 26">
            <a:extLst>
              <a:ext uri="{FF2B5EF4-FFF2-40B4-BE49-F238E27FC236}">
                <a16:creationId xmlns:a16="http://schemas.microsoft.com/office/drawing/2014/main" id="{127CAD85-7EB4-CE5E-1B50-DCCFEC2C153E}"/>
              </a:ext>
            </a:extLst>
          </p:cNvPr>
          <p:cNvSpPr txBox="1"/>
          <p:nvPr/>
        </p:nvSpPr>
        <p:spPr>
          <a:xfrm>
            <a:off x="6468384" y="4548367"/>
            <a:ext cx="3594538"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CHECKING_ACCOUNT TABLE</a:t>
            </a:r>
          </a:p>
        </p:txBody>
      </p:sp>
    </p:spTree>
    <p:extLst>
      <p:ext uri="{BB962C8B-B14F-4D97-AF65-F5344CB8AC3E}">
        <p14:creationId xmlns:p14="http://schemas.microsoft.com/office/powerpoint/2010/main" val="38037327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7FA9EA5-717A-8B33-41C5-A48D212BBE14}"/>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Mapped Superclass – Pros &amp; Cons</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5" name="Content Placeholder 2">
            <a:extLst>
              <a:ext uri="{FF2B5EF4-FFF2-40B4-BE49-F238E27FC236}">
                <a16:creationId xmlns:a16="http://schemas.microsoft.com/office/drawing/2014/main" id="{C772876D-3583-8B1A-EE0D-8FA1753657F6}"/>
              </a:ext>
            </a:extLst>
          </p:cNvPr>
          <p:cNvSpPr txBox="1">
            <a:spLocks/>
          </p:cNvSpPr>
          <p:nvPr/>
        </p:nvSpPr>
        <p:spPr>
          <a:xfrm>
            <a:off x="601490" y="2300147"/>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Pros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Easy to implement when there is shared attribute between entities.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Cons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 mapped superclass is not an entity hence no table for it.</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 mapped superclass cannot be queried.</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 mapped superclass cannot involve in entity relationship.</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Can’t use polymorphic queries.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2302047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2">
            <a:extLst>
              <a:ext uri="{FF2B5EF4-FFF2-40B4-BE49-F238E27FC236}">
                <a16:creationId xmlns:a16="http://schemas.microsoft.com/office/drawing/2014/main" id="{EFA37ECC-F070-5D9C-4E8F-810C6A76F3EC}"/>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Single table per class hierarchy</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15" name="Content Placeholder 3">
            <a:extLst>
              <a:ext uri="{FF2B5EF4-FFF2-40B4-BE49-F238E27FC236}">
                <a16:creationId xmlns:a16="http://schemas.microsoft.com/office/drawing/2014/main" id="{4C76C52A-60EE-3A16-35C5-91E71C00CDDE}"/>
              </a:ext>
            </a:extLst>
          </p:cNvPr>
          <p:cNvSpPr txBox="1">
            <a:spLocks/>
          </p:cNvSpPr>
          <p:nvPr/>
        </p:nvSpPr>
        <p:spPr>
          <a:xfrm>
            <a:off x="601490" y="1600200"/>
            <a:ext cx="11003136" cy="4672013"/>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All classes in the hierarchy are mapped to a single table in the database.</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This table has a </a:t>
            </a:r>
            <a:r>
              <a:rPr kumimoji="0" lang="en-US" sz="1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discriminator column</a:t>
            </a: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containing a value that identifies the subclass to which the instance represented by the row belongs.</a:t>
            </a: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graphicFrame>
        <p:nvGraphicFramePr>
          <p:cNvPr id="16" name="Table 11">
            <a:extLst>
              <a:ext uri="{FF2B5EF4-FFF2-40B4-BE49-F238E27FC236}">
                <a16:creationId xmlns:a16="http://schemas.microsoft.com/office/drawing/2014/main" id="{4CAC757B-DE69-2C1B-977E-CC47ECBB3FFF}"/>
              </a:ext>
            </a:extLst>
          </p:cNvPr>
          <p:cNvGraphicFramePr>
            <a:graphicFrameLocks noGrp="1"/>
          </p:cNvGraphicFramePr>
          <p:nvPr>
            <p:extLst>
              <p:ext uri="{D42A27DB-BD31-4B8C-83A1-F6EECF244321}">
                <p14:modId xmlns:p14="http://schemas.microsoft.com/office/powerpoint/2010/main" val="2082888047"/>
              </p:ext>
            </p:extLst>
          </p:nvPr>
        </p:nvGraphicFramePr>
        <p:xfrm>
          <a:off x="1474429" y="3144086"/>
          <a:ext cx="1920994" cy="1112520"/>
        </p:xfrm>
        <a:graphic>
          <a:graphicData uri="http://schemas.openxmlformats.org/drawingml/2006/table">
            <a:tbl>
              <a:tblPr firstRow="1" bandRow="1"/>
              <a:tblGrid>
                <a:gridCol w="1920994">
                  <a:extLst>
                    <a:ext uri="{9D8B030D-6E8A-4147-A177-3AD203B41FA5}">
                      <a16:colId xmlns:a16="http://schemas.microsoft.com/office/drawing/2014/main" val="1813786790"/>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Account</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406590911"/>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accNo</a:t>
                      </a:r>
                      <a:endParaRPr lang="en-CA"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244694391"/>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balance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4098390828"/>
                  </a:ext>
                </a:extLst>
              </a:tr>
            </a:tbl>
          </a:graphicData>
        </a:graphic>
      </p:graphicFrame>
      <p:graphicFrame>
        <p:nvGraphicFramePr>
          <p:cNvPr id="17" name="Table 11">
            <a:extLst>
              <a:ext uri="{FF2B5EF4-FFF2-40B4-BE49-F238E27FC236}">
                <a16:creationId xmlns:a16="http://schemas.microsoft.com/office/drawing/2014/main" id="{82B63493-36A7-288C-5E26-25ECAE000650}"/>
              </a:ext>
            </a:extLst>
          </p:cNvPr>
          <p:cNvGraphicFramePr>
            <a:graphicFrameLocks noGrp="1"/>
          </p:cNvGraphicFramePr>
          <p:nvPr>
            <p:extLst>
              <p:ext uri="{D42A27DB-BD31-4B8C-83A1-F6EECF244321}">
                <p14:modId xmlns:p14="http://schemas.microsoft.com/office/powerpoint/2010/main" val="1295756525"/>
              </p:ext>
            </p:extLst>
          </p:nvPr>
        </p:nvGraphicFramePr>
        <p:xfrm>
          <a:off x="2615257" y="5209369"/>
          <a:ext cx="1863186" cy="741680"/>
        </p:xfrm>
        <a:graphic>
          <a:graphicData uri="http://schemas.openxmlformats.org/drawingml/2006/table">
            <a:tbl>
              <a:tblPr firstRow="1" bandRow="1"/>
              <a:tblGrid>
                <a:gridCol w="1863186">
                  <a:extLst>
                    <a:ext uri="{9D8B030D-6E8A-4147-A177-3AD203B41FA5}">
                      <a16:colId xmlns:a16="http://schemas.microsoft.com/office/drawing/2014/main" val="1813786790"/>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err="1"/>
                        <a:t>CheckingAccount</a:t>
                      </a:r>
                      <a:endParaRPr lang="en-CA"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406590911"/>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minBalance</a:t>
                      </a:r>
                      <a:endParaRPr lang="en-CA"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244694391"/>
                  </a:ext>
                </a:extLst>
              </a:tr>
            </a:tbl>
          </a:graphicData>
        </a:graphic>
      </p:graphicFrame>
      <p:graphicFrame>
        <p:nvGraphicFramePr>
          <p:cNvPr id="18" name="Table 11">
            <a:extLst>
              <a:ext uri="{FF2B5EF4-FFF2-40B4-BE49-F238E27FC236}">
                <a16:creationId xmlns:a16="http://schemas.microsoft.com/office/drawing/2014/main" id="{B16F841E-D233-0357-2DC4-1FDAA4036D7B}"/>
              </a:ext>
            </a:extLst>
          </p:cNvPr>
          <p:cNvGraphicFramePr>
            <a:graphicFrameLocks noGrp="1"/>
          </p:cNvGraphicFramePr>
          <p:nvPr>
            <p:extLst>
              <p:ext uri="{D42A27DB-BD31-4B8C-83A1-F6EECF244321}">
                <p14:modId xmlns:p14="http://schemas.microsoft.com/office/powerpoint/2010/main" val="1308031207"/>
              </p:ext>
            </p:extLst>
          </p:nvPr>
        </p:nvGraphicFramePr>
        <p:xfrm>
          <a:off x="115966" y="5209369"/>
          <a:ext cx="1805379" cy="741680"/>
        </p:xfrm>
        <a:graphic>
          <a:graphicData uri="http://schemas.openxmlformats.org/drawingml/2006/table">
            <a:tbl>
              <a:tblPr firstRow="1" bandRow="1"/>
              <a:tblGrid>
                <a:gridCol w="1805379">
                  <a:extLst>
                    <a:ext uri="{9D8B030D-6E8A-4147-A177-3AD203B41FA5}">
                      <a16:colId xmlns:a16="http://schemas.microsoft.com/office/drawing/2014/main" val="1813786790"/>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err="1"/>
                        <a:t>SavingsAccount</a:t>
                      </a:r>
                      <a:endParaRPr lang="en-CA"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406590911"/>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interestRate</a:t>
                      </a:r>
                      <a:endParaRPr lang="en-CA"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244694391"/>
                  </a:ext>
                </a:extLst>
              </a:tr>
            </a:tbl>
          </a:graphicData>
        </a:graphic>
      </p:graphicFrame>
      <p:cxnSp>
        <p:nvCxnSpPr>
          <p:cNvPr id="19" name="Straight Connector 18">
            <a:extLst>
              <a:ext uri="{FF2B5EF4-FFF2-40B4-BE49-F238E27FC236}">
                <a16:creationId xmlns:a16="http://schemas.microsoft.com/office/drawing/2014/main" id="{9710F196-3680-A6BE-9346-F4AAC2A0D925}"/>
              </a:ext>
            </a:extLst>
          </p:cNvPr>
          <p:cNvCxnSpPr>
            <a:cxnSpLocks/>
          </p:cNvCxnSpPr>
          <p:nvPr/>
        </p:nvCxnSpPr>
        <p:spPr>
          <a:xfrm flipV="1">
            <a:off x="1298608" y="4405329"/>
            <a:ext cx="496614" cy="804040"/>
          </a:xfrm>
          <a:prstGeom prst="line">
            <a:avLst/>
          </a:prstGeom>
          <a:noFill/>
          <a:ln w="6350" cap="flat" cmpd="sng" algn="ctr">
            <a:solidFill>
              <a:srgbClr val="009FE3"/>
            </a:solidFill>
            <a:prstDash val="solid"/>
            <a:miter lim="800000"/>
          </a:ln>
          <a:effectLst/>
        </p:spPr>
      </p:cxnSp>
      <p:sp>
        <p:nvSpPr>
          <p:cNvPr id="20" name="Isosceles Triangle 19">
            <a:extLst>
              <a:ext uri="{FF2B5EF4-FFF2-40B4-BE49-F238E27FC236}">
                <a16:creationId xmlns:a16="http://schemas.microsoft.com/office/drawing/2014/main" id="{E9EA5066-0C5E-DD0F-D899-BCF09EBAD358}"/>
              </a:ext>
            </a:extLst>
          </p:cNvPr>
          <p:cNvSpPr/>
          <p:nvPr/>
        </p:nvSpPr>
        <p:spPr>
          <a:xfrm rot="12935630" flipV="1">
            <a:off x="1757729" y="4275402"/>
            <a:ext cx="201108" cy="140679"/>
          </a:xfrm>
          <a:prstGeom prst="triangle">
            <a:avLst/>
          </a:prstGeom>
          <a:solidFill>
            <a:srgbClr val="009FE3"/>
          </a:solidFill>
          <a:ln w="12700" cap="flat" cmpd="sng" algn="ctr">
            <a:solidFill>
              <a:srgbClr val="009F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1" name="Straight Connector 20">
            <a:extLst>
              <a:ext uri="{FF2B5EF4-FFF2-40B4-BE49-F238E27FC236}">
                <a16:creationId xmlns:a16="http://schemas.microsoft.com/office/drawing/2014/main" id="{67990B47-1E3C-C915-2BEB-2B479C0B69BC}"/>
              </a:ext>
            </a:extLst>
          </p:cNvPr>
          <p:cNvCxnSpPr>
            <a:cxnSpLocks/>
            <a:endCxn id="22" idx="3"/>
          </p:cNvCxnSpPr>
          <p:nvPr/>
        </p:nvCxnSpPr>
        <p:spPr>
          <a:xfrm flipH="1" flipV="1">
            <a:off x="2976494" y="4425740"/>
            <a:ext cx="382698" cy="784655"/>
          </a:xfrm>
          <a:prstGeom prst="line">
            <a:avLst/>
          </a:prstGeom>
          <a:noFill/>
          <a:ln w="6350" cap="flat" cmpd="sng" algn="ctr">
            <a:solidFill>
              <a:srgbClr val="009FE3"/>
            </a:solidFill>
            <a:prstDash val="solid"/>
            <a:miter lim="800000"/>
          </a:ln>
          <a:effectLst/>
        </p:spPr>
      </p:cxnSp>
      <p:sp>
        <p:nvSpPr>
          <p:cNvPr id="22" name="Isosceles Triangle 21">
            <a:extLst>
              <a:ext uri="{FF2B5EF4-FFF2-40B4-BE49-F238E27FC236}">
                <a16:creationId xmlns:a16="http://schemas.microsoft.com/office/drawing/2014/main" id="{FF8AE2BB-008D-0D2C-FC4B-E694746FC9DA}"/>
              </a:ext>
            </a:extLst>
          </p:cNvPr>
          <p:cNvSpPr/>
          <p:nvPr/>
        </p:nvSpPr>
        <p:spPr>
          <a:xfrm rot="9281949" flipV="1">
            <a:off x="2845879" y="4291808"/>
            <a:ext cx="201108" cy="140679"/>
          </a:xfrm>
          <a:prstGeom prst="triangle">
            <a:avLst/>
          </a:prstGeom>
          <a:solidFill>
            <a:srgbClr val="009FE3"/>
          </a:solidFill>
          <a:ln w="12700" cap="flat" cmpd="sng" algn="ctr">
            <a:solidFill>
              <a:srgbClr val="009F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23" name="Table 26">
            <a:extLst>
              <a:ext uri="{FF2B5EF4-FFF2-40B4-BE49-F238E27FC236}">
                <a16:creationId xmlns:a16="http://schemas.microsoft.com/office/drawing/2014/main" id="{825B3430-E9A9-8804-75B6-FCDC61DF703E}"/>
              </a:ext>
            </a:extLst>
          </p:cNvPr>
          <p:cNvGraphicFramePr>
            <a:graphicFrameLocks noGrp="1"/>
          </p:cNvGraphicFramePr>
          <p:nvPr>
            <p:extLst>
              <p:ext uri="{D42A27DB-BD31-4B8C-83A1-F6EECF244321}">
                <p14:modId xmlns:p14="http://schemas.microsoft.com/office/powerpoint/2010/main" val="2199872624"/>
              </p:ext>
            </p:extLst>
          </p:nvPr>
        </p:nvGraphicFramePr>
        <p:xfrm>
          <a:off x="4839681" y="3936206"/>
          <a:ext cx="6915978" cy="1112520"/>
        </p:xfrm>
        <a:graphic>
          <a:graphicData uri="http://schemas.openxmlformats.org/drawingml/2006/table">
            <a:tbl>
              <a:tblPr firstRow="1" bandRow="1"/>
              <a:tblGrid>
                <a:gridCol w="1150302">
                  <a:extLst>
                    <a:ext uri="{9D8B030D-6E8A-4147-A177-3AD203B41FA5}">
                      <a16:colId xmlns:a16="http://schemas.microsoft.com/office/drawing/2014/main" val="3889799343"/>
                    </a:ext>
                  </a:extLst>
                </a:gridCol>
                <a:gridCol w="1239078">
                  <a:extLst>
                    <a:ext uri="{9D8B030D-6E8A-4147-A177-3AD203B41FA5}">
                      <a16:colId xmlns:a16="http://schemas.microsoft.com/office/drawing/2014/main" val="839232629"/>
                    </a:ext>
                  </a:extLst>
                </a:gridCol>
                <a:gridCol w="1152939">
                  <a:extLst>
                    <a:ext uri="{9D8B030D-6E8A-4147-A177-3AD203B41FA5}">
                      <a16:colId xmlns:a16="http://schemas.microsoft.com/office/drawing/2014/main" val="1736020805"/>
                    </a:ext>
                  </a:extLst>
                </a:gridCol>
                <a:gridCol w="1736035">
                  <a:extLst>
                    <a:ext uri="{9D8B030D-6E8A-4147-A177-3AD203B41FA5}">
                      <a16:colId xmlns:a16="http://schemas.microsoft.com/office/drawing/2014/main" val="4243406146"/>
                    </a:ext>
                  </a:extLst>
                </a:gridCol>
                <a:gridCol w="1637624">
                  <a:extLst>
                    <a:ext uri="{9D8B030D-6E8A-4147-A177-3AD203B41FA5}">
                      <a16:colId xmlns:a16="http://schemas.microsoft.com/office/drawing/2014/main" val="34470367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ACC_NO</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ACC_TYPE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BALANCE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INTEREST_RATE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MIN_BALANCE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45396545"/>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10000001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Savings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5000</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2.5</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NULL</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255850328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10000002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Checking</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NULL</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500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2118992531"/>
                  </a:ext>
                </a:extLst>
              </a:tr>
            </a:tbl>
          </a:graphicData>
        </a:graphic>
      </p:graphicFrame>
      <p:sp>
        <p:nvSpPr>
          <p:cNvPr id="24" name="TextBox 23">
            <a:extLst>
              <a:ext uri="{FF2B5EF4-FFF2-40B4-BE49-F238E27FC236}">
                <a16:creationId xmlns:a16="http://schemas.microsoft.com/office/drawing/2014/main" id="{53D70964-C0AA-7984-13C7-11B605E99BAE}"/>
              </a:ext>
            </a:extLst>
          </p:cNvPr>
          <p:cNvSpPr txBox="1"/>
          <p:nvPr/>
        </p:nvSpPr>
        <p:spPr>
          <a:xfrm>
            <a:off x="6475821" y="3296149"/>
            <a:ext cx="3594538"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ACCOUNT TABLE</a:t>
            </a:r>
          </a:p>
        </p:txBody>
      </p:sp>
      <p:sp>
        <p:nvSpPr>
          <p:cNvPr id="25" name="TextBox 24">
            <a:extLst>
              <a:ext uri="{FF2B5EF4-FFF2-40B4-BE49-F238E27FC236}">
                <a16:creationId xmlns:a16="http://schemas.microsoft.com/office/drawing/2014/main" id="{7A226D7C-4EB2-145D-0E0A-F133DD3A5553}"/>
              </a:ext>
            </a:extLst>
          </p:cNvPr>
          <p:cNvSpPr txBox="1"/>
          <p:nvPr/>
        </p:nvSpPr>
        <p:spPr>
          <a:xfrm>
            <a:off x="5307496" y="5209369"/>
            <a:ext cx="5718313"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1" u="none" strike="noStrike" kern="0" cap="none" spc="0" normalizeH="0" baseline="0" noProof="0" dirty="0">
                <a:ln>
                  <a:noFill/>
                </a:ln>
                <a:solidFill>
                  <a:srgbClr val="000000"/>
                </a:solidFill>
                <a:effectLst/>
                <a:uLnTx/>
                <a:uFillTx/>
              </a:rPr>
              <a:t>Note: ACC_TYPE is the discriminator column</a:t>
            </a:r>
          </a:p>
        </p:txBody>
      </p:sp>
    </p:spTree>
    <p:extLst>
      <p:ext uri="{BB962C8B-B14F-4D97-AF65-F5344CB8AC3E}">
        <p14:creationId xmlns:p14="http://schemas.microsoft.com/office/powerpoint/2010/main" val="18896760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63FA250-9E28-135F-4144-9CA882DA8CFE}"/>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Single table per class – Pros &amp; Cons</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5" name="Content Placeholder 2">
            <a:extLst>
              <a:ext uri="{FF2B5EF4-FFF2-40B4-BE49-F238E27FC236}">
                <a16:creationId xmlns:a16="http://schemas.microsoft.com/office/drawing/2014/main" id="{DDFB3C67-EE77-2EF5-D668-2344DCEDE231}"/>
              </a:ext>
            </a:extLst>
          </p:cNvPr>
          <p:cNvSpPr txBox="1">
            <a:spLocks/>
          </p:cNvSpPr>
          <p:nvPr/>
        </p:nvSpPr>
        <p:spPr>
          <a:xfrm>
            <a:off x="601490" y="2300147"/>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Pros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Simple</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Can use polymorphic queries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Best performance as query doesn’t require any join statements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Cons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NULL values – each record uses only subset of available columns.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Cannot use NOT NULL constraints – data integrity issues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1124298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27291245-F2F1-3960-A75D-85020199E843}"/>
              </a:ext>
            </a:extLst>
          </p:cNvPr>
          <p:cNvSpPr txBox="1">
            <a:spLocks/>
          </p:cNvSpPr>
          <p:nvPr/>
        </p:nvSpPr>
        <p:spPr>
          <a:xfrm>
            <a:off x="594811" y="201684"/>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Table per concrete entity class</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18" name="Content Placeholder 3">
            <a:extLst>
              <a:ext uri="{FF2B5EF4-FFF2-40B4-BE49-F238E27FC236}">
                <a16:creationId xmlns:a16="http://schemas.microsoft.com/office/drawing/2014/main" id="{CBDB19F2-1AAC-7E69-C50F-916BE9F36E68}"/>
              </a:ext>
            </a:extLst>
          </p:cNvPr>
          <p:cNvSpPr txBox="1">
            <a:spLocks/>
          </p:cNvSpPr>
          <p:nvPr/>
        </p:nvSpPr>
        <p:spPr>
          <a:xfrm>
            <a:off x="594053" y="1191986"/>
            <a:ext cx="11003136" cy="4672013"/>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Each concrete class is mapped to a separate table in the database. </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All fields or properties in the class, including inherited fields or properties, are mapped to columns in the class’s table in the database.</a:t>
            </a: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graphicFrame>
        <p:nvGraphicFramePr>
          <p:cNvPr id="19" name="Table 11">
            <a:extLst>
              <a:ext uri="{FF2B5EF4-FFF2-40B4-BE49-F238E27FC236}">
                <a16:creationId xmlns:a16="http://schemas.microsoft.com/office/drawing/2014/main" id="{D9771C23-D2B0-9CE1-C18B-92DCD7A33035}"/>
              </a:ext>
            </a:extLst>
          </p:cNvPr>
          <p:cNvGraphicFramePr>
            <a:graphicFrameLocks noGrp="1"/>
          </p:cNvGraphicFramePr>
          <p:nvPr>
            <p:extLst>
              <p:ext uri="{D42A27DB-BD31-4B8C-83A1-F6EECF244321}">
                <p14:modId xmlns:p14="http://schemas.microsoft.com/office/powerpoint/2010/main" val="1917285158"/>
              </p:ext>
            </p:extLst>
          </p:nvPr>
        </p:nvGraphicFramePr>
        <p:xfrm>
          <a:off x="2235619" y="2735872"/>
          <a:ext cx="1920994" cy="1112520"/>
        </p:xfrm>
        <a:graphic>
          <a:graphicData uri="http://schemas.openxmlformats.org/drawingml/2006/table">
            <a:tbl>
              <a:tblPr firstRow="1" bandRow="1"/>
              <a:tblGrid>
                <a:gridCol w="1920994">
                  <a:extLst>
                    <a:ext uri="{9D8B030D-6E8A-4147-A177-3AD203B41FA5}">
                      <a16:colId xmlns:a16="http://schemas.microsoft.com/office/drawing/2014/main" val="1813786790"/>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Account</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406590911"/>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accNo</a:t>
                      </a:r>
                      <a:endParaRPr lang="en-CA"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244694391"/>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balance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4098390828"/>
                  </a:ext>
                </a:extLst>
              </a:tr>
            </a:tbl>
          </a:graphicData>
        </a:graphic>
      </p:graphicFrame>
      <p:graphicFrame>
        <p:nvGraphicFramePr>
          <p:cNvPr id="20" name="Table 11">
            <a:extLst>
              <a:ext uri="{FF2B5EF4-FFF2-40B4-BE49-F238E27FC236}">
                <a16:creationId xmlns:a16="http://schemas.microsoft.com/office/drawing/2014/main" id="{DEC4B9C1-885C-DED0-B9F6-D40251A19376}"/>
              </a:ext>
            </a:extLst>
          </p:cNvPr>
          <p:cNvGraphicFramePr>
            <a:graphicFrameLocks noGrp="1"/>
          </p:cNvGraphicFramePr>
          <p:nvPr>
            <p:extLst>
              <p:ext uri="{D42A27DB-BD31-4B8C-83A1-F6EECF244321}">
                <p14:modId xmlns:p14="http://schemas.microsoft.com/office/powerpoint/2010/main" val="2256852610"/>
              </p:ext>
            </p:extLst>
          </p:nvPr>
        </p:nvGraphicFramePr>
        <p:xfrm>
          <a:off x="3376447" y="4801155"/>
          <a:ext cx="1863186" cy="741680"/>
        </p:xfrm>
        <a:graphic>
          <a:graphicData uri="http://schemas.openxmlformats.org/drawingml/2006/table">
            <a:tbl>
              <a:tblPr firstRow="1" bandRow="1"/>
              <a:tblGrid>
                <a:gridCol w="1863186">
                  <a:extLst>
                    <a:ext uri="{9D8B030D-6E8A-4147-A177-3AD203B41FA5}">
                      <a16:colId xmlns:a16="http://schemas.microsoft.com/office/drawing/2014/main" val="1813786790"/>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err="1"/>
                        <a:t>CheckingAccount</a:t>
                      </a:r>
                      <a:endParaRPr lang="en-CA"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406590911"/>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minBalance</a:t>
                      </a:r>
                      <a:endParaRPr lang="en-CA"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244694391"/>
                  </a:ext>
                </a:extLst>
              </a:tr>
            </a:tbl>
          </a:graphicData>
        </a:graphic>
      </p:graphicFrame>
      <p:graphicFrame>
        <p:nvGraphicFramePr>
          <p:cNvPr id="21" name="Table 11">
            <a:extLst>
              <a:ext uri="{FF2B5EF4-FFF2-40B4-BE49-F238E27FC236}">
                <a16:creationId xmlns:a16="http://schemas.microsoft.com/office/drawing/2014/main" id="{7647FCF2-AEE7-13D1-82D4-EA78FAFC1B44}"/>
              </a:ext>
            </a:extLst>
          </p:cNvPr>
          <p:cNvGraphicFramePr>
            <a:graphicFrameLocks noGrp="1"/>
          </p:cNvGraphicFramePr>
          <p:nvPr>
            <p:extLst>
              <p:ext uri="{D42A27DB-BD31-4B8C-83A1-F6EECF244321}">
                <p14:modId xmlns:p14="http://schemas.microsoft.com/office/powerpoint/2010/main" val="182380314"/>
              </p:ext>
            </p:extLst>
          </p:nvPr>
        </p:nvGraphicFramePr>
        <p:xfrm>
          <a:off x="877156" y="4801155"/>
          <a:ext cx="1805379" cy="741680"/>
        </p:xfrm>
        <a:graphic>
          <a:graphicData uri="http://schemas.openxmlformats.org/drawingml/2006/table">
            <a:tbl>
              <a:tblPr firstRow="1" bandRow="1"/>
              <a:tblGrid>
                <a:gridCol w="1805379">
                  <a:extLst>
                    <a:ext uri="{9D8B030D-6E8A-4147-A177-3AD203B41FA5}">
                      <a16:colId xmlns:a16="http://schemas.microsoft.com/office/drawing/2014/main" val="1813786790"/>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err="1"/>
                        <a:t>SavingsAccount</a:t>
                      </a:r>
                      <a:endParaRPr lang="en-CA"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406590911"/>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interestRate</a:t>
                      </a:r>
                      <a:endParaRPr lang="en-CA"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244694391"/>
                  </a:ext>
                </a:extLst>
              </a:tr>
            </a:tbl>
          </a:graphicData>
        </a:graphic>
      </p:graphicFrame>
      <p:cxnSp>
        <p:nvCxnSpPr>
          <p:cNvPr id="22" name="Straight Connector 21">
            <a:extLst>
              <a:ext uri="{FF2B5EF4-FFF2-40B4-BE49-F238E27FC236}">
                <a16:creationId xmlns:a16="http://schemas.microsoft.com/office/drawing/2014/main" id="{5D592896-24EE-1988-D26B-A15C76AE4EF5}"/>
              </a:ext>
            </a:extLst>
          </p:cNvPr>
          <p:cNvCxnSpPr>
            <a:cxnSpLocks/>
          </p:cNvCxnSpPr>
          <p:nvPr/>
        </p:nvCxnSpPr>
        <p:spPr>
          <a:xfrm flipV="1">
            <a:off x="2059798" y="3997115"/>
            <a:ext cx="496614" cy="804040"/>
          </a:xfrm>
          <a:prstGeom prst="line">
            <a:avLst/>
          </a:prstGeom>
          <a:noFill/>
          <a:ln w="6350" cap="flat" cmpd="sng" algn="ctr">
            <a:solidFill>
              <a:srgbClr val="009FE3"/>
            </a:solidFill>
            <a:prstDash val="solid"/>
            <a:miter lim="800000"/>
          </a:ln>
          <a:effectLst/>
        </p:spPr>
      </p:cxnSp>
      <p:sp>
        <p:nvSpPr>
          <p:cNvPr id="23" name="Isosceles Triangle 22">
            <a:extLst>
              <a:ext uri="{FF2B5EF4-FFF2-40B4-BE49-F238E27FC236}">
                <a16:creationId xmlns:a16="http://schemas.microsoft.com/office/drawing/2014/main" id="{4961139A-5127-8848-07BE-5969760452EB}"/>
              </a:ext>
            </a:extLst>
          </p:cNvPr>
          <p:cNvSpPr/>
          <p:nvPr/>
        </p:nvSpPr>
        <p:spPr>
          <a:xfrm rot="12935630" flipV="1">
            <a:off x="2518919" y="3867188"/>
            <a:ext cx="201108" cy="140679"/>
          </a:xfrm>
          <a:prstGeom prst="triangle">
            <a:avLst/>
          </a:prstGeom>
          <a:solidFill>
            <a:srgbClr val="009FE3"/>
          </a:solidFill>
          <a:ln w="12700" cap="flat" cmpd="sng" algn="ctr">
            <a:solidFill>
              <a:srgbClr val="009F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4" name="Straight Connector 23">
            <a:extLst>
              <a:ext uri="{FF2B5EF4-FFF2-40B4-BE49-F238E27FC236}">
                <a16:creationId xmlns:a16="http://schemas.microsoft.com/office/drawing/2014/main" id="{4122B31C-7EA2-6423-84BD-2D3B0BF65D2D}"/>
              </a:ext>
            </a:extLst>
          </p:cNvPr>
          <p:cNvCxnSpPr>
            <a:cxnSpLocks/>
            <a:endCxn id="25" idx="3"/>
          </p:cNvCxnSpPr>
          <p:nvPr/>
        </p:nvCxnSpPr>
        <p:spPr>
          <a:xfrm flipH="1" flipV="1">
            <a:off x="3737684" y="4017526"/>
            <a:ext cx="382698" cy="784655"/>
          </a:xfrm>
          <a:prstGeom prst="line">
            <a:avLst/>
          </a:prstGeom>
          <a:noFill/>
          <a:ln w="6350" cap="flat" cmpd="sng" algn="ctr">
            <a:solidFill>
              <a:srgbClr val="009FE3"/>
            </a:solidFill>
            <a:prstDash val="solid"/>
            <a:miter lim="800000"/>
          </a:ln>
          <a:effectLst/>
        </p:spPr>
      </p:cxnSp>
      <p:sp>
        <p:nvSpPr>
          <p:cNvPr id="25" name="Isosceles Triangle 24">
            <a:extLst>
              <a:ext uri="{FF2B5EF4-FFF2-40B4-BE49-F238E27FC236}">
                <a16:creationId xmlns:a16="http://schemas.microsoft.com/office/drawing/2014/main" id="{E842711D-345B-F5DF-95D3-0A65EC0263B8}"/>
              </a:ext>
            </a:extLst>
          </p:cNvPr>
          <p:cNvSpPr/>
          <p:nvPr/>
        </p:nvSpPr>
        <p:spPr>
          <a:xfrm rot="9281949" flipV="1">
            <a:off x="3607069" y="3883594"/>
            <a:ext cx="201108" cy="140679"/>
          </a:xfrm>
          <a:prstGeom prst="triangle">
            <a:avLst/>
          </a:prstGeom>
          <a:solidFill>
            <a:srgbClr val="009FE3"/>
          </a:solidFill>
          <a:ln w="12700" cap="flat" cmpd="sng" algn="ctr">
            <a:solidFill>
              <a:srgbClr val="009F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26" name="Table 26">
            <a:extLst>
              <a:ext uri="{FF2B5EF4-FFF2-40B4-BE49-F238E27FC236}">
                <a16:creationId xmlns:a16="http://schemas.microsoft.com/office/drawing/2014/main" id="{510BC75A-5DE9-7B2F-91A3-59F8D7A984B0}"/>
              </a:ext>
            </a:extLst>
          </p:cNvPr>
          <p:cNvGraphicFramePr>
            <a:graphicFrameLocks noGrp="1"/>
          </p:cNvGraphicFramePr>
          <p:nvPr>
            <p:extLst>
              <p:ext uri="{D42A27DB-BD31-4B8C-83A1-F6EECF244321}">
                <p14:modId xmlns:p14="http://schemas.microsoft.com/office/powerpoint/2010/main" val="1676219414"/>
              </p:ext>
            </p:extLst>
          </p:nvPr>
        </p:nvGraphicFramePr>
        <p:xfrm>
          <a:off x="6289482" y="3986132"/>
          <a:ext cx="4969947" cy="741680"/>
        </p:xfrm>
        <a:graphic>
          <a:graphicData uri="http://schemas.openxmlformats.org/drawingml/2006/table">
            <a:tbl>
              <a:tblPr firstRow="1" bandRow="1"/>
              <a:tblGrid>
                <a:gridCol w="1501531">
                  <a:extLst>
                    <a:ext uri="{9D8B030D-6E8A-4147-A177-3AD203B41FA5}">
                      <a16:colId xmlns:a16="http://schemas.microsoft.com/office/drawing/2014/main" val="3889799343"/>
                    </a:ext>
                  </a:extLst>
                </a:gridCol>
                <a:gridCol w="1474076">
                  <a:extLst>
                    <a:ext uri="{9D8B030D-6E8A-4147-A177-3AD203B41FA5}">
                      <a16:colId xmlns:a16="http://schemas.microsoft.com/office/drawing/2014/main" val="839232629"/>
                    </a:ext>
                  </a:extLst>
                </a:gridCol>
                <a:gridCol w="1994340">
                  <a:extLst>
                    <a:ext uri="{9D8B030D-6E8A-4147-A177-3AD203B41FA5}">
                      <a16:colId xmlns:a16="http://schemas.microsoft.com/office/drawing/2014/main" val="1736020805"/>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ACC_NO</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BALANCE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INTEREST_RATE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45396545"/>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1000001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5000</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2.5</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2558503289"/>
                  </a:ext>
                </a:extLst>
              </a:tr>
            </a:tbl>
          </a:graphicData>
        </a:graphic>
      </p:graphicFrame>
      <p:graphicFrame>
        <p:nvGraphicFramePr>
          <p:cNvPr id="27" name="Table 26">
            <a:extLst>
              <a:ext uri="{FF2B5EF4-FFF2-40B4-BE49-F238E27FC236}">
                <a16:creationId xmlns:a16="http://schemas.microsoft.com/office/drawing/2014/main" id="{E284EEA9-E4DD-3231-33EF-893827E3C412}"/>
              </a:ext>
            </a:extLst>
          </p:cNvPr>
          <p:cNvGraphicFramePr>
            <a:graphicFrameLocks noGrp="1"/>
          </p:cNvGraphicFramePr>
          <p:nvPr>
            <p:extLst>
              <p:ext uri="{D42A27DB-BD31-4B8C-83A1-F6EECF244321}">
                <p14:modId xmlns:p14="http://schemas.microsoft.com/office/powerpoint/2010/main" val="4287230354"/>
              </p:ext>
            </p:extLst>
          </p:nvPr>
        </p:nvGraphicFramePr>
        <p:xfrm>
          <a:off x="6289482" y="5382507"/>
          <a:ext cx="4969947" cy="736600"/>
        </p:xfrm>
        <a:graphic>
          <a:graphicData uri="http://schemas.openxmlformats.org/drawingml/2006/table">
            <a:tbl>
              <a:tblPr firstRow="1" bandRow="1"/>
              <a:tblGrid>
                <a:gridCol w="1656649">
                  <a:extLst>
                    <a:ext uri="{9D8B030D-6E8A-4147-A177-3AD203B41FA5}">
                      <a16:colId xmlns:a16="http://schemas.microsoft.com/office/drawing/2014/main" val="3889799343"/>
                    </a:ext>
                  </a:extLst>
                </a:gridCol>
                <a:gridCol w="1342606">
                  <a:extLst>
                    <a:ext uri="{9D8B030D-6E8A-4147-A177-3AD203B41FA5}">
                      <a16:colId xmlns:a16="http://schemas.microsoft.com/office/drawing/2014/main" val="839232629"/>
                    </a:ext>
                  </a:extLst>
                </a:gridCol>
                <a:gridCol w="1970692">
                  <a:extLst>
                    <a:ext uri="{9D8B030D-6E8A-4147-A177-3AD203B41FA5}">
                      <a16:colId xmlns:a16="http://schemas.microsoft.com/office/drawing/2014/main" val="1736020805"/>
                    </a:ext>
                  </a:extLst>
                </a:gridCol>
              </a:tblGrid>
              <a:tr h="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ACC_NO</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BALANCE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MIN_BALANCE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45396545"/>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10000002</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10000</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500</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2558503289"/>
                  </a:ext>
                </a:extLst>
              </a:tr>
            </a:tbl>
          </a:graphicData>
        </a:graphic>
      </p:graphicFrame>
      <p:sp>
        <p:nvSpPr>
          <p:cNvPr id="28" name="TextBox 27">
            <a:extLst>
              <a:ext uri="{FF2B5EF4-FFF2-40B4-BE49-F238E27FC236}">
                <a16:creationId xmlns:a16="http://schemas.microsoft.com/office/drawing/2014/main" id="{5FCD6982-5618-6BE6-FDD3-672A28936522}"/>
              </a:ext>
            </a:extLst>
          </p:cNvPr>
          <p:cNvSpPr txBox="1"/>
          <p:nvPr/>
        </p:nvSpPr>
        <p:spPr>
          <a:xfrm>
            <a:off x="6289482" y="3616800"/>
            <a:ext cx="3594538"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SAVINGS_ACCOUNT TABLE</a:t>
            </a:r>
          </a:p>
        </p:txBody>
      </p:sp>
      <p:sp>
        <p:nvSpPr>
          <p:cNvPr id="29" name="TextBox 28">
            <a:extLst>
              <a:ext uri="{FF2B5EF4-FFF2-40B4-BE49-F238E27FC236}">
                <a16:creationId xmlns:a16="http://schemas.microsoft.com/office/drawing/2014/main" id="{9A685CF0-A6C6-1AC7-2E63-A1FBAF0A76CB}"/>
              </a:ext>
            </a:extLst>
          </p:cNvPr>
          <p:cNvSpPr txBox="1"/>
          <p:nvPr/>
        </p:nvSpPr>
        <p:spPr>
          <a:xfrm>
            <a:off x="6289482" y="4923450"/>
            <a:ext cx="3594538"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CHECKING_ACCOUNT TABLE</a:t>
            </a:r>
          </a:p>
        </p:txBody>
      </p:sp>
      <p:graphicFrame>
        <p:nvGraphicFramePr>
          <p:cNvPr id="30" name="Table 26">
            <a:extLst>
              <a:ext uri="{FF2B5EF4-FFF2-40B4-BE49-F238E27FC236}">
                <a16:creationId xmlns:a16="http://schemas.microsoft.com/office/drawing/2014/main" id="{71E0A158-89EA-555F-4087-1ABD11A7E55C}"/>
              </a:ext>
            </a:extLst>
          </p:cNvPr>
          <p:cNvGraphicFramePr>
            <a:graphicFrameLocks noGrp="1"/>
          </p:cNvGraphicFramePr>
          <p:nvPr>
            <p:extLst>
              <p:ext uri="{D42A27DB-BD31-4B8C-83A1-F6EECF244321}">
                <p14:modId xmlns:p14="http://schemas.microsoft.com/office/powerpoint/2010/main" val="1051381742"/>
              </p:ext>
            </p:extLst>
          </p:nvPr>
        </p:nvGraphicFramePr>
        <p:xfrm>
          <a:off x="6289482" y="2329613"/>
          <a:ext cx="2975607" cy="1112520"/>
        </p:xfrm>
        <a:graphic>
          <a:graphicData uri="http://schemas.openxmlformats.org/drawingml/2006/table">
            <a:tbl>
              <a:tblPr firstRow="1" bandRow="1"/>
              <a:tblGrid>
                <a:gridCol w="1501531">
                  <a:extLst>
                    <a:ext uri="{9D8B030D-6E8A-4147-A177-3AD203B41FA5}">
                      <a16:colId xmlns:a16="http://schemas.microsoft.com/office/drawing/2014/main" val="3889799343"/>
                    </a:ext>
                  </a:extLst>
                </a:gridCol>
                <a:gridCol w="1474076">
                  <a:extLst>
                    <a:ext uri="{9D8B030D-6E8A-4147-A177-3AD203B41FA5}">
                      <a16:colId xmlns:a16="http://schemas.microsoft.com/office/drawing/2014/main" val="839232629"/>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ACC_NO</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BALANCE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45396545"/>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1000001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5000</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255850328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1000002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1786903517"/>
                  </a:ext>
                </a:extLst>
              </a:tr>
            </a:tbl>
          </a:graphicData>
        </a:graphic>
      </p:graphicFrame>
      <p:sp>
        <p:nvSpPr>
          <p:cNvPr id="31" name="TextBox 30">
            <a:extLst>
              <a:ext uri="{FF2B5EF4-FFF2-40B4-BE49-F238E27FC236}">
                <a16:creationId xmlns:a16="http://schemas.microsoft.com/office/drawing/2014/main" id="{2AD61C91-D9C4-3AD4-A5ED-123FD6082AC8}"/>
              </a:ext>
            </a:extLst>
          </p:cNvPr>
          <p:cNvSpPr txBox="1"/>
          <p:nvPr/>
        </p:nvSpPr>
        <p:spPr>
          <a:xfrm>
            <a:off x="6289482" y="1960281"/>
            <a:ext cx="3594538"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ACCOUNT TABLE</a:t>
            </a:r>
          </a:p>
        </p:txBody>
      </p:sp>
    </p:spTree>
    <p:extLst>
      <p:ext uri="{BB962C8B-B14F-4D97-AF65-F5344CB8AC3E}">
        <p14:creationId xmlns:p14="http://schemas.microsoft.com/office/powerpoint/2010/main" val="25070210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1945C9E-8B96-99F3-6290-31E4E708D10A}"/>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Table per concrete entity– Pros &amp; Cons</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5" name="Content Placeholder 2">
            <a:extLst>
              <a:ext uri="{FF2B5EF4-FFF2-40B4-BE49-F238E27FC236}">
                <a16:creationId xmlns:a16="http://schemas.microsoft.com/office/drawing/2014/main" id="{06FB8696-4FF8-0215-9823-DC77047CA7B6}"/>
              </a:ext>
            </a:extLst>
          </p:cNvPr>
          <p:cNvSpPr txBox="1">
            <a:spLocks/>
          </p:cNvSpPr>
          <p:nvPr/>
        </p:nvSpPr>
        <p:spPr>
          <a:xfrm>
            <a:off x="601490" y="2300147"/>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Pros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Can use polymorphic queries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Superclass can participate in entity relationships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Easy to query specific entities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Cons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Poor performance – complex polymorphic query</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8167976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E71EDABF-D5B0-8006-7A04-96DCFF25B89C}"/>
              </a:ext>
            </a:extLst>
          </p:cNvPr>
          <p:cNvSpPr txBox="1">
            <a:spLocks/>
          </p:cNvSpPr>
          <p:nvPr/>
        </p:nvSpPr>
        <p:spPr>
          <a:xfrm>
            <a:off x="594811" y="136369"/>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Joined Subclass</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18" name="Content Placeholder 3">
            <a:extLst>
              <a:ext uri="{FF2B5EF4-FFF2-40B4-BE49-F238E27FC236}">
                <a16:creationId xmlns:a16="http://schemas.microsoft.com/office/drawing/2014/main" id="{EF39638C-9996-2C91-4C47-C331EFAE2BA2}"/>
              </a:ext>
            </a:extLst>
          </p:cNvPr>
          <p:cNvSpPr txBox="1">
            <a:spLocks/>
          </p:cNvSpPr>
          <p:nvPr/>
        </p:nvSpPr>
        <p:spPr>
          <a:xfrm>
            <a:off x="594053" y="977585"/>
            <a:ext cx="11003136" cy="4821100"/>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The root of the class hierarchy is represented by a single table, and each subclass has a separate table that contains only those fields specific to that subclass. </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The subclass table also has a column or columns that represent its primary key, which is a foreign key to the primary key of the superclass table.</a:t>
            </a: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graphicFrame>
        <p:nvGraphicFramePr>
          <p:cNvPr id="19" name="Table 11">
            <a:extLst>
              <a:ext uri="{FF2B5EF4-FFF2-40B4-BE49-F238E27FC236}">
                <a16:creationId xmlns:a16="http://schemas.microsoft.com/office/drawing/2014/main" id="{751F9F82-E1D8-6509-FFA4-77BDDADFF0FA}"/>
              </a:ext>
            </a:extLst>
          </p:cNvPr>
          <p:cNvGraphicFramePr>
            <a:graphicFrameLocks noGrp="1"/>
          </p:cNvGraphicFramePr>
          <p:nvPr>
            <p:extLst>
              <p:ext uri="{D42A27DB-BD31-4B8C-83A1-F6EECF244321}">
                <p14:modId xmlns:p14="http://schemas.microsoft.com/office/powerpoint/2010/main" val="1470454796"/>
              </p:ext>
            </p:extLst>
          </p:nvPr>
        </p:nvGraphicFramePr>
        <p:xfrm>
          <a:off x="2235619" y="2670557"/>
          <a:ext cx="1920994" cy="1112520"/>
        </p:xfrm>
        <a:graphic>
          <a:graphicData uri="http://schemas.openxmlformats.org/drawingml/2006/table">
            <a:tbl>
              <a:tblPr firstRow="1" bandRow="1"/>
              <a:tblGrid>
                <a:gridCol w="1920994">
                  <a:extLst>
                    <a:ext uri="{9D8B030D-6E8A-4147-A177-3AD203B41FA5}">
                      <a16:colId xmlns:a16="http://schemas.microsoft.com/office/drawing/2014/main" val="1813786790"/>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Account</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406590911"/>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accNo</a:t>
                      </a:r>
                      <a:endParaRPr lang="en-CA"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244694391"/>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balance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4098390828"/>
                  </a:ext>
                </a:extLst>
              </a:tr>
            </a:tbl>
          </a:graphicData>
        </a:graphic>
      </p:graphicFrame>
      <p:graphicFrame>
        <p:nvGraphicFramePr>
          <p:cNvPr id="20" name="Table 11">
            <a:extLst>
              <a:ext uri="{FF2B5EF4-FFF2-40B4-BE49-F238E27FC236}">
                <a16:creationId xmlns:a16="http://schemas.microsoft.com/office/drawing/2014/main" id="{4991CE45-472F-E77A-DCD6-1048AAF4B6C0}"/>
              </a:ext>
            </a:extLst>
          </p:cNvPr>
          <p:cNvGraphicFramePr>
            <a:graphicFrameLocks noGrp="1"/>
          </p:cNvGraphicFramePr>
          <p:nvPr>
            <p:extLst>
              <p:ext uri="{D42A27DB-BD31-4B8C-83A1-F6EECF244321}">
                <p14:modId xmlns:p14="http://schemas.microsoft.com/office/powerpoint/2010/main" val="295557238"/>
              </p:ext>
            </p:extLst>
          </p:nvPr>
        </p:nvGraphicFramePr>
        <p:xfrm>
          <a:off x="3376447" y="4735840"/>
          <a:ext cx="1863186" cy="741680"/>
        </p:xfrm>
        <a:graphic>
          <a:graphicData uri="http://schemas.openxmlformats.org/drawingml/2006/table">
            <a:tbl>
              <a:tblPr firstRow="1" bandRow="1"/>
              <a:tblGrid>
                <a:gridCol w="1863186">
                  <a:extLst>
                    <a:ext uri="{9D8B030D-6E8A-4147-A177-3AD203B41FA5}">
                      <a16:colId xmlns:a16="http://schemas.microsoft.com/office/drawing/2014/main" val="1813786790"/>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err="1"/>
                        <a:t>CheckingAccount</a:t>
                      </a:r>
                      <a:endParaRPr lang="en-CA"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406590911"/>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minBalance</a:t>
                      </a:r>
                      <a:endParaRPr lang="en-CA"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244694391"/>
                  </a:ext>
                </a:extLst>
              </a:tr>
            </a:tbl>
          </a:graphicData>
        </a:graphic>
      </p:graphicFrame>
      <p:graphicFrame>
        <p:nvGraphicFramePr>
          <p:cNvPr id="21" name="Table 11">
            <a:extLst>
              <a:ext uri="{FF2B5EF4-FFF2-40B4-BE49-F238E27FC236}">
                <a16:creationId xmlns:a16="http://schemas.microsoft.com/office/drawing/2014/main" id="{42B193A9-95D3-07E1-4272-4937CC6F3EE1}"/>
              </a:ext>
            </a:extLst>
          </p:cNvPr>
          <p:cNvGraphicFramePr>
            <a:graphicFrameLocks noGrp="1"/>
          </p:cNvGraphicFramePr>
          <p:nvPr>
            <p:extLst>
              <p:ext uri="{D42A27DB-BD31-4B8C-83A1-F6EECF244321}">
                <p14:modId xmlns:p14="http://schemas.microsoft.com/office/powerpoint/2010/main" val="1175326810"/>
              </p:ext>
            </p:extLst>
          </p:nvPr>
        </p:nvGraphicFramePr>
        <p:xfrm>
          <a:off x="877156" y="4735840"/>
          <a:ext cx="1805379" cy="741680"/>
        </p:xfrm>
        <a:graphic>
          <a:graphicData uri="http://schemas.openxmlformats.org/drawingml/2006/table">
            <a:tbl>
              <a:tblPr firstRow="1" bandRow="1"/>
              <a:tblGrid>
                <a:gridCol w="1805379">
                  <a:extLst>
                    <a:ext uri="{9D8B030D-6E8A-4147-A177-3AD203B41FA5}">
                      <a16:colId xmlns:a16="http://schemas.microsoft.com/office/drawing/2014/main" val="1813786790"/>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err="1"/>
                        <a:t>SavingsAccount</a:t>
                      </a:r>
                      <a:endParaRPr lang="en-CA"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406590911"/>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 </a:t>
                      </a:r>
                      <a:r>
                        <a:rPr lang="en-CA" dirty="0" err="1"/>
                        <a:t>interestRate</a:t>
                      </a:r>
                      <a:endParaRPr lang="en-CA"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244694391"/>
                  </a:ext>
                </a:extLst>
              </a:tr>
            </a:tbl>
          </a:graphicData>
        </a:graphic>
      </p:graphicFrame>
      <p:cxnSp>
        <p:nvCxnSpPr>
          <p:cNvPr id="22" name="Straight Connector 21">
            <a:extLst>
              <a:ext uri="{FF2B5EF4-FFF2-40B4-BE49-F238E27FC236}">
                <a16:creationId xmlns:a16="http://schemas.microsoft.com/office/drawing/2014/main" id="{3FA4E21C-B0C0-1F1E-A62F-692C82631ACC}"/>
              </a:ext>
            </a:extLst>
          </p:cNvPr>
          <p:cNvCxnSpPr>
            <a:cxnSpLocks/>
          </p:cNvCxnSpPr>
          <p:nvPr/>
        </p:nvCxnSpPr>
        <p:spPr>
          <a:xfrm flipV="1">
            <a:off x="2059798" y="3931800"/>
            <a:ext cx="496614" cy="804040"/>
          </a:xfrm>
          <a:prstGeom prst="line">
            <a:avLst/>
          </a:prstGeom>
          <a:noFill/>
          <a:ln w="6350" cap="flat" cmpd="sng" algn="ctr">
            <a:solidFill>
              <a:srgbClr val="009FE3"/>
            </a:solidFill>
            <a:prstDash val="solid"/>
            <a:miter lim="800000"/>
          </a:ln>
          <a:effectLst/>
        </p:spPr>
      </p:cxnSp>
      <p:sp>
        <p:nvSpPr>
          <p:cNvPr id="23" name="Isosceles Triangle 22">
            <a:extLst>
              <a:ext uri="{FF2B5EF4-FFF2-40B4-BE49-F238E27FC236}">
                <a16:creationId xmlns:a16="http://schemas.microsoft.com/office/drawing/2014/main" id="{166867AA-54B6-0D58-EE6B-7D669196E718}"/>
              </a:ext>
            </a:extLst>
          </p:cNvPr>
          <p:cNvSpPr/>
          <p:nvPr/>
        </p:nvSpPr>
        <p:spPr>
          <a:xfrm rot="12935630" flipV="1">
            <a:off x="2518919" y="3801873"/>
            <a:ext cx="201108" cy="140679"/>
          </a:xfrm>
          <a:prstGeom prst="triangle">
            <a:avLst/>
          </a:prstGeom>
          <a:solidFill>
            <a:srgbClr val="009FE3"/>
          </a:solidFill>
          <a:ln w="12700" cap="flat" cmpd="sng" algn="ctr">
            <a:solidFill>
              <a:srgbClr val="009F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4" name="Straight Connector 23">
            <a:extLst>
              <a:ext uri="{FF2B5EF4-FFF2-40B4-BE49-F238E27FC236}">
                <a16:creationId xmlns:a16="http://schemas.microsoft.com/office/drawing/2014/main" id="{BFF30A70-D316-3C80-67F0-EBE08B0A2D2E}"/>
              </a:ext>
            </a:extLst>
          </p:cNvPr>
          <p:cNvCxnSpPr>
            <a:cxnSpLocks/>
            <a:endCxn id="25" idx="3"/>
          </p:cNvCxnSpPr>
          <p:nvPr/>
        </p:nvCxnSpPr>
        <p:spPr>
          <a:xfrm flipH="1" flipV="1">
            <a:off x="3737684" y="3952211"/>
            <a:ext cx="382698" cy="784655"/>
          </a:xfrm>
          <a:prstGeom prst="line">
            <a:avLst/>
          </a:prstGeom>
          <a:noFill/>
          <a:ln w="6350" cap="flat" cmpd="sng" algn="ctr">
            <a:solidFill>
              <a:srgbClr val="009FE3"/>
            </a:solidFill>
            <a:prstDash val="solid"/>
            <a:miter lim="800000"/>
          </a:ln>
          <a:effectLst/>
        </p:spPr>
      </p:cxnSp>
      <p:sp>
        <p:nvSpPr>
          <p:cNvPr id="25" name="Isosceles Triangle 24">
            <a:extLst>
              <a:ext uri="{FF2B5EF4-FFF2-40B4-BE49-F238E27FC236}">
                <a16:creationId xmlns:a16="http://schemas.microsoft.com/office/drawing/2014/main" id="{62453698-500F-9845-45D9-CDAF43FFBF3B}"/>
              </a:ext>
            </a:extLst>
          </p:cNvPr>
          <p:cNvSpPr/>
          <p:nvPr/>
        </p:nvSpPr>
        <p:spPr>
          <a:xfrm rot="9281949" flipV="1">
            <a:off x="3607069" y="3818279"/>
            <a:ext cx="201108" cy="140679"/>
          </a:xfrm>
          <a:prstGeom prst="triangle">
            <a:avLst/>
          </a:prstGeom>
          <a:solidFill>
            <a:srgbClr val="009FE3"/>
          </a:solidFill>
          <a:ln w="12700" cap="flat" cmpd="sng" algn="ctr">
            <a:solidFill>
              <a:srgbClr val="009F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26" name="Table 26">
            <a:extLst>
              <a:ext uri="{FF2B5EF4-FFF2-40B4-BE49-F238E27FC236}">
                <a16:creationId xmlns:a16="http://schemas.microsoft.com/office/drawing/2014/main" id="{5BD2E4FB-491E-9E3E-5D6F-CC6AFFE401A7}"/>
              </a:ext>
            </a:extLst>
          </p:cNvPr>
          <p:cNvGraphicFramePr>
            <a:graphicFrameLocks noGrp="1"/>
          </p:cNvGraphicFramePr>
          <p:nvPr>
            <p:extLst>
              <p:ext uri="{D42A27DB-BD31-4B8C-83A1-F6EECF244321}">
                <p14:modId xmlns:p14="http://schemas.microsoft.com/office/powerpoint/2010/main" val="4095908856"/>
              </p:ext>
            </p:extLst>
          </p:nvPr>
        </p:nvGraphicFramePr>
        <p:xfrm>
          <a:off x="6289482" y="4000329"/>
          <a:ext cx="3495871" cy="741680"/>
        </p:xfrm>
        <a:graphic>
          <a:graphicData uri="http://schemas.openxmlformats.org/drawingml/2006/table">
            <a:tbl>
              <a:tblPr firstRow="1" bandRow="1"/>
              <a:tblGrid>
                <a:gridCol w="1501531">
                  <a:extLst>
                    <a:ext uri="{9D8B030D-6E8A-4147-A177-3AD203B41FA5}">
                      <a16:colId xmlns:a16="http://schemas.microsoft.com/office/drawing/2014/main" val="3889799343"/>
                    </a:ext>
                  </a:extLst>
                </a:gridCol>
                <a:gridCol w="1994340">
                  <a:extLst>
                    <a:ext uri="{9D8B030D-6E8A-4147-A177-3AD203B41FA5}">
                      <a16:colId xmlns:a16="http://schemas.microsoft.com/office/drawing/2014/main" val="1736020805"/>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ACC_NO</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INTEREST_RATE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45396545"/>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1000001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2.5</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2558503289"/>
                  </a:ext>
                </a:extLst>
              </a:tr>
            </a:tbl>
          </a:graphicData>
        </a:graphic>
      </p:graphicFrame>
      <p:graphicFrame>
        <p:nvGraphicFramePr>
          <p:cNvPr id="27" name="Table 26">
            <a:extLst>
              <a:ext uri="{FF2B5EF4-FFF2-40B4-BE49-F238E27FC236}">
                <a16:creationId xmlns:a16="http://schemas.microsoft.com/office/drawing/2014/main" id="{34E8897E-6EDF-ED3A-4990-B6B3B1A03AD3}"/>
              </a:ext>
            </a:extLst>
          </p:cNvPr>
          <p:cNvGraphicFramePr>
            <a:graphicFrameLocks noGrp="1"/>
          </p:cNvGraphicFramePr>
          <p:nvPr>
            <p:extLst>
              <p:ext uri="{D42A27DB-BD31-4B8C-83A1-F6EECF244321}">
                <p14:modId xmlns:p14="http://schemas.microsoft.com/office/powerpoint/2010/main" val="3755291852"/>
              </p:ext>
            </p:extLst>
          </p:nvPr>
        </p:nvGraphicFramePr>
        <p:xfrm>
          <a:off x="6289482" y="5317192"/>
          <a:ext cx="3627341" cy="736600"/>
        </p:xfrm>
        <a:graphic>
          <a:graphicData uri="http://schemas.openxmlformats.org/drawingml/2006/table">
            <a:tbl>
              <a:tblPr firstRow="1" bandRow="1"/>
              <a:tblGrid>
                <a:gridCol w="1535116">
                  <a:extLst>
                    <a:ext uri="{9D8B030D-6E8A-4147-A177-3AD203B41FA5}">
                      <a16:colId xmlns:a16="http://schemas.microsoft.com/office/drawing/2014/main" val="3889799343"/>
                    </a:ext>
                  </a:extLst>
                </a:gridCol>
                <a:gridCol w="2092225">
                  <a:extLst>
                    <a:ext uri="{9D8B030D-6E8A-4147-A177-3AD203B41FA5}">
                      <a16:colId xmlns:a16="http://schemas.microsoft.com/office/drawing/2014/main" val="1736020805"/>
                    </a:ext>
                  </a:extLst>
                </a:gridCol>
              </a:tblGrid>
              <a:tr h="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ACC_NO</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MIN_BALANCE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45396545"/>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10000002</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500</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2558503289"/>
                  </a:ext>
                </a:extLst>
              </a:tr>
            </a:tbl>
          </a:graphicData>
        </a:graphic>
      </p:graphicFrame>
      <p:sp>
        <p:nvSpPr>
          <p:cNvPr id="28" name="TextBox 27">
            <a:extLst>
              <a:ext uri="{FF2B5EF4-FFF2-40B4-BE49-F238E27FC236}">
                <a16:creationId xmlns:a16="http://schemas.microsoft.com/office/drawing/2014/main" id="{1045BDD9-61A4-E0F3-F747-137397BB9020}"/>
              </a:ext>
            </a:extLst>
          </p:cNvPr>
          <p:cNvSpPr txBox="1"/>
          <p:nvPr/>
        </p:nvSpPr>
        <p:spPr>
          <a:xfrm>
            <a:off x="6289482" y="3630997"/>
            <a:ext cx="3594538"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SAVINGS_ACCOUNT TABLE</a:t>
            </a:r>
          </a:p>
        </p:txBody>
      </p:sp>
      <p:sp>
        <p:nvSpPr>
          <p:cNvPr id="29" name="TextBox 28">
            <a:extLst>
              <a:ext uri="{FF2B5EF4-FFF2-40B4-BE49-F238E27FC236}">
                <a16:creationId xmlns:a16="http://schemas.microsoft.com/office/drawing/2014/main" id="{BFEA7FD4-8DAA-F923-F509-2439B2B49C38}"/>
              </a:ext>
            </a:extLst>
          </p:cNvPr>
          <p:cNvSpPr txBox="1"/>
          <p:nvPr/>
        </p:nvSpPr>
        <p:spPr>
          <a:xfrm>
            <a:off x="6289482" y="4858135"/>
            <a:ext cx="3594538"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CHECKING_ACCOUNT TABLE</a:t>
            </a:r>
          </a:p>
        </p:txBody>
      </p:sp>
      <p:graphicFrame>
        <p:nvGraphicFramePr>
          <p:cNvPr id="30" name="Table 26">
            <a:extLst>
              <a:ext uri="{FF2B5EF4-FFF2-40B4-BE49-F238E27FC236}">
                <a16:creationId xmlns:a16="http://schemas.microsoft.com/office/drawing/2014/main" id="{BA98492A-3C3B-0247-8C09-48DC669183EC}"/>
              </a:ext>
            </a:extLst>
          </p:cNvPr>
          <p:cNvGraphicFramePr>
            <a:graphicFrameLocks noGrp="1"/>
          </p:cNvGraphicFramePr>
          <p:nvPr>
            <p:extLst>
              <p:ext uri="{D42A27DB-BD31-4B8C-83A1-F6EECF244321}">
                <p14:modId xmlns:p14="http://schemas.microsoft.com/office/powerpoint/2010/main" val="1920586564"/>
              </p:ext>
            </p:extLst>
          </p:nvPr>
        </p:nvGraphicFramePr>
        <p:xfrm>
          <a:off x="6289482" y="2343810"/>
          <a:ext cx="2975607" cy="1112520"/>
        </p:xfrm>
        <a:graphic>
          <a:graphicData uri="http://schemas.openxmlformats.org/drawingml/2006/table">
            <a:tbl>
              <a:tblPr firstRow="1" bandRow="1"/>
              <a:tblGrid>
                <a:gridCol w="1501531">
                  <a:extLst>
                    <a:ext uri="{9D8B030D-6E8A-4147-A177-3AD203B41FA5}">
                      <a16:colId xmlns:a16="http://schemas.microsoft.com/office/drawing/2014/main" val="3889799343"/>
                    </a:ext>
                  </a:extLst>
                </a:gridCol>
                <a:gridCol w="1474076">
                  <a:extLst>
                    <a:ext uri="{9D8B030D-6E8A-4147-A177-3AD203B41FA5}">
                      <a16:colId xmlns:a16="http://schemas.microsoft.com/office/drawing/2014/main" val="839232629"/>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ACC_NO</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BALANCE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45396545"/>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1000001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5000</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255850328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1000002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1786903517"/>
                  </a:ext>
                </a:extLst>
              </a:tr>
            </a:tbl>
          </a:graphicData>
        </a:graphic>
      </p:graphicFrame>
      <p:sp>
        <p:nvSpPr>
          <p:cNvPr id="31" name="TextBox 30">
            <a:extLst>
              <a:ext uri="{FF2B5EF4-FFF2-40B4-BE49-F238E27FC236}">
                <a16:creationId xmlns:a16="http://schemas.microsoft.com/office/drawing/2014/main" id="{63D68AE7-5980-D1E5-7F3C-59C0E7249E73}"/>
              </a:ext>
            </a:extLst>
          </p:cNvPr>
          <p:cNvSpPr txBox="1"/>
          <p:nvPr/>
        </p:nvSpPr>
        <p:spPr>
          <a:xfrm>
            <a:off x="6289482" y="1974478"/>
            <a:ext cx="3594538"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ACCOUNT TABLE</a:t>
            </a:r>
          </a:p>
        </p:txBody>
      </p:sp>
    </p:spTree>
    <p:extLst>
      <p:ext uri="{BB962C8B-B14F-4D97-AF65-F5344CB8AC3E}">
        <p14:creationId xmlns:p14="http://schemas.microsoft.com/office/powerpoint/2010/main" val="16357091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8D6840C-6A98-E9CC-5D22-45715131BC8D}"/>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Joined Subclass – Pros &amp; Cons</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5" name="Content Placeholder 2">
            <a:extLst>
              <a:ext uri="{FF2B5EF4-FFF2-40B4-BE49-F238E27FC236}">
                <a16:creationId xmlns:a16="http://schemas.microsoft.com/office/drawing/2014/main" id="{46273A54-2F92-10B2-96C0-B1DA5F525AEB}"/>
              </a:ext>
            </a:extLst>
          </p:cNvPr>
          <p:cNvSpPr txBox="1">
            <a:spLocks/>
          </p:cNvSpPr>
          <p:nvPr/>
        </p:nvSpPr>
        <p:spPr>
          <a:xfrm>
            <a:off x="601490" y="2300147"/>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Pros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Smaller tables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Can use NOT NULL constraints – ensures data integrity</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Can use polymorphic queries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Cons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Complex query – querying sub class requires a JOIN of two tables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Slow performance compared to Single table strategy.</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1382951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11050" cy="1608908"/>
          </a:xfrm>
          <a:prstGeom prst="rect">
            <a:avLst/>
          </a:prstGeom>
        </p:spPr>
      </p:pic>
      <p:pic>
        <p:nvPicPr>
          <p:cNvPr id="2050" name="Picture 2" descr="Patterson and Gimlin Motion Picture 'Bigfoot' Stabilized">
            <a:extLst>
              <a:ext uri="{FF2B5EF4-FFF2-40B4-BE49-F238E27FC236}">
                <a16:creationId xmlns:a16="http://schemas.microsoft.com/office/drawing/2014/main" id="{543DD42D-A663-4DBE-7FB1-77739C6427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5778" y="1196529"/>
            <a:ext cx="7240444" cy="510839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91A68C0F-485F-D09B-727E-02F1D1D8FAB6}"/>
              </a:ext>
            </a:extLst>
          </p:cNvPr>
          <p:cNvSpPr txBox="1">
            <a:spLocks/>
          </p:cNvSpPr>
          <p:nvPr/>
        </p:nvSpPr>
        <p:spPr>
          <a:xfrm>
            <a:off x="594811" y="24548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rPr>
              <a:t>Data Access w</a:t>
            </a: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 JPA</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Tree>
    <p:extLst>
      <p:ext uri="{BB962C8B-B14F-4D97-AF65-F5344CB8AC3E}">
        <p14:creationId xmlns:p14="http://schemas.microsoft.com/office/powerpoint/2010/main" val="2949407859"/>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25529</TotalTime>
  <Words>5404</Words>
  <Application>Microsoft Office PowerPoint</Application>
  <PresentationFormat>Widescreen</PresentationFormat>
  <Paragraphs>1136</Paragraphs>
  <Slides>60</Slides>
  <Notes>60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60</vt:i4>
      </vt:variant>
    </vt:vector>
  </HeadingPairs>
  <TitlesOfParts>
    <vt:vector size="66" baseType="lpstr">
      <vt:lpstr>Arial</vt:lpstr>
      <vt:lpstr>Arial Black</vt:lpstr>
      <vt:lpstr>Calibri</vt:lpstr>
      <vt:lpstr>Calibri Light</vt:lpstr>
      <vt:lpstr>Consolas</vt:lpstr>
      <vt:lpstr>Retrospect</vt:lpstr>
      <vt:lpstr>Enterprise Java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Testing</dc:title>
  <dc:creator>Cusack, Chris</dc:creator>
  <cp:lastModifiedBy>Boudreau, Andre (NBCC)</cp:lastModifiedBy>
  <cp:revision>564</cp:revision>
  <dcterms:created xsi:type="dcterms:W3CDTF">2018-06-09T00:51:46Z</dcterms:created>
  <dcterms:modified xsi:type="dcterms:W3CDTF">2025-09-19T19:28:01Z</dcterms:modified>
</cp:coreProperties>
</file>