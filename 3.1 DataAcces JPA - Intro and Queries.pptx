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0" r:id="rId1"/>
  </p:sldMasterIdLst>
  <p:notesMasterIdLst>
    <p:notesMasterId r:id="rId32"/>
  </p:notesMasterIdLst>
  <p:sldIdLst>
    <p:sldId id="256" r:id="rId2"/>
    <p:sldId id="424" r:id="rId3"/>
    <p:sldId id="367" r:id="rId4"/>
    <p:sldId id="420" r:id="rId5"/>
    <p:sldId id="368" r:id="rId6"/>
    <p:sldId id="369" r:id="rId7"/>
    <p:sldId id="370" r:id="rId8"/>
    <p:sldId id="371" r:id="rId9"/>
    <p:sldId id="372" r:id="rId10"/>
    <p:sldId id="374" r:id="rId11"/>
    <p:sldId id="373" r:id="rId12"/>
    <p:sldId id="375" r:id="rId13"/>
    <p:sldId id="421" r:id="rId14"/>
    <p:sldId id="376" r:id="rId15"/>
    <p:sldId id="377" r:id="rId16"/>
    <p:sldId id="378" r:id="rId17"/>
    <p:sldId id="379" r:id="rId18"/>
    <p:sldId id="380" r:id="rId19"/>
    <p:sldId id="381" r:id="rId20"/>
    <p:sldId id="382" r:id="rId21"/>
    <p:sldId id="383" r:id="rId22"/>
    <p:sldId id="384" r:id="rId23"/>
    <p:sldId id="385" r:id="rId24"/>
    <p:sldId id="386" r:id="rId25"/>
    <p:sldId id="387" r:id="rId26"/>
    <p:sldId id="388" r:id="rId27"/>
    <p:sldId id="389" r:id="rId28"/>
    <p:sldId id="425" r:id="rId29"/>
    <p:sldId id="390" r:id="rId30"/>
    <p:sldId id="36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usack, Chris" initials="CC" lastIdx="1" clrIdx="0">
    <p:extLst>
      <p:ext uri="{19B8F6BF-5375-455C-9EA6-DF929625EA0E}">
        <p15:presenceInfo xmlns:p15="http://schemas.microsoft.com/office/powerpoint/2012/main" userId="S-1-5-21-606747145-1993962763-839522115-1229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C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73488" autoAdjust="0"/>
  </p:normalViewPr>
  <p:slideViewPr>
    <p:cSldViewPr snapToGrid="0">
      <p:cViewPr varScale="1">
        <p:scale>
          <a:sx n="98" d="100"/>
          <a:sy n="98" d="100"/>
        </p:scale>
        <p:origin x="1766"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FC83A-AE04-4291-858C-89975FF43DBC}"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B35CF-413F-4E89-B778-B111B9E6E46E}" type="slidenum">
              <a:rPr lang="en-US" smtClean="0"/>
              <a:t>‹#›</a:t>
            </a:fld>
            <a:endParaRPr lang="en-US"/>
          </a:p>
        </p:txBody>
      </p:sp>
    </p:spTree>
    <p:extLst>
      <p:ext uri="{BB962C8B-B14F-4D97-AF65-F5344CB8AC3E}">
        <p14:creationId xmlns:p14="http://schemas.microsoft.com/office/powerpoint/2010/main" val="51372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docs.oracle.com/cd/E19798-01/821-1841/bnbrj/index.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a:t>
            </a:fld>
            <a:endParaRPr lang="en-US"/>
          </a:p>
        </p:txBody>
      </p:sp>
    </p:spTree>
    <p:extLst>
      <p:ext uri="{BB962C8B-B14F-4D97-AF65-F5344CB8AC3E}">
        <p14:creationId xmlns:p14="http://schemas.microsoft.com/office/powerpoint/2010/main" val="1607234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a:t>
            </a:fld>
            <a:endParaRPr lang="en-US"/>
          </a:p>
        </p:txBody>
      </p:sp>
    </p:spTree>
    <p:extLst>
      <p:ext uri="{BB962C8B-B14F-4D97-AF65-F5344CB8AC3E}">
        <p14:creationId xmlns:p14="http://schemas.microsoft.com/office/powerpoint/2010/main" val="1755052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a:t>
            </a:fld>
            <a:endParaRPr lang="en-US"/>
          </a:p>
        </p:txBody>
      </p:sp>
    </p:spTree>
    <p:extLst>
      <p:ext uri="{BB962C8B-B14F-4D97-AF65-F5344CB8AC3E}">
        <p14:creationId xmlns:p14="http://schemas.microsoft.com/office/powerpoint/2010/main" val="313674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The task of persisting Java objects to a relational database is currently being facilitated by a number of different tools that allow developers to direct persistence engines in converting Java objects to database columns/records and back. This task involves serializing hierarchically structured Java objects to a tabular-structured database and vice versa. Essential to this effort is the need to map Java objects to database columns and records in a manner optimized for speed and efficiency. </a:t>
            </a:r>
          </a:p>
          <a:p>
            <a:endParaRPr lang="en-GB" dirty="0"/>
          </a:p>
          <a:p>
            <a:r>
              <a:rPr lang="en-GB" dirty="0"/>
              <a:t>JPA is not a new technology; rather, it has collected the best ideas from existing persistence technologies like Hibernate, TopLink, and JDO. The result is a standardized specification that helps you build a persistence layer that is independent of any particular persistence provider. </a:t>
            </a: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a:t>
            </a:fld>
            <a:endParaRPr lang="en-US"/>
          </a:p>
        </p:txBody>
      </p:sp>
    </p:spTree>
    <p:extLst>
      <p:ext uri="{BB962C8B-B14F-4D97-AF65-F5344CB8AC3E}">
        <p14:creationId xmlns:p14="http://schemas.microsoft.com/office/powerpoint/2010/main" val="2964969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a:t>
            </a:fld>
            <a:endParaRPr lang="en-US"/>
          </a:p>
        </p:txBody>
      </p:sp>
    </p:spTree>
    <p:extLst>
      <p:ext uri="{BB962C8B-B14F-4D97-AF65-F5344CB8AC3E}">
        <p14:creationId xmlns:p14="http://schemas.microsoft.com/office/powerpoint/2010/main" val="3281956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dirty="0"/>
              <a:t>*An entity is </a:t>
            </a:r>
            <a:r>
              <a:rPr lang="en-GB" dirty="0" err="1"/>
              <a:t>persistable</a:t>
            </a:r>
            <a:r>
              <a:rPr lang="en-GB" dirty="0"/>
              <a:t> because it can be created in a </a:t>
            </a:r>
            <a:r>
              <a:rPr lang="en-GB" b="1" dirty="0"/>
              <a:t>persistent</a:t>
            </a:r>
            <a:r>
              <a:rPr lang="en-GB" dirty="0"/>
              <a:t> store. The difference is that it is not automatically persisted, and that in order for it to have a durable representation the application must actively invoke an API method to initiate the process. This is an important distinction because it leaves control over persistence firmly in the hands of the application. The application has the flexibility to manipulate data and perform business logic on the entity, making it persistent only when the application decides it is the right time. The lesson is that entities may be manipulated without necessarily being persisted, and it is the application that decides whether they are or not.</a:t>
            </a:r>
          </a:p>
          <a:p>
            <a:endParaRPr lang="en-GB" dirty="0"/>
          </a:p>
          <a:p>
            <a:r>
              <a:rPr lang="en-GB" dirty="0"/>
              <a:t>*Persistent </a:t>
            </a:r>
            <a:r>
              <a:rPr lang="en-GB" b="1" dirty="0"/>
              <a:t>identity</a:t>
            </a:r>
            <a:r>
              <a:rPr lang="en-GB" dirty="0"/>
              <a:t>, or an identifier, is the key that uniquely identifies an entity instance and distinguishes it from all the other instances of the same entity type. An entity has a persistent identity when there exists a representation of it in the data store; that is, a row in a database </a:t>
            </a:r>
          </a:p>
          <a:p>
            <a:r>
              <a:rPr lang="en-GB" dirty="0"/>
              <a:t>table. If it is not in the database then even though the in-memory entity may have its identity set in a field, it does not have a persistent identity. The entity identifier, then, is equivalent to the primary key in the database table that stores the entity state. </a:t>
            </a:r>
          </a:p>
          <a:p>
            <a:endParaRPr lang="en-GB" dirty="0"/>
          </a:p>
          <a:p>
            <a:r>
              <a:rPr lang="en-GB" dirty="0"/>
              <a:t>*Although they can be created, updated, and deleted in any context, these operations are normally done within the context of a transaction</a:t>
            </a:r>
            <a:r>
              <a:rPr lang="en-GB" baseline="0" dirty="0"/>
              <a:t> </a:t>
            </a:r>
            <a:r>
              <a:rPr lang="en-GB" dirty="0"/>
              <a:t>because a transaction is required for the changes to be committed in the database. Changes made to the database either succeed or fail atomically, so the persistent view of an entity should indeed be </a:t>
            </a:r>
            <a:r>
              <a:rPr lang="en-GB" b="1" dirty="0"/>
              <a:t>transactional</a:t>
            </a:r>
          </a:p>
          <a:p>
            <a:endParaRPr lang="en-GB" dirty="0"/>
          </a:p>
          <a:p>
            <a:r>
              <a:rPr lang="en-GB" dirty="0"/>
              <a:t>*Entities are meant to be</a:t>
            </a:r>
            <a:r>
              <a:rPr lang="en-GB" b="1" dirty="0"/>
              <a:t> fine-grained </a:t>
            </a:r>
            <a:r>
              <a:rPr lang="en-GB" dirty="0"/>
              <a:t>objects that have a set of aggregated state that is normally stored in a single place, such as a row in a table, and typically have relationships to other entities. In the most general sense, they are business domain objects that have specific meaning to the application that accesses them. While it is certainly true that entities may be defined in exaggerated ways to be as fine-grained as </a:t>
            </a:r>
          </a:p>
          <a:p>
            <a:r>
              <a:rPr lang="en-GB" dirty="0"/>
              <a:t>storing a single string or coarse-grained enough to contain 500 columns’ worth of data, JPA entities were definitely intended to be on the smaller end of the granularity spectrum. Ideally, entities should be designed and defined as fairly lightweight objects of a size comparable to that of the average Java object.</a:t>
            </a: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6</a:t>
            </a:fld>
            <a:endParaRPr lang="en-US"/>
          </a:p>
        </p:txBody>
      </p:sp>
    </p:spTree>
    <p:extLst>
      <p:ext uri="{BB962C8B-B14F-4D97-AF65-F5344CB8AC3E}">
        <p14:creationId xmlns:p14="http://schemas.microsoft.com/office/powerpoint/2010/main" val="3159648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7</a:t>
            </a:fld>
            <a:endParaRPr lang="en-US"/>
          </a:p>
        </p:txBody>
      </p:sp>
    </p:spTree>
    <p:extLst>
      <p:ext uri="{BB962C8B-B14F-4D97-AF65-F5344CB8AC3E}">
        <p14:creationId xmlns:p14="http://schemas.microsoft.com/office/powerpoint/2010/main" val="504194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8</a:t>
            </a:fld>
            <a:endParaRPr lang="en-US"/>
          </a:p>
        </p:txBody>
      </p:sp>
    </p:spTree>
    <p:extLst>
      <p:ext uri="{BB962C8B-B14F-4D97-AF65-F5344CB8AC3E}">
        <p14:creationId xmlns:p14="http://schemas.microsoft.com/office/powerpoint/2010/main" val="866907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9</a:t>
            </a:fld>
            <a:endParaRPr lang="en-US"/>
          </a:p>
        </p:txBody>
      </p:sp>
    </p:spTree>
    <p:extLst>
      <p:ext uri="{BB962C8B-B14F-4D97-AF65-F5344CB8AC3E}">
        <p14:creationId xmlns:p14="http://schemas.microsoft.com/office/powerpoint/2010/main" val="2986002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10</a:t>
            </a:fld>
            <a:endParaRPr lang="en-US"/>
          </a:p>
        </p:txBody>
      </p:sp>
    </p:spTree>
    <p:extLst>
      <p:ext uri="{BB962C8B-B14F-4D97-AF65-F5344CB8AC3E}">
        <p14:creationId xmlns:p14="http://schemas.microsoft.com/office/powerpoint/2010/main" val="3477322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11</a:t>
            </a:fld>
            <a:endParaRPr lang="en-US"/>
          </a:p>
        </p:txBody>
      </p:sp>
    </p:spTree>
    <p:extLst>
      <p:ext uri="{BB962C8B-B14F-4D97-AF65-F5344CB8AC3E}">
        <p14:creationId xmlns:p14="http://schemas.microsoft.com/office/powerpoint/2010/main" val="3690074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On </a:t>
            </a:r>
            <a:r>
              <a:rPr lang="en-GB" sz="1200" b="0" i="0" kern="1200" dirty="0" err="1">
                <a:solidFill>
                  <a:schemeClr val="tx1"/>
                </a:solidFill>
                <a:latin typeface="Arial" charset="0"/>
                <a:ea typeface="ヒラギノ角ゴ Pro W3" pitchFamily="-112" charset="-128"/>
                <a:cs typeface="+mn-cs"/>
              </a:rPr>
              <a:t>startup</a:t>
            </a:r>
            <a:r>
              <a:rPr lang="en-GB" sz="1200" b="0" i="0" kern="1200" dirty="0">
                <a:solidFill>
                  <a:schemeClr val="tx1"/>
                </a:solidFill>
                <a:latin typeface="Arial" charset="0"/>
                <a:ea typeface="ヒラギノ角ゴ Pro W3" pitchFamily="-112" charset="-128"/>
                <a:cs typeface="+mn-cs"/>
              </a:rPr>
              <a:t>, the </a:t>
            </a:r>
            <a:r>
              <a:rPr lang="en-GB" sz="1200" b="0" i="0" kern="1200" dirty="0" err="1">
                <a:solidFill>
                  <a:schemeClr val="tx1"/>
                </a:solidFill>
                <a:latin typeface="Arial" charset="0"/>
                <a:ea typeface="ヒラギノ角ゴ Pro W3" pitchFamily="-112" charset="-128"/>
                <a:cs typeface="+mn-cs"/>
              </a:rPr>
              <a:t>Persistence.createEntityManagerFactory</a:t>
            </a:r>
            <a:r>
              <a:rPr lang="en-GB" sz="1200" b="0" i="0" kern="1200" dirty="0">
                <a:solidFill>
                  <a:schemeClr val="tx1"/>
                </a:solidFill>
                <a:latin typeface="Arial" charset="0"/>
                <a:ea typeface="ヒラギノ角ゴ Pro W3" pitchFamily="-112" charset="-128"/>
                <a:cs typeface="+mn-cs"/>
              </a:rPr>
              <a:t>() method tries to locate the persistence unit named </a:t>
            </a:r>
            <a:r>
              <a:rPr lang="en-GB" sz="1200" b="0" i="0" kern="1200" dirty="0" err="1">
                <a:solidFill>
                  <a:schemeClr val="tx1"/>
                </a:solidFill>
                <a:latin typeface="Arial" charset="0"/>
                <a:ea typeface="ヒラギノ角ゴ Pro W3" pitchFamily="-112" charset="-128"/>
                <a:cs typeface="+mn-cs"/>
              </a:rPr>
              <a:t>helloworld</a:t>
            </a:r>
            <a:r>
              <a:rPr lang="en-GB" sz="1200" b="0" i="0" kern="1200" dirty="0">
                <a:solidFill>
                  <a:schemeClr val="tx1"/>
                </a:solidFill>
                <a:latin typeface="Arial" charset="0"/>
                <a:ea typeface="ヒラギノ角ゴ Pro W3" pitchFamily="-112" charset="-128"/>
                <a:cs typeface="+mn-cs"/>
              </a:rPr>
              <a:t>. It searches the </a:t>
            </a:r>
            <a:r>
              <a:rPr lang="en-GB" sz="1200" b="0" i="0" kern="1200" dirty="0" err="1">
                <a:solidFill>
                  <a:schemeClr val="tx1"/>
                </a:solidFill>
                <a:latin typeface="Arial" charset="0"/>
                <a:ea typeface="ヒラギノ角ゴ Pro W3" pitchFamily="-112" charset="-128"/>
                <a:cs typeface="+mn-cs"/>
              </a:rPr>
              <a:t>classpath</a:t>
            </a:r>
            <a:r>
              <a:rPr lang="en-GB" sz="1200" b="0" i="0" kern="1200" dirty="0">
                <a:solidFill>
                  <a:schemeClr val="tx1"/>
                </a:solidFill>
                <a:latin typeface="Arial" charset="0"/>
                <a:ea typeface="ヒラギノ角ゴ Pro W3" pitchFamily="-112" charset="-128"/>
                <a:cs typeface="+mn-cs"/>
              </a:rPr>
              <a:t> for all </a:t>
            </a:r>
            <a:r>
              <a:rPr lang="en-GB" sz="1200" b="1" i="0" kern="1200" dirty="0">
                <a:solidFill>
                  <a:schemeClr val="tx1"/>
                </a:solidFill>
                <a:latin typeface="Arial" charset="0"/>
                <a:ea typeface="ヒラギノ角ゴ Pro W3" pitchFamily="-112" charset="-128"/>
                <a:cs typeface="+mn-cs"/>
              </a:rPr>
              <a:t>META-INF/persistence.xml </a:t>
            </a:r>
            <a:r>
              <a:rPr lang="en-GB" sz="1200" b="0" i="0" kern="1200" dirty="0">
                <a:solidFill>
                  <a:schemeClr val="tx1"/>
                </a:solidFill>
                <a:latin typeface="Arial" charset="0"/>
                <a:ea typeface="ヒラギノ角ゴ Pro W3" pitchFamily="-112" charset="-128"/>
                <a:cs typeface="+mn-cs"/>
              </a:rPr>
              <a:t>files and then configures the EMF if a match is found.</a:t>
            </a:r>
          </a:p>
          <a:p>
            <a:endParaRPr lang="en-GB" sz="1200" b="0" i="0" kern="120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Resources:</a:t>
            </a:r>
          </a:p>
          <a:p>
            <a:endParaRPr lang="en-US" sz="1200" b="0" i="0" kern="1200" dirty="0">
              <a:solidFill>
                <a:schemeClr val="tx1"/>
              </a:solidFill>
              <a:latin typeface="Arial" charset="0"/>
              <a:ea typeface="ヒラギノ角ゴ Pro W3" pitchFamily="-112" charset="-128"/>
              <a:cs typeface="+mn-cs"/>
            </a:endParaRPr>
          </a:p>
          <a:p>
            <a:r>
              <a:rPr lang="en-US" sz="1200" b="0" i="0" kern="1200" dirty="0">
                <a:solidFill>
                  <a:schemeClr val="tx1"/>
                </a:solidFill>
                <a:latin typeface="Arial" charset="0"/>
                <a:ea typeface="ヒラギノ角ゴ Pro W3" pitchFamily="-112" charset="-128"/>
                <a:cs typeface="+mn-cs"/>
              </a:rPr>
              <a:t>Persistence</a:t>
            </a:r>
            <a:r>
              <a:rPr lang="en-US" sz="1200" b="0" i="0" kern="1200" baseline="0" dirty="0">
                <a:solidFill>
                  <a:schemeClr val="tx1"/>
                </a:solidFill>
                <a:latin typeface="Arial" charset="0"/>
                <a:ea typeface="ヒラギノ角ゴ Pro W3" pitchFamily="-112" charset="-128"/>
                <a:cs typeface="+mn-cs"/>
              </a:rPr>
              <a:t> Units:</a:t>
            </a:r>
            <a:endParaRPr lang="en-US" sz="1200" b="0" i="0" kern="1200" dirty="0">
              <a:solidFill>
                <a:schemeClr val="tx1"/>
              </a:solidFill>
              <a:latin typeface="Arial" charset="0"/>
              <a:ea typeface="ヒラギノ角ゴ Pro W3" pitchFamily="-112" charset="-128"/>
              <a:cs typeface="+mn-cs"/>
            </a:endParaRPr>
          </a:p>
          <a:p>
            <a:r>
              <a:rPr lang="en-GB" dirty="0">
                <a:hlinkClick r:id="rId3"/>
              </a:rPr>
              <a:t>http://docs.oracle.com/cd/E19798-01/821-1841/bnbrj/index.html</a:t>
            </a:r>
            <a:endParaRPr lang="en-US" sz="1200" b="0" i="0" kern="1200" dirty="0">
              <a:solidFill>
                <a:schemeClr val="tx1"/>
              </a:solidFill>
              <a:latin typeface="Arial" charset="0"/>
              <a:ea typeface="ヒラギノ角ゴ Pro W3" pitchFamily="-112" charset="-128"/>
              <a:cs typeface="+mn-cs"/>
            </a:endParaRPr>
          </a:p>
          <a:p>
            <a:endParaRPr lang="en-GB" sz="1200" b="0" i="0"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Hibernate config:</a:t>
            </a:r>
          </a:p>
          <a:p>
            <a:r>
              <a:rPr lang="en-GB" sz="1200" kern="1200" dirty="0">
                <a:solidFill>
                  <a:schemeClr val="tx1"/>
                </a:solidFill>
                <a:latin typeface="Arial" charset="0"/>
                <a:ea typeface="ヒラギノ角ゴ Pro W3" pitchFamily="-112" charset="-128"/>
                <a:cs typeface="+mn-cs"/>
              </a:rPr>
              <a:t>http://docs.jboss.org/hibernate/core/3.3/reference/en/html/session-configuration.html</a:t>
            </a:r>
          </a:p>
          <a:p>
            <a:endParaRPr lang="en-GB" sz="1200" u="sng"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Configuring C3P0 Connection Pooling from Hibernate</a:t>
            </a:r>
            <a:r>
              <a:rPr lang="en-GB" sz="1200" kern="1200" baseline="0" dirty="0">
                <a:solidFill>
                  <a:schemeClr val="tx1"/>
                </a:solidFill>
                <a:latin typeface="Arial" charset="0"/>
                <a:ea typeface="ヒラギノ角ゴ Pro W3" pitchFamily="-112" charset="-128"/>
                <a:cs typeface="+mn-cs"/>
              </a:rPr>
              <a:t> config</a:t>
            </a:r>
            <a:r>
              <a:rPr lang="en-GB" sz="1200" kern="1200" dirty="0">
                <a:solidFill>
                  <a:schemeClr val="tx1"/>
                </a:solidFill>
                <a:latin typeface="Arial" charset="0"/>
                <a:ea typeface="ヒラギノ角ゴ Pro W3" pitchFamily="-112" charset="-128"/>
                <a:cs typeface="+mn-cs"/>
              </a:rPr>
              <a:t>:</a:t>
            </a:r>
          </a:p>
          <a:p>
            <a:r>
              <a:rPr lang="en-GB" sz="1200" kern="1200" dirty="0">
                <a:solidFill>
                  <a:schemeClr val="tx1"/>
                </a:solidFill>
                <a:latin typeface="Arial" charset="0"/>
                <a:ea typeface="ヒラギノ角ゴ Pro W3" pitchFamily="-112" charset="-128"/>
                <a:cs typeface="+mn-cs"/>
              </a:rPr>
              <a:t>http://www.mchange.com/projects/c3p0/index.html#hibernate-specific</a:t>
            </a:r>
          </a:p>
          <a:p>
            <a:endParaRPr lang="en-GB" sz="1200" kern="1200" dirty="0">
              <a:solidFill>
                <a:schemeClr val="tx1"/>
              </a:solidFill>
              <a:latin typeface="Arial" charset="0"/>
              <a:ea typeface="ヒラギノ角ゴ Pro W3" pitchFamily="-112" charset="-128"/>
              <a:cs typeface="+mn-cs"/>
            </a:endParaRPr>
          </a:p>
          <a:p>
            <a:r>
              <a:rPr lang="en-GB" sz="1200" kern="1200" dirty="0">
                <a:solidFill>
                  <a:schemeClr val="tx1"/>
                </a:solidFill>
                <a:latin typeface="Arial" charset="0"/>
                <a:ea typeface="ヒラギノ角ゴ Pro W3" pitchFamily="-112" charset="-128"/>
                <a:cs typeface="+mn-cs"/>
              </a:rPr>
              <a:t>Properties explained:</a:t>
            </a:r>
          </a:p>
          <a:p>
            <a:r>
              <a:rPr lang="en-GB" sz="1200" kern="1200" dirty="0">
                <a:solidFill>
                  <a:schemeClr val="tx1"/>
                </a:solidFill>
                <a:latin typeface="Arial" charset="0"/>
                <a:ea typeface="ヒラギノ角ゴ Pro W3" pitchFamily="-112" charset="-128"/>
                <a:cs typeface="+mn-cs"/>
              </a:rPr>
              <a:t>http://www.mchange.com/projects/c3p0/index.html#configuration_properties</a:t>
            </a:r>
          </a:p>
          <a:p>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12</a:t>
            </a:fld>
            <a:endParaRPr lang="en-US"/>
          </a:p>
        </p:txBody>
      </p:sp>
    </p:spTree>
    <p:extLst>
      <p:ext uri="{BB962C8B-B14F-4D97-AF65-F5344CB8AC3E}">
        <p14:creationId xmlns:p14="http://schemas.microsoft.com/office/powerpoint/2010/main" val="33794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13</a:t>
            </a:fld>
            <a:endParaRPr lang="en-US"/>
          </a:p>
        </p:txBody>
      </p:sp>
    </p:spTree>
    <p:extLst>
      <p:ext uri="{BB962C8B-B14F-4D97-AF65-F5344CB8AC3E}">
        <p14:creationId xmlns:p14="http://schemas.microsoft.com/office/powerpoint/2010/main" val="1070295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The name of the specified persistence unit “</a:t>
            </a:r>
            <a:r>
              <a:rPr lang="en-GB" sz="1200" b="1" i="1" dirty="0" err="1">
                <a:solidFill>
                  <a:srgbClr val="333399"/>
                </a:solidFill>
              </a:rPr>
              <a:t>persistenceUnitName</a:t>
            </a:r>
            <a:r>
              <a:rPr lang="en-GB" sz="1200" b="0" i="0" kern="1200" dirty="0">
                <a:solidFill>
                  <a:schemeClr val="tx1"/>
                </a:solidFill>
                <a:latin typeface="Arial" charset="0"/>
                <a:ea typeface="ヒラギノ角ゴ Pro W3" pitchFamily="-112" charset="-128"/>
                <a:cs typeface="+mn-cs"/>
              </a:rPr>
              <a:t>” passed into the </a:t>
            </a:r>
            <a:r>
              <a:rPr lang="en-GB" sz="1200" b="0" i="0" kern="1200" dirty="0" err="1">
                <a:solidFill>
                  <a:schemeClr val="tx1"/>
                </a:solidFill>
                <a:latin typeface="Arial" charset="0"/>
                <a:ea typeface="ヒラギノ角ゴ Pro W3" pitchFamily="-112" charset="-128"/>
                <a:cs typeface="+mn-cs"/>
              </a:rPr>
              <a:t>createEntityManagerFactory</a:t>
            </a:r>
            <a:r>
              <a:rPr lang="en-GB" sz="1200" b="0" i="0" kern="1200" dirty="0">
                <a:solidFill>
                  <a:schemeClr val="tx1"/>
                </a:solidFill>
                <a:latin typeface="Arial" charset="0"/>
                <a:ea typeface="ヒラギノ角ゴ Pro W3" pitchFamily="-112" charset="-128"/>
                <a:cs typeface="+mn-cs"/>
              </a:rPr>
              <a:t>() method identifies the given persistence unit configuration that determines such things as the connection parameters that entity managers generated from this </a:t>
            </a:r>
          </a:p>
          <a:p>
            <a:r>
              <a:rPr lang="en-GB" sz="1200" b="0" i="0" kern="1200" dirty="0">
                <a:solidFill>
                  <a:schemeClr val="tx1"/>
                </a:solidFill>
                <a:latin typeface="Arial" charset="0"/>
                <a:ea typeface="ヒラギノ角ゴ Pro W3" pitchFamily="-112" charset="-128"/>
                <a:cs typeface="+mn-cs"/>
              </a:rPr>
              <a:t>factory will use when connecting to the database.</a:t>
            </a:r>
          </a:p>
          <a:p>
            <a:br>
              <a:rPr lang="en-GB" sz="1200" b="0" i="0" kern="1200" dirty="0">
                <a:solidFill>
                  <a:schemeClr val="tx1"/>
                </a:solidFill>
                <a:latin typeface="Arial" charset="0"/>
                <a:ea typeface="ヒラギノ角ゴ Pro W3" pitchFamily="-112" charset="-128"/>
                <a:cs typeface="+mn-cs"/>
              </a:rPr>
            </a:br>
            <a:r>
              <a:rPr lang="en-GB" sz="1200" b="0" i="0" kern="1200" dirty="0">
                <a:solidFill>
                  <a:schemeClr val="tx1"/>
                </a:solidFill>
                <a:latin typeface="Arial" charset="0"/>
                <a:ea typeface="ヒラギノ角ゴ Pro W3" pitchFamily="-112" charset="-128"/>
                <a:cs typeface="+mn-cs"/>
              </a:rPr>
              <a:t>Be sure to close the </a:t>
            </a:r>
            <a:r>
              <a:rPr lang="en-GB" sz="1200" b="0" i="0" kern="1200" dirty="0" err="1">
                <a:solidFill>
                  <a:schemeClr val="tx1"/>
                </a:solidFill>
                <a:latin typeface="Arial" charset="0"/>
                <a:ea typeface="ヒラギノ角ゴ Pro W3" pitchFamily="-112" charset="-128"/>
                <a:cs typeface="+mn-cs"/>
              </a:rPr>
              <a:t>EntityManager</a:t>
            </a:r>
            <a:r>
              <a:rPr lang="en-GB" sz="1200" b="0" i="0" kern="1200" dirty="0">
                <a:solidFill>
                  <a:schemeClr val="tx1"/>
                </a:solidFill>
                <a:latin typeface="Arial" charset="0"/>
                <a:ea typeface="ヒラギノ角ゴ Pro W3" pitchFamily="-112" charset="-128"/>
                <a:cs typeface="+mn-cs"/>
              </a:rPr>
              <a:t> when you are done</a:t>
            </a:r>
            <a:r>
              <a:rPr lang="en-GB" sz="1200" b="0" i="0" kern="1200" baseline="0" dirty="0">
                <a:solidFill>
                  <a:schemeClr val="tx1"/>
                </a:solidFill>
                <a:latin typeface="Arial" charset="0"/>
                <a:ea typeface="ヒラギノ角ゴ Pro W3" pitchFamily="-112" charset="-128"/>
                <a:cs typeface="+mn-cs"/>
              </a:rPr>
              <a:t> with it. When that is, depends on your design for the application. </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14</a:t>
            </a:fld>
            <a:endParaRPr lang="en-US"/>
          </a:p>
        </p:txBody>
      </p:sp>
    </p:spTree>
    <p:extLst>
      <p:ext uri="{BB962C8B-B14F-4D97-AF65-F5344CB8AC3E}">
        <p14:creationId xmlns:p14="http://schemas.microsoft.com/office/powerpoint/2010/main" val="2073509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changed of the object state and sync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15</a:t>
            </a:fld>
            <a:endParaRPr lang="en-US"/>
          </a:p>
        </p:txBody>
      </p:sp>
    </p:spTree>
    <p:extLst>
      <p:ext uri="{BB962C8B-B14F-4D97-AF65-F5344CB8AC3E}">
        <p14:creationId xmlns:p14="http://schemas.microsoft.com/office/powerpoint/2010/main" val="1264405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a:t>
            </a:r>
            <a:r>
              <a:rPr lang="en-GB" sz="1200" b="0" i="0" kern="1200" baseline="0" dirty="0" err="1">
                <a:solidFill>
                  <a:schemeClr val="tx1"/>
                </a:solidFill>
                <a:latin typeface="Arial" charset="0"/>
                <a:ea typeface="ヒラギノ角ゴ Pro W3" pitchFamily="-112" charset="-128"/>
                <a:cs typeface="+mn-cs"/>
              </a:rPr>
              <a:t>the</a:t>
            </a:r>
            <a:r>
              <a:rPr lang="en-GB" sz="1200" b="0" i="0" kern="1200" baseline="0" dirty="0">
                <a:solidFill>
                  <a:schemeClr val="tx1"/>
                </a:solidFill>
                <a:latin typeface="Arial" charset="0"/>
                <a:ea typeface="ヒラギノ角ゴ Pro W3" pitchFamily="-112" charset="-128"/>
                <a:cs typeface="+mn-cs"/>
              </a:rPr>
              <a:t> changed of the object state and synch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16</a:t>
            </a:fld>
            <a:endParaRPr lang="en-US"/>
          </a:p>
        </p:txBody>
      </p:sp>
    </p:spTree>
    <p:extLst>
      <p:ext uri="{BB962C8B-B14F-4D97-AF65-F5344CB8AC3E}">
        <p14:creationId xmlns:p14="http://schemas.microsoft.com/office/powerpoint/2010/main" val="1208273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sz="1200" b="0" i="0" kern="1200" dirty="0">
                <a:solidFill>
                  <a:schemeClr val="tx1"/>
                </a:solidFill>
                <a:latin typeface="Arial" charset="0"/>
                <a:ea typeface="ヒラギノ角ゴ Pro W3" pitchFamily="-112" charset="-128"/>
                <a:cs typeface="+mn-cs"/>
              </a:rPr>
              <a:t>Before you</a:t>
            </a:r>
            <a:r>
              <a:rPr lang="en-GB" sz="1200" b="0" i="0" kern="1200" baseline="0" dirty="0">
                <a:solidFill>
                  <a:schemeClr val="tx1"/>
                </a:solidFill>
                <a:latin typeface="Arial" charset="0"/>
                <a:ea typeface="ヒラギノ角ゴ Pro W3" pitchFamily="-112" charset="-128"/>
                <a:cs typeface="+mn-cs"/>
              </a:rPr>
              <a:t> try to persist, remove or update an entity in the database you will need to begin a transaction, and then commit this transaction.</a:t>
            </a:r>
          </a:p>
          <a:p>
            <a:endParaRPr lang="en-GB" sz="1200" b="0" i="0" kern="1200" baseline="0" dirty="0">
              <a:solidFill>
                <a:schemeClr val="tx1"/>
              </a:solidFill>
              <a:latin typeface="Arial" charset="0"/>
              <a:ea typeface="ヒラギノ角ゴ Pro W3" pitchFamily="-112" charset="-128"/>
              <a:cs typeface="+mn-cs"/>
            </a:endParaRPr>
          </a:p>
          <a:p>
            <a:r>
              <a:rPr lang="en-GB" sz="1200" b="0" i="0" kern="1200" dirty="0">
                <a:solidFill>
                  <a:schemeClr val="tx1"/>
                </a:solidFill>
                <a:latin typeface="Arial" charset="0"/>
                <a:ea typeface="ヒラギノ角ゴ Pro W3" pitchFamily="-112" charset="-128"/>
                <a:cs typeface="+mn-cs"/>
              </a:rPr>
              <a:t>Merge</a:t>
            </a:r>
            <a:r>
              <a:rPr lang="en-GB" sz="1200" b="0" i="0" kern="1200" baseline="0" dirty="0">
                <a:solidFill>
                  <a:schemeClr val="tx1"/>
                </a:solidFill>
                <a:latin typeface="Arial" charset="0"/>
                <a:ea typeface="ヒラギノ角ゴ Pro W3" pitchFamily="-112" charset="-128"/>
                <a:cs typeface="+mn-cs"/>
              </a:rPr>
              <a:t> (UPDATE) can also be used in order to update entity but usually by using setters will apply the </a:t>
            </a:r>
            <a:r>
              <a:rPr lang="en-GB" sz="1200" b="0" i="0" kern="1200" baseline="0" dirty="0" err="1">
                <a:solidFill>
                  <a:schemeClr val="tx1"/>
                </a:solidFill>
                <a:latin typeface="Arial" charset="0"/>
                <a:ea typeface="ヒラギノ角ゴ Pro W3" pitchFamily="-112" charset="-128"/>
                <a:cs typeface="+mn-cs"/>
              </a:rPr>
              <a:t>the</a:t>
            </a:r>
            <a:r>
              <a:rPr lang="en-GB" sz="1200" b="0" i="0" kern="1200" baseline="0" dirty="0">
                <a:solidFill>
                  <a:schemeClr val="tx1"/>
                </a:solidFill>
                <a:latin typeface="Arial" charset="0"/>
                <a:ea typeface="ヒラギノ角ゴ Pro W3" pitchFamily="-112" charset="-128"/>
                <a:cs typeface="+mn-cs"/>
              </a:rPr>
              <a:t> changed of the object state and synch the with the DB.</a:t>
            </a:r>
            <a:endParaRPr lang="en-GB" sz="1200" b="0" i="0" kern="1200" dirty="0">
              <a:solidFill>
                <a:schemeClr val="tx1"/>
              </a:solidFill>
              <a:latin typeface="Arial" charset="0"/>
              <a:ea typeface="ヒラギノ角ゴ Pro W3" pitchFamily="-112" charset="-128"/>
              <a:cs typeface="+mn-cs"/>
            </a:endParaRPr>
          </a:p>
          <a:p>
            <a:endParaRPr lang="en-GB"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17</a:t>
            </a:fld>
            <a:endParaRPr lang="en-US"/>
          </a:p>
        </p:txBody>
      </p:sp>
    </p:spTree>
    <p:extLst>
      <p:ext uri="{BB962C8B-B14F-4D97-AF65-F5344CB8AC3E}">
        <p14:creationId xmlns:p14="http://schemas.microsoft.com/office/powerpoint/2010/main" val="3351368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18</a:t>
            </a:fld>
            <a:endParaRPr lang="en-US"/>
          </a:p>
        </p:txBody>
      </p:sp>
    </p:spTree>
    <p:extLst>
      <p:ext uri="{BB962C8B-B14F-4D97-AF65-F5344CB8AC3E}">
        <p14:creationId xmlns:p14="http://schemas.microsoft.com/office/powerpoint/2010/main" val="2846246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19</a:t>
            </a:fld>
            <a:endParaRPr lang="en-US"/>
          </a:p>
        </p:txBody>
      </p:sp>
    </p:spTree>
    <p:extLst>
      <p:ext uri="{BB962C8B-B14F-4D97-AF65-F5344CB8AC3E}">
        <p14:creationId xmlns:p14="http://schemas.microsoft.com/office/powerpoint/2010/main" val="10380591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GB" dirty="0"/>
              <a:t>Transient (New)</a:t>
            </a:r>
          </a:p>
          <a:p>
            <a:pPr lvl="1"/>
            <a:r>
              <a:rPr lang="en-GB" dirty="0"/>
              <a:t>A newly created object that hasn’t been associated with persistence context and is not mapped to any database table row</a:t>
            </a:r>
          </a:p>
          <a:p>
            <a:r>
              <a:rPr lang="en-GB" dirty="0"/>
              <a:t>Managed (Persisted)</a:t>
            </a:r>
          </a:p>
          <a:p>
            <a:pPr lvl="1"/>
            <a:r>
              <a:rPr lang="en-GB" dirty="0"/>
              <a:t>Transient object to become persisted/managed we need to explicitly call the persist()</a:t>
            </a:r>
          </a:p>
          <a:p>
            <a:pPr lvl="1"/>
            <a:r>
              <a:rPr lang="en-GB" dirty="0"/>
              <a:t>Persistent entity has been associated with a database table row and is being managed by current running persistence context.</a:t>
            </a:r>
          </a:p>
          <a:p>
            <a:r>
              <a:rPr lang="en-GB" dirty="0"/>
              <a:t>Detached</a:t>
            </a:r>
          </a:p>
          <a:p>
            <a:pPr lvl="1"/>
            <a:r>
              <a:rPr lang="en-GB" dirty="0"/>
              <a:t>Once the current running persistence context is closed all previously managed entities becomes detached.</a:t>
            </a:r>
          </a:p>
          <a:p>
            <a:pPr lvl="1"/>
            <a:r>
              <a:rPr lang="en-GB" dirty="0"/>
              <a:t>Merge : The merge operation is going to copy the detached entity state to a managed entity instance . If merging has no equivalent in the current running persistence context , one will be fetched from the database.</a:t>
            </a:r>
          </a:p>
          <a:p>
            <a:pPr lvl="1"/>
            <a:r>
              <a:rPr lang="en-GB" dirty="0"/>
              <a:t>The detached object will continue to remain detached even after the merge operation.</a:t>
            </a:r>
          </a:p>
          <a:p>
            <a:r>
              <a:rPr lang="en-GB" dirty="0"/>
              <a:t>Deleted/Removed</a:t>
            </a:r>
          </a:p>
          <a:p>
            <a:pPr lvl="1"/>
            <a:r>
              <a:rPr lang="en-GB" dirty="0"/>
              <a:t>Only managed entities are allowed to be removed . </a:t>
            </a:r>
          </a:p>
          <a:p>
            <a:pPr lvl="1"/>
            <a:r>
              <a:rPr lang="en-GB" dirty="0"/>
              <a:t>Removed entity is only scheduled for deletion and the actual database DELETE statement will be executed during flush.</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hlinkClick r:id="rId3"/>
              </a:rPr>
              <a:t>https://docs.oracle.com/html/E13946_03/ejb3_overview_em_lifecycle.html</a:t>
            </a:r>
            <a:endParaRPr lang="en-IN" dirty="0"/>
          </a:p>
          <a:p>
            <a:endParaRPr lang="en-CA"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20</a:t>
            </a:fld>
            <a:endParaRPr lang="en-US"/>
          </a:p>
        </p:txBody>
      </p:sp>
    </p:spTree>
    <p:extLst>
      <p:ext uri="{BB962C8B-B14F-4D97-AF65-F5344CB8AC3E}">
        <p14:creationId xmlns:p14="http://schemas.microsoft.com/office/powerpoint/2010/main" val="2991412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21</a:t>
            </a:fld>
            <a:endParaRPr lang="en-US"/>
          </a:p>
        </p:txBody>
      </p:sp>
    </p:spTree>
    <p:extLst>
      <p:ext uri="{BB962C8B-B14F-4D97-AF65-F5344CB8AC3E}">
        <p14:creationId xmlns:p14="http://schemas.microsoft.com/office/powerpoint/2010/main" val="2105245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22</a:t>
            </a:fld>
            <a:endParaRPr lang="en-US"/>
          </a:p>
        </p:txBody>
      </p:sp>
    </p:spTree>
    <p:extLst>
      <p:ext uri="{BB962C8B-B14F-4D97-AF65-F5344CB8AC3E}">
        <p14:creationId xmlns:p14="http://schemas.microsoft.com/office/powerpoint/2010/main" val="1641198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23</a:t>
            </a:fld>
            <a:endParaRPr lang="en-US"/>
          </a:p>
        </p:txBody>
      </p:sp>
    </p:spTree>
    <p:extLst>
      <p:ext uri="{BB962C8B-B14F-4D97-AF65-F5344CB8AC3E}">
        <p14:creationId xmlns:p14="http://schemas.microsoft.com/office/powerpoint/2010/main" val="2057488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24</a:t>
            </a:fld>
            <a:endParaRPr lang="en-US"/>
          </a:p>
        </p:txBody>
      </p:sp>
    </p:spTree>
    <p:extLst>
      <p:ext uri="{BB962C8B-B14F-4D97-AF65-F5344CB8AC3E}">
        <p14:creationId xmlns:p14="http://schemas.microsoft.com/office/powerpoint/2010/main" val="1323695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25</a:t>
            </a:fld>
            <a:endParaRPr lang="en-US"/>
          </a:p>
        </p:txBody>
      </p:sp>
    </p:spTree>
    <p:extLst>
      <p:ext uri="{BB962C8B-B14F-4D97-AF65-F5344CB8AC3E}">
        <p14:creationId xmlns:p14="http://schemas.microsoft.com/office/powerpoint/2010/main" val="217144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26</a:t>
            </a:fld>
            <a:endParaRPr lang="en-US"/>
          </a:p>
        </p:txBody>
      </p:sp>
    </p:spTree>
    <p:extLst>
      <p:ext uri="{BB962C8B-B14F-4D97-AF65-F5344CB8AC3E}">
        <p14:creationId xmlns:p14="http://schemas.microsoft.com/office/powerpoint/2010/main" val="36229309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AUTO - Indicates that the</a:t>
            </a:r>
            <a:r>
              <a:rPr lang="en-IN" baseline="0" dirty="0"/>
              <a:t> persistence JPA should pick an appropriate strategy for the particular database</a:t>
            </a:r>
            <a:endParaRPr lang="en-IN" dirty="0"/>
          </a:p>
          <a:p>
            <a:endParaRPr lang="en-CA" dirty="0"/>
          </a:p>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27</a:t>
            </a:fld>
            <a:endParaRPr lang="en-US"/>
          </a:p>
        </p:txBody>
      </p:sp>
    </p:spTree>
    <p:extLst>
      <p:ext uri="{BB962C8B-B14F-4D97-AF65-F5344CB8AC3E}">
        <p14:creationId xmlns:p14="http://schemas.microsoft.com/office/powerpoint/2010/main" val="155302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F8652-CA26-BFE8-9813-4782B31B7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B5125-81E6-FB46-C3F4-3D7CA908861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1A82479-4AAC-82DA-95A6-E53BAAFF6D5B}"/>
              </a:ext>
            </a:extLst>
          </p:cNvPr>
          <p:cNvSpPr>
            <a:spLocks noGrp="1"/>
          </p:cNvSpPr>
          <p:nvPr>
            <p:ph type="body" idx="1"/>
          </p:nvPr>
        </p:nvSpPr>
        <p:spPr/>
        <p:txBody>
          <a:bodyPr/>
          <a:lstStyle/>
          <a:p>
            <a:endParaRPr lang="en-CA" dirty="0"/>
          </a:p>
          <a:p>
            <a:pPr marL="0" indent="0">
              <a:buNone/>
            </a:pPr>
            <a:endParaRPr lang="en-US" dirty="0"/>
          </a:p>
        </p:txBody>
      </p:sp>
      <p:sp>
        <p:nvSpPr>
          <p:cNvPr id="4" name="Slide Number Placeholder 3">
            <a:extLst>
              <a:ext uri="{FF2B5EF4-FFF2-40B4-BE49-F238E27FC236}">
                <a16:creationId xmlns:a16="http://schemas.microsoft.com/office/drawing/2014/main" id="{6FC98888-AF8E-9241-4515-3C812EACB002}"/>
              </a:ext>
            </a:extLst>
          </p:cNvPr>
          <p:cNvSpPr>
            <a:spLocks noGrp="1"/>
          </p:cNvSpPr>
          <p:nvPr>
            <p:ph type="sldNum" sz="quarter" idx="10"/>
          </p:nvPr>
        </p:nvSpPr>
        <p:spPr/>
        <p:txBody>
          <a:bodyPr/>
          <a:lstStyle/>
          <a:p>
            <a:fld id="{068B35CF-413F-4E89-B778-B111B9E6E46E}" type="slidenum">
              <a:rPr lang="en-US" smtClean="0"/>
              <a:t>28</a:t>
            </a:fld>
            <a:endParaRPr lang="en-US"/>
          </a:p>
        </p:txBody>
      </p:sp>
    </p:spTree>
    <p:extLst>
      <p:ext uri="{BB962C8B-B14F-4D97-AF65-F5344CB8AC3E}">
        <p14:creationId xmlns:p14="http://schemas.microsoft.com/office/powerpoint/2010/main" val="979260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29</a:t>
            </a:fld>
            <a:endParaRPr lang="en-US"/>
          </a:p>
        </p:txBody>
      </p:sp>
    </p:spTree>
    <p:extLst>
      <p:ext uri="{BB962C8B-B14F-4D97-AF65-F5344CB8AC3E}">
        <p14:creationId xmlns:p14="http://schemas.microsoft.com/office/powerpoint/2010/main" val="2574495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30</a:t>
            </a:fld>
            <a:endParaRPr lang="en-US"/>
          </a:p>
        </p:txBody>
      </p:sp>
    </p:spTree>
    <p:extLst>
      <p:ext uri="{BB962C8B-B14F-4D97-AF65-F5344CB8AC3E}">
        <p14:creationId xmlns:p14="http://schemas.microsoft.com/office/powerpoint/2010/main" val="2915719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165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7918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997412-C0EA-48EA-88D8-DF08CC072BD6}"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269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997412-C0EA-48EA-88D8-DF08CC072BD6}"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8840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997412-C0EA-48EA-88D8-DF08CC072BD6}"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3514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997412-C0EA-48EA-88D8-DF08CC072BD6}"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89960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7" name="Date Placeholder 6"/>
          <p:cNvSpPr>
            <a:spLocks noGrp="1"/>
          </p:cNvSpPr>
          <p:nvPr>
            <p:ph type="dt" sz="half" idx="10"/>
          </p:nvPr>
        </p:nvSpPr>
        <p:spPr/>
        <p:txBody>
          <a:bodyPr/>
          <a:lstStyle/>
          <a:p>
            <a:fld id="{BF997412-C0EA-48EA-88D8-DF08CC072BD6}" type="datetimeFigureOut">
              <a:rPr lang="en-US" smtClean="0"/>
              <a:t>9/23/2026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25230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997412-C0EA-48EA-88D8-DF08CC072BD6}" type="datetimeFigureOut">
              <a:rPr lang="en-US" smtClean="0"/>
              <a:t>9/23/2026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DAF3D3-DC34-4A62-89D3-DF362488D2E1}" type="slidenum">
              <a:rPr lang="en-US" smtClean="0"/>
              <a:t>‹#›</a:t>
            </a:fld>
            <a:endParaRPr lang="en-US"/>
          </a:p>
        </p:txBody>
      </p:sp>
    </p:spTree>
    <p:extLst>
      <p:ext uri="{BB962C8B-B14F-4D97-AF65-F5344CB8AC3E}">
        <p14:creationId xmlns:p14="http://schemas.microsoft.com/office/powerpoint/2010/main" val="129273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997412-C0EA-48EA-88D8-DF08CC072BD6}"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97270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992636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77234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997412-C0EA-48EA-88D8-DF08CC072BD6}" type="datetimeFigureOut">
              <a:rPr lang="en-US" smtClean="0"/>
              <a:t>9/23/2026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DAF3D3-DC34-4A62-89D3-DF362488D2E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93902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BE49-CD65-48C8-A4E7-588C46A51235}"/>
              </a:ext>
            </a:extLst>
          </p:cNvPr>
          <p:cNvSpPr>
            <a:spLocks noGrp="1"/>
          </p:cNvSpPr>
          <p:nvPr>
            <p:ph type="ctrTitle"/>
          </p:nvPr>
        </p:nvSpPr>
        <p:spPr/>
        <p:txBody>
          <a:bodyPr/>
          <a:lstStyle/>
          <a:p>
            <a:r>
              <a:rPr lang="en-US" dirty="0">
                <a:solidFill>
                  <a:srgbClr val="002060"/>
                </a:solidFill>
              </a:rPr>
              <a:t>Enterprise Java</a:t>
            </a:r>
          </a:p>
        </p:txBody>
      </p:sp>
      <p:sp>
        <p:nvSpPr>
          <p:cNvPr id="3" name="Subtitle 2">
            <a:extLst>
              <a:ext uri="{FF2B5EF4-FFF2-40B4-BE49-F238E27FC236}">
                <a16:creationId xmlns:a16="http://schemas.microsoft.com/office/drawing/2014/main" id="{80B175E9-D318-4465-9B35-C9DAA9E5E728}"/>
              </a:ext>
            </a:extLst>
          </p:cNvPr>
          <p:cNvSpPr>
            <a:spLocks noGrp="1"/>
          </p:cNvSpPr>
          <p:nvPr>
            <p:ph type="subTitle" idx="1"/>
          </p:nvPr>
        </p:nvSpPr>
        <p:spPr>
          <a:xfrm>
            <a:off x="2953379" y="2098676"/>
            <a:ext cx="10058400" cy="541556"/>
          </a:xfrm>
        </p:spPr>
        <p:txBody>
          <a:bodyPr/>
          <a:lstStyle/>
          <a:p>
            <a:r>
              <a:rPr lang="en-US" dirty="0"/>
              <a:t>Information Technology</a:t>
            </a:r>
          </a:p>
          <a:p>
            <a:endParaRPr lang="en-US" dirty="0"/>
          </a:p>
        </p:txBody>
      </p:sp>
      <p:pic>
        <p:nvPicPr>
          <p:cNvPr id="4" name="Picture 3">
            <a:extLst>
              <a:ext uri="{FF2B5EF4-FFF2-40B4-BE49-F238E27FC236}">
                <a16:creationId xmlns:a16="http://schemas.microsoft.com/office/drawing/2014/main" id="{87670B7F-D742-4673-BF39-8C5BAD11BBB1}"/>
              </a:ext>
            </a:extLst>
          </p:cNvPr>
          <p:cNvPicPr/>
          <p:nvPr/>
        </p:nvPicPr>
        <p:blipFill>
          <a:blip r:embed="rId3">
            <a:extLst>
              <a:ext uri="{28A0092B-C50C-407E-A947-70E740481C1C}">
                <a14:useLocalDpi xmlns:a14="http://schemas.microsoft.com/office/drawing/2010/main" val="0"/>
              </a:ext>
            </a:extLst>
          </a:blip>
          <a:stretch>
            <a:fillRect/>
          </a:stretch>
        </p:blipFill>
        <p:spPr>
          <a:xfrm>
            <a:off x="1782572" y="758952"/>
            <a:ext cx="6949227" cy="1242100"/>
          </a:xfrm>
          <a:prstGeom prst="rect">
            <a:avLst/>
          </a:prstGeom>
        </p:spPr>
      </p:pic>
      <p:sp>
        <p:nvSpPr>
          <p:cNvPr id="5" name="Subtitle 2">
            <a:extLst>
              <a:ext uri="{FF2B5EF4-FFF2-40B4-BE49-F238E27FC236}">
                <a16:creationId xmlns:a16="http://schemas.microsoft.com/office/drawing/2014/main" id="{D113FE0D-CFBA-429F-9B03-62E9AB18E0B1}"/>
              </a:ext>
            </a:extLst>
          </p:cNvPr>
          <p:cNvSpPr txBox="1">
            <a:spLocks/>
          </p:cNvSpPr>
          <p:nvPr/>
        </p:nvSpPr>
        <p:spPr>
          <a:xfrm>
            <a:off x="1195600" y="4373924"/>
            <a:ext cx="10058400" cy="54155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dirty="0"/>
              <a:t>data access – </a:t>
            </a:r>
            <a:r>
              <a:rPr lang="en-US" dirty="0" err="1"/>
              <a:t>jPA</a:t>
            </a:r>
            <a:endParaRPr lang="en-US" dirty="0"/>
          </a:p>
          <a:p>
            <a:endParaRPr lang="en-US" dirty="0"/>
          </a:p>
        </p:txBody>
      </p:sp>
    </p:spTree>
    <p:extLst>
      <p:ext uri="{BB962C8B-B14F-4D97-AF65-F5344CB8AC3E}">
        <p14:creationId xmlns:p14="http://schemas.microsoft.com/office/powerpoint/2010/main" val="13778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3">
            <a:extLst>
              <a:ext uri="{FF2B5EF4-FFF2-40B4-BE49-F238E27FC236}">
                <a16:creationId xmlns:a16="http://schemas.microsoft.com/office/drawing/2014/main" id="{B81D74D7-C12C-F782-7C8A-F46F48A3F712}"/>
              </a:ext>
            </a:extLst>
          </p:cNvPr>
          <p:cNvSpPr/>
          <p:nvPr/>
        </p:nvSpPr>
        <p:spPr>
          <a:xfrm>
            <a:off x="3817382" y="4292285"/>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Queries</a:t>
            </a:r>
          </a:p>
        </p:txBody>
      </p:sp>
      <p:sp>
        <p:nvSpPr>
          <p:cNvPr id="4" name="Rounded Rectangle 3">
            <a:extLst>
              <a:ext uri="{FF2B5EF4-FFF2-40B4-BE49-F238E27FC236}">
                <a16:creationId xmlns:a16="http://schemas.microsoft.com/office/drawing/2014/main" id="{33D7FD7B-BF0C-3206-64F3-8BB4C1CA30CD}"/>
              </a:ext>
            </a:extLst>
          </p:cNvPr>
          <p:cNvSpPr/>
          <p:nvPr/>
        </p:nvSpPr>
        <p:spPr>
          <a:xfrm>
            <a:off x="3817382" y="1932663"/>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Introduction</a:t>
            </a:r>
          </a:p>
        </p:txBody>
      </p:sp>
      <p:pic>
        <p:nvPicPr>
          <p:cNvPr id="5" name="Picture 4">
            <a:extLst>
              <a:ext uri="{FF2B5EF4-FFF2-40B4-BE49-F238E27FC236}">
                <a16:creationId xmlns:a16="http://schemas.microsoft.com/office/drawing/2014/main" id="{BAF27327-EE93-A6E4-0825-CFD707B80E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5077" y="27034"/>
            <a:ext cx="1511050" cy="1608908"/>
          </a:xfrm>
          <a:prstGeom prst="rect">
            <a:avLst/>
          </a:prstGeom>
        </p:spPr>
      </p:pic>
      <p:pic>
        <p:nvPicPr>
          <p:cNvPr id="9" name="Picture 8">
            <a:extLst>
              <a:ext uri="{FF2B5EF4-FFF2-40B4-BE49-F238E27FC236}">
                <a16:creationId xmlns:a16="http://schemas.microsoft.com/office/drawing/2014/main" id="{53A2FEEA-BF41-9BF3-C386-6BD6ACC5E816}"/>
              </a:ext>
            </a:extLst>
          </p:cNvPr>
          <p:cNvPicPr>
            <a:picLocks noChangeAspect="1"/>
          </p:cNvPicPr>
          <p:nvPr/>
        </p:nvPicPr>
        <p:blipFill>
          <a:blip r:embed="rId4"/>
          <a:stretch>
            <a:fillRect/>
          </a:stretch>
        </p:blipFill>
        <p:spPr>
          <a:xfrm>
            <a:off x="200967" y="1710721"/>
            <a:ext cx="3571631" cy="4428822"/>
          </a:xfrm>
          <a:prstGeom prst="rect">
            <a:avLst/>
          </a:prstGeom>
        </p:spPr>
      </p:pic>
    </p:spTree>
    <p:extLst>
      <p:ext uri="{BB962C8B-B14F-4D97-AF65-F5344CB8AC3E}">
        <p14:creationId xmlns:p14="http://schemas.microsoft.com/office/powerpoint/2010/main" val="355952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Introduction</a:t>
            </a:r>
          </a:p>
        </p:txBody>
      </p:sp>
    </p:spTree>
    <p:extLst>
      <p:ext uri="{BB962C8B-B14F-4D97-AF65-F5344CB8AC3E}">
        <p14:creationId xmlns:p14="http://schemas.microsoft.com/office/powerpoint/2010/main" val="2609700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623E3B1-EAAC-974D-F40B-68D8B7524B7F}"/>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Introduction</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3" name="Content Placeholder 2">
            <a:extLst>
              <a:ext uri="{FF2B5EF4-FFF2-40B4-BE49-F238E27FC236}">
                <a16:creationId xmlns:a16="http://schemas.microsoft.com/office/drawing/2014/main" id="{6DDCDE37-F285-D57C-F80F-9A8A6609A5A9}"/>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ORM</a:t>
            </a:r>
            <a:r>
              <a:rPr kumimoji="0" lang="en-GB"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is a technique that maps object state to data in a relational database</a:t>
            </a:r>
          </a:p>
          <a:p>
            <a:pPr marL="0" marR="0" lvl="0" indent="0" algn="l"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Mismatch issues between OO and relational models exist and need to be taken into account:</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Subtyping</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Fundamental to OO, absent in RDBMS</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Granularity</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One object’s data could be stored in multiple tables</a:t>
            </a:r>
          </a:p>
          <a:p>
            <a:pPr marL="685800" marR="0" lvl="1" indent="-228600" algn="l" defTabSz="9144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n-GB"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Relationships</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 Associations in OO, foreign keys in RDBMS</a:t>
            </a:r>
            <a:b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 name="Rounded Rectangle 3">
            <a:extLst>
              <a:ext uri="{FF2B5EF4-FFF2-40B4-BE49-F238E27FC236}">
                <a16:creationId xmlns:a16="http://schemas.microsoft.com/office/drawing/2014/main" id="{6CA4847E-AD1D-3C09-D1AC-7D9808EAC326}"/>
              </a:ext>
            </a:extLst>
          </p:cNvPr>
          <p:cNvSpPr/>
          <p:nvPr/>
        </p:nvSpPr>
        <p:spPr>
          <a:xfrm>
            <a:off x="2181688" y="1448214"/>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What is ORM (Object Relational Mapping)?</a:t>
            </a:r>
          </a:p>
        </p:txBody>
      </p:sp>
    </p:spTree>
    <p:extLst>
      <p:ext uri="{BB962C8B-B14F-4D97-AF65-F5344CB8AC3E}">
        <p14:creationId xmlns:p14="http://schemas.microsoft.com/office/powerpoint/2010/main" val="3428463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CF23DDD-6E15-3146-DF6F-6F32641F81EB}"/>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Introducing JPA</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10" name="Content Placeholder 2">
            <a:extLst>
              <a:ext uri="{FF2B5EF4-FFF2-40B4-BE49-F238E27FC236}">
                <a16:creationId xmlns:a16="http://schemas.microsoft.com/office/drawing/2014/main" id="{5BFD2112-8804-8D93-494D-CB78A16CDA23}"/>
              </a:ext>
            </a:extLst>
          </p:cNvPr>
          <p:cNvSpPr txBox="1">
            <a:spLocks/>
          </p:cNvSpPr>
          <p:nvPr/>
        </p:nvSpPr>
        <p:spPr>
          <a:xfrm>
            <a:off x="601490" y="2845761"/>
            <a:ext cx="11003136" cy="342645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ORM frameworks handle the task of mapping objects to tables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Java Persistence API (JPA) is the ORM solution in Java EE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Abstraction on top of JDBC</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Metadata maps objects to tables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Easy way to perform CRUD operations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Comes with JPQL, an object-oriented query language</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Rounded Rectangle 3">
            <a:extLst>
              <a:ext uri="{FF2B5EF4-FFF2-40B4-BE49-F238E27FC236}">
                <a16:creationId xmlns:a16="http://schemas.microsoft.com/office/drawing/2014/main" id="{867353DE-8246-BEA6-1070-B04249802C51}"/>
              </a:ext>
            </a:extLst>
          </p:cNvPr>
          <p:cNvSpPr/>
          <p:nvPr/>
        </p:nvSpPr>
        <p:spPr>
          <a:xfrm>
            <a:off x="2181688" y="1448214"/>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What is JPA?</a:t>
            </a:r>
          </a:p>
        </p:txBody>
      </p:sp>
    </p:spTree>
    <p:extLst>
      <p:ext uri="{BB962C8B-B14F-4D97-AF65-F5344CB8AC3E}">
        <p14:creationId xmlns:p14="http://schemas.microsoft.com/office/powerpoint/2010/main" val="409361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E346BD-0028-A961-9C29-7ECF2C266EE5}"/>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16B6242E-C9A5-3572-61ED-599FF189EEBC}"/>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357188" marR="0" lvl="1"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Any object can be an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entity</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with the following characteristics:</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Persistent</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“persistable”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Has an identity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Transactional – transaction needed for changes to DB</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Fine-grained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Metadata relates entities to records in the database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Specified with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annotations</a:t>
            </a: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(e.g. @Entity, @Id) or </a:t>
            </a:r>
            <a:r>
              <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XML</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ounded Rectangle 3">
            <a:extLst>
              <a:ext uri="{FF2B5EF4-FFF2-40B4-BE49-F238E27FC236}">
                <a16:creationId xmlns:a16="http://schemas.microsoft.com/office/drawing/2014/main" id="{EB20A778-A652-5D2E-4FAC-20394949E33B}"/>
              </a:ext>
            </a:extLst>
          </p:cNvPr>
          <p:cNvSpPr/>
          <p:nvPr/>
        </p:nvSpPr>
        <p:spPr>
          <a:xfrm>
            <a:off x="2181688" y="1740916"/>
            <a:ext cx="7842739" cy="559231"/>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srgbClr val="000000"/>
                </a:solidFill>
                <a:effectLst/>
                <a:uLnTx/>
                <a:uFillTx/>
                <a:latin typeface="Calibri" panose="020F0502020204030204"/>
                <a:ea typeface="+mn-ea"/>
                <a:cs typeface="+mn-cs"/>
              </a:rPr>
              <a:t>Entity classes are the data we want to persist.</a:t>
            </a:r>
          </a:p>
        </p:txBody>
      </p:sp>
    </p:spTree>
    <p:extLst>
      <p:ext uri="{BB962C8B-B14F-4D97-AF65-F5344CB8AC3E}">
        <p14:creationId xmlns:p14="http://schemas.microsoft.com/office/powerpoint/2010/main" val="249083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488FCF0-B4CB-7D75-E018-5806CAC161DC}"/>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Mapping Employee to Table</a:t>
            </a:r>
          </a:p>
        </p:txBody>
      </p:sp>
      <p:sp>
        <p:nvSpPr>
          <p:cNvPr id="10" name="Rectangle 9">
            <a:extLst>
              <a:ext uri="{FF2B5EF4-FFF2-40B4-BE49-F238E27FC236}">
                <a16:creationId xmlns:a16="http://schemas.microsoft.com/office/drawing/2014/main" id="{2F604FB8-39D8-F9C0-405E-2859B28BFD5C}"/>
              </a:ext>
            </a:extLst>
          </p:cNvPr>
          <p:cNvSpPr/>
          <p:nvPr/>
        </p:nvSpPr>
        <p:spPr>
          <a:xfrm>
            <a:off x="1019106" y="1833333"/>
            <a:ext cx="4233022" cy="440120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3099D9"/>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11" name="Table 5">
            <a:extLst>
              <a:ext uri="{FF2B5EF4-FFF2-40B4-BE49-F238E27FC236}">
                <a16:creationId xmlns:a16="http://schemas.microsoft.com/office/drawing/2014/main" id="{B6E2E8A4-A2D5-CC90-E557-0CB484DCBBFC}"/>
              </a:ext>
            </a:extLst>
          </p:cNvPr>
          <p:cNvGraphicFramePr>
            <a:graphicFrameLocks noGrp="1"/>
          </p:cNvGraphicFramePr>
          <p:nvPr/>
        </p:nvGraphicFramePr>
        <p:xfrm>
          <a:off x="6339099" y="2413416"/>
          <a:ext cx="4873066" cy="1478280"/>
        </p:xfrm>
        <a:graphic>
          <a:graphicData uri="http://schemas.openxmlformats.org/drawingml/2006/table">
            <a:tbl>
              <a:tblPr firstRow="1" bandRow="1"/>
              <a:tblGrid>
                <a:gridCol w="2436533">
                  <a:extLst>
                    <a:ext uri="{9D8B030D-6E8A-4147-A177-3AD203B41FA5}">
                      <a16:colId xmlns:a16="http://schemas.microsoft.com/office/drawing/2014/main" val="3929738614"/>
                    </a:ext>
                  </a:extLst>
                </a:gridCol>
                <a:gridCol w="2436533">
                  <a:extLst>
                    <a:ext uri="{9D8B030D-6E8A-4147-A177-3AD203B41FA5}">
                      <a16:colId xmlns:a16="http://schemas.microsoft.com/office/drawing/2014/main" val="2943092182"/>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2" name="TextBox 11">
            <a:extLst>
              <a:ext uri="{FF2B5EF4-FFF2-40B4-BE49-F238E27FC236}">
                <a16:creationId xmlns:a16="http://schemas.microsoft.com/office/drawing/2014/main" id="{306D99B9-B8E1-4385-A0F3-AB646C50877F}"/>
              </a:ext>
            </a:extLst>
          </p:cNvPr>
          <p:cNvSpPr txBox="1"/>
          <p:nvPr/>
        </p:nvSpPr>
        <p:spPr>
          <a:xfrm>
            <a:off x="6339099" y="1895578"/>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cxnSp>
        <p:nvCxnSpPr>
          <p:cNvPr id="13" name="Straight Arrow Connector 12">
            <a:extLst>
              <a:ext uri="{FF2B5EF4-FFF2-40B4-BE49-F238E27FC236}">
                <a16:creationId xmlns:a16="http://schemas.microsoft.com/office/drawing/2014/main" id="{2C51462F-87CC-2C7A-586F-1FB4A050CF67}"/>
              </a:ext>
            </a:extLst>
          </p:cNvPr>
          <p:cNvCxnSpPr>
            <a:cxnSpLocks/>
            <a:endCxn id="12" idx="1"/>
          </p:cNvCxnSpPr>
          <p:nvPr/>
        </p:nvCxnSpPr>
        <p:spPr>
          <a:xfrm flipV="1">
            <a:off x="4155141" y="2080244"/>
            <a:ext cx="2183958" cy="276606"/>
          </a:xfrm>
          <a:prstGeom prst="straightConnector1">
            <a:avLst/>
          </a:prstGeom>
          <a:noFill/>
          <a:ln w="6350" cap="flat" cmpd="sng" algn="ctr">
            <a:solidFill>
              <a:srgbClr val="009FE3"/>
            </a:solidFill>
            <a:prstDash val="solid"/>
            <a:miter lim="800000"/>
            <a:tailEnd type="triangle"/>
          </a:ln>
          <a:effectLst/>
        </p:spPr>
      </p:cxnSp>
      <p:cxnSp>
        <p:nvCxnSpPr>
          <p:cNvPr id="14" name="Straight Arrow Connector 13">
            <a:extLst>
              <a:ext uri="{FF2B5EF4-FFF2-40B4-BE49-F238E27FC236}">
                <a16:creationId xmlns:a16="http://schemas.microsoft.com/office/drawing/2014/main" id="{B0C80979-2778-B5B9-5327-81476C97AB76}"/>
              </a:ext>
            </a:extLst>
          </p:cNvPr>
          <p:cNvCxnSpPr>
            <a:cxnSpLocks/>
          </p:cNvCxnSpPr>
          <p:nvPr/>
        </p:nvCxnSpPr>
        <p:spPr>
          <a:xfrm flipV="1">
            <a:off x="3691218" y="2584519"/>
            <a:ext cx="2647881" cy="370372"/>
          </a:xfrm>
          <a:prstGeom prst="straightConnector1">
            <a:avLst/>
          </a:prstGeom>
          <a:noFill/>
          <a:ln w="6350" cap="flat" cmpd="sng" algn="ctr">
            <a:solidFill>
              <a:srgbClr val="009FE3"/>
            </a:solidFill>
            <a:prstDash val="solid"/>
            <a:miter lim="800000"/>
            <a:tailEnd type="triangle"/>
          </a:ln>
          <a:effectLst/>
        </p:spPr>
      </p:cxnSp>
      <p:cxnSp>
        <p:nvCxnSpPr>
          <p:cNvPr id="15" name="Straight Arrow Connector 14">
            <a:extLst>
              <a:ext uri="{FF2B5EF4-FFF2-40B4-BE49-F238E27FC236}">
                <a16:creationId xmlns:a16="http://schemas.microsoft.com/office/drawing/2014/main" id="{22EA800F-D4D4-B8A6-DA8C-891D9CEDA619}"/>
              </a:ext>
            </a:extLst>
          </p:cNvPr>
          <p:cNvCxnSpPr>
            <a:cxnSpLocks/>
          </p:cNvCxnSpPr>
          <p:nvPr/>
        </p:nvCxnSpPr>
        <p:spPr>
          <a:xfrm flipV="1">
            <a:off x="4390465" y="2769705"/>
            <a:ext cx="4385167" cy="508054"/>
          </a:xfrm>
          <a:prstGeom prst="straightConnector1">
            <a:avLst/>
          </a:prstGeom>
          <a:noFill/>
          <a:ln w="6350" cap="flat" cmpd="sng" algn="ctr">
            <a:solidFill>
              <a:srgbClr val="009FE3"/>
            </a:solidFill>
            <a:prstDash val="solid"/>
            <a:miter lim="800000"/>
            <a:tailEnd type="triangle"/>
          </a:ln>
          <a:effectLst/>
        </p:spPr>
      </p:cxnSp>
    </p:spTree>
    <p:extLst>
      <p:ext uri="{BB962C8B-B14F-4D97-AF65-F5344CB8AC3E}">
        <p14:creationId xmlns:p14="http://schemas.microsoft.com/office/powerpoint/2010/main" val="39864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6C94CDE-07F8-9982-436B-FE45E664E93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Overriding default Mapping</a:t>
            </a:r>
          </a:p>
        </p:txBody>
      </p:sp>
      <p:sp>
        <p:nvSpPr>
          <p:cNvPr id="10" name="Rectangle 9">
            <a:extLst>
              <a:ext uri="{FF2B5EF4-FFF2-40B4-BE49-F238E27FC236}">
                <a16:creationId xmlns:a16="http://schemas.microsoft.com/office/drawing/2014/main" id="{67517F3B-F922-D2BB-B78B-A73323E02D35}"/>
              </a:ext>
            </a:extLst>
          </p:cNvPr>
          <p:cNvSpPr/>
          <p:nvPr/>
        </p:nvSpPr>
        <p:spPr>
          <a:xfrm>
            <a:off x="1032553" y="1503880"/>
            <a:ext cx="4500912" cy="4708981"/>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3099D9"/>
                </a:solidFill>
                <a:effectLst/>
                <a:uLnTx/>
                <a:uFillTx/>
                <a:latin typeface="Consolas" pitchFamily="49" charset="0"/>
              </a:rPr>
              <a:t>@Table(name = “EMP”)</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@Column(name = “EMP_ID”)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@Column(name = “EMP_NAME”)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11" name="Table 5">
            <a:extLst>
              <a:ext uri="{FF2B5EF4-FFF2-40B4-BE49-F238E27FC236}">
                <a16:creationId xmlns:a16="http://schemas.microsoft.com/office/drawing/2014/main" id="{85F2ACB2-2E7B-CE88-3B28-C15F73F4259D}"/>
              </a:ext>
            </a:extLst>
          </p:cNvPr>
          <p:cNvGraphicFramePr>
            <a:graphicFrameLocks noGrp="1"/>
          </p:cNvGraphicFramePr>
          <p:nvPr/>
        </p:nvGraphicFramePr>
        <p:xfrm>
          <a:off x="6339099" y="2413416"/>
          <a:ext cx="4873066" cy="1478280"/>
        </p:xfrm>
        <a:graphic>
          <a:graphicData uri="http://schemas.openxmlformats.org/drawingml/2006/table">
            <a:tbl>
              <a:tblPr firstRow="1" bandRow="1"/>
              <a:tblGrid>
                <a:gridCol w="2436533">
                  <a:extLst>
                    <a:ext uri="{9D8B030D-6E8A-4147-A177-3AD203B41FA5}">
                      <a16:colId xmlns:a16="http://schemas.microsoft.com/office/drawing/2014/main" val="3929738614"/>
                    </a:ext>
                  </a:extLst>
                </a:gridCol>
                <a:gridCol w="2436533">
                  <a:extLst>
                    <a:ext uri="{9D8B030D-6E8A-4147-A177-3AD203B41FA5}">
                      <a16:colId xmlns:a16="http://schemas.microsoft.com/office/drawing/2014/main" val="2943092182"/>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EMP_ID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EMP_NAME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2" name="TextBox 11">
            <a:extLst>
              <a:ext uri="{FF2B5EF4-FFF2-40B4-BE49-F238E27FC236}">
                <a16:creationId xmlns:a16="http://schemas.microsoft.com/office/drawing/2014/main" id="{5F3C0631-31F4-AE0C-3E50-508798DF86F8}"/>
              </a:ext>
            </a:extLst>
          </p:cNvPr>
          <p:cNvSpPr txBox="1"/>
          <p:nvPr/>
        </p:nvSpPr>
        <p:spPr>
          <a:xfrm>
            <a:off x="6339099" y="1895578"/>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 TABLE</a:t>
            </a:r>
          </a:p>
        </p:txBody>
      </p:sp>
      <p:cxnSp>
        <p:nvCxnSpPr>
          <p:cNvPr id="13" name="Straight Arrow Connector 12">
            <a:extLst>
              <a:ext uri="{FF2B5EF4-FFF2-40B4-BE49-F238E27FC236}">
                <a16:creationId xmlns:a16="http://schemas.microsoft.com/office/drawing/2014/main" id="{F4C9F478-D9F8-87CC-0AB8-98B8E1D20C56}"/>
              </a:ext>
            </a:extLst>
          </p:cNvPr>
          <p:cNvCxnSpPr>
            <a:cxnSpLocks/>
            <a:endCxn id="12" idx="1"/>
          </p:cNvCxnSpPr>
          <p:nvPr/>
        </p:nvCxnSpPr>
        <p:spPr>
          <a:xfrm flipV="1">
            <a:off x="3939988" y="2080244"/>
            <a:ext cx="2399111" cy="20976"/>
          </a:xfrm>
          <a:prstGeom prst="straightConnector1">
            <a:avLst/>
          </a:prstGeom>
          <a:noFill/>
          <a:ln w="6350" cap="flat" cmpd="sng" algn="ctr">
            <a:solidFill>
              <a:srgbClr val="009FE3"/>
            </a:solidFill>
            <a:prstDash val="solid"/>
            <a:miter lim="800000"/>
            <a:tailEnd type="triangle"/>
          </a:ln>
          <a:effectLst/>
        </p:spPr>
      </p:cxnSp>
      <p:cxnSp>
        <p:nvCxnSpPr>
          <p:cNvPr id="14" name="Straight Arrow Connector 13">
            <a:extLst>
              <a:ext uri="{FF2B5EF4-FFF2-40B4-BE49-F238E27FC236}">
                <a16:creationId xmlns:a16="http://schemas.microsoft.com/office/drawing/2014/main" id="{79EAAD01-3F48-F987-5729-2E87D294EAEC}"/>
              </a:ext>
            </a:extLst>
          </p:cNvPr>
          <p:cNvCxnSpPr>
            <a:cxnSpLocks/>
          </p:cNvCxnSpPr>
          <p:nvPr/>
        </p:nvCxnSpPr>
        <p:spPr>
          <a:xfrm flipV="1">
            <a:off x="4982135" y="2685479"/>
            <a:ext cx="1304365" cy="192192"/>
          </a:xfrm>
          <a:prstGeom prst="straightConnector1">
            <a:avLst/>
          </a:prstGeom>
          <a:noFill/>
          <a:ln w="6350" cap="flat" cmpd="sng" algn="ctr">
            <a:solidFill>
              <a:srgbClr val="009FE3"/>
            </a:solidFill>
            <a:prstDash val="solid"/>
            <a:miter lim="800000"/>
            <a:tailEnd type="triangle"/>
          </a:ln>
          <a:effectLst/>
        </p:spPr>
      </p:cxnSp>
      <p:cxnSp>
        <p:nvCxnSpPr>
          <p:cNvPr id="15" name="Straight Arrow Connector 14">
            <a:extLst>
              <a:ext uri="{FF2B5EF4-FFF2-40B4-BE49-F238E27FC236}">
                <a16:creationId xmlns:a16="http://schemas.microsoft.com/office/drawing/2014/main" id="{6BA59F13-6ECD-4D27-E9D4-6580674C0036}"/>
              </a:ext>
            </a:extLst>
          </p:cNvPr>
          <p:cNvCxnSpPr>
            <a:cxnSpLocks/>
          </p:cNvCxnSpPr>
          <p:nvPr/>
        </p:nvCxnSpPr>
        <p:spPr>
          <a:xfrm flipV="1">
            <a:off x="4529044" y="2769705"/>
            <a:ext cx="4246588" cy="859948"/>
          </a:xfrm>
          <a:prstGeom prst="straightConnector1">
            <a:avLst/>
          </a:prstGeom>
          <a:noFill/>
          <a:ln w="6350" cap="flat" cmpd="sng" algn="ctr">
            <a:solidFill>
              <a:srgbClr val="009FE3"/>
            </a:solidFill>
            <a:prstDash val="solid"/>
            <a:miter lim="800000"/>
            <a:tailEnd type="triangle"/>
          </a:ln>
          <a:effectLst/>
        </p:spPr>
      </p:cxnSp>
    </p:spTree>
    <p:extLst>
      <p:ext uri="{BB962C8B-B14F-4D97-AF65-F5344CB8AC3E}">
        <p14:creationId xmlns:p14="http://schemas.microsoft.com/office/powerpoint/2010/main" val="2693725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2F76AD2-7318-1FB9-9AE2-6D0FB89D2C1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Example: Transient</a:t>
            </a:r>
          </a:p>
        </p:txBody>
      </p:sp>
      <p:sp>
        <p:nvSpPr>
          <p:cNvPr id="8" name="Rectangle 7">
            <a:extLst>
              <a:ext uri="{FF2B5EF4-FFF2-40B4-BE49-F238E27FC236}">
                <a16:creationId xmlns:a16="http://schemas.microsoft.com/office/drawing/2014/main" id="{FE2F3C89-D40E-A932-39C4-7AD7FB6A0F39}"/>
              </a:ext>
            </a:extLst>
          </p:cNvPr>
          <p:cNvSpPr/>
          <p:nvPr/>
        </p:nvSpPr>
        <p:spPr>
          <a:xfrm>
            <a:off x="1019106" y="1618180"/>
            <a:ext cx="4233022" cy="4708981"/>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a:t>
            </a:r>
            <a:r>
              <a:rPr kumimoji="0" lang="en-IN" sz="2000" b="1" i="0" u="none" strike="noStrike" kern="0" cap="none" spc="0" normalizeH="0" baseline="0" noProof="0" dirty="0" err="1">
                <a:ln>
                  <a:noFill/>
                </a:ln>
                <a:solidFill>
                  <a:srgbClr val="000000"/>
                </a:solidFill>
                <a:effectLst/>
                <a:uLnTx/>
                <a:uFillTx/>
                <a:latin typeface="Consolas" pitchFamily="49" charset="0"/>
              </a:rPr>
              <a:t>LocalDate</a:t>
            </a:r>
            <a:r>
              <a:rPr kumimoji="0" lang="en-IN" sz="2000" b="1" i="0" u="none" strike="noStrike" kern="0" cap="none" spc="0" normalizeH="0" baseline="0" noProof="0" dirty="0">
                <a:ln>
                  <a:noFill/>
                </a:ln>
                <a:solidFill>
                  <a:srgbClr val="000000"/>
                </a:solidFill>
                <a:effectLst/>
                <a:uLnTx/>
                <a:uFillTx/>
                <a:latin typeface="Consolas" pitchFamily="49" charset="0"/>
              </a:rPr>
              <a:t> dob;</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a:t>
            </a:r>
            <a:r>
              <a:rPr kumimoji="0" lang="en-IN" sz="2000" b="1" i="0" u="none" strike="noStrike" kern="0" cap="none" spc="0" normalizeH="0" baseline="0" noProof="0" dirty="0">
                <a:ln>
                  <a:noFill/>
                </a:ln>
                <a:solidFill>
                  <a:srgbClr val="3099D9"/>
                </a:solidFill>
                <a:effectLst/>
                <a:uLnTx/>
                <a:uFillTx/>
                <a:latin typeface="Consolas" pitchFamily="49" charset="0"/>
              </a:rPr>
              <a:t>@Transient</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private int age;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public Employee(){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	// setters and getters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000000"/>
                </a:solidFill>
                <a:effectLst/>
                <a:uLnTx/>
                <a:uFillTx/>
                <a:latin typeface="Consolas" pitchFamily="49" charset="0"/>
              </a:rPr>
              <a:t>}</a:t>
            </a:r>
            <a:endParaRPr kumimoji="0" lang="en-GB" sz="2000" b="1" i="0" u="none" strike="noStrike" kern="0" cap="none" spc="0" normalizeH="0" baseline="0" noProof="0" dirty="0">
              <a:ln>
                <a:noFill/>
              </a:ln>
              <a:solidFill>
                <a:srgbClr val="000000"/>
              </a:solidFill>
              <a:effectLst/>
              <a:uLnTx/>
              <a:uFillTx/>
              <a:latin typeface="Consolas" pitchFamily="49" charset="0"/>
            </a:endParaRPr>
          </a:p>
        </p:txBody>
      </p:sp>
      <p:graphicFrame>
        <p:nvGraphicFramePr>
          <p:cNvPr id="9" name="Table 5">
            <a:extLst>
              <a:ext uri="{FF2B5EF4-FFF2-40B4-BE49-F238E27FC236}">
                <a16:creationId xmlns:a16="http://schemas.microsoft.com/office/drawing/2014/main" id="{DFF3675D-3B2F-B023-A56A-E24FC937E0E7}"/>
              </a:ext>
            </a:extLst>
          </p:cNvPr>
          <p:cNvGraphicFramePr>
            <a:graphicFrameLocks noGrp="1"/>
          </p:cNvGraphicFramePr>
          <p:nvPr/>
        </p:nvGraphicFramePr>
        <p:xfrm>
          <a:off x="6339099" y="3233530"/>
          <a:ext cx="5016942" cy="1478280"/>
        </p:xfrm>
        <a:graphic>
          <a:graphicData uri="http://schemas.openxmlformats.org/drawingml/2006/table">
            <a:tbl>
              <a:tblPr firstRow="1" bandRow="1"/>
              <a:tblGrid>
                <a:gridCol w="1672314">
                  <a:extLst>
                    <a:ext uri="{9D8B030D-6E8A-4147-A177-3AD203B41FA5}">
                      <a16:colId xmlns:a16="http://schemas.microsoft.com/office/drawing/2014/main" val="3929738614"/>
                    </a:ext>
                  </a:extLst>
                </a:gridCol>
                <a:gridCol w="1672314">
                  <a:extLst>
                    <a:ext uri="{9D8B030D-6E8A-4147-A177-3AD203B41FA5}">
                      <a16:colId xmlns:a16="http://schemas.microsoft.com/office/drawing/2014/main" val="2943092182"/>
                    </a:ext>
                  </a:extLst>
                </a:gridCol>
                <a:gridCol w="1672314">
                  <a:extLst>
                    <a:ext uri="{9D8B030D-6E8A-4147-A177-3AD203B41FA5}">
                      <a16:colId xmlns:a16="http://schemas.microsoft.com/office/drawing/2014/main" val="1423481047"/>
                    </a:ext>
                  </a:extLst>
                </a:gridCol>
              </a:tblGrid>
              <a:tr h="31685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ID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NAME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CA" dirty="0"/>
                        <a:t>DOB</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9FE3"/>
                    </a:solidFill>
                  </a:tcPr>
                </a:tc>
                <a:extLst>
                  <a:ext uri="{0D108BD9-81ED-4DB2-BD59-A6C34878D82A}">
                    <a16:rowId xmlns:a16="http://schemas.microsoft.com/office/drawing/2014/main" val="64172781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John Doe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01 - DEC - 1988</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395005360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Jane Doe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11 – JAN - 1989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20000"/>
                      </a:srgbClr>
                    </a:solidFill>
                  </a:tcPr>
                </a:tc>
                <a:extLst>
                  <a:ext uri="{0D108BD9-81ED-4DB2-BD59-A6C34878D82A}">
                    <a16:rowId xmlns:a16="http://schemas.microsoft.com/office/drawing/2014/main" val="396196186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10003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James Smith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CA" dirty="0"/>
                        <a:t>07 – DEC - 1988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FE3">
                        <a:tint val="40000"/>
                      </a:srgbClr>
                    </a:solidFill>
                  </a:tcPr>
                </a:tc>
                <a:extLst>
                  <a:ext uri="{0D108BD9-81ED-4DB2-BD59-A6C34878D82A}">
                    <a16:rowId xmlns:a16="http://schemas.microsoft.com/office/drawing/2014/main" val="131462945"/>
                  </a:ext>
                </a:extLst>
              </a:tr>
            </a:tbl>
          </a:graphicData>
        </a:graphic>
      </p:graphicFrame>
      <p:sp>
        <p:nvSpPr>
          <p:cNvPr id="10" name="TextBox 9">
            <a:extLst>
              <a:ext uri="{FF2B5EF4-FFF2-40B4-BE49-F238E27FC236}">
                <a16:creationId xmlns:a16="http://schemas.microsoft.com/office/drawing/2014/main" id="{17B2CB63-31AB-75C0-45EE-A6384B0B2B64}"/>
              </a:ext>
            </a:extLst>
          </p:cNvPr>
          <p:cNvSpPr txBox="1"/>
          <p:nvPr/>
        </p:nvSpPr>
        <p:spPr>
          <a:xfrm>
            <a:off x="6339099" y="2749466"/>
            <a:ext cx="2575112"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000000"/>
                </a:solidFill>
                <a:effectLst/>
                <a:uLnTx/>
                <a:uFillTx/>
              </a:rPr>
              <a:t>EMPLOYEE TABLE</a:t>
            </a:r>
          </a:p>
        </p:txBody>
      </p:sp>
      <p:sp>
        <p:nvSpPr>
          <p:cNvPr id="11" name="TextBox 10">
            <a:extLst>
              <a:ext uri="{FF2B5EF4-FFF2-40B4-BE49-F238E27FC236}">
                <a16:creationId xmlns:a16="http://schemas.microsoft.com/office/drawing/2014/main" id="{9E7FDF3C-3ADB-234E-8911-E794791CE1EB}"/>
              </a:ext>
            </a:extLst>
          </p:cNvPr>
          <p:cNvSpPr txBox="1"/>
          <p:nvPr/>
        </p:nvSpPr>
        <p:spPr>
          <a:xfrm>
            <a:off x="6339099" y="4938664"/>
            <a:ext cx="493507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age is not persisted</a:t>
            </a:r>
          </a:p>
        </p:txBody>
      </p:sp>
    </p:spTree>
    <p:extLst>
      <p:ext uri="{BB962C8B-B14F-4D97-AF65-F5344CB8AC3E}">
        <p14:creationId xmlns:p14="http://schemas.microsoft.com/office/powerpoint/2010/main" val="2418287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5CBB7C-0792-D873-2632-A04351BD2F8E}"/>
              </a:ext>
            </a:extLst>
          </p:cNvPr>
          <p:cNvSpPr txBox="1">
            <a:spLocks/>
          </p:cNvSpPr>
          <p:nvPr/>
        </p:nvSpPr>
        <p:spPr>
          <a:xfrm>
            <a:off x="230459" y="221064"/>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Key Interfaces and Classes</a:t>
            </a:r>
          </a:p>
        </p:txBody>
      </p:sp>
      <p:sp>
        <p:nvSpPr>
          <p:cNvPr id="5" name="Content Placeholder 2">
            <a:extLst>
              <a:ext uri="{FF2B5EF4-FFF2-40B4-BE49-F238E27FC236}">
                <a16:creationId xmlns:a16="http://schemas.microsoft.com/office/drawing/2014/main" id="{282D235A-1A46-9026-9FC2-698014E566AE}"/>
              </a:ext>
            </a:extLst>
          </p:cNvPr>
          <p:cNvSpPr txBox="1">
            <a:spLocks/>
          </p:cNvSpPr>
          <p:nvPr/>
        </p:nvSpPr>
        <p:spPr>
          <a:xfrm>
            <a:off x="534142" y="1216879"/>
            <a:ext cx="6610020" cy="56411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@Entity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Marks classes that are Entities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Starting point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Creates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Creates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Used to manage the lifecycle of Entities and query the database</a:t>
            </a:r>
          </a:p>
          <a:p>
            <a:pPr marL="0" indent="0">
              <a:buNone/>
            </a:pPr>
            <a:r>
              <a:rPr lang="en-GB" sz="1400" b="1" dirty="0" err="1"/>
              <a:t>EntityTransaction</a:t>
            </a:r>
            <a:endParaRPr lang="en-GB" sz="1400" b="1" dirty="0"/>
          </a:p>
          <a:p>
            <a:pPr lvl="1"/>
            <a:r>
              <a:rPr lang="en-GB" sz="1400" dirty="0"/>
              <a:t>Groups operations on persistent data into units of work that completely succeed or fail</a:t>
            </a:r>
          </a:p>
          <a:p>
            <a:pPr marL="0" indent="0">
              <a:buNone/>
            </a:pPr>
            <a:r>
              <a:rPr lang="en-GB" sz="1400" b="1" dirty="0"/>
              <a:t>Query</a:t>
            </a:r>
          </a:p>
          <a:p>
            <a:pPr lvl="1"/>
            <a:r>
              <a:rPr lang="en-GB" sz="1400" dirty="0"/>
              <a:t>Finds persistent objects that meet certain criteria</a:t>
            </a:r>
          </a:p>
          <a:p>
            <a:pPr lvl="1"/>
            <a:r>
              <a:rPr lang="en-GB" sz="1400" dirty="0"/>
              <a:t>Allows use of both Java Persistence Query Language (JPQL) and Structured Query Language (SQL) </a:t>
            </a:r>
          </a:p>
          <a:p>
            <a:pPr lvl="1"/>
            <a:r>
              <a:rPr lang="en-GB" sz="1400" dirty="0"/>
              <a:t>Implementations are vendor-specific</a:t>
            </a:r>
          </a:p>
          <a:p>
            <a:endPar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051F164D-74E5-E165-6661-CEF764DCC0FA}"/>
              </a:ext>
            </a:extLst>
          </p:cNvPr>
          <p:cNvPicPr>
            <a:picLocks noChangeAspect="1"/>
          </p:cNvPicPr>
          <p:nvPr/>
        </p:nvPicPr>
        <p:blipFill>
          <a:blip r:embed="rId3"/>
          <a:stretch>
            <a:fillRect/>
          </a:stretch>
        </p:blipFill>
        <p:spPr>
          <a:xfrm>
            <a:off x="7144162" y="1133477"/>
            <a:ext cx="4703490" cy="3008580"/>
          </a:xfrm>
          <a:prstGeom prst="rect">
            <a:avLst/>
          </a:prstGeom>
        </p:spPr>
      </p:pic>
    </p:spTree>
    <p:extLst>
      <p:ext uri="{BB962C8B-B14F-4D97-AF65-F5344CB8AC3E}">
        <p14:creationId xmlns:p14="http://schemas.microsoft.com/office/powerpoint/2010/main" val="79113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B81D83-2A2A-A6D8-D561-C2D29F8D354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Implementation Overview</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A6D77745-4736-AB00-8A09-F8788C457868}"/>
              </a:ext>
            </a:extLst>
          </p:cNvPr>
          <p:cNvSpPr txBox="1">
            <a:spLocks/>
          </p:cNvSpPr>
          <p:nvPr/>
        </p:nvSpPr>
        <p:spPr>
          <a:xfrm>
            <a:off x="602248" y="1727830"/>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Three key steps:</a:t>
            </a:r>
            <a:b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Configure Entity classes with metadata</a:t>
            </a: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Provide configuration details:</a:t>
            </a:r>
          </a:p>
          <a:p>
            <a:pPr marL="914400" lvl="1" indent="-457200">
              <a:spcBef>
                <a:spcPts val="1800"/>
              </a:spcBef>
              <a:buFont typeface="+mj-lt"/>
              <a:buAutoNum type="arabicPeriod"/>
            </a:pPr>
            <a:r>
              <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 a persistence.xml file</a:t>
            </a:r>
          </a:p>
          <a:p>
            <a:pPr marL="914400" lvl="1" indent="-457200">
              <a:spcBef>
                <a:spcPts val="1800"/>
              </a:spcBef>
              <a:buFont typeface="+mj-lt"/>
              <a:buAutoNum type="arabicPeriod"/>
            </a:pPr>
            <a:r>
              <a:rPr lang="en-GB" dirty="0">
                <a:solidFill>
                  <a:srgbClr val="000000"/>
                </a:solidFill>
              </a:rPr>
              <a:t>Annotation / Class based configuration</a:t>
            </a:r>
            <a:r>
              <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p>
          <a:p>
            <a:pPr marL="457200" marR="0" lvl="0" indent="-457200" algn="l" defTabSz="914400" rtl="0" eaLnBrk="1" fontAlgn="auto" latinLnBrk="0" hangingPunct="1">
              <a:lnSpc>
                <a:spcPct val="100000"/>
              </a:lnSpc>
              <a:spcBef>
                <a:spcPts val="1800"/>
              </a:spcBef>
              <a:spcAft>
                <a:spcPts val="600"/>
              </a:spcAft>
              <a:buClrTx/>
              <a:buSzTx/>
              <a:buFont typeface="+mj-lt"/>
              <a:buAutoNum type="arabicPeriod"/>
              <a:tabLst/>
              <a:defRPr/>
            </a:pP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 an </a:t>
            </a:r>
            <a:r>
              <a:rPr kumimoji="0" lang="en-GB"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from which </a:t>
            </a:r>
            <a:r>
              <a:rPr kumimoji="0" lang="en-GB"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EntityManagers</a:t>
            </a:r>
            <a:r>
              <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can be obtained</a:t>
            </a:r>
          </a:p>
          <a:p>
            <a:pPr marL="0" marR="0" lvl="0" indent="0" algn="ctr" defTabSz="914400" rtl="0" eaLnBrk="1" fontAlgn="auto" latinLnBrk="0" hangingPunct="1">
              <a:lnSpc>
                <a:spcPct val="100000"/>
              </a:lnSpc>
              <a:spcBef>
                <a:spcPts val="1800"/>
              </a:spcBef>
              <a:spcAft>
                <a:spcPts val="600"/>
              </a:spcAft>
              <a:buClrTx/>
              <a:buSzTx/>
              <a:buFont typeface="Arial" panose="020B0604020202020204" pitchFamily="34" charset="0"/>
              <a:buNone/>
              <a:tabLst/>
              <a:defRPr/>
            </a:pPr>
            <a:r>
              <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 </a:t>
            </a:r>
            <a:r>
              <a:rPr kumimoji="0" lang="en-GB" sz="180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 is then used to perform CRUD operations and query the database.</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09076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1565BC-8337-FE46-D3EC-665A6FDA671B}"/>
              </a:ext>
            </a:extLst>
          </p:cNvPr>
          <p:cNvSpPr txBox="1">
            <a:spLocks/>
          </p:cNvSpPr>
          <p:nvPr/>
        </p:nvSpPr>
        <p:spPr>
          <a:xfrm>
            <a:off x="425785" y="272716"/>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Persistence Context</a:t>
            </a:r>
          </a:p>
        </p:txBody>
      </p:sp>
      <p:sp>
        <p:nvSpPr>
          <p:cNvPr id="5" name="Content Placeholder 2">
            <a:extLst>
              <a:ext uri="{FF2B5EF4-FFF2-40B4-BE49-F238E27FC236}">
                <a16:creationId xmlns:a16="http://schemas.microsoft.com/office/drawing/2014/main" id="{68B4E16B-F031-EE8B-DE12-F2D5DAEFC652}"/>
              </a:ext>
            </a:extLst>
          </p:cNvPr>
          <p:cNvSpPr txBox="1">
            <a:spLocks/>
          </p:cNvSpPr>
          <p:nvPr/>
        </p:nvSpPr>
        <p:spPr>
          <a:xfrm>
            <a:off x="425785" y="1078869"/>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t>
            </a:r>
            <a:r>
              <a:rPr kumimoji="0" lang="en-GB"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 context </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is the set of Entity instances in your application, managed by the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When an </a:t>
            </a:r>
            <a:r>
              <a:rPr kumimoji="0" lang="en-GB" sz="14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gets a reference to an Entity, that instance is said to be </a:t>
            </a:r>
            <a:r>
              <a:rPr kumimoji="0" lang="en-GB" sz="14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managed</a:t>
            </a:r>
            <a:endParaRPr kumimoji="0" lang="en-GB" sz="1400" b="0" i="0"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Persistence operations can be carried out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EM will automatically sync Entity state with the DB</a:t>
            </a:r>
            <a:b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Otherwise, the instance is said to be </a:t>
            </a:r>
            <a:r>
              <a:rPr kumimoji="0" lang="en-GB" sz="14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detached</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Seen as a regular POJO and can be used as such</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GB" sz="1400" dirty="0">
              <a:solidFill>
                <a:srgbClr val="000000"/>
              </a:solidFill>
            </a:endParaRPr>
          </a:p>
          <a:p>
            <a:pPr marL="0" indent="0">
              <a:buNone/>
            </a:pPr>
            <a:r>
              <a:rPr lang="en-GB" sz="1400" b="1" dirty="0"/>
              <a:t>persistence.xml</a:t>
            </a:r>
            <a:endParaRPr lang="en-GB" sz="1400" dirty="0"/>
          </a:p>
          <a:p>
            <a:pPr lvl="1"/>
            <a:r>
              <a:rPr lang="en-GB" sz="1400" dirty="0"/>
              <a:t>An XML file that defines </a:t>
            </a:r>
            <a:r>
              <a:rPr lang="en-GB" sz="1400" b="1" dirty="0"/>
              <a:t>persistence units</a:t>
            </a:r>
            <a:endParaRPr lang="en-GB" sz="1400" dirty="0"/>
          </a:p>
          <a:p>
            <a:pPr lvl="1"/>
            <a:r>
              <a:rPr lang="en-US" sz="1400" dirty="0"/>
              <a:t>Should be placed in a directory called META-INF</a:t>
            </a:r>
            <a:endParaRPr lang="en-GB" sz="1400" dirty="0"/>
          </a:p>
          <a:p>
            <a:pPr marL="0" indent="0">
              <a:buNone/>
            </a:pPr>
            <a:endParaRPr lang="en-GB" sz="1400" dirty="0"/>
          </a:p>
          <a:p>
            <a:pPr marL="0" indent="0">
              <a:buNone/>
            </a:pPr>
            <a:r>
              <a:rPr lang="en-GB" sz="1400" dirty="0"/>
              <a:t>A </a:t>
            </a:r>
            <a:r>
              <a:rPr lang="en-GB" sz="1400" b="1" dirty="0"/>
              <a:t>persistence unit </a:t>
            </a:r>
            <a:r>
              <a:rPr lang="en-GB" sz="1400" dirty="0"/>
              <a:t>is used to configure</a:t>
            </a:r>
            <a:r>
              <a:rPr lang="en-GB" sz="1400" b="1" dirty="0"/>
              <a:t>:</a:t>
            </a:r>
          </a:p>
          <a:p>
            <a:pPr lvl="1"/>
            <a:r>
              <a:rPr lang="en-GB" sz="1400" dirty="0"/>
              <a:t>Which Entity classes are to be managed</a:t>
            </a:r>
          </a:p>
          <a:p>
            <a:pPr lvl="1"/>
            <a:r>
              <a:rPr lang="en-GB" sz="1400" dirty="0"/>
              <a:t>Persistence provider details</a:t>
            </a:r>
          </a:p>
          <a:p>
            <a:pPr lvl="1"/>
            <a:r>
              <a:rPr lang="en-GB" sz="1400" dirty="0"/>
              <a:t>Database connection details and other properties</a:t>
            </a:r>
          </a:p>
          <a:p>
            <a:endParaRPr kumimoji="0" lang="en-GB"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6208B955-D706-0CDC-5A99-2A29219277BE}"/>
              </a:ext>
            </a:extLst>
          </p:cNvPr>
          <p:cNvSpPr txBox="1"/>
          <p:nvPr/>
        </p:nvSpPr>
        <p:spPr>
          <a:xfrm>
            <a:off x="5540477" y="2020684"/>
            <a:ext cx="6225738" cy="4093428"/>
          </a:xfrm>
          <a:prstGeom prst="rect">
            <a:avLst/>
          </a:prstGeom>
          <a:noFill/>
        </p:spPr>
        <p:txBody>
          <a:bodyPr wrap="square" rtlCol="0">
            <a:spAutoFit/>
          </a:bodyPr>
          <a:lstStyle/>
          <a:p>
            <a:r>
              <a:rPr lang="en-CA" sz="1000" dirty="0"/>
              <a:t>&lt;?xml version="1.0" encoding="UTF-8"?&gt;</a:t>
            </a:r>
            <a:br>
              <a:rPr lang="en-CA" sz="1000" dirty="0"/>
            </a:br>
            <a:r>
              <a:rPr lang="en-CA" sz="1000" dirty="0"/>
              <a:t>&lt;persistence </a:t>
            </a:r>
            <a:r>
              <a:rPr lang="en-CA" sz="1000" dirty="0" err="1"/>
              <a:t>xmlns</a:t>
            </a:r>
            <a:r>
              <a:rPr lang="en-CA" sz="1000" dirty="0"/>
              <a:t>="https://jakarta.ee/xml/ns/persistence"</a:t>
            </a:r>
            <a:br>
              <a:rPr lang="en-CA" sz="1000" dirty="0"/>
            </a:br>
            <a:r>
              <a:rPr lang="en-CA" sz="1000" dirty="0"/>
              <a:t>             </a:t>
            </a:r>
            <a:r>
              <a:rPr lang="en-CA" sz="1000" dirty="0" err="1"/>
              <a:t>xmlns:xsi</a:t>
            </a:r>
            <a:r>
              <a:rPr lang="en-CA" sz="1000" dirty="0"/>
              <a:t>="http://www.w3.org/2001/XMLSchema-instance"</a:t>
            </a:r>
            <a:br>
              <a:rPr lang="en-CA" sz="1000" dirty="0"/>
            </a:br>
            <a:r>
              <a:rPr lang="en-CA" sz="1000" dirty="0"/>
              <a:t>             </a:t>
            </a:r>
            <a:r>
              <a:rPr lang="en-CA" sz="1000" dirty="0" err="1"/>
              <a:t>xsi:schemaLocation</a:t>
            </a:r>
            <a:r>
              <a:rPr lang="en-CA" sz="1000" dirty="0"/>
              <a:t>="https://jakarta.ee/xml/ns/persistence</a:t>
            </a:r>
            <a:br>
              <a:rPr lang="en-CA" sz="1000" dirty="0"/>
            </a:br>
            <a:r>
              <a:rPr lang="en-CA" sz="1000" dirty="0"/>
              <a:t>                                 https://jakarta.ee/xml/ns/persistence/persistence_3_2.xsd"</a:t>
            </a:r>
            <a:br>
              <a:rPr lang="en-CA" sz="1000" dirty="0"/>
            </a:br>
            <a:r>
              <a:rPr lang="en-CA" sz="1000" dirty="0"/>
              <a:t>             version="3.2"&gt;</a:t>
            </a:r>
            <a:br>
              <a:rPr lang="en-CA" sz="1000" dirty="0"/>
            </a:br>
            <a:r>
              <a:rPr lang="en-CA" sz="1000" dirty="0"/>
              <a:t>    &lt;persistence-unit name="default"&gt;</a:t>
            </a:r>
            <a:br>
              <a:rPr lang="en-CA" sz="1000" dirty="0"/>
            </a:br>
            <a:br>
              <a:rPr lang="en-CA" sz="1000" dirty="0"/>
            </a:br>
            <a:r>
              <a:rPr lang="en-CA" sz="1000" dirty="0"/>
              <a:t>        &lt;class&gt;</a:t>
            </a:r>
            <a:r>
              <a:rPr lang="en-CA" sz="1000" dirty="0" err="1"/>
              <a:t>nbcc.entity.Product</a:t>
            </a:r>
            <a:r>
              <a:rPr lang="en-CA" sz="1000" dirty="0"/>
              <a:t>&lt;/class&gt;</a:t>
            </a:r>
            <a:br>
              <a:rPr lang="en-CA" sz="1000" dirty="0"/>
            </a:br>
            <a:br>
              <a:rPr lang="en-CA" sz="1000" dirty="0"/>
            </a:br>
            <a:r>
              <a:rPr lang="en-CA" sz="1000" dirty="0"/>
              <a:t>        &lt;properties&gt;</a:t>
            </a:r>
            <a:br>
              <a:rPr lang="en-CA" sz="1000" dirty="0"/>
            </a:br>
            <a:r>
              <a:rPr lang="en-CA" sz="1000" dirty="0"/>
              <a:t>            &lt;property name="</a:t>
            </a:r>
            <a:r>
              <a:rPr lang="en-CA" sz="1000" dirty="0" err="1"/>
              <a:t>jakarta.persistence.jdbc.driver</a:t>
            </a:r>
            <a:r>
              <a:rPr lang="en-CA" sz="1000" dirty="0"/>
              <a:t>" value="</a:t>
            </a:r>
            <a:r>
              <a:rPr lang="en-CA" sz="1000" dirty="0" err="1"/>
              <a:t>com.mysql.cj.jdbc.Driver</a:t>
            </a:r>
            <a:r>
              <a:rPr lang="en-CA" sz="1000" dirty="0"/>
              <a:t>"/&gt;</a:t>
            </a:r>
            <a:br>
              <a:rPr lang="en-CA" sz="1000" dirty="0"/>
            </a:br>
            <a:r>
              <a:rPr lang="en-CA" sz="1000" dirty="0"/>
              <a:t>            &lt;property name="jakarta.persistence.jdbc.url" value="</a:t>
            </a:r>
            <a:r>
              <a:rPr lang="en-CA" sz="1000" dirty="0" err="1"/>
              <a:t>jdbc:mysql</a:t>
            </a:r>
            <a:r>
              <a:rPr lang="en-CA" sz="1000" dirty="0"/>
              <a:t>://localhost:3306/</a:t>
            </a:r>
            <a:r>
              <a:rPr lang="en-CA" sz="1000" dirty="0" err="1"/>
              <a:t>consoleProducts</a:t>
            </a:r>
            <a:r>
              <a:rPr lang="en-CA" sz="1000" dirty="0"/>
              <a:t>"/&gt;</a:t>
            </a:r>
            <a:br>
              <a:rPr lang="en-CA" sz="1000" dirty="0"/>
            </a:br>
            <a:r>
              <a:rPr lang="en-CA" sz="1000" dirty="0"/>
              <a:t>            &lt;property name="</a:t>
            </a:r>
            <a:r>
              <a:rPr lang="en-CA" sz="1000" dirty="0" err="1"/>
              <a:t>jakarta.persistence.jdbc.user</a:t>
            </a:r>
            <a:r>
              <a:rPr lang="en-CA" sz="1000" dirty="0"/>
              <a:t>" value="</a:t>
            </a:r>
            <a:r>
              <a:rPr lang="en-CA" sz="1000" dirty="0" err="1"/>
              <a:t>devJPA</a:t>
            </a:r>
            <a:r>
              <a:rPr lang="en-CA" sz="1000" dirty="0"/>
              <a:t>"/&gt;</a:t>
            </a:r>
            <a:br>
              <a:rPr lang="en-CA" sz="1000" dirty="0"/>
            </a:br>
            <a:r>
              <a:rPr lang="en-CA" sz="1000" dirty="0"/>
              <a:t>            &lt;property name="</a:t>
            </a:r>
            <a:r>
              <a:rPr lang="en-CA" sz="1000" dirty="0" err="1"/>
              <a:t>jakarta.persistence.jdbc.password</a:t>
            </a:r>
            <a:r>
              <a:rPr lang="en-CA" sz="1000" dirty="0"/>
              <a:t>" value="NBCC1234!"/&gt;</a:t>
            </a:r>
            <a:br>
              <a:rPr lang="en-CA" sz="1000" dirty="0"/>
            </a:br>
            <a:br>
              <a:rPr lang="en-CA" sz="1000" dirty="0"/>
            </a:br>
            <a:r>
              <a:rPr lang="en-CA" sz="1000" dirty="0"/>
              <a:t>            &lt;property name="</a:t>
            </a:r>
            <a:r>
              <a:rPr lang="en-CA" sz="1000" dirty="0" err="1"/>
              <a:t>hibernate.dialect</a:t>
            </a:r>
            <a:r>
              <a:rPr lang="en-CA" sz="1000" dirty="0"/>
              <a:t>" value="</a:t>
            </a:r>
            <a:r>
              <a:rPr lang="en-CA" sz="1000" dirty="0" err="1"/>
              <a:t>org.hibernate.dialect.MySQLDialect</a:t>
            </a:r>
            <a:r>
              <a:rPr lang="en-CA" sz="1000" dirty="0"/>
              <a:t>"/&gt;</a:t>
            </a:r>
            <a:br>
              <a:rPr lang="en-CA" sz="1000" dirty="0"/>
            </a:br>
            <a:r>
              <a:rPr lang="en-CA" sz="1000" dirty="0"/>
              <a:t>            &lt;property name="hibernate.hbm2ddl.auto" value="validate"/&gt;</a:t>
            </a:r>
            <a:br>
              <a:rPr lang="en-CA" sz="1000" dirty="0"/>
            </a:br>
            <a:br>
              <a:rPr lang="en-CA" sz="1000" dirty="0"/>
            </a:br>
            <a:r>
              <a:rPr lang="en-CA" sz="1000" dirty="0"/>
              <a:t>            &lt;!-- &lt;property name="</a:t>
            </a:r>
            <a:r>
              <a:rPr lang="en-CA" sz="1000" dirty="0" err="1"/>
              <a:t>hibernate.show_sql</a:t>
            </a:r>
            <a:r>
              <a:rPr lang="en-CA" sz="1000" dirty="0"/>
              <a:t>" value="true"/&gt; --&gt;</a:t>
            </a:r>
            <a:br>
              <a:rPr lang="en-CA" sz="1000" dirty="0"/>
            </a:br>
            <a:r>
              <a:rPr lang="en-CA" sz="1000" dirty="0"/>
              <a:t>            &lt;!-- &lt;property name="</a:t>
            </a:r>
            <a:r>
              <a:rPr lang="en-CA" sz="1000" dirty="0" err="1"/>
              <a:t>hibernate.format_sql</a:t>
            </a:r>
            <a:r>
              <a:rPr lang="en-CA" sz="1000" dirty="0"/>
              <a:t>" value="true"/&gt; --&gt;</a:t>
            </a:r>
            <a:br>
              <a:rPr lang="en-CA" sz="1000" dirty="0"/>
            </a:br>
            <a:r>
              <a:rPr lang="en-CA" sz="1000" dirty="0"/>
              <a:t>            &lt;!-- &lt;property name="</a:t>
            </a:r>
            <a:r>
              <a:rPr lang="en-CA" sz="1000" dirty="0" err="1"/>
              <a:t>hibernate.highlight_sql</a:t>
            </a:r>
            <a:r>
              <a:rPr lang="en-CA" sz="1000" dirty="0"/>
              <a:t>" value="true"/&gt; --&gt;</a:t>
            </a:r>
            <a:br>
              <a:rPr lang="en-CA" sz="1000" dirty="0"/>
            </a:br>
            <a:r>
              <a:rPr lang="en-CA" sz="1000" dirty="0"/>
              <a:t>        &lt;/properties&gt;</a:t>
            </a:r>
            <a:br>
              <a:rPr lang="en-CA" sz="1000" dirty="0"/>
            </a:br>
            <a:r>
              <a:rPr lang="en-CA" sz="1000" dirty="0"/>
              <a:t>    &lt;/persistence-unit&gt;</a:t>
            </a:r>
            <a:br>
              <a:rPr lang="en-CA" sz="1000" dirty="0"/>
            </a:br>
            <a:r>
              <a:rPr lang="en-CA" sz="1000" dirty="0"/>
              <a:t>&lt;/persistence&gt;</a:t>
            </a:r>
          </a:p>
          <a:p>
            <a:endParaRPr lang="en-CA" sz="1000" dirty="0"/>
          </a:p>
        </p:txBody>
      </p:sp>
    </p:spTree>
    <p:extLst>
      <p:ext uri="{BB962C8B-B14F-4D97-AF65-F5344CB8AC3E}">
        <p14:creationId xmlns:p14="http://schemas.microsoft.com/office/powerpoint/2010/main" val="491292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3">
            <a:extLst>
              <a:ext uri="{FF2B5EF4-FFF2-40B4-BE49-F238E27FC236}">
                <a16:creationId xmlns:a16="http://schemas.microsoft.com/office/drawing/2014/main" id="{6CA4847E-AD1D-3C09-D1AC-7D9808EAC326}"/>
              </a:ext>
            </a:extLst>
          </p:cNvPr>
          <p:cNvSpPr/>
          <p:nvPr/>
        </p:nvSpPr>
        <p:spPr>
          <a:xfrm>
            <a:off x="2174630" y="2422904"/>
            <a:ext cx="7842739" cy="1335179"/>
          </a:xfrm>
          <a:prstGeom prst="roundRect">
            <a:avLst/>
          </a:prstGeom>
          <a:solidFill>
            <a:schemeClr val="accent1"/>
          </a:solidFill>
          <a:ln w="635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3600" b="1" i="0" u="none" strike="noStrike" kern="0" cap="none" spc="0" normalizeH="0" baseline="0" noProof="0" dirty="0">
                <a:ln>
                  <a:noFill/>
                </a:ln>
                <a:solidFill>
                  <a:srgbClr val="000000"/>
                </a:solidFill>
                <a:effectLst/>
                <a:uLnTx/>
                <a:uFillTx/>
                <a:latin typeface="Calibri" panose="020F0502020204030204"/>
                <a:ea typeface="+mn-ea"/>
                <a:cs typeface="+mn-cs"/>
              </a:rPr>
              <a:t>JPA – How to use and Queries!</a:t>
            </a:r>
          </a:p>
        </p:txBody>
      </p:sp>
    </p:spTree>
    <p:extLst>
      <p:ext uri="{BB962C8B-B14F-4D97-AF65-F5344CB8AC3E}">
        <p14:creationId xmlns:p14="http://schemas.microsoft.com/office/powerpoint/2010/main" val="2566202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7A7499-B0E1-367A-2823-3AB63A3C7CAF}"/>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Obtaining an EntityManager</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5BAF3526-A096-8FD2-649C-D4B3A9C2CC64}"/>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4572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Get an </a:t>
            </a:r>
            <a:r>
              <a:rPr kumimoji="0" 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EntityManagerFactory</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from the class Persistence: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b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 will be configured according to details in the given persistence unit.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2. </a:t>
            </a:r>
            <a:r>
              <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Once a factory is in place, </a:t>
            </a:r>
            <a:r>
              <a:rPr kumimoji="0" lang="en-GB"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EntityManager</a:t>
            </a:r>
            <a:r>
              <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instances can be obtained: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7568C8E9-7E7E-3627-2BB7-7A1B45F352BF}"/>
              </a:ext>
            </a:extLst>
          </p:cNvPr>
          <p:cNvSpPr/>
          <p:nvPr/>
        </p:nvSpPr>
        <p:spPr>
          <a:xfrm>
            <a:off x="1134893" y="2843299"/>
            <a:ext cx="9922213" cy="70788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EntityManagerFactory</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emFactory</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Persistence.createEntityManagerFactory</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persistenceUnitName</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9" name="Rectangle 8">
            <a:extLst>
              <a:ext uri="{FF2B5EF4-FFF2-40B4-BE49-F238E27FC236}">
                <a16:creationId xmlns:a16="http://schemas.microsoft.com/office/drawing/2014/main" id="{4332E139-3D86-8911-28C7-B80C5F0E4A99}"/>
              </a:ext>
            </a:extLst>
          </p:cNvPr>
          <p:cNvSpPr/>
          <p:nvPr/>
        </p:nvSpPr>
        <p:spPr>
          <a:xfrm>
            <a:off x="1141951" y="5510109"/>
            <a:ext cx="7437845" cy="404307"/>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EntityManager</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emFactory.createEntityManager</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22154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3F01075-B503-F529-634D-F0CF72088C74}"/>
              </a:ext>
            </a:extLst>
          </p:cNvPr>
          <p:cNvSpPr txBox="1">
            <a:spLocks/>
          </p:cNvSpPr>
          <p:nvPr/>
        </p:nvSpPr>
        <p:spPr>
          <a:xfrm>
            <a:off x="594811" y="127940"/>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Managing Entities</a:t>
            </a:r>
          </a:p>
        </p:txBody>
      </p:sp>
      <p:sp>
        <p:nvSpPr>
          <p:cNvPr id="11" name="Rectangle 10">
            <a:extLst>
              <a:ext uri="{FF2B5EF4-FFF2-40B4-BE49-F238E27FC236}">
                <a16:creationId xmlns:a16="http://schemas.microsoft.com/office/drawing/2014/main" id="{B26C357E-F152-BA30-1CBB-5E8D5A6A8B54}"/>
              </a:ext>
            </a:extLst>
          </p:cNvPr>
          <p:cNvSpPr/>
          <p:nvPr/>
        </p:nvSpPr>
        <p:spPr>
          <a:xfrm>
            <a:off x="2181225" y="837056"/>
            <a:ext cx="7829550"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Create POJO</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new Employee(158);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em.getTransaction.begin</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Add to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persist</a:t>
            </a:r>
            <a:r>
              <a:rPr kumimoji="0" lang="en-GB" sz="2000" b="1" i="0" u="none" strike="noStrike" kern="0" cap="none" spc="0" normalizeH="0" baseline="0" noProof="0" dirty="0">
                <a:ln>
                  <a:noFill/>
                </a:ln>
                <a:solidFill>
                  <a:srgbClr val="000000"/>
                </a:solidFill>
                <a:effectLst/>
                <a:uLnTx/>
                <a:uFillTx/>
                <a:latin typeface="Consolas" pitchFamily="49" charset="0"/>
              </a:rPr>
              <a:t>(employee);  </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50000"/>
                    <a:lumOff val="50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em.getTransaction.commit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
        <p:nvSpPr>
          <p:cNvPr id="14" name="Content Placeholder 2">
            <a:extLst>
              <a:ext uri="{FF2B5EF4-FFF2-40B4-BE49-F238E27FC236}">
                <a16:creationId xmlns:a16="http://schemas.microsoft.com/office/drawing/2014/main" id="{82388A15-0E76-585F-A954-A520F8E48E63}"/>
              </a:ext>
            </a:extLst>
          </p:cNvPr>
          <p:cNvSpPr txBox="1">
            <a:spLocks/>
          </p:cNvSpPr>
          <p:nvPr/>
        </p:nvSpPr>
        <p:spPr>
          <a:xfrm>
            <a:off x="438204" y="430046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Finding by ID: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found, a reference to a </a:t>
            </a:r>
            <a:r>
              <a:rPr kumimoji="0" lang="en-US" sz="1800" b="0" i="1" u="sng"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managed</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Entity is returned</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not found, a null value is returned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Note: </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 transaction is not required.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5" name="Rectangle 14">
            <a:extLst>
              <a:ext uri="{FF2B5EF4-FFF2-40B4-BE49-F238E27FC236}">
                <a16:creationId xmlns:a16="http://schemas.microsoft.com/office/drawing/2014/main" id="{A6A344E7-5385-6A0D-C40A-4D4D37809C12}"/>
              </a:ext>
            </a:extLst>
          </p:cNvPr>
          <p:cNvSpPr/>
          <p:nvPr/>
        </p:nvSpPr>
        <p:spPr>
          <a:xfrm>
            <a:off x="2498525" y="4300467"/>
            <a:ext cx="7829550" cy="400110"/>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p:txBody>
      </p:sp>
      <p:sp>
        <p:nvSpPr>
          <p:cNvPr id="2" name="TextBox 1">
            <a:extLst>
              <a:ext uri="{FF2B5EF4-FFF2-40B4-BE49-F238E27FC236}">
                <a16:creationId xmlns:a16="http://schemas.microsoft.com/office/drawing/2014/main" id="{E291D1B9-F138-2F3C-5F66-60C3103A8CA8}"/>
              </a:ext>
            </a:extLst>
          </p:cNvPr>
          <p:cNvSpPr txBox="1"/>
          <p:nvPr/>
        </p:nvSpPr>
        <p:spPr>
          <a:xfrm>
            <a:off x="637673" y="837056"/>
            <a:ext cx="1236236" cy="369332"/>
          </a:xfrm>
          <a:prstGeom prst="rect">
            <a:avLst/>
          </a:prstGeom>
          <a:noFill/>
        </p:spPr>
        <p:txBody>
          <a:bodyPr wrap="none" rtlCol="0">
            <a:spAutoFit/>
          </a:bodyPr>
          <a:lstStyle/>
          <a:p>
            <a:r>
              <a:rPr lang="en-GB" b="1" dirty="0">
                <a:solidFill>
                  <a:srgbClr val="000000"/>
                </a:solidFill>
                <a:latin typeface="Arial" panose="020B0604020202020204" pitchFamily="34" charset="0"/>
                <a:cs typeface="Arial" panose="020B0604020202020204" pitchFamily="34" charset="0"/>
              </a:rPr>
              <a:t>Inserting:</a:t>
            </a:r>
            <a:endParaRPr lang="en-CA" dirty="0"/>
          </a:p>
        </p:txBody>
      </p:sp>
    </p:spTree>
    <p:extLst>
      <p:ext uri="{BB962C8B-B14F-4D97-AF65-F5344CB8AC3E}">
        <p14:creationId xmlns:p14="http://schemas.microsoft.com/office/powerpoint/2010/main" val="69295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DCD557-0181-797C-72E2-8EF97B1EF7D6}"/>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7DF48B21-BA8C-74AB-FABC-13B179B1901B}"/>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Updating:</a:t>
            </a: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00ED14F0-55D0-8045-5393-E13FA3232E5D}"/>
              </a:ext>
            </a:extLst>
          </p:cNvPr>
          <p:cNvSpPr/>
          <p:nvPr/>
        </p:nvSpPr>
        <p:spPr>
          <a:xfrm>
            <a:off x="2188283" y="2701130"/>
            <a:ext cx="7829550" cy="3477875"/>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Obtain managed Entity from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Modify Entity state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err="1">
                <a:ln>
                  <a:noFill/>
                </a:ln>
                <a:solidFill>
                  <a:srgbClr val="3099D9"/>
                </a:solidFill>
                <a:effectLst/>
                <a:uLnTx/>
                <a:uFillTx/>
                <a:latin typeface="Consolas" pitchFamily="49" charset="0"/>
              </a:rPr>
              <a:t>setSalary</a:t>
            </a:r>
            <a:r>
              <a:rPr kumimoji="0" lang="en-GB" sz="2000" b="1" i="0" u="none" strike="noStrike" kern="0" cap="none" spc="0" normalizeH="0" baseline="0" noProof="0" dirty="0">
                <a:ln>
                  <a:noFill/>
                </a:ln>
                <a:solidFill>
                  <a:srgbClr val="000000"/>
                </a:solidFill>
                <a:effectLst/>
                <a:uLnTx/>
                <a:uFillTx/>
                <a:latin typeface="Consolas" pitchFamily="49" charset="0"/>
              </a:rPr>
              <a:t>(50000);</a:t>
            </a:r>
          </a:p>
          <a:p>
            <a:pPr lvl="0" defTabSz="914400">
              <a:buClr>
                <a:srgbClr val="333399"/>
              </a:buClr>
              <a:defRPr/>
            </a:pPr>
            <a:r>
              <a:rPr lang="en-GB" sz="2000" b="1" kern="0" dirty="0" err="1">
                <a:solidFill>
                  <a:srgbClr val="000000"/>
                </a:solidFill>
                <a:latin typeface="Consolas" pitchFamily="49" charset="0"/>
              </a:rPr>
              <a:t>em.merge</a:t>
            </a:r>
            <a:r>
              <a:rPr lang="en-GB" sz="2000" b="1" kern="0" dirty="0">
                <a:solidFill>
                  <a:srgbClr val="000000"/>
                </a:solidFill>
                <a:latin typeface="Consolas" pitchFamily="49" charset="0"/>
              </a:rPr>
              <a:t>(product);</a:t>
            </a: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214191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FB13DF2-0DBE-C4F3-E4B0-B60C86709331}"/>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39D20B0E-768A-4943-E2F8-8F75A6E8E3F7}"/>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“Finding” and Deleting:</a:t>
            </a: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57188"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127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endParaRPr kumimoji="0" lang="en-GB"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9EBDE342-6F4A-C67D-392A-57E388EC652D}"/>
              </a:ext>
            </a:extLst>
          </p:cNvPr>
          <p:cNvSpPr/>
          <p:nvPr/>
        </p:nvSpPr>
        <p:spPr>
          <a:xfrm>
            <a:off x="2181225" y="2844005"/>
            <a:ext cx="7829550"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Obtain managed Entity from persistence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find</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 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Instance removed from context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remove</a:t>
            </a:r>
            <a:r>
              <a:rPr kumimoji="0" lang="en-GB" sz="2000" b="1" i="0" u="none" strike="noStrike" kern="0" cap="none" spc="0" normalizeH="0" baseline="0" noProof="0" dirty="0">
                <a:ln>
                  <a:noFill/>
                </a:ln>
                <a:solidFill>
                  <a:srgbClr val="000000"/>
                </a:solidFill>
                <a:effectLst/>
                <a:uLnTx/>
                <a:uFillTx/>
                <a:latin typeface="Consolas" pitchFamily="49" charset="0"/>
              </a:rPr>
              <a:t>(employee);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lumMod val="65000"/>
                    <a:lumOff val="35000"/>
                  </a:srgbClr>
                </a:solidFill>
                <a:effectLst/>
                <a:uLnTx/>
                <a:uFillTx/>
                <a:latin typeface="Consolas" pitchFamily="49" charset="0"/>
              </a:rPr>
              <a:t>// Send changes to database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7741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9D99E2-B3D2-A9AB-F804-A2DA14C8D21B}"/>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DBFB6450-9804-6346-D03F-E5B9ACAC7E15}"/>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Merging:</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b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b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Takes in a </a:t>
            </a:r>
            <a:r>
              <a:rPr kumimoji="0" lang="en-US"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detached</a:t>
            </a: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Entity and retrieves the </a:t>
            </a:r>
            <a:r>
              <a:rPr kumimoji="0" lang="en-US"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managed</a:t>
            </a: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version</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If the given Entity does not exist in the database, it will be persisted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5D7BF1DC-3414-BF0B-436F-938A1EA6EB19}"/>
              </a:ext>
            </a:extLst>
          </p:cNvPr>
          <p:cNvSpPr/>
          <p:nvPr/>
        </p:nvSpPr>
        <p:spPr>
          <a:xfrm>
            <a:off x="2188283" y="2864352"/>
            <a:ext cx="7829550" cy="224676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pojoEmployee</a:t>
            </a:r>
            <a:r>
              <a:rPr kumimoji="0" lang="en-GB" sz="2000" b="1" i="0" u="none" strike="noStrike" kern="0" cap="none" spc="0" normalizeH="0" baseline="0" noProof="0" dirty="0">
                <a:ln>
                  <a:noFill/>
                </a:ln>
                <a:solidFill>
                  <a:srgbClr val="000000"/>
                </a:solidFill>
                <a:effectLst/>
                <a:uLnTx/>
                <a:uFillTx/>
                <a:latin typeface="Consolas" pitchFamily="49" charset="0"/>
              </a:rPr>
              <a:t> = new Employee(158);</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().begin();</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Employee </a:t>
            </a:r>
            <a:r>
              <a:rPr kumimoji="0" lang="en-GB" sz="2000" b="1" i="0" u="none" strike="noStrike" kern="0" cap="none" spc="0" normalizeH="0" baseline="0" noProof="0" dirty="0" err="1">
                <a:ln>
                  <a:noFill/>
                </a:ln>
                <a:solidFill>
                  <a:srgbClr val="000000"/>
                </a:solidFill>
                <a:effectLst/>
                <a:uLnTx/>
                <a:uFillTx/>
                <a:latin typeface="Consolas" pitchFamily="49" charset="0"/>
              </a:rPr>
              <a:t>managedEmployee</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merge</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pojoEmployee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em.getTransaction</a:t>
            </a:r>
            <a:r>
              <a:rPr kumimoji="0" lang="en-GB" sz="2000" b="1" i="0" u="none" strike="noStrike" kern="0" cap="none" spc="0" normalizeH="0" baseline="0" noProof="0" dirty="0">
                <a:ln>
                  <a:noFill/>
                </a:ln>
                <a:solidFill>
                  <a:srgbClr val="000000"/>
                </a:solidFill>
                <a:effectLst/>
                <a:uLnTx/>
                <a:uFillTx/>
                <a:latin typeface="Consolas" pitchFamily="49" charset="0"/>
              </a:rPr>
              <a:t>().commit();</a:t>
            </a:r>
          </a:p>
        </p:txBody>
      </p:sp>
    </p:spTree>
    <p:extLst>
      <p:ext uri="{BB962C8B-B14F-4D97-AF65-F5344CB8AC3E}">
        <p14:creationId xmlns:p14="http://schemas.microsoft.com/office/powerpoint/2010/main" val="267125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6E33F-9991-B90D-F4FE-AA57F877C2ED}"/>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Managing Entities</a:t>
            </a:r>
            <a:endParaRPr kumimoji="0" lang="en-GB"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Content Placeholder 2">
            <a:extLst>
              <a:ext uri="{FF2B5EF4-FFF2-40B4-BE49-F238E27FC236}">
                <a16:creationId xmlns:a16="http://schemas.microsoft.com/office/drawing/2014/main" id="{99FA4F4F-BB37-9148-2DEF-710AAC2C48B2}"/>
              </a:ext>
            </a:extLst>
          </p:cNvPr>
          <p:cNvSpPr txBox="1">
            <a:spLocks/>
          </p:cNvSpPr>
          <p:nvPr/>
        </p:nvSpPr>
        <p:spPr>
          <a:xfrm>
            <a:off x="601490" y="2300147"/>
            <a:ext cx="11003136" cy="397206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Querying: </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The JPQL code above will retrieve all Employees from the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JPQL also allows the use of various clauses (WHERE, GROUP BY…)</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8A025136-0E89-FA46-AD37-DB4F72194578}"/>
              </a:ext>
            </a:extLst>
          </p:cNvPr>
          <p:cNvSpPr/>
          <p:nvPr/>
        </p:nvSpPr>
        <p:spPr>
          <a:xfrm>
            <a:off x="781216" y="2798220"/>
            <a:ext cx="10643684" cy="132343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defRPr/>
            </a:pPr>
            <a:r>
              <a:rPr lang="en-GB" sz="2000" b="1" kern="0" dirty="0" err="1">
                <a:solidFill>
                  <a:srgbClr val="3099D9"/>
                </a:solidFill>
                <a:latin typeface="Consolas" pitchFamily="49" charset="0"/>
              </a:rPr>
              <a:t>TypedQuery</a:t>
            </a:r>
            <a:r>
              <a:rPr lang="en-GB" sz="2000" b="1" kern="0" dirty="0">
                <a:solidFill>
                  <a:srgbClr val="3099D9"/>
                </a:solidFill>
                <a:latin typeface="Consolas" pitchFamily="49" charset="0"/>
              </a:rPr>
              <a:t>&lt;Employee&gt; query </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List&lt;Employee&gt; </a:t>
            </a:r>
            <a:r>
              <a:rPr kumimoji="0" lang="en-GB" sz="2000" b="1" i="0" u="none" strike="noStrike" kern="0" cap="none" spc="0" normalizeH="0" baseline="0" noProof="0" dirty="0" err="1">
                <a:ln>
                  <a:noFill/>
                </a:ln>
                <a:solidFill>
                  <a:srgbClr val="000000"/>
                </a:solidFill>
                <a:effectLst/>
                <a:uLnTx/>
                <a:uFillTx/>
                <a:latin typeface="Consolas" pitchFamily="49" charset="0"/>
              </a:rPr>
              <a:t>allEmployees</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3099D9"/>
                </a:solidFill>
                <a:effectLst/>
                <a:uLnTx/>
                <a:uFillTx/>
                <a:latin typeface="Consolas" pitchFamily="49" charset="0"/>
              </a:rPr>
              <a:t>query.getResultList</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151571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Connector 2">
            <a:extLst>
              <a:ext uri="{FF2B5EF4-FFF2-40B4-BE49-F238E27FC236}">
                <a16:creationId xmlns:a16="http://schemas.microsoft.com/office/drawing/2014/main" id="{1F088202-80BF-1E06-D21E-59BCB05B84B5}"/>
              </a:ext>
            </a:extLst>
          </p:cNvPr>
          <p:cNvSpPr/>
          <p:nvPr/>
        </p:nvSpPr>
        <p:spPr>
          <a:xfrm>
            <a:off x="4303054" y="1727830"/>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Flowchart: Connector 3">
            <a:extLst>
              <a:ext uri="{FF2B5EF4-FFF2-40B4-BE49-F238E27FC236}">
                <a16:creationId xmlns:a16="http://schemas.microsoft.com/office/drawing/2014/main" id="{976D3B04-4B2F-459A-0CC5-9D75074D57A9}"/>
              </a:ext>
            </a:extLst>
          </p:cNvPr>
          <p:cNvSpPr/>
          <p:nvPr/>
        </p:nvSpPr>
        <p:spPr>
          <a:xfrm>
            <a:off x="4303054" y="5212561"/>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Flowchart: Connector 4">
            <a:extLst>
              <a:ext uri="{FF2B5EF4-FFF2-40B4-BE49-F238E27FC236}">
                <a16:creationId xmlns:a16="http://schemas.microsoft.com/office/drawing/2014/main" id="{75C51379-FB0A-7515-8922-AE3E8D4FA67C}"/>
              </a:ext>
            </a:extLst>
          </p:cNvPr>
          <p:cNvSpPr/>
          <p:nvPr/>
        </p:nvSpPr>
        <p:spPr>
          <a:xfrm>
            <a:off x="842677" y="3316823"/>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Flowchart: Connector 5">
            <a:extLst>
              <a:ext uri="{FF2B5EF4-FFF2-40B4-BE49-F238E27FC236}">
                <a16:creationId xmlns:a16="http://schemas.microsoft.com/office/drawing/2014/main" id="{334D1F8F-67E6-BF22-A779-C32627A9C2B6}"/>
              </a:ext>
            </a:extLst>
          </p:cNvPr>
          <p:cNvSpPr/>
          <p:nvPr/>
        </p:nvSpPr>
        <p:spPr>
          <a:xfrm>
            <a:off x="4303054" y="3316824"/>
            <a:ext cx="1250576" cy="103554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Cylinder 6">
            <a:extLst>
              <a:ext uri="{FF2B5EF4-FFF2-40B4-BE49-F238E27FC236}">
                <a16:creationId xmlns:a16="http://schemas.microsoft.com/office/drawing/2014/main" id="{6093D1CB-7D3B-E414-BD7E-159B9A773EC1}"/>
              </a:ext>
            </a:extLst>
          </p:cNvPr>
          <p:cNvSpPr/>
          <p:nvPr/>
        </p:nvSpPr>
        <p:spPr>
          <a:xfrm>
            <a:off x="9316706" y="3164216"/>
            <a:ext cx="1707777" cy="130436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8" name="Straight Arrow Connector 7">
            <a:extLst>
              <a:ext uri="{FF2B5EF4-FFF2-40B4-BE49-F238E27FC236}">
                <a16:creationId xmlns:a16="http://schemas.microsoft.com/office/drawing/2014/main" id="{99432295-72A5-5C2A-CCC7-BDD172DC1924}"/>
              </a:ext>
            </a:extLst>
          </p:cNvPr>
          <p:cNvCxnSpPr>
            <a:cxnSpLocks/>
            <a:stCxn id="3" idx="5"/>
            <a:endCxn id="6" idx="7"/>
          </p:cNvCxnSpPr>
          <p:nvPr/>
        </p:nvCxnSpPr>
        <p:spPr>
          <a:xfrm>
            <a:off x="5370487" y="2611720"/>
            <a:ext cx="0" cy="856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D07DDAB-13B3-E1DC-ED82-277FF4EDFD3E}"/>
              </a:ext>
            </a:extLst>
          </p:cNvPr>
          <p:cNvCxnSpPr>
            <a:cxnSpLocks/>
            <a:stCxn id="6" idx="3"/>
            <a:endCxn id="4" idx="1"/>
          </p:cNvCxnSpPr>
          <p:nvPr/>
        </p:nvCxnSpPr>
        <p:spPr>
          <a:xfrm>
            <a:off x="4486197" y="4200714"/>
            <a:ext cx="0" cy="1163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0EC6346-5B37-3BF3-8647-8432DF4B0518}"/>
              </a:ext>
            </a:extLst>
          </p:cNvPr>
          <p:cNvCxnSpPr>
            <a:stCxn id="5" idx="6"/>
            <a:endCxn id="6" idx="2"/>
          </p:cNvCxnSpPr>
          <p:nvPr/>
        </p:nvCxnSpPr>
        <p:spPr>
          <a:xfrm>
            <a:off x="2093253" y="3834594"/>
            <a:ext cx="22098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D2EAF82-A3AB-38B6-C06A-EAAEF0D8C52C}"/>
              </a:ext>
            </a:extLst>
          </p:cNvPr>
          <p:cNvCxnSpPr>
            <a:stCxn id="6" idx="1"/>
            <a:endCxn id="3" idx="3"/>
          </p:cNvCxnSpPr>
          <p:nvPr/>
        </p:nvCxnSpPr>
        <p:spPr>
          <a:xfrm flipV="1">
            <a:off x="4486197" y="2611720"/>
            <a:ext cx="0" cy="856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BCD9AAC-27A2-9E09-2922-7B9263624195}"/>
              </a:ext>
            </a:extLst>
          </p:cNvPr>
          <p:cNvCxnSpPr>
            <a:cxnSpLocks/>
            <a:stCxn id="4" idx="7"/>
            <a:endCxn id="6" idx="5"/>
          </p:cNvCxnSpPr>
          <p:nvPr/>
        </p:nvCxnSpPr>
        <p:spPr>
          <a:xfrm flipV="1">
            <a:off x="5370487" y="4200714"/>
            <a:ext cx="0" cy="1163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9DA972C-16D0-EB96-AD39-C698F1DEEE4A}"/>
              </a:ext>
            </a:extLst>
          </p:cNvPr>
          <p:cNvCxnSpPr>
            <a:cxnSpLocks/>
            <a:stCxn id="6" idx="5"/>
          </p:cNvCxnSpPr>
          <p:nvPr/>
        </p:nvCxnSpPr>
        <p:spPr>
          <a:xfrm>
            <a:off x="5370487" y="4200714"/>
            <a:ext cx="39462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C979982-48BC-185C-CDFF-2B2A49884B30}"/>
              </a:ext>
            </a:extLst>
          </p:cNvPr>
          <p:cNvCxnSpPr>
            <a:cxnSpLocks/>
            <a:stCxn id="7" idx="2"/>
            <a:endCxn id="6" idx="6"/>
          </p:cNvCxnSpPr>
          <p:nvPr/>
        </p:nvCxnSpPr>
        <p:spPr>
          <a:xfrm flipH="1">
            <a:off x="5553630" y="3816398"/>
            <a:ext cx="3763076" cy="18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3090A61-0B03-1FB2-5D59-CD7168DBCD36}"/>
              </a:ext>
            </a:extLst>
          </p:cNvPr>
          <p:cNvSpPr txBox="1"/>
          <p:nvPr/>
        </p:nvSpPr>
        <p:spPr>
          <a:xfrm>
            <a:off x="4397183" y="3647261"/>
            <a:ext cx="1156447" cy="369332"/>
          </a:xfrm>
          <a:prstGeom prst="rect">
            <a:avLst/>
          </a:prstGeom>
          <a:noFill/>
        </p:spPr>
        <p:txBody>
          <a:bodyPr wrap="square" rtlCol="0">
            <a:spAutoFit/>
          </a:bodyPr>
          <a:lstStyle/>
          <a:p>
            <a:r>
              <a:rPr lang="en-CA" dirty="0">
                <a:solidFill>
                  <a:schemeClr val="bg1"/>
                </a:solidFill>
              </a:rPr>
              <a:t>Managed</a:t>
            </a:r>
          </a:p>
        </p:txBody>
      </p:sp>
      <p:sp>
        <p:nvSpPr>
          <p:cNvPr id="16" name="TextBox 15">
            <a:extLst>
              <a:ext uri="{FF2B5EF4-FFF2-40B4-BE49-F238E27FC236}">
                <a16:creationId xmlns:a16="http://schemas.microsoft.com/office/drawing/2014/main" id="{D83506FD-6FDA-B61D-4768-875386921EA6}"/>
              </a:ext>
            </a:extLst>
          </p:cNvPr>
          <p:cNvSpPr txBox="1"/>
          <p:nvPr/>
        </p:nvSpPr>
        <p:spPr>
          <a:xfrm>
            <a:off x="4397183" y="2037096"/>
            <a:ext cx="1156447" cy="369332"/>
          </a:xfrm>
          <a:prstGeom prst="rect">
            <a:avLst/>
          </a:prstGeom>
          <a:noFill/>
        </p:spPr>
        <p:txBody>
          <a:bodyPr wrap="square" rtlCol="0">
            <a:spAutoFit/>
          </a:bodyPr>
          <a:lstStyle/>
          <a:p>
            <a:r>
              <a:rPr lang="en-CA" dirty="0">
                <a:solidFill>
                  <a:schemeClr val="bg1"/>
                </a:solidFill>
              </a:rPr>
              <a:t>Detached</a:t>
            </a:r>
          </a:p>
        </p:txBody>
      </p:sp>
      <p:sp>
        <p:nvSpPr>
          <p:cNvPr id="17" name="TextBox 16">
            <a:extLst>
              <a:ext uri="{FF2B5EF4-FFF2-40B4-BE49-F238E27FC236}">
                <a16:creationId xmlns:a16="http://schemas.microsoft.com/office/drawing/2014/main" id="{623A897A-E2F1-A49F-7D5B-60C71415CFD9}"/>
              </a:ext>
            </a:extLst>
          </p:cNvPr>
          <p:cNvSpPr txBox="1"/>
          <p:nvPr/>
        </p:nvSpPr>
        <p:spPr>
          <a:xfrm>
            <a:off x="4397183" y="5564777"/>
            <a:ext cx="1156447" cy="369332"/>
          </a:xfrm>
          <a:prstGeom prst="rect">
            <a:avLst/>
          </a:prstGeom>
          <a:noFill/>
        </p:spPr>
        <p:txBody>
          <a:bodyPr wrap="square" rtlCol="0">
            <a:spAutoFit/>
          </a:bodyPr>
          <a:lstStyle/>
          <a:p>
            <a:r>
              <a:rPr lang="en-CA" dirty="0">
                <a:solidFill>
                  <a:schemeClr val="bg1"/>
                </a:solidFill>
              </a:rPr>
              <a:t>Removed</a:t>
            </a:r>
          </a:p>
        </p:txBody>
      </p:sp>
      <p:sp>
        <p:nvSpPr>
          <p:cNvPr id="18" name="TextBox 17">
            <a:extLst>
              <a:ext uri="{FF2B5EF4-FFF2-40B4-BE49-F238E27FC236}">
                <a16:creationId xmlns:a16="http://schemas.microsoft.com/office/drawing/2014/main" id="{928F8C10-FCB4-5D18-62A7-B8A9B340B19C}"/>
              </a:ext>
            </a:extLst>
          </p:cNvPr>
          <p:cNvSpPr txBox="1"/>
          <p:nvPr/>
        </p:nvSpPr>
        <p:spPr>
          <a:xfrm>
            <a:off x="983870" y="3508761"/>
            <a:ext cx="1156447" cy="646331"/>
          </a:xfrm>
          <a:prstGeom prst="rect">
            <a:avLst/>
          </a:prstGeom>
          <a:noFill/>
        </p:spPr>
        <p:txBody>
          <a:bodyPr wrap="square" rtlCol="0">
            <a:spAutoFit/>
          </a:bodyPr>
          <a:lstStyle/>
          <a:p>
            <a:r>
              <a:rPr lang="en-CA" dirty="0">
                <a:solidFill>
                  <a:schemeClr val="bg1"/>
                </a:solidFill>
              </a:rPr>
              <a:t>   New Transient</a:t>
            </a:r>
          </a:p>
        </p:txBody>
      </p:sp>
      <p:cxnSp>
        <p:nvCxnSpPr>
          <p:cNvPr id="19" name="Straight Connector 18">
            <a:extLst>
              <a:ext uri="{FF2B5EF4-FFF2-40B4-BE49-F238E27FC236}">
                <a16:creationId xmlns:a16="http://schemas.microsoft.com/office/drawing/2014/main" id="{64E7BAA5-92B3-B120-D002-12DD3E6310C7}"/>
              </a:ext>
            </a:extLst>
          </p:cNvPr>
          <p:cNvCxnSpPr>
            <a:cxnSpLocks/>
            <a:stCxn id="17" idx="3"/>
          </p:cNvCxnSpPr>
          <p:nvPr/>
        </p:nvCxnSpPr>
        <p:spPr>
          <a:xfrm>
            <a:off x="5553630" y="5749443"/>
            <a:ext cx="4616965" cy="23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08B9ECA-14F0-3EC0-E210-ADAA9CDC2E53}"/>
              </a:ext>
            </a:extLst>
          </p:cNvPr>
          <p:cNvCxnSpPr>
            <a:cxnSpLocks/>
          </p:cNvCxnSpPr>
          <p:nvPr/>
        </p:nvCxnSpPr>
        <p:spPr>
          <a:xfrm flipV="1">
            <a:off x="10170595" y="4485569"/>
            <a:ext cx="0" cy="1287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11C9D58-7BA8-2D3F-D940-A6B47DC4963E}"/>
              </a:ext>
            </a:extLst>
          </p:cNvPr>
          <p:cNvSpPr txBox="1"/>
          <p:nvPr/>
        </p:nvSpPr>
        <p:spPr>
          <a:xfrm>
            <a:off x="5457973" y="2763371"/>
            <a:ext cx="1359681" cy="276999"/>
          </a:xfrm>
          <a:prstGeom prst="rect">
            <a:avLst/>
          </a:prstGeom>
          <a:noFill/>
        </p:spPr>
        <p:txBody>
          <a:bodyPr wrap="square" rtlCol="0">
            <a:spAutoFit/>
          </a:bodyPr>
          <a:lstStyle/>
          <a:p>
            <a:r>
              <a:rPr lang="en-CA" sz="1200" dirty="0"/>
              <a:t>merge(entity)</a:t>
            </a:r>
          </a:p>
        </p:txBody>
      </p:sp>
      <p:sp>
        <p:nvSpPr>
          <p:cNvPr id="22" name="TextBox 21">
            <a:extLst>
              <a:ext uri="{FF2B5EF4-FFF2-40B4-BE49-F238E27FC236}">
                <a16:creationId xmlns:a16="http://schemas.microsoft.com/office/drawing/2014/main" id="{971B4EBF-63E5-836D-0840-3080FE17526D}"/>
              </a:ext>
            </a:extLst>
          </p:cNvPr>
          <p:cNvSpPr txBox="1"/>
          <p:nvPr/>
        </p:nvSpPr>
        <p:spPr>
          <a:xfrm>
            <a:off x="3408144" y="2760585"/>
            <a:ext cx="1359681" cy="646331"/>
          </a:xfrm>
          <a:prstGeom prst="rect">
            <a:avLst/>
          </a:prstGeom>
          <a:noFill/>
        </p:spPr>
        <p:txBody>
          <a:bodyPr wrap="square" rtlCol="0">
            <a:spAutoFit/>
          </a:bodyPr>
          <a:lstStyle/>
          <a:p>
            <a:r>
              <a:rPr lang="en-CA" sz="1200" dirty="0"/>
              <a:t>detach (entity)</a:t>
            </a:r>
          </a:p>
          <a:p>
            <a:r>
              <a:rPr lang="en-CA" sz="1200" dirty="0"/>
              <a:t>clear()</a:t>
            </a:r>
          </a:p>
          <a:p>
            <a:r>
              <a:rPr lang="en-CA" sz="1200" dirty="0"/>
              <a:t>close()</a:t>
            </a:r>
          </a:p>
        </p:txBody>
      </p:sp>
      <p:sp>
        <p:nvSpPr>
          <p:cNvPr id="23" name="TextBox 22">
            <a:extLst>
              <a:ext uri="{FF2B5EF4-FFF2-40B4-BE49-F238E27FC236}">
                <a16:creationId xmlns:a16="http://schemas.microsoft.com/office/drawing/2014/main" id="{3CAD428C-F052-7390-ACC8-EFCD448BB998}"/>
              </a:ext>
            </a:extLst>
          </p:cNvPr>
          <p:cNvSpPr txBox="1"/>
          <p:nvPr/>
        </p:nvSpPr>
        <p:spPr>
          <a:xfrm>
            <a:off x="2263532" y="3927744"/>
            <a:ext cx="1359681" cy="276999"/>
          </a:xfrm>
          <a:prstGeom prst="rect">
            <a:avLst/>
          </a:prstGeom>
          <a:noFill/>
        </p:spPr>
        <p:txBody>
          <a:bodyPr wrap="square" rtlCol="0">
            <a:spAutoFit/>
          </a:bodyPr>
          <a:lstStyle/>
          <a:p>
            <a:r>
              <a:rPr lang="en-CA" sz="1200" dirty="0"/>
              <a:t>persist(entity)</a:t>
            </a:r>
          </a:p>
        </p:txBody>
      </p:sp>
      <p:sp>
        <p:nvSpPr>
          <p:cNvPr id="24" name="TextBox 23">
            <a:extLst>
              <a:ext uri="{FF2B5EF4-FFF2-40B4-BE49-F238E27FC236}">
                <a16:creationId xmlns:a16="http://schemas.microsoft.com/office/drawing/2014/main" id="{14FAC4D9-F96D-7337-C271-2275230C9234}"/>
              </a:ext>
            </a:extLst>
          </p:cNvPr>
          <p:cNvSpPr txBox="1"/>
          <p:nvPr/>
        </p:nvSpPr>
        <p:spPr>
          <a:xfrm>
            <a:off x="5466491" y="4667121"/>
            <a:ext cx="1359681" cy="276999"/>
          </a:xfrm>
          <a:prstGeom prst="rect">
            <a:avLst/>
          </a:prstGeom>
          <a:noFill/>
        </p:spPr>
        <p:txBody>
          <a:bodyPr wrap="square" rtlCol="0">
            <a:spAutoFit/>
          </a:bodyPr>
          <a:lstStyle/>
          <a:p>
            <a:r>
              <a:rPr lang="en-CA" sz="1200" dirty="0"/>
              <a:t>persist(entity)</a:t>
            </a:r>
          </a:p>
        </p:txBody>
      </p:sp>
      <p:sp>
        <p:nvSpPr>
          <p:cNvPr id="25" name="TextBox 24">
            <a:extLst>
              <a:ext uri="{FF2B5EF4-FFF2-40B4-BE49-F238E27FC236}">
                <a16:creationId xmlns:a16="http://schemas.microsoft.com/office/drawing/2014/main" id="{C6CCDEB5-A348-1A41-603A-50D117AF0D6A}"/>
              </a:ext>
            </a:extLst>
          </p:cNvPr>
          <p:cNvSpPr txBox="1"/>
          <p:nvPr/>
        </p:nvSpPr>
        <p:spPr>
          <a:xfrm>
            <a:off x="3378968" y="4662842"/>
            <a:ext cx="1359681" cy="276999"/>
          </a:xfrm>
          <a:prstGeom prst="rect">
            <a:avLst/>
          </a:prstGeom>
          <a:noFill/>
        </p:spPr>
        <p:txBody>
          <a:bodyPr wrap="square" rtlCol="0">
            <a:spAutoFit/>
          </a:bodyPr>
          <a:lstStyle/>
          <a:p>
            <a:r>
              <a:rPr lang="en-CA" sz="1200" dirty="0"/>
              <a:t>remove(entity)</a:t>
            </a:r>
          </a:p>
        </p:txBody>
      </p:sp>
      <p:sp>
        <p:nvSpPr>
          <p:cNvPr id="26" name="TextBox 25">
            <a:extLst>
              <a:ext uri="{FF2B5EF4-FFF2-40B4-BE49-F238E27FC236}">
                <a16:creationId xmlns:a16="http://schemas.microsoft.com/office/drawing/2014/main" id="{00FB7158-C469-F85D-869B-46A55D8E757F}"/>
              </a:ext>
            </a:extLst>
          </p:cNvPr>
          <p:cNvSpPr txBox="1"/>
          <p:nvPr/>
        </p:nvSpPr>
        <p:spPr>
          <a:xfrm>
            <a:off x="6756378" y="4256106"/>
            <a:ext cx="1359681" cy="276999"/>
          </a:xfrm>
          <a:prstGeom prst="rect">
            <a:avLst/>
          </a:prstGeom>
          <a:noFill/>
        </p:spPr>
        <p:txBody>
          <a:bodyPr wrap="square" rtlCol="0">
            <a:spAutoFit/>
          </a:bodyPr>
          <a:lstStyle/>
          <a:p>
            <a:r>
              <a:rPr lang="en-CA" sz="1200" dirty="0"/>
              <a:t>flush()</a:t>
            </a:r>
          </a:p>
        </p:txBody>
      </p:sp>
      <p:sp>
        <p:nvSpPr>
          <p:cNvPr id="27" name="TextBox 26">
            <a:extLst>
              <a:ext uri="{FF2B5EF4-FFF2-40B4-BE49-F238E27FC236}">
                <a16:creationId xmlns:a16="http://schemas.microsoft.com/office/drawing/2014/main" id="{54A4E039-6DF5-B97F-E05F-1A0E904FE4D2}"/>
              </a:ext>
            </a:extLst>
          </p:cNvPr>
          <p:cNvSpPr txBox="1"/>
          <p:nvPr/>
        </p:nvSpPr>
        <p:spPr>
          <a:xfrm>
            <a:off x="6826172" y="5838563"/>
            <a:ext cx="1359681" cy="276999"/>
          </a:xfrm>
          <a:prstGeom prst="rect">
            <a:avLst/>
          </a:prstGeom>
          <a:noFill/>
        </p:spPr>
        <p:txBody>
          <a:bodyPr wrap="square" rtlCol="0">
            <a:spAutoFit/>
          </a:bodyPr>
          <a:lstStyle/>
          <a:p>
            <a:r>
              <a:rPr lang="en-CA" sz="1200" dirty="0"/>
              <a:t>flush()</a:t>
            </a:r>
          </a:p>
        </p:txBody>
      </p:sp>
      <p:sp>
        <p:nvSpPr>
          <p:cNvPr id="28" name="TextBox 27">
            <a:extLst>
              <a:ext uri="{FF2B5EF4-FFF2-40B4-BE49-F238E27FC236}">
                <a16:creationId xmlns:a16="http://schemas.microsoft.com/office/drawing/2014/main" id="{A89E083D-BED9-0B21-2EF5-C0D5FFD75ADD}"/>
              </a:ext>
            </a:extLst>
          </p:cNvPr>
          <p:cNvSpPr txBox="1"/>
          <p:nvPr/>
        </p:nvSpPr>
        <p:spPr>
          <a:xfrm>
            <a:off x="7019000" y="3145309"/>
            <a:ext cx="2101064" cy="646331"/>
          </a:xfrm>
          <a:prstGeom prst="rect">
            <a:avLst/>
          </a:prstGeom>
          <a:noFill/>
        </p:spPr>
        <p:txBody>
          <a:bodyPr wrap="square" rtlCol="0">
            <a:spAutoFit/>
          </a:bodyPr>
          <a:lstStyle/>
          <a:p>
            <a:r>
              <a:rPr lang="en-CA" sz="1200" dirty="0"/>
              <a:t>find(</a:t>
            </a:r>
            <a:r>
              <a:rPr lang="en-CA" sz="1200" dirty="0" err="1"/>
              <a:t>entityClass</a:t>
            </a:r>
            <a:r>
              <a:rPr lang="en-CA" sz="1200" dirty="0"/>
              <a:t>, </a:t>
            </a:r>
            <a:r>
              <a:rPr lang="en-CA" sz="1200" dirty="0" err="1"/>
              <a:t>primaryKey</a:t>
            </a:r>
            <a:r>
              <a:rPr lang="en-CA" sz="1200" dirty="0"/>
              <a:t>)</a:t>
            </a:r>
          </a:p>
          <a:p>
            <a:r>
              <a:rPr lang="en-CA" sz="1200" dirty="0" err="1"/>
              <a:t>createQuery</a:t>
            </a:r>
            <a:r>
              <a:rPr lang="en-CA" sz="1200" dirty="0"/>
              <a:t>().</a:t>
            </a:r>
            <a:r>
              <a:rPr lang="en-CA" sz="1200" dirty="0" err="1"/>
              <a:t>getResultList</a:t>
            </a:r>
            <a:r>
              <a:rPr lang="en-CA" sz="1200" dirty="0"/>
              <a:t>()</a:t>
            </a:r>
          </a:p>
          <a:p>
            <a:r>
              <a:rPr lang="en-CA" sz="1200" dirty="0" err="1"/>
              <a:t>createQuery.getSingleResult</a:t>
            </a:r>
            <a:r>
              <a:rPr lang="en-CA" sz="1200" dirty="0"/>
              <a:t>()</a:t>
            </a:r>
          </a:p>
        </p:txBody>
      </p:sp>
      <p:sp>
        <p:nvSpPr>
          <p:cNvPr id="29" name="TextBox 28">
            <a:extLst>
              <a:ext uri="{FF2B5EF4-FFF2-40B4-BE49-F238E27FC236}">
                <a16:creationId xmlns:a16="http://schemas.microsoft.com/office/drawing/2014/main" id="{AD17B31A-858A-CCC5-2952-587A2086E5A3}"/>
              </a:ext>
            </a:extLst>
          </p:cNvPr>
          <p:cNvSpPr txBox="1"/>
          <p:nvPr/>
        </p:nvSpPr>
        <p:spPr>
          <a:xfrm>
            <a:off x="9672912" y="3692734"/>
            <a:ext cx="1156447" cy="369332"/>
          </a:xfrm>
          <a:prstGeom prst="rect">
            <a:avLst/>
          </a:prstGeom>
          <a:noFill/>
        </p:spPr>
        <p:txBody>
          <a:bodyPr wrap="square" rtlCol="0">
            <a:spAutoFit/>
          </a:bodyPr>
          <a:lstStyle/>
          <a:p>
            <a:r>
              <a:rPr lang="en-CA" dirty="0">
                <a:solidFill>
                  <a:schemeClr val="bg1"/>
                </a:solidFill>
              </a:rPr>
              <a:t>Database</a:t>
            </a:r>
          </a:p>
        </p:txBody>
      </p:sp>
      <p:sp>
        <p:nvSpPr>
          <p:cNvPr id="30" name="Title 1">
            <a:extLst>
              <a:ext uri="{FF2B5EF4-FFF2-40B4-BE49-F238E27FC236}">
                <a16:creationId xmlns:a16="http://schemas.microsoft.com/office/drawing/2014/main" id="{8C322414-CB5D-FF48-3A7C-DD1BB4443F2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Entity Life Cycle</a:t>
            </a:r>
          </a:p>
        </p:txBody>
      </p:sp>
    </p:spTree>
    <p:extLst>
      <p:ext uri="{BB962C8B-B14F-4D97-AF65-F5344CB8AC3E}">
        <p14:creationId xmlns:p14="http://schemas.microsoft.com/office/powerpoint/2010/main" val="3749392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1C2213D-EC41-6C75-ABED-F8DA9CBF8363}"/>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Java Persistence Query Language (JPQL)</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5D737A50-05B6-A4FE-7B4E-193DAE344FFA}"/>
              </a:ext>
            </a:extLst>
          </p:cNvPr>
          <p:cNvSpPr txBox="1">
            <a:spLocks/>
          </p:cNvSpPr>
          <p:nvPr/>
        </p:nvSpPr>
        <p:spPr>
          <a:xfrm>
            <a:off x="594432" y="1530202"/>
            <a:ext cx="11003136" cy="439238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JPQL works with entities defined in the application which is analogous to SQL where it is based on tables and columns defined in the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Some of the methods defined for querying using JPQL are</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createNamedQuery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createNativeQuery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createStoredProcedureQuery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C8DFD58B-DF74-9AAC-6EBD-D56998E4DE31}"/>
              </a:ext>
            </a:extLst>
          </p:cNvPr>
          <p:cNvSpPr/>
          <p:nvPr/>
        </p:nvSpPr>
        <p:spPr>
          <a:xfrm>
            <a:off x="594432" y="4650559"/>
            <a:ext cx="10273570" cy="400110"/>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buClr>
                <a:srgbClr val="333399"/>
              </a:buClr>
              <a:defRPr/>
            </a:pPr>
            <a:r>
              <a:rPr kumimoji="0" lang="en-GB" sz="2000" b="1" i="0" u="none" strike="noStrike" kern="0" cap="none" spc="0" normalizeH="0" baseline="0" noProof="0" dirty="0">
                <a:ln>
                  <a:noFill/>
                </a:ln>
                <a:solidFill>
                  <a:srgbClr val="000000"/>
                </a:solidFill>
                <a:effectLst/>
                <a:uLnTx/>
                <a:uFillTx/>
                <a:latin typeface="Consolas" pitchFamily="49" charset="0"/>
              </a:rPr>
              <a:t>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0070C0"/>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a:t>
            </a:r>
          </a:p>
        </p:txBody>
      </p:sp>
      <p:sp>
        <p:nvSpPr>
          <p:cNvPr id="9" name="TextBox 8">
            <a:extLst>
              <a:ext uri="{FF2B5EF4-FFF2-40B4-BE49-F238E27FC236}">
                <a16:creationId xmlns:a16="http://schemas.microsoft.com/office/drawing/2014/main" id="{71071571-5BF4-A519-3A67-2971C0B4D765}"/>
              </a:ext>
            </a:extLst>
          </p:cNvPr>
          <p:cNvSpPr txBox="1"/>
          <p:nvPr/>
        </p:nvSpPr>
        <p:spPr>
          <a:xfrm>
            <a:off x="1645567" y="5924936"/>
            <a:ext cx="9360255" cy="646331"/>
          </a:xfrm>
          <a:prstGeom prst="rect">
            <a:avLst/>
          </a:prstGeom>
          <a:noFill/>
        </p:spPr>
        <p:txBody>
          <a:bodyPr wrap="none" rtlCol="0">
            <a:spAutoFit/>
          </a:bodyPr>
          <a:lstStyle/>
          <a:p>
            <a:pPr lvl="0" defTabSz="914400">
              <a:defRPr/>
            </a:pPr>
            <a:r>
              <a:rPr kumimoji="0" lang="en-CA" sz="1800" b="0" i="1" u="none" strike="noStrike" kern="0" cap="none" spc="0" normalizeH="0" baseline="0" noProof="0" dirty="0">
                <a:ln>
                  <a:noFill/>
                </a:ln>
                <a:solidFill>
                  <a:srgbClr val="000000"/>
                </a:solidFill>
                <a:effectLst/>
                <a:uLnTx/>
                <a:uFillTx/>
              </a:rPr>
              <a:t>Note: on the </a:t>
            </a:r>
            <a:r>
              <a:rPr lang="en-GB" b="1" kern="0" dirty="0" err="1">
                <a:solidFill>
                  <a:srgbClr val="0070C0"/>
                </a:solidFill>
                <a:latin typeface="Consolas" pitchFamily="49" charset="0"/>
              </a:rPr>
              <a:t>createQuery</a:t>
            </a:r>
            <a:r>
              <a:rPr lang="en-CA" i="1" kern="0" dirty="0">
                <a:solidFill>
                  <a:srgbClr val="000000"/>
                </a:solidFill>
              </a:rPr>
              <a:t> method, </a:t>
            </a:r>
            <a:r>
              <a:rPr kumimoji="0" lang="en-CA" sz="1800" b="0" i="1" u="none" strike="noStrike" kern="0" cap="none" spc="0" normalizeH="0" baseline="0" noProof="0" dirty="0">
                <a:ln>
                  <a:noFill/>
                </a:ln>
                <a:solidFill>
                  <a:srgbClr val="000000"/>
                </a:solidFill>
                <a:effectLst/>
                <a:uLnTx/>
                <a:uFillTx/>
              </a:rPr>
              <a:t>Employee is the name of the Entity class in the application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srgbClr val="000000"/>
              </a:solidFill>
              <a:effectLst/>
              <a:uLnTx/>
              <a:uFillTx/>
            </a:endParaRPr>
          </a:p>
        </p:txBody>
      </p:sp>
      <p:sp>
        <p:nvSpPr>
          <p:cNvPr id="3" name="Rectangle 2">
            <a:extLst>
              <a:ext uri="{FF2B5EF4-FFF2-40B4-BE49-F238E27FC236}">
                <a16:creationId xmlns:a16="http://schemas.microsoft.com/office/drawing/2014/main" id="{DC765F0E-FBAD-BCED-5811-A5369033BD9D}"/>
              </a:ext>
            </a:extLst>
          </p:cNvPr>
          <p:cNvSpPr/>
          <p:nvPr/>
        </p:nvSpPr>
        <p:spPr>
          <a:xfrm>
            <a:off x="602248" y="4061059"/>
            <a:ext cx="10273570" cy="400110"/>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buClr>
                <a:srgbClr val="333399"/>
              </a:buClr>
              <a:defRPr/>
            </a:pPr>
            <a:r>
              <a:rPr kumimoji="0" lang="en-GB" sz="2000" b="1" i="0" u="none" strike="noStrike" kern="0" cap="none" spc="0" normalizeH="0" baseline="0" noProof="0" dirty="0">
                <a:ln>
                  <a:noFill/>
                </a:ln>
                <a:solidFill>
                  <a:srgbClr val="000000"/>
                </a:solidFill>
                <a:effectLst/>
                <a:uLnTx/>
                <a:uFillTx/>
                <a:latin typeface="Consolas" pitchFamily="49" charset="0"/>
              </a:rPr>
              <a:t>Query </a:t>
            </a:r>
            <a:r>
              <a:rPr kumimoji="0" lang="en-GB" sz="2000" b="1" i="0" u="none" strike="noStrike" kern="0" cap="none" spc="0" normalizeH="0" baseline="0" noProof="0" dirty="0" err="1">
                <a:ln>
                  <a:noFill/>
                </a:ln>
                <a:solidFill>
                  <a:srgbClr val="000000"/>
                </a:solidFill>
                <a:effectLst/>
                <a:uLnTx/>
                <a:uFillTx/>
                <a:latin typeface="Consolas" pitchFamily="49" charset="0"/>
              </a:rPr>
              <a:t>query</a:t>
            </a:r>
            <a:r>
              <a:rPr kumimoji="0" lang="en-GB" sz="2000" b="1" i="0" u="none" strike="noStrike" kern="0" cap="none" spc="0" normalizeH="0" baseline="0" noProof="0" dirty="0">
                <a:ln>
                  <a:noFill/>
                </a:ln>
                <a:solidFill>
                  <a:srgbClr val="000000"/>
                </a:solidFill>
                <a:effectLst/>
                <a:uLnTx/>
                <a:uFillTx/>
                <a:latin typeface="Consolas" pitchFamily="49" charset="0"/>
              </a:rPr>
              <a:t>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0070C0"/>
                </a:solidFill>
                <a:effectLst/>
                <a:uLnTx/>
                <a:uFillTx/>
                <a:latin typeface="Consolas" pitchFamily="49" charset="0"/>
              </a:rPr>
              <a:t>createNativeQuery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a:t>
            </a:r>
          </a:p>
        </p:txBody>
      </p:sp>
      <p:sp>
        <p:nvSpPr>
          <p:cNvPr id="5" name="Rectangle 4">
            <a:extLst>
              <a:ext uri="{FF2B5EF4-FFF2-40B4-BE49-F238E27FC236}">
                <a16:creationId xmlns:a16="http://schemas.microsoft.com/office/drawing/2014/main" id="{D04B1919-7C59-E0DD-653D-932E6CE18081}"/>
              </a:ext>
            </a:extLst>
          </p:cNvPr>
          <p:cNvSpPr/>
          <p:nvPr/>
        </p:nvSpPr>
        <p:spPr>
          <a:xfrm>
            <a:off x="602248" y="5214704"/>
            <a:ext cx="10318332" cy="707886"/>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buClr>
                <a:srgbClr val="333399"/>
              </a:buClr>
              <a:defRPr/>
            </a:pPr>
            <a:r>
              <a:rPr lang="en-GB" sz="2000" b="1" kern="0" dirty="0" err="1">
                <a:solidFill>
                  <a:srgbClr val="000000"/>
                </a:solidFill>
                <a:latin typeface="Consolas" pitchFamily="49" charset="0"/>
              </a:rPr>
              <a:t>TypedQuery</a:t>
            </a:r>
            <a:r>
              <a:rPr lang="en-GB" sz="2000" b="1" kern="0" dirty="0">
                <a:solidFill>
                  <a:srgbClr val="000000"/>
                </a:solidFill>
                <a:latin typeface="Consolas" pitchFamily="49" charset="0"/>
              </a:rPr>
              <a:t>&lt;Employee&gt; query </a:t>
            </a:r>
            <a:r>
              <a:rPr kumimoji="0" lang="en-GB" sz="2000" b="1" i="0" u="none" strike="noStrike" kern="0" cap="none" spc="0" normalizeH="0" baseline="0" noProof="0" dirty="0">
                <a:ln>
                  <a:noFill/>
                </a:ln>
                <a:solidFill>
                  <a:srgbClr val="000000"/>
                </a:solidFill>
                <a:effectLst/>
                <a:uLnTx/>
                <a:uFillTx/>
                <a:latin typeface="Consolas" pitchFamily="49" charset="0"/>
              </a:rPr>
              <a:t>= </a:t>
            </a:r>
          </a:p>
          <a:p>
            <a:pPr lvl="0" defTabSz="914400">
              <a:buClr>
                <a:srgbClr val="333399"/>
              </a:buClr>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0070C0"/>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a:t>
            </a:r>
            <a:r>
              <a:rPr lang="en-GB" sz="2000" b="1" kern="0" dirty="0">
                <a:solidFill>
                  <a:srgbClr val="000000"/>
                </a:solidFill>
                <a:latin typeface="Consolas" pitchFamily="49" charset="0"/>
              </a:rPr>
              <a:t> ”, </a:t>
            </a:r>
            <a:r>
              <a:rPr lang="en-GB" sz="2000" b="1" kern="0" dirty="0" err="1">
                <a:solidFill>
                  <a:srgbClr val="000000"/>
                </a:solidFill>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228634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D91144-5AF0-B944-28CD-EDF6120441AA}"/>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Parameters in JPQL Queries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2E258387-4FAD-C701-A1B6-C7ADF2858DAB}"/>
              </a:ext>
            </a:extLst>
          </p:cNvPr>
          <p:cNvSpPr txBox="1">
            <a:spLocks/>
          </p:cNvSpPr>
          <p:nvPr/>
        </p:nvSpPr>
        <p:spPr>
          <a:xfrm>
            <a:off x="601490" y="1727830"/>
            <a:ext cx="11003136" cy="45443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Named Parameters</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Query parameters are prefixed with a colon (:) followed by a name for the parameter.</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CA"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Positional Parameters</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Query parameters are prefixed with a question mark (?) followed by a numeric position of parameter in the query.</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0C2AAB76-A71B-8680-E939-2F23BEA80CFA}"/>
              </a:ext>
            </a:extLst>
          </p:cNvPr>
          <p:cNvSpPr/>
          <p:nvPr/>
        </p:nvSpPr>
        <p:spPr>
          <a:xfrm>
            <a:off x="1184217" y="2679498"/>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buClr>
                <a:srgbClr val="333399"/>
              </a:buClr>
              <a:defRPr/>
            </a:pPr>
            <a:r>
              <a:rPr kumimoji="0" lang="en-GB" sz="2000" b="1" i="0" u="none" strike="noStrike" kern="0" cap="none" spc="0" normalizeH="0" baseline="0" noProof="0" dirty="0" err="1">
                <a:ln>
                  <a:noFill/>
                </a:ln>
                <a:solidFill>
                  <a:srgbClr val="000000"/>
                </a:solidFill>
                <a:effectLst/>
                <a:uLnTx/>
                <a:uFillTx/>
                <a:latin typeface="Consolas" pitchFamily="49" charset="0"/>
              </a:rPr>
              <a:t>TypedQuery</a:t>
            </a:r>
            <a:r>
              <a:rPr lang="en-GB" sz="2000" b="1" kern="0" dirty="0">
                <a:solidFill>
                  <a:srgbClr val="000000"/>
                </a:solidFill>
                <a:latin typeface="Consolas" pitchFamily="49" charset="0"/>
              </a:rPr>
              <a:t>&lt;Employee&gt;</a:t>
            </a:r>
            <a:r>
              <a:rPr kumimoji="0" lang="en-GB" sz="2000" b="1" i="0" u="none" strike="noStrike" kern="0" cap="none" spc="0" normalizeH="0" baseline="0" noProof="0" dirty="0">
                <a:ln>
                  <a:noFill/>
                </a:ln>
                <a:solidFill>
                  <a:srgbClr val="000000"/>
                </a:solidFill>
                <a:effectLst/>
                <a:uLnTx/>
                <a:uFillTx/>
                <a:latin typeface="Consolas" pitchFamily="49" charset="0"/>
              </a:rPr>
              <a:t> query = </a:t>
            </a:r>
            <a:r>
              <a:rPr kumimoji="0" lang="en-GB" sz="2000" b="1" i="0" u="none" strike="noStrike" kern="0" cap="none" spc="0" normalizeH="0" baseline="0" noProof="0" dirty="0" err="1">
                <a:ln>
                  <a:noFill/>
                </a:ln>
                <a:solidFill>
                  <a:srgbClr val="000000"/>
                </a:solidFill>
                <a:effectLst/>
                <a:uLnTx/>
                <a:uFillTx/>
                <a:latin typeface="Consolas" pitchFamily="49" charset="0"/>
              </a:rPr>
              <a:t>em.createQuery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WHERE e.name LIKE </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empName</a:t>
            </a: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a:ln>
                  <a:noFill/>
                </a:ln>
                <a:solidFill>
                  <a:srgbClr val="000000"/>
                </a:solidFill>
                <a:effectLst/>
                <a:uLnTx/>
                <a:uFillTx/>
                <a:latin typeface="Consolas" pitchFamily="49" charset="0"/>
              </a:rPr>
              <a:t>, “John Doe”);</a:t>
            </a:r>
          </a:p>
        </p:txBody>
      </p:sp>
      <p:sp>
        <p:nvSpPr>
          <p:cNvPr id="9" name="Rectangle 8">
            <a:extLst>
              <a:ext uri="{FF2B5EF4-FFF2-40B4-BE49-F238E27FC236}">
                <a16:creationId xmlns:a16="http://schemas.microsoft.com/office/drawing/2014/main" id="{0270674E-2832-2BE4-5283-53310511E30A}"/>
              </a:ext>
            </a:extLst>
          </p:cNvPr>
          <p:cNvSpPr/>
          <p:nvPr/>
        </p:nvSpPr>
        <p:spPr>
          <a:xfrm>
            <a:off x="1184217" y="5232439"/>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lvl="0" defTabSz="914400">
              <a:buClr>
                <a:srgbClr val="333399"/>
              </a:buClr>
              <a:defRPr/>
            </a:pPr>
            <a:r>
              <a:rPr lang="en-GB" sz="2000" b="1" kern="0" dirty="0" err="1">
                <a:solidFill>
                  <a:srgbClr val="000000"/>
                </a:solidFill>
                <a:latin typeface="Consolas" pitchFamily="49" charset="0"/>
              </a:rPr>
              <a:t>TypedQuery</a:t>
            </a:r>
            <a:r>
              <a:rPr lang="en-GB" sz="2000" b="1" kern="0" dirty="0">
                <a:solidFill>
                  <a:srgbClr val="000000"/>
                </a:solidFill>
                <a:latin typeface="Consolas" pitchFamily="49" charset="0"/>
              </a:rPr>
              <a:t>&lt;Employee&gt;</a:t>
            </a:r>
            <a:r>
              <a:rPr kumimoji="0" lang="en-GB" sz="2000" b="1" i="0" u="none" strike="noStrike" kern="0" cap="none" spc="0" normalizeH="0" baseline="0" noProof="0" dirty="0">
                <a:ln>
                  <a:noFill/>
                </a:ln>
                <a:solidFill>
                  <a:srgbClr val="000000"/>
                </a:solidFill>
                <a:effectLst/>
                <a:uLnTx/>
                <a:uFillTx/>
                <a:latin typeface="Consolas" pitchFamily="49" charset="0"/>
              </a:rPr>
              <a:t> query = </a:t>
            </a:r>
            <a:r>
              <a:rPr kumimoji="0" lang="en-GB" sz="2000" b="1" i="0" u="none" strike="noStrike" kern="0" cap="none" spc="0" normalizeH="0" baseline="0" noProof="0" dirty="0" err="1">
                <a:ln>
                  <a:noFill/>
                </a:ln>
                <a:solidFill>
                  <a:srgbClr val="000000"/>
                </a:solidFill>
                <a:effectLst/>
                <a:uLnTx/>
                <a:uFillTx/>
                <a:latin typeface="Consolas" pitchFamily="49" charset="0"/>
              </a:rPr>
              <a:t>em.createQuery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FROM Employee e WHERE e.name LIKE </a:t>
            </a:r>
            <a:r>
              <a:rPr kumimoji="0" lang="en-GB" sz="2000" b="1" i="0" u="none" strike="noStrike" kern="0" cap="none" spc="0" normalizeH="0" baseline="0" noProof="0" dirty="0">
                <a:ln>
                  <a:noFill/>
                </a:ln>
                <a:solidFill>
                  <a:srgbClr val="3099D9"/>
                </a:solidFill>
                <a:effectLst/>
                <a:uLnTx/>
                <a:uFillTx/>
                <a:latin typeface="Consolas" pitchFamily="49" charset="0"/>
              </a:rPr>
              <a:t>?1</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a:ln>
                  <a:noFill/>
                </a:ln>
                <a:solidFill>
                  <a:srgbClr val="3099D9"/>
                </a:solidFill>
                <a:effectLst/>
                <a:uLnTx/>
                <a:uFillTx/>
                <a:latin typeface="Consolas" pitchFamily="49" charset="0"/>
              </a:rPr>
              <a:t>1</a:t>
            </a:r>
            <a:r>
              <a:rPr kumimoji="0" lang="en-GB" sz="2000" b="1" i="0" u="none" strike="noStrike" kern="0" cap="none" spc="0" normalizeH="0" baseline="0" noProof="0" dirty="0">
                <a:ln>
                  <a:noFill/>
                </a:ln>
                <a:solidFill>
                  <a:srgbClr val="000000"/>
                </a:solidFill>
                <a:effectLst/>
                <a:uLnTx/>
                <a:uFillTx/>
                <a:latin typeface="Consolas" pitchFamily="49" charset="0"/>
              </a:rPr>
              <a:t>, “John Doe”);</a:t>
            </a:r>
          </a:p>
        </p:txBody>
      </p:sp>
    </p:spTree>
    <p:extLst>
      <p:ext uri="{BB962C8B-B14F-4D97-AF65-F5344CB8AC3E}">
        <p14:creationId xmlns:p14="http://schemas.microsoft.com/office/powerpoint/2010/main" val="2063700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6D2021-F7DB-E180-E734-9B1555CEA2A0}"/>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err="1">
                <a:ln>
                  <a:noFill/>
                </a:ln>
                <a:solidFill>
                  <a:srgbClr val="000000"/>
                </a:solidFill>
                <a:effectLst/>
                <a:uLnTx/>
                <a:uFillTx/>
                <a:latin typeface="Arial Black" panose="020B0A04020102020204" pitchFamily="34" charset="0"/>
                <a:ea typeface="+mj-ea"/>
                <a:cs typeface="+mj-cs"/>
              </a:rPr>
              <a:t>createQuery</a:t>
            </a: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 – Dynamic Queries</a:t>
            </a:r>
          </a:p>
        </p:txBody>
      </p:sp>
      <p:sp>
        <p:nvSpPr>
          <p:cNvPr id="6" name="Content Placeholder 2">
            <a:extLst>
              <a:ext uri="{FF2B5EF4-FFF2-40B4-BE49-F238E27FC236}">
                <a16:creationId xmlns:a16="http://schemas.microsoft.com/office/drawing/2014/main" id="{8FE37ADA-AFC6-3F4D-393E-0BE98742DAE8}"/>
              </a:ext>
            </a:extLst>
          </p:cNvPr>
          <p:cNvSpPr txBox="1">
            <a:spLocks/>
          </p:cNvSpPr>
          <p:nvPr/>
        </p:nvSpPr>
        <p:spPr>
          <a:xfrm>
            <a:off x="601490" y="1727830"/>
            <a:ext cx="11003136" cy="45443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t>
            </a: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method is used to create</a:t>
            </a:r>
            <a:r>
              <a:rPr lang="en-CA" dirty="0">
                <a:solidFill>
                  <a:srgbClr val="000000"/>
                </a:solidFill>
              </a:rPr>
              <a:t> dynamic</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queries</a:t>
            </a:r>
            <a:r>
              <a:rPr lang="en-CA" dirty="0">
                <a:solidFill>
                  <a:srgbClr val="000000"/>
                </a:solidFill>
              </a:rPr>
              <a:t>. When we pass the parameter for the type of class, it creates a generic </a:t>
            </a:r>
            <a:r>
              <a:rPr lang="en-CA" dirty="0" err="1">
                <a:solidFill>
                  <a:srgbClr val="000000"/>
                </a:solidFill>
              </a:rPr>
              <a:t>TypedQuery</a:t>
            </a:r>
            <a:r>
              <a:rPr lang="en-CA" dirty="0">
                <a:solidFill>
                  <a:srgbClr val="000000"/>
                </a:solidFill>
              </a:rPr>
              <a:t>&lt;T&gt; which allows us to retrieve a List&lt;T&gt; for that query, and in this example T is the employe Employee class</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5DC4DFD3-23E6-5992-0767-CC8BC4237A9A}"/>
              </a:ext>
            </a:extLst>
          </p:cNvPr>
          <p:cNvSpPr/>
          <p:nvPr/>
        </p:nvSpPr>
        <p:spPr>
          <a:xfrm>
            <a:off x="1184217" y="3068782"/>
            <a:ext cx="9837682" cy="286232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List&lt;Employee&gt; </a:t>
            </a:r>
            <a:r>
              <a:rPr kumimoji="0" lang="en-GB" sz="2000" b="1" i="0" u="none" strike="noStrike" kern="0" cap="none" spc="0" normalizeH="0" baseline="0" noProof="0" dirty="0" err="1">
                <a:ln>
                  <a:noFill/>
                </a:ln>
                <a:solidFill>
                  <a:srgbClr val="000000"/>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(String </a:t>
            </a:r>
            <a:r>
              <a:rPr kumimoji="0" lang="en-GB" sz="2000" b="1" i="0" u="none" strike="noStrike" kern="0" cap="none" spc="0" normalizeH="0" baseline="0" noProof="0" dirty="0" err="1">
                <a:ln>
                  <a:noFill/>
                </a:ln>
                <a:solidFill>
                  <a:srgbClr val="000000"/>
                </a:solidFill>
                <a:effectLst/>
                <a:uLnTx/>
                <a:uFillTx/>
                <a:latin typeface="Consolas" pitchFamily="49" charset="0"/>
              </a:rPr>
              <a:t>eName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lvl="0" defTabSz="914400">
              <a:buClr>
                <a:srgbClr val="333399"/>
              </a:buClr>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lang="en-GB" sz="2000" b="1" kern="0" dirty="0" err="1">
                <a:solidFill>
                  <a:srgbClr val="000000"/>
                </a:solidFill>
                <a:latin typeface="Consolas" pitchFamily="49" charset="0"/>
              </a:rPr>
              <a:t>TypedQuery</a:t>
            </a:r>
            <a:r>
              <a:rPr lang="en-GB" sz="2000" b="1" kern="0" dirty="0">
                <a:solidFill>
                  <a:srgbClr val="000000"/>
                </a:solidFill>
                <a:latin typeface="Consolas" pitchFamily="49" charset="0"/>
              </a:rPr>
              <a:t>&lt;Employee&gt;</a:t>
            </a:r>
            <a:r>
              <a:rPr kumimoji="0" lang="en-GB" sz="2000" b="1" i="0" u="none" strike="noStrike" kern="0" cap="none" spc="0" normalizeH="0" baseline="0" noProof="0" dirty="0">
                <a:ln>
                  <a:noFill/>
                </a:ln>
                <a:solidFill>
                  <a:srgbClr val="000000"/>
                </a:solidFill>
                <a:effectLst/>
                <a:uLnTx/>
                <a:uFillTx/>
                <a:latin typeface="Consolas" pitchFamily="49" charset="0"/>
              </a:rPr>
              <a:t> query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createQuery</a:t>
            </a:r>
            <a:r>
              <a:rPr kumimoji="0" lang="en-GB" sz="2000" b="1" i="0" u="none" strike="noStrike" kern="0" cap="none" spc="0" normalizeH="0" baseline="0" noProof="0" dirty="0">
                <a:ln>
                  <a:noFill/>
                </a:ln>
                <a:solidFill>
                  <a:srgbClr val="000000"/>
                </a:solidFill>
                <a:effectLst/>
                <a:uLnTx/>
                <a:uFillTx/>
                <a:latin typeface="Consolas" pitchFamily="49" charset="0"/>
              </a:rPr>
              <a:t>(“SELECT e </a:t>
            </a:r>
          </a:p>
          <a:p>
            <a:pPr lvl="0" defTabSz="914400">
              <a:buClr>
                <a:srgbClr val="333399"/>
              </a:buClr>
              <a:defRPr/>
            </a:pPr>
            <a:r>
              <a:rPr lang="en-GB" sz="2000" b="1" kern="0" dirty="0">
                <a:solidFill>
                  <a:srgbClr val="000000"/>
                </a:solidFill>
                <a:latin typeface="Consolas" pitchFamily="49" charset="0"/>
              </a:rPr>
              <a:t>	</a:t>
            </a:r>
            <a:r>
              <a:rPr kumimoji="0" lang="en-GB" sz="2000" b="1" i="0" u="none" strike="noStrike" kern="0" cap="none" spc="0" normalizeH="0" baseline="0" noProof="0" dirty="0">
                <a:ln>
                  <a:noFill/>
                </a:ln>
                <a:solidFill>
                  <a:srgbClr val="000000"/>
                </a:solidFill>
                <a:effectLst/>
                <a:uLnTx/>
                <a:uFillTx/>
                <a:latin typeface="Consolas" pitchFamily="49" charset="0"/>
              </a:rPr>
              <a:t>FROM Employee e </a:t>
            </a:r>
          </a:p>
          <a:p>
            <a:pPr lvl="0" defTabSz="914400">
              <a:buClr>
                <a:srgbClr val="333399"/>
              </a:buClr>
              <a:defRPr/>
            </a:pPr>
            <a:r>
              <a:rPr lang="en-GB" sz="2000" b="1" kern="0" dirty="0">
                <a:solidFill>
                  <a:srgbClr val="000000"/>
                </a:solidFill>
                <a:latin typeface="Consolas" pitchFamily="49" charset="0"/>
              </a:rPr>
              <a:t>	</a:t>
            </a:r>
            <a:r>
              <a:rPr kumimoji="0" lang="en-GB" sz="2000" b="1" i="0" u="none" strike="noStrike" kern="0" cap="none" spc="0" normalizeH="0" baseline="0" noProof="0" dirty="0">
                <a:ln>
                  <a:noFill/>
                </a:ln>
                <a:solidFill>
                  <a:srgbClr val="000000"/>
                </a:solidFill>
                <a:effectLst/>
                <a:uLnTx/>
                <a:uFillTx/>
                <a:latin typeface="Consolas" pitchFamily="49" charset="0"/>
              </a:rPr>
              <a:t>WHERE 	e.name LIKE :</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Employee.class</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query.setParameter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eName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return </a:t>
            </a:r>
            <a:r>
              <a:rPr kumimoji="0" lang="en-GB" sz="2000" b="1" i="0" u="none" strike="noStrike" kern="0" cap="none" spc="0" normalizeH="0" baseline="0" noProof="0" dirty="0" err="1">
                <a:ln>
                  <a:noFill/>
                </a:ln>
                <a:solidFill>
                  <a:srgbClr val="000000"/>
                </a:solidFill>
                <a:effectLst/>
                <a:uLnTx/>
                <a:uFillTx/>
                <a:latin typeface="Consolas" pitchFamily="49" charset="0"/>
              </a:rPr>
              <a:t>query.getResultList</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3109946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B78D0D9-D8E9-A474-F271-2C9AD6EE0764}"/>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createNamedQuery – Static Queries</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7" name="Content Placeholder 2">
            <a:extLst>
              <a:ext uri="{FF2B5EF4-FFF2-40B4-BE49-F238E27FC236}">
                <a16:creationId xmlns:a16="http://schemas.microsoft.com/office/drawing/2014/main" id="{83178622-6043-3135-2D58-413C9B95A992}"/>
              </a:ext>
            </a:extLst>
          </p:cNvPr>
          <p:cNvSpPr txBox="1">
            <a:spLocks/>
          </p:cNvSpPr>
          <p:nvPr/>
        </p:nvSpPr>
        <p:spPr>
          <a:xfrm>
            <a:off x="601490" y="1727830"/>
            <a:ext cx="11003136" cy="4544383"/>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a:t>
            </a: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createNamedQuery</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method is used to create static queries, which are defined in the metadata by using @NamedQuery annotation. </a:t>
            </a:r>
          </a:p>
        </p:txBody>
      </p:sp>
      <p:sp>
        <p:nvSpPr>
          <p:cNvPr id="8" name="Rectangle 7">
            <a:extLst>
              <a:ext uri="{FF2B5EF4-FFF2-40B4-BE49-F238E27FC236}">
                <a16:creationId xmlns:a16="http://schemas.microsoft.com/office/drawing/2014/main" id="{5A7B9F28-E9BB-398B-2508-B8274CEBCDDE}"/>
              </a:ext>
            </a:extLst>
          </p:cNvPr>
          <p:cNvSpPr/>
          <p:nvPr/>
        </p:nvSpPr>
        <p:spPr>
          <a:xfrm>
            <a:off x="1177159" y="2709822"/>
            <a:ext cx="9837682" cy="193899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NamedQuery</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name = “</a:t>
            </a:r>
            <a:r>
              <a:rPr kumimoji="0" lang="en-GB" sz="2000" b="1" i="0" u="none" strike="noStrike" kern="0" cap="none" spc="0" normalizeH="0" baseline="0" noProof="0" dirty="0" err="1">
                <a:ln>
                  <a:noFill/>
                </a:ln>
                <a:solidFill>
                  <a:srgbClr val="3099D9"/>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query = “SELECT e FROM Employee e WHERE e.name LIKE :</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  }</a:t>
            </a:r>
          </a:p>
        </p:txBody>
      </p:sp>
      <p:sp>
        <p:nvSpPr>
          <p:cNvPr id="9" name="Rectangle 8">
            <a:extLst>
              <a:ext uri="{FF2B5EF4-FFF2-40B4-BE49-F238E27FC236}">
                <a16:creationId xmlns:a16="http://schemas.microsoft.com/office/drawing/2014/main" id="{D4B9F6BC-35A7-E692-7D02-ADC3D67EA39F}"/>
              </a:ext>
            </a:extLst>
          </p:cNvPr>
          <p:cNvSpPr/>
          <p:nvPr/>
        </p:nvSpPr>
        <p:spPr>
          <a:xfrm>
            <a:off x="1177159" y="4952682"/>
            <a:ext cx="9837682" cy="1015663"/>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List&lt;Employee&gt; employees = </a:t>
            </a:r>
            <a:r>
              <a:rPr kumimoji="0" lang="en-GB" sz="2000" b="1" i="0" u="none" strike="noStrike" kern="0" cap="none" spc="0" normalizeH="0" baseline="0" noProof="0" dirty="0" err="1">
                <a:ln>
                  <a:noFill/>
                </a:ln>
                <a:solidFill>
                  <a:srgbClr val="000000"/>
                </a:solidFill>
                <a:effectLst/>
                <a:uLnTx/>
                <a:uFillTx/>
                <a:latin typeface="Consolas" pitchFamily="49" charset="0"/>
              </a:rPr>
              <a:t>em.</a:t>
            </a:r>
            <a:r>
              <a:rPr kumimoji="0" lang="en-GB" sz="2000" b="1" i="0" u="none" strike="noStrike" kern="0" cap="none" spc="0" normalizeH="0" baseline="0" noProof="0" dirty="0" err="1">
                <a:ln>
                  <a:noFill/>
                </a:ln>
                <a:solidFill>
                  <a:srgbClr val="3099D9"/>
                </a:solidFill>
                <a:effectLst/>
                <a:uLnTx/>
                <a:uFillTx/>
                <a:latin typeface="Consolas" pitchFamily="49" charset="0"/>
              </a:rPr>
              <a:t>createNamedQuery</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3099D9"/>
                </a:solidFill>
                <a:effectLst/>
                <a:uLnTx/>
                <a:uFillTx/>
                <a:latin typeface="Consolas" pitchFamily="49" charset="0"/>
              </a:rPr>
              <a:t>findEmployeeByName</a:t>
            </a: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err="1">
                <a:ln>
                  <a:noFill/>
                </a:ln>
                <a:solidFill>
                  <a:srgbClr val="000000"/>
                </a:solidFill>
                <a:effectLst/>
                <a:uLnTx/>
                <a:uFillTx/>
                <a:latin typeface="Consolas" pitchFamily="49" charset="0"/>
              </a:rPr>
              <a:t>setParameter</a:t>
            </a:r>
            <a:r>
              <a:rPr kumimoji="0" lang="en-GB" sz="2000" b="1" i="0" u="none" strike="noStrike" kern="0" cap="none" spc="0" normalizeH="0" baseline="0" noProof="0" dirty="0">
                <a:ln>
                  <a:noFill/>
                </a:ln>
                <a:solidFill>
                  <a:srgbClr val="000000"/>
                </a:solidFill>
                <a:effectLst/>
                <a:uLnTx/>
                <a:uFillTx/>
                <a:latin typeface="Consolas" pitchFamily="49" charset="0"/>
              </a:rPr>
              <a:t>(“</a:t>
            </a:r>
            <a:r>
              <a:rPr kumimoji="0" lang="en-GB" sz="2000" b="1" i="0" u="none" strike="noStrike" kern="0" cap="none" spc="0" normalizeH="0" baseline="0" noProof="0" dirty="0" err="1">
                <a:ln>
                  <a:noFill/>
                </a:ln>
                <a:solidFill>
                  <a:srgbClr val="000000"/>
                </a:solidFill>
                <a:effectLst/>
                <a:uLnTx/>
                <a:uFillTx/>
                <a:latin typeface="Consolas" pitchFamily="49" charset="0"/>
              </a:rPr>
              <a:t>empName</a:t>
            </a:r>
            <a:r>
              <a:rPr kumimoji="0" lang="en-GB" sz="2000" b="1" i="0" u="none" strike="noStrike" kern="0" cap="none" spc="0" normalizeH="0" baseline="0" noProof="0" dirty="0">
                <a:ln>
                  <a:noFill/>
                </a:ln>
                <a:solidFill>
                  <a:srgbClr val="000000"/>
                </a:solidFill>
                <a:effectLst/>
                <a:uLnTx/>
                <a:uFillTx/>
                <a:latin typeface="Consolas" pitchFamily="49" charset="0"/>
              </a:rPr>
              <a:t>”,“John Doe”)					.</a:t>
            </a:r>
            <a:r>
              <a:rPr kumimoji="0" lang="en-GB" sz="2000" b="1" i="0" u="none" strike="noStrike" kern="0" cap="none" spc="0" normalizeH="0" baseline="0" noProof="0" dirty="0" err="1">
                <a:ln>
                  <a:noFill/>
                </a:ln>
                <a:solidFill>
                  <a:srgbClr val="000000"/>
                </a:solidFill>
                <a:effectLst/>
                <a:uLnTx/>
                <a:uFillTx/>
                <a:latin typeface="Consolas" pitchFamily="49" charset="0"/>
              </a:rPr>
              <a:t>getResultList</a:t>
            </a:r>
            <a:r>
              <a:rPr kumimoji="0" lang="en-GB" sz="2000" b="1" i="0" u="none" strike="noStrike" kern="0" cap="none" spc="0" normalizeH="0" baseline="0" noProof="0" dirty="0">
                <a:ln>
                  <a:noFill/>
                </a:ln>
                <a:solidFill>
                  <a:srgbClr val="000000"/>
                </a:solidFill>
                <a:effectLst/>
                <a:uLnTx/>
                <a:uFillTx/>
                <a:latin typeface="Consolas" pitchFamily="49" charset="0"/>
              </a:rPr>
              <a:t>();</a:t>
            </a:r>
          </a:p>
        </p:txBody>
      </p:sp>
    </p:spTree>
    <p:extLst>
      <p:ext uri="{BB962C8B-B14F-4D97-AF65-F5344CB8AC3E}">
        <p14:creationId xmlns:p14="http://schemas.microsoft.com/office/powerpoint/2010/main" val="232682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D664FA4-7FE0-F0C7-108D-E9A4CFF761AD}"/>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Primary Key Generation</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4202C52E-A641-079B-3C53-09EEDB95F4CD}"/>
              </a:ext>
            </a:extLst>
          </p:cNvPr>
          <p:cNvSpPr txBox="1">
            <a:spLocks/>
          </p:cNvSpPr>
          <p:nvPr/>
        </p:nvSpPr>
        <p:spPr>
          <a:xfrm>
            <a:off x="586616" y="1727830"/>
            <a:ext cx="11003136" cy="4874109"/>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Every JPA entity must have a primary key and the primary key values can be assigned yourself, or the primary key field can be assigned with a primary key value generator.</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Annotations used</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@GeneratedValue ( strategy, generatorName) </a:t>
            </a: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provides the primary key generation strategies for the values of primary key.</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strategy – optional. GenerationType enum is used to specify the primary key generation strategy.</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generator – optional. The name of the primary key generator as specified in @SequenceGenerator.</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@SequenceGenerator ( generatorName, sequenceName) </a:t>
            </a: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defines a primary key generator that may be referenced by name in @GeneratedValue annotation.</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generatorName – required. The name that can be referenced in @GeneratedValue.</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sequenceName – optional. The name of the database sequence object for SEQUENCE strategy type.</a:t>
            </a: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91440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CA"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a:p>
            <a:pPr marL="457200" marR="0" lvl="1"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42871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06419-A9A7-0267-27F1-802085CF45B6}"/>
              </a:ext>
            </a:extLst>
          </p:cNvPr>
          <p:cNvSpPr txBox="1">
            <a:spLocks/>
          </p:cNvSpPr>
          <p:nvPr/>
        </p:nvSpPr>
        <p:spPr>
          <a:xfrm>
            <a:off x="602248" y="60989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Primary Key Generation Type</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Content Placeholder 2">
            <a:extLst>
              <a:ext uri="{FF2B5EF4-FFF2-40B4-BE49-F238E27FC236}">
                <a16:creationId xmlns:a16="http://schemas.microsoft.com/office/drawing/2014/main" id="{12BA0405-579A-1D01-6404-3D93AFFEEEAA}"/>
              </a:ext>
            </a:extLst>
          </p:cNvPr>
          <p:cNvSpPr txBox="1">
            <a:spLocks/>
          </p:cNvSpPr>
          <p:nvPr/>
        </p:nvSpPr>
        <p:spPr>
          <a:xfrm>
            <a:off x="601490" y="1530626"/>
            <a:ext cx="11003136" cy="500269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GenerationType.AUTO</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should pick an appropriate strategy for the particular database.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GenerationType.IDENTITY</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 </a:t>
            </a: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databse</a:t>
            </a: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entity column.</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GenerationType.SEQUENCE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 database sequence.</a:t>
            </a:r>
          </a:p>
          <a:p>
            <a:pPr marL="228600" marR="0" lvl="0" indent="-2286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CA" sz="18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GenerationType.TABLE</a:t>
            </a:r>
            <a:endPar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00000"/>
              </a:lnSpc>
              <a:spcBef>
                <a:spcPts val="0"/>
              </a:spcBef>
              <a:spcAft>
                <a:spcPts val="600"/>
              </a:spcAft>
              <a:buClrTx/>
              <a:buSzTx/>
              <a:buFontTx/>
              <a:buChar char="-"/>
              <a:tabLst/>
              <a:defRPr/>
            </a:pPr>
            <a:r>
              <a:rPr kumimoji="0" lang="en-CA"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Indicates that the persistence provider must assign primary keys for the entity using an underlying database table to ensure uniqueness.</a:t>
            </a:r>
          </a:p>
        </p:txBody>
      </p:sp>
    </p:spTree>
    <p:extLst>
      <p:ext uri="{BB962C8B-B14F-4D97-AF65-F5344CB8AC3E}">
        <p14:creationId xmlns:p14="http://schemas.microsoft.com/office/powerpoint/2010/main" val="3909571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0338F2B-41BD-B6B8-E785-5DB40D46F963}"/>
              </a:ext>
            </a:extLst>
          </p:cNvPr>
          <p:cNvSpPr txBox="1">
            <a:spLocks/>
          </p:cNvSpPr>
          <p:nvPr/>
        </p:nvSpPr>
        <p:spPr>
          <a:xfrm>
            <a:off x="404191" y="609898"/>
            <a:ext cx="11496261"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PK Generation using default strategy</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6" name="Rectangle 5">
            <a:extLst>
              <a:ext uri="{FF2B5EF4-FFF2-40B4-BE49-F238E27FC236}">
                <a16:creationId xmlns:a16="http://schemas.microsoft.com/office/drawing/2014/main" id="{99A5FE89-A7BC-12B9-9341-D7F9505CD64F}"/>
              </a:ext>
            </a:extLst>
          </p:cNvPr>
          <p:cNvSpPr/>
          <p:nvPr/>
        </p:nvSpPr>
        <p:spPr>
          <a:xfrm>
            <a:off x="1113182" y="2096295"/>
            <a:ext cx="10257183" cy="286232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@GeneratedValue(strategy = </a:t>
            </a:r>
            <a:r>
              <a:rPr kumimoji="0" lang="en-GB" sz="2000" b="1" i="0" u="none" strike="noStrike" kern="0" cap="none" spc="0" normalizeH="0" baseline="0" noProof="0" dirty="0" err="1">
                <a:ln>
                  <a:noFill/>
                </a:ln>
                <a:solidFill>
                  <a:srgbClr val="3099D9"/>
                </a:solidFill>
                <a:effectLst/>
                <a:uLnTx/>
                <a:uFillTx/>
                <a:latin typeface="Consolas" pitchFamily="49" charset="0"/>
              </a:rPr>
              <a:t>GenerationType.AUTO</a:t>
            </a:r>
            <a:r>
              <a:rPr kumimoji="0" lang="en-GB" sz="2000" b="1" i="0" u="none" strike="noStrike" kern="0" cap="none" spc="0" normalizeH="0" baseline="0" noProof="0" dirty="0">
                <a:ln>
                  <a:noFill/>
                </a:ln>
                <a:solidFill>
                  <a:srgbClr val="3099D9"/>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p>
        </p:txBody>
      </p:sp>
      <p:sp>
        <p:nvSpPr>
          <p:cNvPr id="7" name="TextBox 6">
            <a:extLst>
              <a:ext uri="{FF2B5EF4-FFF2-40B4-BE49-F238E27FC236}">
                <a16:creationId xmlns:a16="http://schemas.microsoft.com/office/drawing/2014/main" id="{9D389F8A-C111-9E72-57D5-CEC65DE781BE}"/>
              </a:ext>
            </a:extLst>
          </p:cNvPr>
          <p:cNvSpPr txBox="1"/>
          <p:nvPr/>
        </p:nvSpPr>
        <p:spPr>
          <a:xfrm>
            <a:off x="1113182" y="5685183"/>
            <a:ext cx="10164418" cy="646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1" u="none" strike="noStrike" kern="0" cap="none" spc="0" normalizeH="0" baseline="0" noProof="0" dirty="0">
                <a:ln>
                  <a:noFill/>
                </a:ln>
                <a:solidFill>
                  <a:srgbClr val="000000"/>
                </a:solidFill>
                <a:effectLst/>
                <a:uLnTx/>
                <a:uFillTx/>
              </a:rPr>
              <a:t>Note: </a:t>
            </a:r>
            <a:r>
              <a:rPr kumimoji="0" lang="en-US" sz="1800" b="0" i="1" u="none" strike="noStrike" kern="0" cap="none" spc="0" normalizeH="0" baseline="0" noProof="0" dirty="0">
                <a:ln>
                  <a:noFill/>
                </a:ln>
                <a:solidFill>
                  <a:srgbClr val="000000"/>
                </a:solidFill>
                <a:effectLst/>
                <a:uLnTx/>
                <a:uFillTx/>
              </a:rPr>
              <a:t>If you use Hibernate as the persistence provider, it selects a generation strategy based on the database specific dialect. For most popular databases, it selects </a:t>
            </a:r>
            <a:r>
              <a:rPr kumimoji="0" lang="en-US" sz="1800" b="0" i="1" u="none" strike="noStrike" kern="0" cap="none" spc="0" normalizeH="0" baseline="0" noProof="0" dirty="0" err="1">
                <a:ln>
                  <a:noFill/>
                </a:ln>
                <a:solidFill>
                  <a:srgbClr val="000000"/>
                </a:solidFill>
                <a:effectLst/>
                <a:uLnTx/>
                <a:uFillTx/>
              </a:rPr>
              <a:t>GenerationType.SEQUENCE</a:t>
            </a:r>
            <a:r>
              <a:rPr kumimoji="0" lang="en-US" sz="1800" b="0" i="1" u="none" strike="noStrike" kern="0" cap="none" spc="0" normalizeH="0" baseline="0" noProof="0" dirty="0">
                <a:ln>
                  <a:noFill/>
                </a:ln>
                <a:solidFill>
                  <a:srgbClr val="000000"/>
                </a:solidFill>
                <a:effectLst/>
                <a:uLnTx/>
                <a:uFillTx/>
              </a:rPr>
              <a:t>.</a:t>
            </a:r>
            <a:endParaRPr kumimoji="0" lang="en-CA" sz="1800" b="0" i="1"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008415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15AC-D6FD-EDE5-4BAA-2737EB172B5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A2E032F-48A1-C394-0631-A4844B8CF607}"/>
              </a:ext>
            </a:extLst>
          </p:cNvPr>
          <p:cNvSpPr txBox="1">
            <a:spLocks/>
          </p:cNvSpPr>
          <p:nvPr/>
        </p:nvSpPr>
        <p:spPr>
          <a:xfrm>
            <a:off x="404191" y="609898"/>
            <a:ext cx="11496261"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PK Generation using Identity strategy</a:t>
            </a:r>
          </a:p>
        </p:txBody>
      </p:sp>
      <p:sp>
        <p:nvSpPr>
          <p:cNvPr id="6" name="Rectangle 5">
            <a:extLst>
              <a:ext uri="{FF2B5EF4-FFF2-40B4-BE49-F238E27FC236}">
                <a16:creationId xmlns:a16="http://schemas.microsoft.com/office/drawing/2014/main" id="{941ED51C-5CCB-5135-42B7-97EE2B070E4D}"/>
              </a:ext>
            </a:extLst>
          </p:cNvPr>
          <p:cNvSpPr/>
          <p:nvPr/>
        </p:nvSpPr>
        <p:spPr>
          <a:xfrm>
            <a:off x="1113182" y="2096295"/>
            <a:ext cx="10257183" cy="2862322"/>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@GeneratedValue(strategy = </a:t>
            </a:r>
            <a:r>
              <a:rPr kumimoji="0" lang="en-GB" sz="2000" b="1" i="0" u="none" strike="noStrike" kern="0" cap="none" spc="0" normalizeH="0" baseline="0" noProof="0" dirty="0" err="1">
                <a:ln>
                  <a:noFill/>
                </a:ln>
                <a:solidFill>
                  <a:srgbClr val="3099D9"/>
                </a:solidFill>
                <a:effectLst/>
                <a:uLnTx/>
                <a:uFillTx/>
                <a:latin typeface="Consolas" pitchFamily="49" charset="0"/>
              </a:rPr>
              <a:t>GenerationType.IDENTITY</a:t>
            </a:r>
            <a:r>
              <a:rPr kumimoji="0" lang="en-GB" sz="2000" b="1" i="0" u="none" strike="noStrike" kern="0" cap="none" spc="0" normalizeH="0" baseline="0" noProof="0" dirty="0">
                <a:ln>
                  <a:noFill/>
                </a:ln>
                <a:solidFill>
                  <a:srgbClr val="3099D9"/>
                </a:solidFill>
                <a:effectLst/>
                <a:uLnTx/>
                <a:uFillTx/>
                <a:latin typeface="Consolas" pitchFamily="49" charset="0"/>
              </a:rPr>
              <a:t>) </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p>
        </p:txBody>
      </p:sp>
    </p:spTree>
    <p:extLst>
      <p:ext uri="{BB962C8B-B14F-4D97-AF65-F5344CB8AC3E}">
        <p14:creationId xmlns:p14="http://schemas.microsoft.com/office/powerpoint/2010/main" val="251419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F96308-A362-C09A-30BA-BE5059B88380}"/>
              </a:ext>
            </a:extLst>
          </p:cNvPr>
          <p:cNvSpPr txBox="1">
            <a:spLocks/>
          </p:cNvSpPr>
          <p:nvPr/>
        </p:nvSpPr>
        <p:spPr>
          <a:xfrm>
            <a:off x="404191" y="609898"/>
            <a:ext cx="11496261"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PK Generation using user-defined Sequence </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
        <p:nvSpPr>
          <p:cNvPr id="5" name="Rectangle 4">
            <a:extLst>
              <a:ext uri="{FF2B5EF4-FFF2-40B4-BE49-F238E27FC236}">
                <a16:creationId xmlns:a16="http://schemas.microsoft.com/office/drawing/2014/main" id="{8595B19B-FC8F-A717-5B6F-9AA80A68B743}"/>
              </a:ext>
            </a:extLst>
          </p:cNvPr>
          <p:cNvSpPr/>
          <p:nvPr/>
        </p:nvSpPr>
        <p:spPr>
          <a:xfrm>
            <a:off x="166256" y="1871008"/>
            <a:ext cx="11865324" cy="3170099"/>
          </a:xfrm>
          <a:prstGeom prst="rect">
            <a:avLst/>
          </a:prstGeom>
          <a:solidFill>
            <a:sysClr val="window" lastClr="FFFFFF">
              <a:lumMod val="95000"/>
            </a:sysClr>
          </a:solidFill>
          <a:ln w="38100" cap="flat" cmpd="sng" algn="ctr">
            <a:solidFill>
              <a:srgbClr val="00A4F6"/>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@Entity</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public class Employee{</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r>
              <a:rPr kumimoji="0" lang="en-GB" sz="2000" b="1" i="0" u="none" strike="noStrike" kern="0" cap="none" spc="0" normalizeH="0" baseline="0" noProof="0" dirty="0">
                <a:ln>
                  <a:noFill/>
                </a:ln>
                <a:solidFill>
                  <a:srgbClr val="3099D9"/>
                </a:solidFill>
                <a:effectLst/>
                <a:uLnTx/>
                <a:uFillTx/>
                <a:latin typeface="Consolas" pitchFamily="49" charset="0"/>
              </a:rPr>
              <a:t>@SequenceGenerator(name = “EMP_SEQ_GNTR”, </a:t>
            </a:r>
            <a:r>
              <a:rPr kumimoji="0" lang="en-GB" sz="2000" b="1" i="0" u="none" strike="noStrike" kern="0" cap="none" spc="0" normalizeH="0" baseline="0" noProof="0" dirty="0" err="1">
                <a:ln>
                  <a:noFill/>
                </a:ln>
                <a:solidFill>
                  <a:srgbClr val="3099D9"/>
                </a:solidFill>
                <a:effectLst/>
                <a:uLnTx/>
                <a:uFillTx/>
                <a:latin typeface="Consolas" pitchFamily="49" charset="0"/>
              </a:rPr>
              <a:t>sequenceName</a:t>
            </a:r>
            <a:r>
              <a:rPr kumimoji="0" lang="en-GB" sz="2000" b="1" i="0" u="none" strike="noStrike" kern="0" cap="none" spc="0" normalizeH="0" baseline="0" noProof="0" dirty="0">
                <a:ln>
                  <a:noFill/>
                </a:ln>
                <a:solidFill>
                  <a:srgbClr val="3099D9"/>
                </a:solidFill>
                <a:effectLst/>
                <a:uLnTx/>
                <a:uFillTx/>
                <a:latin typeface="Consolas" pitchFamily="49" charset="0"/>
              </a:rPr>
              <a:t> = “EMP_SEQ”)</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3099D9"/>
                </a:solidFill>
                <a:effectLst/>
                <a:uLnTx/>
                <a:uFillTx/>
                <a:latin typeface="Consolas" pitchFamily="49" charset="0"/>
              </a:rPr>
              <a:t>	@GeneratedValue(strategy = </a:t>
            </a:r>
            <a:r>
              <a:rPr kumimoji="0" lang="en-GB" sz="2000" b="1" i="0" u="none" strike="noStrike" kern="0" cap="none" spc="0" normalizeH="0" baseline="0" noProof="0" dirty="0" err="1">
                <a:ln>
                  <a:noFill/>
                </a:ln>
                <a:solidFill>
                  <a:srgbClr val="3099D9"/>
                </a:solidFill>
                <a:effectLst/>
                <a:uLnTx/>
                <a:uFillTx/>
                <a:latin typeface="Consolas" pitchFamily="49" charset="0"/>
              </a:rPr>
              <a:t>GenerationType.SEQUENCE</a:t>
            </a:r>
            <a:r>
              <a:rPr kumimoji="0" lang="en-GB" sz="2000" b="1" i="0" u="none" strike="noStrike" kern="0" cap="none" spc="0" normalizeH="0" baseline="0" noProof="0" dirty="0">
                <a:ln>
                  <a:noFill/>
                </a:ln>
                <a:solidFill>
                  <a:srgbClr val="3099D9"/>
                </a:solidFill>
                <a:effectLst/>
                <a:uLnTx/>
                <a:uFillTx/>
                <a:latin typeface="Consolas" pitchFamily="49" charset="0"/>
              </a:rPr>
              <a:t>, generator=“EMP_SEQ_GNTR”)</a:t>
            </a: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int id;</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private String name;</a:t>
            </a:r>
          </a:p>
          <a:p>
            <a:pPr marL="0" marR="0" lvl="0" indent="0" defTabSz="914400" eaLnBrk="1" fontAlgn="auto" latinLnBrk="0" hangingPunct="1">
              <a:lnSpc>
                <a:spcPct val="100000"/>
              </a:lnSpc>
              <a:spcBef>
                <a:spcPts val="0"/>
              </a:spcBef>
              <a:spcAft>
                <a:spcPts val="0"/>
              </a:spcAft>
              <a:buClr>
                <a:srgbClr val="333399"/>
              </a:buClr>
              <a:buSzTx/>
              <a:buFontTx/>
              <a:buNone/>
              <a:tabLst/>
              <a:defRPr/>
            </a:pPr>
            <a:endParaRPr kumimoji="0" lang="en-GB" sz="2000" b="1" i="0" u="none" strike="noStrike" kern="0" cap="none" spc="0" normalizeH="0" baseline="0" noProof="0" dirty="0">
              <a:ln>
                <a:noFill/>
              </a:ln>
              <a:solidFill>
                <a:srgbClr val="000000"/>
              </a:solidFill>
              <a:effectLst/>
              <a:uLnTx/>
              <a:uFillTx/>
              <a:latin typeface="Consolas" pitchFamily="49" charset="0"/>
            </a:endParaRPr>
          </a:p>
          <a:p>
            <a:pPr marL="0" marR="0" lvl="0" indent="0" defTabSz="914400" eaLnBrk="1" fontAlgn="auto" latinLnBrk="0" hangingPunct="1">
              <a:lnSpc>
                <a:spcPct val="100000"/>
              </a:lnSpc>
              <a:spcBef>
                <a:spcPts val="0"/>
              </a:spcBef>
              <a:spcAft>
                <a:spcPts val="0"/>
              </a:spcAft>
              <a:buClr>
                <a:srgbClr val="333399"/>
              </a:buClr>
              <a:buSzTx/>
              <a:buFontTx/>
              <a:buNone/>
              <a:tabLst/>
              <a:defRPr/>
            </a:pPr>
            <a:r>
              <a:rPr kumimoji="0" lang="en-GB" sz="2000" b="1" i="0" u="none" strike="noStrike" kern="0" cap="none" spc="0" normalizeH="0" baseline="0" noProof="0" dirty="0">
                <a:ln>
                  <a:noFill/>
                </a:ln>
                <a:solidFill>
                  <a:srgbClr val="000000"/>
                </a:solidFill>
                <a:effectLst/>
                <a:uLnTx/>
                <a:uFillTx/>
                <a:latin typeface="Consolas" pitchFamily="49" charset="0"/>
              </a:rPr>
              <a:t>	}</a:t>
            </a:r>
          </a:p>
        </p:txBody>
      </p:sp>
    </p:spTree>
    <p:extLst>
      <p:ext uri="{BB962C8B-B14F-4D97-AF65-F5344CB8AC3E}">
        <p14:creationId xmlns:p14="http://schemas.microsoft.com/office/powerpoint/2010/main" val="1135655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11050" cy="1608908"/>
          </a:xfrm>
          <a:prstGeom prst="rect">
            <a:avLst/>
          </a:prstGeom>
        </p:spPr>
      </p:pic>
      <p:pic>
        <p:nvPicPr>
          <p:cNvPr id="2050" name="Picture 2" descr="Patterson and Gimlin Motion Picture 'Bigfoot' Stabilized">
            <a:extLst>
              <a:ext uri="{FF2B5EF4-FFF2-40B4-BE49-F238E27FC236}">
                <a16:creationId xmlns:a16="http://schemas.microsoft.com/office/drawing/2014/main" id="{543DD42D-A663-4DBE-7FB1-77739C6427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5778" y="1196529"/>
            <a:ext cx="7240444" cy="510839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91A68C0F-485F-D09B-727E-02F1D1D8FAB6}"/>
              </a:ext>
            </a:extLst>
          </p:cNvPr>
          <p:cNvSpPr txBox="1">
            <a:spLocks/>
          </p:cNvSpPr>
          <p:nvPr/>
        </p:nvSpPr>
        <p:spPr>
          <a:xfrm>
            <a:off x="594811" y="245488"/>
            <a:ext cx="11002378" cy="1117932"/>
          </a:xfrm>
          <a:prstGeom prst="rect">
            <a:avLst/>
          </a:prstGeom>
        </p:spPr>
        <p:txBody>
          <a:bodyPr vert="horz" lIns="91440" tIns="45720" rIns="91440" bIns="45720" rtlCol="0" anchor="t" anchorCtr="0">
            <a:noAutofit/>
          </a:bodyPr>
          <a:lstStyle>
            <a:lvl1pPr algn="ctr" defTabSz="914400" rtl="0" eaLnBrk="1" latinLnBrk="0" hangingPunct="1">
              <a:lnSpc>
                <a:spcPct val="100000"/>
              </a:lnSpc>
              <a:spcBef>
                <a:spcPts val="0"/>
              </a:spcBef>
              <a:buNone/>
              <a:defRPr sz="3600" kern="1200">
                <a:solidFill>
                  <a:schemeClr val="tx1"/>
                </a:solidFill>
                <a:latin typeface="Arial Black" panose="020B0A04020102020204" pitchFamily="34"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rPr>
              <a:t>Data Access w</a:t>
            </a:r>
            <a:r>
              <a:rPr kumimoji="0" lang="en-CA" sz="3600" b="0" i="0" u="none" strike="noStrike" kern="1200" cap="none" spc="0" normalizeH="0" baseline="0" noProof="0">
                <a:ln>
                  <a:noFill/>
                </a:ln>
                <a:solidFill>
                  <a:srgbClr val="000000"/>
                </a:solidFill>
                <a:effectLst/>
                <a:uLnTx/>
                <a:uFillTx/>
                <a:latin typeface="Arial Black" panose="020B0A04020102020204" pitchFamily="34" charset="0"/>
                <a:ea typeface="+mj-ea"/>
                <a:cs typeface="+mj-cs"/>
              </a:rPr>
              <a:t>/ JPA</a:t>
            </a:r>
            <a:endParaRPr kumimoji="0" lang="en-CA" sz="3600" b="0" i="0" u="none" strike="noStrike" kern="1200" cap="none" spc="0" normalizeH="0" baseline="0" noProof="0" dirty="0">
              <a:ln>
                <a:noFill/>
              </a:ln>
              <a:solidFill>
                <a:srgbClr val="000000"/>
              </a:solidFill>
              <a:effectLst/>
              <a:uLnTx/>
              <a:uFillTx/>
              <a:latin typeface="Arial Black" panose="020B0A04020102020204" pitchFamily="34" charset="0"/>
              <a:ea typeface="+mj-ea"/>
              <a:cs typeface="+mj-cs"/>
            </a:endParaRPr>
          </a:p>
        </p:txBody>
      </p:sp>
    </p:spTree>
    <p:extLst>
      <p:ext uri="{BB962C8B-B14F-4D97-AF65-F5344CB8AC3E}">
        <p14:creationId xmlns:p14="http://schemas.microsoft.com/office/powerpoint/2010/main" val="294940785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25670</TotalTime>
  <Words>3453</Words>
  <Application>Microsoft Office PowerPoint</Application>
  <PresentationFormat>Widescreen</PresentationFormat>
  <Paragraphs>452</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Calibri</vt:lpstr>
      <vt:lpstr>Calibri Light</vt:lpstr>
      <vt:lpstr>Consolas</vt:lpstr>
      <vt:lpstr>Retrospect</vt:lpstr>
      <vt:lpstr>Enterprise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Testing</dc:title>
  <dc:creator>Cusack, Chris</dc:creator>
  <cp:lastModifiedBy>Boudreau, Andre (NBCC)</cp:lastModifiedBy>
  <cp:revision>589</cp:revision>
  <dcterms:created xsi:type="dcterms:W3CDTF">2018-06-09T00:51:46Z</dcterms:created>
  <dcterms:modified xsi:type="dcterms:W3CDTF">2026-09-23T15:39:27Z</dcterms:modified>
</cp:coreProperties>
</file>