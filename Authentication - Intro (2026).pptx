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sldIdLst>
    <p:sldId id="278" r:id="rId5"/>
    <p:sldId id="280" r:id="rId6"/>
    <p:sldId id="281" r:id="rId7"/>
    <p:sldId id="283" r:id="rId8"/>
    <p:sldId id="284" r:id="rId9"/>
    <p:sldId id="294" r:id="rId10"/>
    <p:sldId id="291" r:id="rId11"/>
    <p:sldId id="289" r:id="rId12"/>
    <p:sldId id="282" r:id="rId13"/>
    <p:sldId id="296" r:id="rId1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0" autoAdjust="0"/>
    <p:restoredTop sz="94609" autoAdjust="0"/>
  </p:normalViewPr>
  <p:slideViewPr>
    <p:cSldViewPr snapToGrid="0" snapToObjects="1">
      <p:cViewPr varScale="1">
        <p:scale>
          <a:sx n="111" d="100"/>
          <a:sy n="111" d="100"/>
        </p:scale>
        <p:origin x="420" y="96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 descr="preencoded.png">
            <a:extLst>
              <a:ext uri="{FF2B5EF4-FFF2-40B4-BE49-F238E27FC236}">
                <a16:creationId xmlns:a16="http://schemas.microsoft.com/office/drawing/2014/main" id="{BA5D5A72-CB6F-F8DE-E2C9-90459C8C3DC1}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</a:extLst>
          </p:cNvPr>
          <p:cNvSpPr/>
          <p:nvPr userDrawn="1"/>
        </p:nvSpPr>
        <p:spPr>
          <a:xfrm>
            <a:off x="1600201" y="1153228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3092" y="1984248"/>
            <a:ext cx="5385816" cy="1225296"/>
          </a:xfrm>
        </p:spPr>
        <p:txBody>
          <a:bodyPr tIns="0" anchor="b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 descr="preencoded.png">
            <a:extLst>
              <a:ext uri="{FF2B5EF4-FFF2-40B4-BE49-F238E27FC236}">
                <a16:creationId xmlns:a16="http://schemas.microsoft.com/office/drawing/2014/main" id="{EFFAEAD9-58A9-096B-C6D0-58F7AD08EB20}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770632"/>
            <a:ext cx="5693664" cy="312216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35EFB42-020B-1DF4-3D42-26092CE45F08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0 w 3430200"/>
              <a:gd name="connsiteY0" fmla="*/ 0 h 3430665"/>
              <a:gd name="connsiteX1" fmla="*/ 3430200 w 3430200"/>
              <a:gd name="connsiteY1" fmla="*/ 0 h 3430665"/>
              <a:gd name="connsiteX2" fmla="*/ 3430200 w 3430200"/>
              <a:gd name="connsiteY2" fmla="*/ 3430665 h 3430665"/>
              <a:gd name="connsiteX3" fmla="*/ 0 w 3430200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4DD322-D1E0-74CB-BBFF-057426E58EBC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3430200 w 3430200"/>
              <a:gd name="connsiteY0" fmla="*/ 0 h 3430665"/>
              <a:gd name="connsiteX1" fmla="*/ 3430200 w 3430200"/>
              <a:gd name="connsiteY1" fmla="*/ 3430665 h 3430665"/>
              <a:gd name="connsiteX2" fmla="*/ 0 w 3430200"/>
              <a:gd name="connsiteY2" fmla="*/ 3430665 h 3430665"/>
              <a:gd name="connsiteX3" fmla="*/ 0 w 3430200"/>
              <a:gd name="connsiteY3" fmla="*/ 3417531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1D3FCE-EC92-8558-A3E5-04DB12477A3B}"/>
              </a:ext>
            </a:extLst>
          </p:cNvPr>
          <p:cNvSpPr/>
          <p:nvPr userDrawn="1"/>
        </p:nvSpPr>
        <p:spPr>
          <a:xfrm>
            <a:off x="1" y="1"/>
            <a:ext cx="3423785" cy="3437345"/>
          </a:xfrm>
          <a:custGeom>
            <a:avLst/>
            <a:gdLst>
              <a:gd name="connsiteX0" fmla="*/ 0 w 3423785"/>
              <a:gd name="connsiteY0" fmla="*/ 0 h 3437345"/>
              <a:gd name="connsiteX1" fmla="*/ 3423785 w 3423785"/>
              <a:gd name="connsiteY1" fmla="*/ 0 h 3437345"/>
              <a:gd name="connsiteX2" fmla="*/ 3423785 w 3423785"/>
              <a:gd name="connsiteY2" fmla="*/ 3437345 h 3437345"/>
              <a:gd name="connsiteX3" fmla="*/ 0 w 342378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224528" y="2276856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224528" y="3222752"/>
            <a:ext cx="6766560" cy="27005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4224528" y="457200"/>
            <a:ext cx="3200400" cy="274320"/>
          </a:xfrm>
        </p:spPr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7CBC9E-B934-828F-2AE5-211CEF5B1D25}"/>
              </a:ext>
            </a:extLst>
          </p:cNvPr>
          <p:cNvSpPr/>
          <p:nvPr userDrawn="1"/>
        </p:nvSpPr>
        <p:spPr>
          <a:xfrm>
            <a:off x="1" y="869"/>
            <a:ext cx="3423785" cy="3436477"/>
          </a:xfrm>
          <a:custGeom>
            <a:avLst/>
            <a:gdLst>
              <a:gd name="connsiteX0" fmla="*/ 0 w 3423785"/>
              <a:gd name="connsiteY0" fmla="*/ 0 h 3436477"/>
              <a:gd name="connsiteX1" fmla="*/ 3423785 w 3423785"/>
              <a:gd name="connsiteY1" fmla="*/ 3436477 h 3436477"/>
              <a:gd name="connsiteX2" fmla="*/ 0 w 3423785"/>
              <a:gd name="connsiteY2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18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D352B04-96E6-839B-9D92-EE98385C4D49}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23D98FB-5EB7-A8DF-8470-B23A80D669E4}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550F3CE-BAE9-3916-42CA-F4D906FA5173}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83F65A0-0C52-48AD-DC5D-B5D3BF3CC188}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8FA7F58-C470-6376-9DB1-DE7034C491E8}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27C9E57-563E-7980-7B3C-45FAD9C386F4}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3776472"/>
            <a:ext cx="6400800" cy="7680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5600" y="4718304"/>
            <a:ext cx="6400800" cy="512064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459EA3C-8B88-5F1F-531E-7DA7DE55710B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496" y="2103120"/>
            <a:ext cx="11119104" cy="44348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0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C0F070-237F-C60F-3458-4D4D9BA0A222}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904" y="2825496"/>
            <a:ext cx="10680192" cy="28346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7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33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984248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0" y="4308475"/>
            <a:ext cx="3932238" cy="58896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2" name="Image 1" descr="preencoded.png">
            <a:extLst>
              <a:ext uri="{FF2B5EF4-FFF2-40B4-BE49-F238E27FC236}">
                <a16:creationId xmlns:a16="http://schemas.microsoft.com/office/drawing/2014/main" id="{2A3EC91E-4089-D366-06D3-3E66F93DFAF3}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33" name="Image 4" descr="preencoded.png">
            <a:extLst>
              <a:ext uri="{FF2B5EF4-FFF2-40B4-BE49-F238E27FC236}">
                <a16:creationId xmlns:a16="http://schemas.microsoft.com/office/drawing/2014/main" id="{EC46DC71-C12A-96C8-3FE2-AA95AB58B349}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43996-DAC9-130F-CB05-4A8A90381D37}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5" y="498951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5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7" y="499011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1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89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1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8665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800" y="457200"/>
            <a:ext cx="987552" cy="274320"/>
          </a:xfrm>
        </p:spPr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1016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71016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8288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288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85560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85560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42832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42832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0070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950ED98-B5D1-206C-403F-FA954F9D2CFF}"/>
              </a:ext>
            </a:extLst>
          </p:cNvPr>
          <p:cNvSpPr/>
          <p:nvPr userDrawn="1"/>
        </p:nvSpPr>
        <p:spPr>
          <a:xfrm>
            <a:off x="685338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643CE-01D9-3E5E-15F6-20689F775F15}"/>
              </a:ext>
            </a:extLst>
          </p:cNvPr>
          <p:cNvSpPr/>
          <p:nvPr userDrawn="1"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82DDD-EDEC-7D87-F43A-113C5E4A4FE7}"/>
              </a:ext>
            </a:extLst>
          </p:cNvPr>
          <p:cNvSpPr/>
          <p:nvPr userDrawn="1"/>
        </p:nvSpPr>
        <p:spPr>
          <a:xfrm>
            <a:off x="5116484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7E492E-967F-54B7-55B1-08A5E1C3615B}"/>
              </a:ext>
            </a:extLst>
          </p:cNvPr>
          <p:cNvSpPr/>
          <p:nvPr userDrawn="1"/>
        </p:nvSpPr>
        <p:spPr>
          <a:xfrm>
            <a:off x="9547629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0053FE-E44A-CA97-F782-67FC633E722E}"/>
              </a:ext>
            </a:extLst>
          </p:cNvPr>
          <p:cNvSpPr/>
          <p:nvPr userDrawn="1"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1058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79F9AD31-B0C5-3563-C73A-8B6297FCF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00910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id="{05E8E8EF-4954-870B-04E5-82BC660A673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75981CD1-EA26-D1CF-F19E-B58C16BA8A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46630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3A09BBD1-5CBC-B0EF-71C0-054FCB989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6484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id="{4AD0C8C9-DB5A-6DC8-2729-A21F1A5CF1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F02DE2DC-F65C-32A5-5821-89FB2F53C3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2204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32057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7777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7629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3349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251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2DECB02-D9CE-E57A-0604-BFF41EC38AFA}"/>
              </a:ext>
            </a:extLst>
          </p:cNvPr>
          <p:cNvSpPr/>
          <p:nvPr userDrawn="1"/>
        </p:nvSpPr>
        <p:spPr>
          <a:xfrm>
            <a:off x="0" y="0"/>
            <a:ext cx="2838450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8E760EA-7D83-1DF2-A8EE-4F218084E74F}"/>
              </a:ext>
            </a:extLst>
          </p:cNvPr>
          <p:cNvSpPr/>
          <p:nvPr userDrawn="1"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F3F3353-78A1-F584-81A6-9513382DF18F}"/>
              </a:ext>
            </a:extLst>
          </p:cNvPr>
          <p:cNvSpPr/>
          <p:nvPr userDrawn="1"/>
        </p:nvSpPr>
        <p:spPr>
          <a:xfrm>
            <a:off x="1" y="1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Image 2" descr="preencoded.png">
            <a:extLst>
              <a:ext uri="{FF2B5EF4-FFF2-40B4-BE49-F238E27FC236}">
                <a16:creationId xmlns:a16="http://schemas.microsoft.com/office/drawing/2014/main" id="{790E862E-398F-571C-EC2C-3D17164DE059}"/>
              </a:ext>
            </a:extLst>
          </p:cNvPr>
          <p:cNvSpPr/>
          <p:nvPr/>
        </p:nvSpPr>
        <p:spPr>
          <a:xfrm>
            <a:off x="1458332" y="590133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6" name="Text Placeholder 51">
            <a:extLst>
              <a:ext uri="{FF2B5EF4-FFF2-40B4-BE49-F238E27FC236}">
                <a16:creationId xmlns:a16="http://schemas.microsoft.com/office/drawing/2014/main" id="{9FBDF935-4925-03EC-CBC9-1EBA90DF84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338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1">
            <a:extLst>
              <a:ext uri="{FF2B5EF4-FFF2-40B4-BE49-F238E27FC236}">
                <a16:creationId xmlns:a16="http://schemas.microsoft.com/office/drawing/2014/main" id="{9BB76AA7-442D-54A7-D075-C67F474389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9E419856-1586-F2D8-A1B4-F67FEE9839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AED74DD2-EAE3-76BF-56B9-C04FCED1F2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51">
            <a:extLst>
              <a:ext uri="{FF2B5EF4-FFF2-40B4-BE49-F238E27FC236}">
                <a16:creationId xmlns:a16="http://schemas.microsoft.com/office/drawing/2014/main" id="{0A39AD48-2F98-C0C9-DE08-CED7EBF816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BE61D7-B0A3-902B-4F58-727982880EF5}"/>
              </a:ext>
            </a:extLst>
          </p:cNvPr>
          <p:cNvCxnSpPr>
            <a:cxnSpLocks/>
          </p:cNvCxnSpPr>
          <p:nvPr userDrawn="1"/>
        </p:nvCxnSpPr>
        <p:spPr>
          <a:xfrm>
            <a:off x="739398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3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Image 0" descr="preencoded.png">
            <a:extLst>
              <a:ext uri="{FF2B5EF4-FFF2-40B4-BE49-F238E27FC236}">
                <a16:creationId xmlns:a16="http://schemas.microsoft.com/office/drawing/2014/main" id="{CD2D664E-6702-6607-A37E-2E996144917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51C5737-DF7E-D671-AC74-9E488335BCA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 descr="preencoded.png">
            <a:extLst>
              <a:ext uri="{FF2B5EF4-FFF2-40B4-BE49-F238E27FC236}">
                <a16:creationId xmlns:a16="http://schemas.microsoft.com/office/drawing/2014/main" id="{B9036D42-A06F-E6EE-BB91-8BAF045198BE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86E0540C-3355-A50D-AC61-047B54B70C6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5032" y="2877312"/>
            <a:ext cx="3741928" cy="3684588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6720" y="2330704"/>
            <a:ext cx="3822192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54112" y="2877312"/>
            <a:ext cx="3741928" cy="3684588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2124" y="3950208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3984" y="2743200"/>
            <a:ext cx="3328416" cy="3557016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2876" y="3950208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92440" y="2743200"/>
            <a:ext cx="3328416" cy="3557016"/>
          </a:xfr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1332" y="3950208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8954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 2" descr="preencoded.png">
            <a:extLst>
              <a:ext uri="{FF2B5EF4-FFF2-40B4-BE49-F238E27FC236}">
                <a16:creationId xmlns:a16="http://schemas.microsoft.com/office/drawing/2014/main" id="{ABC388A2-FFC7-1A87-02FB-C97B50161FD3}"/>
              </a:ext>
            </a:extLst>
          </p:cNvPr>
          <p:cNvSpPr/>
          <p:nvPr/>
        </p:nvSpPr>
        <p:spPr>
          <a:xfrm>
            <a:off x="8758238" y="-14287"/>
            <a:ext cx="3433763" cy="3452812"/>
          </a:xfrm>
          <a:custGeom>
            <a:avLst/>
            <a:gdLst>
              <a:gd name="connsiteX0" fmla="*/ 3433763 w 3433763"/>
              <a:gd name="connsiteY0" fmla="*/ 0 h 3452812"/>
              <a:gd name="connsiteX1" fmla="*/ 3433763 w 3433763"/>
              <a:gd name="connsiteY1" fmla="*/ 3452813 h 3452812"/>
              <a:gd name="connsiteX2" fmla="*/ 0 w 3433763"/>
              <a:gd name="connsiteY2" fmla="*/ 3452813 h 3452812"/>
              <a:gd name="connsiteX3" fmla="*/ 3433763 w 3433763"/>
              <a:gd name="connsiteY3" fmla="*/ 0 h 345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Image 3" descr="preencoded.png">
            <a:extLst>
              <a:ext uri="{FF2B5EF4-FFF2-40B4-BE49-F238E27FC236}">
                <a16:creationId xmlns:a16="http://schemas.microsoft.com/office/drawing/2014/main" id="{D64C4994-B525-F4C0-B74F-D5E8296DFC43}"/>
              </a:ext>
            </a:extLst>
          </p:cNvPr>
          <p:cNvSpPr/>
          <p:nvPr/>
        </p:nvSpPr>
        <p:spPr>
          <a:xfrm>
            <a:off x="8758238" y="3438525"/>
            <a:ext cx="3433763" cy="3433762"/>
          </a:xfrm>
          <a:custGeom>
            <a:avLst/>
            <a:gdLst>
              <a:gd name="connsiteX0" fmla="*/ 0 w 3433763"/>
              <a:gd name="connsiteY0" fmla="*/ 0 h 3433762"/>
              <a:gd name="connsiteX1" fmla="*/ 3433763 w 3433763"/>
              <a:gd name="connsiteY1" fmla="*/ 0 h 3433762"/>
              <a:gd name="connsiteX2" fmla="*/ 3433763 w 3433763"/>
              <a:gd name="connsiteY2" fmla="*/ 3433763 h 3433762"/>
              <a:gd name="connsiteX3" fmla="*/ 0 w 3433763"/>
              <a:gd name="connsiteY3" fmla="*/ 0 h 343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Image 4" descr="preencoded.png">
            <a:extLst>
              <a:ext uri="{FF2B5EF4-FFF2-40B4-BE49-F238E27FC236}">
                <a16:creationId xmlns:a16="http://schemas.microsoft.com/office/drawing/2014/main" id="{9019DA73-2516-F3D2-ECDB-620C90483DB3}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3" name="Image 7" descr="preencoded.png">
            <a:extLst>
              <a:ext uri="{FF2B5EF4-FFF2-40B4-BE49-F238E27FC236}">
                <a16:creationId xmlns:a16="http://schemas.microsoft.com/office/drawing/2014/main" id="{FEA70E9F-C506-413C-11EF-5915A2296643}"/>
              </a:ext>
            </a:extLst>
          </p:cNvPr>
          <p:cNvSpPr/>
          <p:nvPr/>
        </p:nvSpPr>
        <p:spPr>
          <a:xfrm flipV="1">
            <a:off x="-20086" y="4580051"/>
            <a:ext cx="2277948" cy="2277948"/>
          </a:xfrm>
          <a:custGeom>
            <a:avLst/>
            <a:gdLst>
              <a:gd name="connsiteX0" fmla="*/ 0 w 2277948"/>
              <a:gd name="connsiteY0" fmla="*/ 2277948 h 2277948"/>
              <a:gd name="connsiteX1" fmla="*/ 2277948 w 2277948"/>
              <a:gd name="connsiteY1" fmla="*/ 0 h 2277948"/>
              <a:gd name="connsiteX2" fmla="*/ 0 w 2277948"/>
              <a:gd name="connsiteY2" fmla="*/ 0 h 2277948"/>
              <a:gd name="connsiteX3" fmla="*/ 0 w 2277948"/>
              <a:gd name="connsiteY3" fmla="*/ 2277948 h 22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A8B7F1F1-806C-8D65-7340-220A0C4653C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</p:spPr>
      </p:pic>
      <p:sp>
        <p:nvSpPr>
          <p:cNvPr id="54" name="Image 2" descr="preencoded.png">
            <a:extLst>
              <a:ext uri="{FF2B5EF4-FFF2-40B4-BE49-F238E27FC236}">
                <a16:creationId xmlns:a16="http://schemas.microsoft.com/office/drawing/2014/main" id="{F19C81EC-0322-58A2-C455-6E2C84D1E6E8}"/>
              </a:ext>
            </a:extLst>
          </p:cNvPr>
          <p:cNvSpPr/>
          <p:nvPr/>
        </p:nvSpPr>
        <p:spPr>
          <a:xfrm>
            <a:off x="1707959" y="5667616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760" y="2837688"/>
            <a:ext cx="5879592" cy="27005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9FD95-086F-282B-820C-8CDAD4A6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485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 descr="preencoded.png">
            <a:extLst>
              <a:ext uri="{FF2B5EF4-FFF2-40B4-BE49-F238E27FC236}">
                <a16:creationId xmlns:a16="http://schemas.microsoft.com/office/drawing/2014/main" id="{FEB515B5-2D9F-58E1-6E3C-CCBF105D891E}"/>
              </a:ext>
            </a:extLst>
          </p:cNvPr>
          <p:cNvSpPr/>
          <p:nvPr userDrawn="1"/>
        </p:nvSpPr>
        <p:spPr>
          <a:xfrm>
            <a:off x="7538626" y="13142"/>
            <a:ext cx="4653374" cy="6831717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CCFEDF9-5B69-87BA-8A33-35033DA4013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048" y="1975104"/>
            <a:ext cx="4169664" cy="667512"/>
          </a:xfrm>
        </p:spPr>
        <p:txBody>
          <a:bodyPr tIns="0" anchor="b" anchorCtr="0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336" y="2846832"/>
            <a:ext cx="4169664" cy="2176272"/>
          </a:xfrm>
        </p:spPr>
        <p:txBody>
          <a:bodyPr lIns="91440" tIns="0" rIns="91440" bIns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 descr="preencoded.png">
            <a:extLst>
              <a:ext uri="{FF2B5EF4-FFF2-40B4-BE49-F238E27FC236}">
                <a16:creationId xmlns:a16="http://schemas.microsoft.com/office/drawing/2014/main" id="{8D5D10FF-3DE5-39CA-FA9A-29A09DC47BF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FA89E6A-8342-AE30-45E0-BC1DFE3276C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8309FA-889A-E2F2-1EDA-F872245F5FDF}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Image 5" descr="preencoded.png">
            <a:extLst>
              <a:ext uri="{FF2B5EF4-FFF2-40B4-BE49-F238E27FC236}">
                <a16:creationId xmlns:a16="http://schemas.microsoft.com/office/drawing/2014/main" id="{D9D7EB49-4BC9-040F-C4CC-5771C5FB312B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3CE04498-C285-EFB8-340C-1A064078152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8" name="Title 19">
            <a:extLst>
              <a:ext uri="{FF2B5EF4-FFF2-40B4-BE49-F238E27FC236}">
                <a16:creationId xmlns:a16="http://schemas.microsoft.com/office/drawing/2014/main" id="{9CBE0ADC-7FA0-F7E3-96EF-BBACB6A9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F9C0517-D83A-CC55-35B8-B2F990C96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5032" y="2255520"/>
            <a:ext cx="3741928" cy="4306380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F8BFBBE-0EAE-B647-2648-A5FB0094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54112" y="2255520"/>
            <a:ext cx="3741928" cy="4306380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832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1792" y="457200"/>
            <a:ext cx="3200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52" r:id="rId3"/>
    <p:sldLayoutId id="2147483653" r:id="rId4"/>
    <p:sldLayoutId id="2147483664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55" r:id="rId12"/>
    <p:sldLayoutId id="2147483674" r:id="rId13"/>
    <p:sldLayoutId id="2147483675" r:id="rId14"/>
    <p:sldLayoutId id="2147483676" r:id="rId15"/>
    <p:sldLayoutId id="2147483654" r:id="rId16"/>
    <p:sldLayoutId id="2147483656" r:id="rId17"/>
    <p:sldLayoutId id="2147483657" r:id="rId18"/>
    <p:sldLayoutId id="2147483658" r:id="rId19"/>
    <p:sldLayoutId id="2147483659" r:id="rId20"/>
  </p:sldLayoutIdLst>
  <p:hf hd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44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60D9-9D47-C0BB-B2B4-4B6F2B36C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1633" y="1038225"/>
            <a:ext cx="7579233" cy="1225296"/>
          </a:xfrm>
        </p:spPr>
        <p:txBody>
          <a:bodyPr/>
          <a:lstStyle/>
          <a:p>
            <a:r>
              <a:rPr lang="en-US" dirty="0"/>
              <a:t>The Authentication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1060B-300F-3CE3-E5AA-D8E29791C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4745" y="2712339"/>
            <a:ext cx="3493008" cy="878908"/>
          </a:xfrm>
        </p:spPr>
        <p:txBody>
          <a:bodyPr/>
          <a:lstStyle/>
          <a:p>
            <a:r>
              <a:rPr lang="en-US" dirty="0"/>
              <a:t>in ASP.NET Core MVC</a:t>
            </a:r>
            <a:br>
              <a:rPr lang="en-US" dirty="0"/>
            </a:br>
            <a:r>
              <a:rPr lang="en-US" dirty="0"/>
              <a:t>Projects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56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0BC6-9DA0-FB4D-8879-DC8B3958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528" y="1396639"/>
            <a:ext cx="6766560" cy="768096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B8C4B-3A3C-9FD1-59FB-1666C1F09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4528" y="2590362"/>
            <a:ext cx="6766560" cy="381043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Most websites or services require identifying whom is accessing the resources they provide to either: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 information about previous interactions with the website for that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Customize the information to the given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Prevent unauthorized access of personal information by other party(ies)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ASP.NET Core provides a flexible framework to address this need, that allows customization as well as different integration pathways that can support: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External logins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Two-factor authentication (2FA)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Password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Account management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Authentication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622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accent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Adding authentication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>
                <a:latin typeface="Sabon Next LT" panose="02000500000000000000" pitchFamily="2" charset="0"/>
                <a:cs typeface="Sabon Next LT" panose="02000500000000000000" pitchFamily="2" charset="0"/>
              </a:rPr>
              <a:t>to a new ASP.NET Core MVC project</a:t>
            </a:r>
            <a:endParaRPr lang="en-US" sz="2400" dirty="0">
              <a:solidFill>
                <a:schemeClr val="accent6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25542-D540-B766-0FA1-10DE2ED04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0084"/>
            <a:ext cx="9256712" cy="714375"/>
          </a:xfrm>
        </p:spPr>
        <p:txBody>
          <a:bodyPr anchor="b">
            <a:normAutofit/>
          </a:bodyPr>
          <a:lstStyle/>
          <a:p>
            <a:r>
              <a:rPr lang="en-US" b="1" dirty="0"/>
              <a:t>Choose your authentication type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E3AF395-F50E-A419-8707-CE1F2EE01F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8463" y="2161127"/>
            <a:ext cx="6172200" cy="4335970"/>
          </a:xfrm>
          <a:prstGeom prst="rect">
            <a:avLst/>
          </a:prstGeom>
          <a:noFill/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F2FC532-F2FF-F36A-922A-35C770584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/>
          <a:p>
            <a:r>
              <a:rPr lang="en-US" dirty="0"/>
              <a:t>When you create your project initially, you can choose which form of authentication to scaffold within your project: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None</a:t>
            </a:r>
            <a:r>
              <a:rPr lang="en-US" dirty="0"/>
              <a:t> (which we have used previously)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Individual Accounts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Microsoft Identity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Windows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DDBB02-9464-CEB2-1790-240E71187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1792" y="457200"/>
            <a:ext cx="3200400" cy="27432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Authentication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D1D31-1A67-703B-DF69-CA8142BF6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5368" y="457200"/>
            <a:ext cx="987552" cy="27432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F8667B-35BC-64BD-9DEF-AC0CC32EB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463" y="2160475"/>
            <a:ext cx="6172200" cy="43366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6FBA13-1F7D-3DE9-9953-258AB5E5A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8463" y="1394459"/>
            <a:ext cx="6172201" cy="538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41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B311B-3177-0658-3585-6639F26A9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accent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authentication options</a:t>
            </a:r>
            <a:br>
              <a:rPr lang="en-US" sz="4400" b="1" dirty="0">
                <a:solidFill>
                  <a:schemeClr val="accent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en-US" sz="1800" b="1" dirty="0">
                <a:solidFill>
                  <a:schemeClr val="accent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(explained)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122237-B06F-5E42-B051-D7859FC21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Authentication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ECF22D2-2B16-C40D-AA90-609B5CD08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F585A5-3CDB-10E0-A9C2-80DA64C746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Individual Accounts</a:t>
            </a:r>
            <a:r>
              <a:rPr lang="en-US" dirty="0"/>
              <a:t>: stores accounts locally utilizing a configured data source.  This can also be integrated with existing accounts for Facebook, X (formerly Twitter), Google, etc.</a:t>
            </a:r>
          </a:p>
          <a:p>
            <a:endParaRPr lang="en-US" dirty="0"/>
          </a:p>
          <a:p>
            <a:r>
              <a:rPr lang="en-US" b="1" dirty="0">
                <a:solidFill>
                  <a:srgbClr val="00B050"/>
                </a:solidFill>
              </a:rPr>
              <a:t>Windows</a:t>
            </a:r>
            <a:r>
              <a:rPr lang="en-US" dirty="0"/>
              <a:t>: this utilizes the domain authentication framework built into windows to authenticate based upon the currently logged user (as we have seen within both SSMS and ADO.NET previously)</a:t>
            </a:r>
          </a:p>
          <a:p>
            <a:endParaRPr lang="en-US" dirty="0"/>
          </a:p>
          <a:p>
            <a:r>
              <a:rPr lang="en-US" b="1" dirty="0">
                <a:solidFill>
                  <a:srgbClr val="00B050"/>
                </a:solidFill>
              </a:rPr>
              <a:t>Microsoft Identity Platform</a:t>
            </a:r>
            <a:r>
              <a:rPr lang="en-US" dirty="0"/>
              <a:t>: This utilizes the centrally managed identity platform that drives all of Microsoft’s cloud infrastructure, which allows for very easy scaling and diverse management.</a:t>
            </a:r>
          </a:p>
        </p:txBody>
      </p:sp>
    </p:spTree>
    <p:extLst>
      <p:ext uri="{BB962C8B-B14F-4D97-AF65-F5344CB8AC3E}">
        <p14:creationId xmlns:p14="http://schemas.microsoft.com/office/powerpoint/2010/main" val="2886474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70E73-8B90-EB13-4CA6-4E3123D6F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900" y="717334"/>
            <a:ext cx="7013448" cy="1627632"/>
          </a:xfrm>
        </p:spPr>
        <p:txBody>
          <a:bodyPr/>
          <a:lstStyle/>
          <a:p>
            <a:r>
              <a:rPr lang="en-US" dirty="0"/>
              <a:t>ASP.NET Core Identity classes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433AF-72DF-FA98-3643-09BE908AC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816CFB58-D1B0-3313-6400-5164ED52C3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8380" y="1882345"/>
            <a:ext cx="8855239" cy="441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616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71CEB5-0F43-BA22-C4E7-3A84E631D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Asp.net core projects</a:t>
            </a:r>
            <a:br>
              <a:rPr lang="en-US" dirty="0"/>
            </a:br>
            <a:r>
              <a:rPr lang="en-US" sz="2400" dirty="0"/>
              <a:t>(scaffolding – what happens behind the scenes)</a:t>
            </a:r>
            <a:endParaRPr lang="en-US" dirty="0"/>
          </a:p>
        </p:txBody>
      </p:sp>
      <p:sp>
        <p:nvSpPr>
          <p:cNvPr id="101" name="Footer Placeholder 100">
            <a:extLst>
              <a:ext uri="{FF2B5EF4-FFF2-40B4-BE49-F238E27FC236}">
                <a16:creationId xmlns:a16="http://schemas.microsoft.com/office/drawing/2014/main" id="{A45E958A-ABCE-B639-C555-90CCC8898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Authentication</a:t>
            </a:r>
          </a:p>
        </p:txBody>
      </p:sp>
      <p:sp>
        <p:nvSpPr>
          <p:cNvPr id="102" name="Slide Number Placeholder 101">
            <a:extLst>
              <a:ext uri="{FF2B5EF4-FFF2-40B4-BE49-F238E27FC236}">
                <a16:creationId xmlns:a16="http://schemas.microsoft.com/office/drawing/2014/main" id="{51BDF1B8-4D26-9C08-3102-6224AA6A4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C63C25-FE2A-0C11-2CEA-A80AA78FC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authentication</a:t>
            </a:r>
          </a:p>
        </p:txBody>
      </p:sp>
      <p:pic>
        <p:nvPicPr>
          <p:cNvPr id="72" name="Picture Placeholder 71" descr="abacus icon">
            <a:extLst>
              <a:ext uri="{FF2B5EF4-FFF2-40B4-BE49-F238E27FC236}">
                <a16:creationId xmlns:a16="http://schemas.microsoft.com/office/drawing/2014/main" id="{FD5AE93E-9743-FD3B-C935-638BF9D159CC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2"/>
          <a:srcRect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D6749A-51D8-599C-7C31-9922CF228D3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are now choosing different options for our initial project creation from previous projects.</a:t>
            </a:r>
          </a:p>
          <a:p>
            <a:r>
              <a:rPr lang="en-US" dirty="0"/>
              <a:t>This is changing the structure of our project from how we have seen previously</a:t>
            </a:r>
          </a:p>
          <a:p>
            <a:r>
              <a:rPr lang="en-US" dirty="0"/>
              <a:t>Explore the Solution Explorer to see which areas are different (or new)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53AB0-02A6-E89E-7E23-593DBF52F4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Nuget packages</a:t>
            </a:r>
          </a:p>
        </p:txBody>
      </p:sp>
      <p:pic>
        <p:nvPicPr>
          <p:cNvPr id="76" name="Picture Placeholder 75" descr="increasing chart icon">
            <a:extLst>
              <a:ext uri="{FF2B5EF4-FFF2-40B4-BE49-F238E27FC236}">
                <a16:creationId xmlns:a16="http://schemas.microsoft.com/office/drawing/2014/main" id="{7541E72A-A0CB-A011-55A9-1126F707D889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 rotWithShape="1">
          <a:blip r:embed="rId3"/>
          <a:srcRect/>
          <a:stretch/>
        </p:blipFill>
        <p:spPr/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F56CE2-ADEB-1E22-50FB-9F2AB37864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Previously we have had projects initially have no NuGet Packages upon creation.</a:t>
            </a:r>
          </a:p>
          <a:p>
            <a:r>
              <a:rPr lang="en-US" dirty="0"/>
              <a:t>We have had to add features ourselves and configure them within our projects</a:t>
            </a:r>
          </a:p>
          <a:p>
            <a:r>
              <a:rPr lang="en-US" dirty="0"/>
              <a:t>Review which packages are present (and pay attention to the details)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45CA7-A767-9133-8871-800B16D5D7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/>
              <a:t>Project configuration</a:t>
            </a:r>
            <a:endParaRPr lang="en-US" dirty="0"/>
          </a:p>
        </p:txBody>
      </p:sp>
      <p:pic>
        <p:nvPicPr>
          <p:cNvPr id="80" name="Picture Placeholder 79" descr="chain link icon">
            <a:extLst>
              <a:ext uri="{FF2B5EF4-FFF2-40B4-BE49-F238E27FC236}">
                <a16:creationId xmlns:a16="http://schemas.microsoft.com/office/drawing/2014/main" id="{FCC17566-BE36-5CE0-25C6-8AC132D1479D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 rotWithShape="1">
          <a:blip r:embed="rId4"/>
          <a:srcRect t="85" b="85"/>
          <a:stretch/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063C991-877C-CD1D-A03D-547E04121FE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We defined specific components of our project configuration for ensuring the project persisted information correctly</a:t>
            </a:r>
          </a:p>
          <a:p>
            <a:r>
              <a:rPr lang="en-US" dirty="0"/>
              <a:t>Review the configuration to see the initial version (and make adjustments as necessary)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04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30A5BFC-C134-C072-C14D-9E51A94C8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76" y="1600200"/>
            <a:ext cx="10671048" cy="768096"/>
          </a:xfrm>
        </p:spPr>
        <p:txBody>
          <a:bodyPr/>
          <a:lstStyle/>
          <a:p>
            <a:r>
              <a:rPr lang="en-US" dirty="0"/>
              <a:t>Implementing authorization</a:t>
            </a:r>
            <a:br>
              <a:rPr lang="en-US" dirty="0"/>
            </a:br>
            <a:r>
              <a:rPr lang="en-US" sz="2400" dirty="0"/>
              <a:t>(how its managed)</a:t>
            </a:r>
            <a:endParaRPr lang="en-US" dirty="0"/>
          </a:p>
        </p:txBody>
      </p:sp>
      <p:sp>
        <p:nvSpPr>
          <p:cNvPr id="175" name="Slide Number Placeholder 174">
            <a:extLst>
              <a:ext uri="{FF2B5EF4-FFF2-40B4-BE49-F238E27FC236}">
                <a16:creationId xmlns:a16="http://schemas.microsoft.com/office/drawing/2014/main" id="{1DECFA06-D307-B47D-DA95-31161374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3BF8E55-B2B9-104D-F277-0890253473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60476" y="2938818"/>
            <a:ext cx="10744662" cy="3461982"/>
          </a:xfrm>
        </p:spPr>
        <p:txBody>
          <a:bodyPr>
            <a:normAutofit/>
          </a:bodyPr>
          <a:lstStyle/>
          <a:p>
            <a:pPr lvl="0" algn="l"/>
            <a:r>
              <a:rPr lang="en-US" sz="2400" dirty="0"/>
              <a:t>Identifying which areas of our project require specific forms of authentication (and how particular) is managed using a familiar mechanism : </a:t>
            </a:r>
            <a:r>
              <a:rPr lang="en-US" sz="2400" b="1" dirty="0">
                <a:solidFill>
                  <a:srgbClr val="00B0F0"/>
                </a:solidFill>
              </a:rPr>
              <a:t>[Data Annotations]</a:t>
            </a:r>
          </a:p>
          <a:p>
            <a:pPr lvl="0" algn="l"/>
            <a:endParaRPr lang="en-US" sz="1200" b="1" dirty="0"/>
          </a:p>
          <a:p>
            <a:pPr lvl="0" algn="l"/>
            <a:endParaRPr lang="en-US" sz="2400" dirty="0"/>
          </a:p>
          <a:p>
            <a:pPr lvl="0" algn="l"/>
            <a:r>
              <a:rPr lang="en-US" sz="2400" dirty="0"/>
              <a:t>These are made available to use within our Controller classes when we access the namespace </a:t>
            </a:r>
            <a:r>
              <a:rPr lang="en-US" sz="2400" b="1" dirty="0">
                <a:solidFill>
                  <a:srgbClr val="00B0F0"/>
                </a:solidFill>
              </a:rPr>
              <a:t>Microsoft.AspNetCore.Authorization</a:t>
            </a:r>
          </a:p>
          <a:p>
            <a:pPr lvl="0" algn="l"/>
            <a:endParaRPr lang="en-US" sz="2400" b="1" dirty="0">
              <a:solidFill>
                <a:srgbClr val="00B0F0"/>
              </a:solidFill>
            </a:endParaRPr>
          </a:p>
          <a:p>
            <a:pPr algn="l"/>
            <a:r>
              <a:rPr lang="en-US" sz="2400" dirty="0"/>
              <a:t>Access is defined at the level of our Controllers and the Action methods that they are comprised of.  We can modify this access </a:t>
            </a:r>
          </a:p>
          <a:p>
            <a:pPr lvl="0" algn="l"/>
            <a:endParaRPr lang="en-US" sz="2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887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472" y="731520"/>
            <a:ext cx="7013448" cy="704173"/>
          </a:xfrm>
        </p:spPr>
        <p:txBody>
          <a:bodyPr>
            <a:normAutofit fontScale="90000"/>
          </a:bodyPr>
          <a:lstStyle/>
          <a:p>
            <a:r>
              <a:rPr lang="en-US" dirty="0"/>
              <a:t>Anonymous access</a:t>
            </a:r>
            <a:br>
              <a:rPr lang="en-US" dirty="0"/>
            </a:br>
            <a:r>
              <a:rPr lang="en-US" sz="1800" dirty="0"/>
              <a:t>(ALL ARE WELCOME)</a:t>
            </a: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BD890-6A99-C160-C084-2916E23107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7043" y="2327247"/>
            <a:ext cx="8391970" cy="355365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[Authorize] </a:t>
            </a:r>
            <a:r>
              <a:rPr lang="en-US" dirty="0"/>
              <a:t>disables anonymous access on a controller (for all actions on the entire controller) or specific controller actions.</a:t>
            </a:r>
          </a:p>
          <a:p>
            <a:endParaRPr lang="en-US" dirty="0"/>
          </a:p>
          <a:p>
            <a:r>
              <a:rPr lang="en-US" dirty="0"/>
              <a:t>You can indicate </a:t>
            </a:r>
            <a:r>
              <a:rPr lang="en-US" b="1" dirty="0">
                <a:solidFill>
                  <a:srgbClr val="00B0F0"/>
                </a:solidFill>
              </a:rPr>
              <a:t>[AllowAnonymous] </a:t>
            </a:r>
            <a:r>
              <a:rPr lang="en-US" dirty="0"/>
              <a:t>on specific actions as well, if it was forbidden on the entire controller</a:t>
            </a:r>
          </a:p>
          <a:p>
            <a:endParaRPr lang="en-US" dirty="0"/>
          </a:p>
          <a:p>
            <a:r>
              <a:rPr lang="en-US" dirty="0"/>
              <a:t>(It is possible to configure our project to require authorization is applied GLOBALLY (unless we specify otherwise) – this will be shown within a future demonstration)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472" y="731520"/>
            <a:ext cx="7013448" cy="704173"/>
          </a:xfrm>
        </p:spPr>
        <p:txBody>
          <a:bodyPr>
            <a:normAutofit fontScale="90000"/>
          </a:bodyPr>
          <a:lstStyle/>
          <a:p>
            <a:r>
              <a:rPr lang="en-US" dirty="0"/>
              <a:t>Restricting access</a:t>
            </a:r>
            <a:br>
              <a:rPr lang="en-US" dirty="0"/>
            </a:br>
            <a:r>
              <a:rPr lang="en-US" sz="1800" dirty="0"/>
              <a:t>(for authorized users only)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BD890-6A99-C160-C084-2916E23107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7043" y="2472526"/>
            <a:ext cx="8391970" cy="355365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[Authorize]</a:t>
            </a:r>
            <a:r>
              <a:rPr lang="en-US" b="1" dirty="0"/>
              <a:t> (must be logged in)</a:t>
            </a:r>
          </a:p>
          <a:p>
            <a:pPr lvl="1"/>
            <a:r>
              <a:rPr lang="en-US" sz="2000" dirty="0"/>
              <a:t>Apply to individual </a:t>
            </a:r>
            <a:r>
              <a:rPr lang="en-US" sz="2000" b="1" dirty="0"/>
              <a:t>actions within a controller</a:t>
            </a:r>
            <a:r>
              <a:rPr lang="en-US" sz="2000" dirty="0"/>
              <a:t>, to an entire controller, or globally (using </a:t>
            </a:r>
            <a:r>
              <a:rPr lang="en-US" sz="2000" b="1" dirty="0"/>
              <a:t>AuthorizeFilter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Authorize can be role-specific:</a:t>
            </a:r>
            <a:r>
              <a:rPr lang="en-US" sz="2000" b="1" dirty="0"/>
              <a:t>     </a:t>
            </a:r>
          </a:p>
          <a:p>
            <a:pPr lvl="2"/>
            <a:r>
              <a:rPr lang="en-US" sz="1600" b="1" dirty="0">
                <a:solidFill>
                  <a:srgbClr val="00B0F0"/>
                </a:solidFill>
              </a:rPr>
              <a:t>[Authorize(</a:t>
            </a:r>
            <a:r>
              <a:rPr lang="en-US" sz="1600" b="1" dirty="0">
                <a:solidFill>
                  <a:srgbClr val="202C8F"/>
                </a:solidFill>
              </a:rPr>
              <a:t>Roles=“Admin”</a:t>
            </a:r>
            <a:r>
              <a:rPr lang="en-US" sz="1600" b="1" dirty="0">
                <a:solidFill>
                  <a:srgbClr val="00B0F0"/>
                </a:solidFill>
              </a:rPr>
              <a:t>)]</a:t>
            </a:r>
          </a:p>
          <a:p>
            <a:pPr lvl="2"/>
            <a:endParaRPr lang="en-US" sz="1600" b="1" dirty="0"/>
          </a:p>
          <a:p>
            <a:pPr lvl="1"/>
            <a:r>
              <a:rPr lang="en-US" sz="2000" b="1" dirty="0">
                <a:solidFill>
                  <a:srgbClr val="202C8F"/>
                </a:solidFill>
              </a:rPr>
              <a:t>Note: Role-driven Authorization will be explored in the future</a:t>
            </a:r>
          </a:p>
          <a:p>
            <a:pPr marL="1143000" lvl="1" indent="-457200"/>
            <a:endParaRPr lang="en-US" sz="18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b="1" dirty="0"/>
              <a:t>Within an action example: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000" dirty="0"/>
              <a:t>if (User.Identity.IsAuthenticated) { // perform Business Logic}</a:t>
            </a:r>
          </a:p>
          <a:p>
            <a:pPr marL="0" indent="0">
              <a:buNone/>
            </a:pPr>
            <a:r>
              <a:rPr lang="en-US" sz="2000" dirty="0"/>
              <a:t>	if (User.IsInRole(“Admin”)) { // perform Business Logic}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229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8438558_Win32_v2" id="{4C05A457-285D-454C-A9EA-F338443A797C}" vid="{298C0BDB-2F83-41C5-B87D-3BE7246FD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D2ED2F-BDEE-47B8-82AA-B088E838B0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7EB4D8-2DC8-4900-B296-3F8E8CD9E6AE}">
  <ds:schemaRefs>
    <ds:schemaRef ds:uri="http://purl.org/dc/terms/"/>
    <ds:schemaRef ds:uri="http://purl.org/dc/dcmitype/"/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230e9df3-be65-4c73-a93b-d1236ebd677e"/>
    <ds:schemaRef ds:uri="http://schemas.microsoft.com/office/2006/documentManagement/types"/>
    <ds:schemaRef ds:uri="http://www.w3.org/XML/1998/namespace"/>
    <ds:schemaRef ds:uri="16c05727-aa75-4e4a-9b5f-8a80a1165891"/>
    <ds:schemaRef ds:uri="71af3243-3dd4-4a8d-8c0d-dd76da1f02a5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A2982D6-A655-4F26-86D7-B5C32A625E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{A0C559D5-CE17-4613-884A-F106D766DF9E}tf78438558_win32</Template>
  <TotalTime>183</TotalTime>
  <Words>648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Sabon Next LT</vt:lpstr>
      <vt:lpstr>Office Theme</vt:lpstr>
      <vt:lpstr>The Authentication framework</vt:lpstr>
      <vt:lpstr>Introduction</vt:lpstr>
      <vt:lpstr>Adding authentication</vt:lpstr>
      <vt:lpstr>Choose your authentication type</vt:lpstr>
      <vt:lpstr>authentication options (explained)</vt:lpstr>
      <vt:lpstr>ASP.NET Core Identity classes</vt:lpstr>
      <vt:lpstr>Asp.net core projects (scaffolding – what happens behind the scenes)</vt:lpstr>
      <vt:lpstr>Implementing authorization (how its managed)</vt:lpstr>
      <vt:lpstr>Anonymous access (ALL ARE WELCOME)</vt:lpstr>
      <vt:lpstr>Restricting access (for authorized users only)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Authentication framework</dc:title>
  <dc:subject/>
  <dc:creator>Murray, Judson (NBCC)</dc:creator>
  <cp:lastModifiedBy>Murray, Judson (NBCC)</cp:lastModifiedBy>
  <cp:revision>6</cp:revision>
  <dcterms:created xsi:type="dcterms:W3CDTF">2023-09-18T10:05:11Z</dcterms:created>
  <dcterms:modified xsi:type="dcterms:W3CDTF">2026-09-28T10:55:55Z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