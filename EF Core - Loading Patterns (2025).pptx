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sldIdLst>
    <p:sldId id="257" r:id="rId5"/>
    <p:sldId id="259" r:id="rId6"/>
    <p:sldId id="260" r:id="rId7"/>
    <p:sldId id="264" r:id="rId8"/>
    <p:sldId id="268" r:id="rId9"/>
    <p:sldId id="263" r:id="rId10"/>
    <p:sldId id="262" r:id="rId11"/>
    <p:sldId id="25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9" autoAdjust="0"/>
  </p:normalViewPr>
  <p:slideViewPr>
    <p:cSldViewPr snapToGrid="0">
      <p:cViewPr varScale="1">
        <p:scale>
          <a:sx n="160" d="100"/>
          <a:sy n="160" d="100"/>
        </p:scale>
        <p:origin x="2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2T10:29:30.4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csharp/programming-guide/concepts/serialization/" TargetMode="External"/><Relationship Id="rId2" Type="http://schemas.openxmlformats.org/officeDocument/2006/relationships/hyperlink" Target="https://docs.microsoft.com/en-us/ef/ef6/querying/related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Eager</a:t>
            </a:r>
            <a:r>
              <a:rPr lang="en-US" sz="3200" dirty="0">
                <a:solidFill>
                  <a:schemeClr val="tx1"/>
                </a:solidFill>
              </a:rPr>
              <a:t> / </a:t>
            </a:r>
            <a:r>
              <a:rPr lang="en-US" sz="3200" b="1" dirty="0">
                <a:solidFill>
                  <a:srgbClr val="00B0F0"/>
                </a:solidFill>
              </a:rPr>
              <a:t>Lazy</a:t>
            </a:r>
            <a:r>
              <a:rPr lang="en-US" sz="3200" dirty="0">
                <a:solidFill>
                  <a:schemeClr val="tx1"/>
                </a:solidFill>
              </a:rPr>
              <a:t> / </a:t>
            </a:r>
            <a:r>
              <a:rPr lang="en-US" sz="3200" b="1" dirty="0">
                <a:solidFill>
                  <a:srgbClr val="FFC000"/>
                </a:solidFill>
              </a:rPr>
              <a:t>Explicit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Loading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In ASP.NET MVC and EF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450AD-A2D6-490F-94C6-B55794A9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common loading patterns are used within the EF (Entity Framework) Core: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13523-F7F2-42DB-B747-6D8C3EEAD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Lazy Loading:</a:t>
            </a:r>
          </a:p>
          <a:p>
            <a:pPr lvl="1"/>
            <a:r>
              <a:rPr lang="en-US" sz="2000" dirty="0"/>
              <a:t>Transparent loading of related data when accessed</a:t>
            </a:r>
          </a:p>
          <a:p>
            <a:r>
              <a:rPr lang="en-US" sz="3200" b="1" dirty="0"/>
              <a:t>Eager Loading:</a:t>
            </a:r>
          </a:p>
          <a:p>
            <a:pPr lvl="1"/>
            <a:r>
              <a:rPr lang="en-US" sz="2000" dirty="0"/>
              <a:t>Loading related-data upon initial query</a:t>
            </a:r>
          </a:p>
          <a:p>
            <a:r>
              <a:rPr lang="en-US" sz="3200" b="1" dirty="0"/>
              <a:t>Explicit Loading:</a:t>
            </a:r>
          </a:p>
          <a:p>
            <a:pPr lvl="1"/>
            <a:r>
              <a:rPr lang="en-US" sz="2000" dirty="0"/>
              <a:t>Loading related-data at a later time</a:t>
            </a:r>
          </a:p>
        </p:txBody>
      </p:sp>
    </p:spTree>
    <p:extLst>
      <p:ext uri="{BB962C8B-B14F-4D97-AF65-F5344CB8AC3E}">
        <p14:creationId xmlns:p14="http://schemas.microsoft.com/office/powerpoint/2010/main" val="227940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10B4-67BF-4A3E-93B6-316B5301B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</a:t>
            </a:r>
            <a:br>
              <a:rPr lang="en-US" dirty="0"/>
            </a:br>
            <a:r>
              <a:rPr lang="en-US" sz="1800" dirty="0"/>
              <a:t>– (The previously-defacto Practice from Entity Framework 6.0)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2A8A1-7E75-47FA-93D8-B88F7367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624945" cy="3849624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Lazy Loading </a:t>
            </a:r>
            <a:r>
              <a:rPr lang="en-US" sz="2000" dirty="0"/>
              <a:t>is delaying the loading of related data, until you specifically request for it. It is the opposite of eager loading</a:t>
            </a:r>
          </a:p>
          <a:p>
            <a:r>
              <a:rPr lang="en-US" sz="2000" dirty="0"/>
              <a:t>Lazy loading is the process whereby an entity or collection of entities is automatically loaded from the database </a:t>
            </a:r>
            <a:r>
              <a:rPr lang="en-US" sz="2000" b="1" u="sng" dirty="0">
                <a:solidFill>
                  <a:srgbClr val="00B050"/>
                </a:solidFill>
              </a:rPr>
              <a:t>the 1</a:t>
            </a:r>
            <a:r>
              <a:rPr lang="en-US" sz="2000" b="1" u="sng" baseline="30000" dirty="0">
                <a:solidFill>
                  <a:srgbClr val="00B050"/>
                </a:solidFill>
              </a:rPr>
              <a:t>ST</a:t>
            </a:r>
            <a:r>
              <a:rPr lang="en-US" sz="2000" b="1" u="sng" dirty="0">
                <a:solidFill>
                  <a:srgbClr val="00B050"/>
                </a:solidFill>
              </a:rPr>
              <a:t> time that a property is referring to the entity</a:t>
            </a:r>
            <a:endParaRPr lang="en-US" sz="2800" b="1" u="sng" dirty="0">
              <a:solidFill>
                <a:srgbClr val="00B050"/>
              </a:solidFill>
            </a:endParaRPr>
          </a:p>
          <a:p>
            <a:pPr lvl="1"/>
            <a:r>
              <a:rPr lang="en-US" sz="1600" dirty="0"/>
              <a:t>For example, when using the Blog entity class defined on the right, the related Posts will be loaded </a:t>
            </a:r>
            <a:r>
              <a:rPr lang="en-US" sz="1600" b="1" dirty="0"/>
              <a:t>the first time the Posts navigation property is accessed</a:t>
            </a:r>
            <a:endParaRPr lang="en-US" sz="2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60927-6206-459E-AD3D-EFF19399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745" y="2305139"/>
            <a:ext cx="5101587" cy="20131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B23623-CD95-4487-9F15-05A9DC0965C4}"/>
              </a:ext>
            </a:extLst>
          </p:cNvPr>
          <p:cNvSpPr/>
          <p:nvPr/>
        </p:nvSpPr>
        <p:spPr>
          <a:xfrm>
            <a:off x="7060447" y="4609266"/>
            <a:ext cx="43641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121"/>
                </a:solidFill>
                <a:latin typeface="open sans"/>
              </a:rPr>
              <a:t>A child entity is loaded only when it is accessed for the 1</a:t>
            </a:r>
            <a:r>
              <a:rPr lang="en-US" baseline="30000" dirty="0">
                <a:solidFill>
                  <a:srgbClr val="212121"/>
                </a:solidFill>
                <a:latin typeface="open sans"/>
              </a:rPr>
              <a:t>st</a:t>
            </a:r>
            <a:r>
              <a:rPr lang="en-US" dirty="0">
                <a:solidFill>
                  <a:srgbClr val="212121"/>
                </a:solidFill>
                <a:latin typeface="open sans"/>
              </a:rPr>
              <a:t> time. It simply delays the loading of the related data, until you access it (it does </a:t>
            </a:r>
            <a:r>
              <a:rPr lang="en-US" b="1" u="sng" dirty="0">
                <a:solidFill>
                  <a:srgbClr val="212121"/>
                </a:solidFill>
                <a:latin typeface="open sans"/>
              </a:rPr>
              <a:t>not</a:t>
            </a:r>
            <a:r>
              <a:rPr lang="en-US" dirty="0">
                <a:solidFill>
                  <a:srgbClr val="212121"/>
                </a:solidFill>
                <a:latin typeface="open sans"/>
              </a:rPr>
              <a:t> reload).</a:t>
            </a: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76164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2370-D483-49D6-8D28-6479D642C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53410"/>
            <a:ext cx="10058400" cy="923198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Turn on Lazy Loading?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1364-074A-4D27-AA44-D88E35608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76608"/>
            <a:ext cx="6383616" cy="3849624"/>
          </a:xfrm>
        </p:spPr>
        <p:txBody>
          <a:bodyPr/>
          <a:lstStyle/>
          <a:p>
            <a:r>
              <a:rPr lang="en-US" dirty="0"/>
              <a:t>Enabling Lazy Loading required very little work in previous version(s) of the Entity Framework (</a:t>
            </a:r>
            <a:r>
              <a:rPr lang="en-US" b="1" dirty="0"/>
              <a:t>EF6</a:t>
            </a:r>
            <a:r>
              <a:rPr lang="en-US" dirty="0"/>
              <a:t>) – all you had to-do was add the </a:t>
            </a:r>
            <a:r>
              <a:rPr lang="en-US" b="1" dirty="0">
                <a:solidFill>
                  <a:srgbClr val="0070C0"/>
                </a:solidFill>
              </a:rPr>
              <a:t>virtual</a:t>
            </a:r>
            <a:r>
              <a:rPr lang="en-US" dirty="0"/>
              <a:t> keyword to your Navigation properties and </a:t>
            </a:r>
            <a:r>
              <a:rPr lang="en-US" b="1" u="sng" dirty="0"/>
              <a:t>presto!</a:t>
            </a:r>
            <a:r>
              <a:rPr lang="en-US" dirty="0"/>
              <a:t> – these properties were automatically loaded simply by accessing them.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EF Core requires a few extra steps:</a:t>
            </a:r>
            <a:br>
              <a:rPr lang="en-US" dirty="0"/>
            </a:br>
            <a:endParaRPr lang="en-US" dirty="0"/>
          </a:p>
          <a:p>
            <a:pPr marL="617220" lvl="1" indent="-342900">
              <a:buFont typeface="+mj-lt"/>
              <a:buAutoNum type="arabicPeriod"/>
            </a:pPr>
            <a:r>
              <a:rPr lang="en-US" sz="1100" dirty="0"/>
              <a:t>Installing Nuget Package</a:t>
            </a:r>
            <a:br>
              <a:rPr lang="en-US" sz="1100" dirty="0"/>
            </a:br>
            <a:br>
              <a:rPr lang="en-US" sz="1100" dirty="0"/>
            </a:br>
            <a:endParaRPr lang="en-US" sz="1100" b="1" dirty="0"/>
          </a:p>
          <a:p>
            <a:pPr marL="617220" lvl="1" indent="-342900">
              <a:buFont typeface="+mj-lt"/>
              <a:buAutoNum type="arabicPeriod"/>
            </a:pPr>
            <a:r>
              <a:rPr lang="en-US" sz="1100" dirty="0"/>
              <a:t>Configuring the DbContext</a:t>
            </a:r>
            <a:br>
              <a:rPr lang="en-US" sz="1100" dirty="0"/>
            </a:br>
            <a:r>
              <a:rPr lang="en-US" sz="1100" dirty="0"/>
              <a:t>to use the </a:t>
            </a:r>
            <a:br>
              <a:rPr lang="en-US" sz="1100" dirty="0"/>
            </a:br>
            <a:r>
              <a:rPr lang="en-US" sz="1100" b="1" dirty="0"/>
              <a:t>Lazy Loading Proxies</a:t>
            </a:r>
          </a:p>
          <a:p>
            <a:endParaRPr lang="en-US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A3F26B-C3DB-45D1-8FA4-74239586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552" y="4243618"/>
            <a:ext cx="3994915" cy="15764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97B92D2-09B1-4957-B6E2-A2F28249411B}"/>
                  </a:ext>
                </a:extLst>
              </p14:cNvPr>
              <p14:cNvContentPartPr/>
              <p14:nvPr/>
            </p14:nvContentPartPr>
            <p14:xfrm>
              <a:off x="6956275" y="420012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97B92D2-09B1-4957-B6E2-A2F2824941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47275" y="4191127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7820D9B-5AFF-4854-AC16-91974BC44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846" y="1873333"/>
            <a:ext cx="3307621" cy="1454252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39E5B3AA-A6F9-7D6C-E20D-176A6C662EF4}"/>
              </a:ext>
            </a:extLst>
          </p:cNvPr>
          <p:cNvSpPr/>
          <p:nvPr/>
        </p:nvSpPr>
        <p:spPr>
          <a:xfrm rot="5400000">
            <a:off x="9906462" y="3669060"/>
            <a:ext cx="336388" cy="2330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A1DA2B-06F4-07A9-E815-490F1A773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578" y="4028604"/>
            <a:ext cx="3299223" cy="4300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69A040-3EE8-3C08-40CB-4C52007D27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9578" y="4641771"/>
            <a:ext cx="3299223" cy="58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50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93BC-22DA-2BFF-A530-A8B5A867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Turn off Lazy Loading</a:t>
            </a:r>
            <a:br>
              <a:rPr lang="en-US" dirty="0"/>
            </a:br>
            <a:r>
              <a:rPr lang="en-US" sz="2400" dirty="0"/>
              <a:t>(for specific situations)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0D33-3F41-2885-40AF-71235CA79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96564"/>
            <a:ext cx="6678706" cy="3275285"/>
          </a:xfrm>
        </p:spPr>
        <p:txBody>
          <a:bodyPr>
            <a:normAutofit/>
          </a:bodyPr>
          <a:lstStyle/>
          <a:p>
            <a:r>
              <a:rPr lang="en-US" dirty="0"/>
              <a:t>Disabling Lazy-loading is not as simple as just removing virtual from navigation properties (because this will cause the following error):</a:t>
            </a:r>
          </a:p>
          <a:p>
            <a:endParaRPr lang="en-US" dirty="0"/>
          </a:p>
          <a:p>
            <a:r>
              <a:rPr lang="en-US" dirty="0"/>
              <a:t>Instead – we need to specifically manage the state of the Lazy-loading within the Controller class, either for the class as a whole or specific workflows by explicitly disabling the DbContext instance </a:t>
            </a:r>
            <a:r>
              <a:rPr lang="en-US" b="1" dirty="0"/>
              <a:t>ChangeTracker</a:t>
            </a:r>
            <a:r>
              <a:rPr lang="en-US" dirty="0"/>
              <a:t>.</a:t>
            </a:r>
            <a:r>
              <a:rPr lang="en-US" b="1" dirty="0"/>
              <a:t>LazyLoading</a:t>
            </a:r>
            <a:r>
              <a:rPr lang="en-US" dirty="0"/>
              <a:t> property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(Depending on where this is invoked, it can have specific/broad impact)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4AAC8-3E6B-DBD4-9EEB-F7E61C948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975" y="2113579"/>
            <a:ext cx="3122706" cy="2080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2F4129-B34E-E79E-D049-D08F32673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75" y="4751470"/>
            <a:ext cx="3122706" cy="80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6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01E4-B7D7-4363-8B95-E94D9CC6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Turn off Lazy Loading</a:t>
            </a:r>
            <a:br>
              <a:rPr lang="en-US" b="1" dirty="0"/>
            </a:br>
            <a:r>
              <a:rPr lang="en-US" sz="2400" b="1" dirty="0"/>
              <a:t>(</a:t>
            </a:r>
            <a:r>
              <a:rPr lang="en-US" sz="2400" dirty="0"/>
              <a:t>for all entities</a:t>
            </a:r>
            <a:r>
              <a:rPr lang="en-US" sz="2400" b="1" dirty="0"/>
              <a:t>)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ADEB5A-CAB1-BA27-858F-24FCE842F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2123281"/>
            <a:ext cx="8305800" cy="3810000"/>
          </a:xfrm>
        </p:spPr>
      </p:pic>
    </p:spTree>
    <p:extLst>
      <p:ext uri="{BB962C8B-B14F-4D97-AF65-F5344CB8AC3E}">
        <p14:creationId xmlns:p14="http://schemas.microsoft.com/office/powerpoint/2010/main" val="343390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F06B-AAF3-4A9A-95D6-EF9F9ADC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81406"/>
          </a:xfrm>
        </p:spPr>
        <p:txBody>
          <a:bodyPr/>
          <a:lstStyle/>
          <a:p>
            <a:r>
              <a:rPr lang="en-US" dirty="0"/>
              <a:t>When NOT to use lazy loading?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E947-794B-4000-A7D8-D027AA854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24000"/>
            <a:ext cx="8055685" cy="2020047"/>
          </a:xfrm>
        </p:spPr>
        <p:txBody>
          <a:bodyPr>
            <a:normAutofit/>
          </a:bodyPr>
          <a:lstStyle/>
          <a:p>
            <a:r>
              <a:rPr lang="en-US" dirty="0"/>
              <a:t>Lazy loading and serialization do not mix well…if you aren’t careful when serializing ‘you can end up querying for your entire database just because lazy loading is enabled. ’</a:t>
            </a:r>
          </a:p>
          <a:p>
            <a:r>
              <a:rPr lang="en-US" dirty="0"/>
              <a:t>It is therefore a good practice to turn lazy loading off </a:t>
            </a:r>
            <a:r>
              <a:rPr lang="en-US" b="1" i="1" dirty="0"/>
              <a:t>before you serialize an entity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hlinkClick r:id="rId2"/>
              </a:rPr>
              <a:t>https://learn.microsoft.com/en-us/ef/core/querying/related-data/</a:t>
            </a:r>
          </a:p>
          <a:p>
            <a:pPr lvl="1"/>
            <a:r>
              <a:rPr lang="en-US" dirty="0">
                <a:hlinkClick r:id="rId2"/>
              </a:rPr>
              <a:t>https://docs.microsoft.com/en-us/ef/ef6/querying/related-data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1511E-4DA2-AC07-3D10-E27042294D94}"/>
              </a:ext>
            </a:extLst>
          </p:cNvPr>
          <p:cNvSpPr txBox="1"/>
          <p:nvPr/>
        </p:nvSpPr>
        <p:spPr>
          <a:xfrm>
            <a:off x="582705" y="3429000"/>
            <a:ext cx="698948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Serializing?</a:t>
            </a:r>
          </a:p>
          <a:p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400" dirty="0"/>
              <a:t>Serialization is </a:t>
            </a:r>
            <a:r>
              <a:rPr lang="en-US" sz="1400" b="1" dirty="0"/>
              <a:t>the process of converting an object into a stream of bytes to store the object or transmit it </a:t>
            </a:r>
            <a:r>
              <a:rPr lang="en-US" sz="1400" dirty="0"/>
              <a:t>to memory, a database, or a file  (one of the main intents/workflows of </a:t>
            </a:r>
            <a:r>
              <a:rPr lang="en-US" sz="1400" b="1" dirty="0"/>
              <a:t>JSON</a:t>
            </a:r>
            <a:r>
              <a:rPr lang="en-US" sz="1400" dirty="0"/>
              <a:t>).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400" b="1" dirty="0"/>
              <a:t>Its main purpose is to save the state of an object in order to be able to recreate it when needed</a:t>
            </a:r>
            <a:r>
              <a:rPr lang="en-US" sz="1400" dirty="0"/>
              <a:t>. The reverse process is called deserialization</a:t>
            </a:r>
            <a:br>
              <a:rPr lang="en-US" sz="1400" dirty="0"/>
            </a:br>
            <a:endParaRPr lang="en-US" sz="1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200" dirty="0">
                <a:hlinkClick r:id="rId3"/>
              </a:rPr>
              <a:t>https://docs.microsoft.com/en-us/dotnet/csharp/programming-guide/concepts/serialization/</a:t>
            </a:r>
            <a:r>
              <a:rPr lang="en-US" sz="1200" dirty="0"/>
              <a:t> </a:t>
            </a:r>
          </a:p>
        </p:txBody>
      </p:sp>
      <p:pic>
        <p:nvPicPr>
          <p:cNvPr id="8" name="Picture 7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6DFAE58D-7670-F184-5A05-4C88BABE5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827" y="3712818"/>
            <a:ext cx="3799915" cy="214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79FD-3A4E-4A23-A3C2-BEA69823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72" y="471667"/>
            <a:ext cx="10058400" cy="1048637"/>
          </a:xfrm>
        </p:spPr>
        <p:txBody>
          <a:bodyPr/>
          <a:lstStyle/>
          <a:p>
            <a:r>
              <a:rPr lang="en-US" b="1" dirty="0"/>
              <a:t>Eager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E95AF-4D3D-4B45-98A0-E59342888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772" y="1737360"/>
            <a:ext cx="5382662" cy="3849624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Eager loading means that the related data is loaded from the database </a:t>
            </a:r>
            <a:r>
              <a:rPr lang="en-US" sz="2000" u="sng" dirty="0"/>
              <a:t>as part of the initial query</a:t>
            </a:r>
            <a:r>
              <a:rPr lang="en-US" sz="2000" dirty="0"/>
              <a:t>.</a:t>
            </a:r>
          </a:p>
          <a:p>
            <a:pPr lvl="1"/>
            <a:r>
              <a:rPr lang="en-US" sz="1700" dirty="0"/>
              <a:t>It helps you to load all your needed entities at once; i.e., all your child entities will be loaded at single database call. </a:t>
            </a:r>
            <a:endParaRPr lang="en-US" sz="2400" dirty="0"/>
          </a:p>
          <a:p>
            <a:r>
              <a:rPr lang="en-US" sz="2000" dirty="0"/>
              <a:t>Eager loading is the process whereby a query for one type of entity also loads related entities as part of the query, so that we don't need to execute a separate query for related entities. </a:t>
            </a:r>
          </a:p>
          <a:p>
            <a:r>
              <a:rPr lang="en-US" sz="2000" dirty="0"/>
              <a:t>Eager loading is achieved using the </a:t>
            </a:r>
            <a:r>
              <a:rPr lang="en-US" sz="2000" b="1" dirty="0"/>
              <a:t>Include(</a:t>
            </a:r>
            <a:r>
              <a:rPr lang="en-US" sz="2000" dirty="0"/>
              <a:t>…</a:t>
            </a:r>
            <a:r>
              <a:rPr lang="en-US" sz="2000" b="1" dirty="0"/>
              <a:t>)</a:t>
            </a:r>
            <a:r>
              <a:rPr lang="en-US" sz="2000" dirty="0"/>
              <a:t> method.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19983-859E-4E01-A170-737484719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434" y="1765953"/>
            <a:ext cx="5667379" cy="403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46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83A2A-D583-449D-B1C5-F008A7EEE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6" y="564900"/>
            <a:ext cx="10058400" cy="1371600"/>
          </a:xfrm>
        </p:spPr>
        <p:txBody>
          <a:bodyPr/>
          <a:lstStyle/>
          <a:p>
            <a:r>
              <a:rPr lang="en-US" b="1" dirty="0"/>
              <a:t>Explicit 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699AC-B4EC-4A46-9034-410948326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762461"/>
            <a:ext cx="10058400" cy="384962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b="1" dirty="0"/>
            </a:br>
            <a:r>
              <a:rPr lang="en-US" dirty="0"/>
              <a:t>There are several important workflows that require Explicit Loading:</a:t>
            </a:r>
          </a:p>
          <a:p>
            <a:pPr lvl="1"/>
            <a:r>
              <a:rPr lang="en-US" b="1" dirty="0"/>
              <a:t>After turning Lazy Loading off for an Entity</a:t>
            </a:r>
          </a:p>
          <a:p>
            <a:pPr lvl="1"/>
            <a:r>
              <a:rPr lang="en-US" b="1" dirty="0"/>
              <a:t>Re-attaching entities (and Navigation properties) when returning to the controller via a [HttpPost] method</a:t>
            </a:r>
          </a:p>
          <a:p>
            <a:pPr marL="0" indent="0">
              <a:buNone/>
            </a:pPr>
            <a:r>
              <a:rPr lang="en-US" dirty="0"/>
              <a:t>Explicit Loading is performed for the entities by explicitly calling the </a:t>
            </a:r>
            <a:r>
              <a:rPr lang="en-US" b="1" dirty="0"/>
              <a:t>Load(…) </a:t>
            </a:r>
            <a:r>
              <a:rPr lang="en-US" dirty="0"/>
              <a:t>method for the related entities. </a:t>
            </a:r>
          </a:p>
          <a:p>
            <a:pPr marL="0" indent="0">
              <a:buNone/>
            </a:pPr>
            <a:r>
              <a:rPr lang="en-US" dirty="0"/>
              <a:t>There are several ways of using the </a:t>
            </a:r>
            <a:r>
              <a:rPr lang="en-US" b="1" dirty="0"/>
              <a:t>Load(…) </a:t>
            </a:r>
            <a:r>
              <a:rPr lang="en-US" dirty="0"/>
              <a:t>method:</a:t>
            </a:r>
          </a:p>
          <a:p>
            <a:pPr lvl="1"/>
            <a:r>
              <a:rPr lang="en-US" dirty="0"/>
              <a:t>via the </a:t>
            </a:r>
            <a:r>
              <a:rPr lang="en-US" b="1" dirty="0"/>
              <a:t>Reference</a:t>
            </a:r>
            <a:r>
              <a:rPr lang="en-US" dirty="0"/>
              <a:t>(…) method</a:t>
            </a:r>
            <a:r>
              <a:rPr lang="en-US" b="1" dirty="0"/>
              <a:t> </a:t>
            </a:r>
            <a:r>
              <a:rPr lang="en-US" dirty="0"/>
              <a:t>(to load a single navigation property) and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Collection</a:t>
            </a:r>
            <a:r>
              <a:rPr lang="en-US" dirty="0"/>
              <a:t>(…) method(to load collections), as shown below. </a:t>
            </a:r>
          </a:p>
          <a:p>
            <a:pPr marL="0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dirty="0"/>
              <a:t>User usr = dbContext.Users.FirstOrDefault(a =&gt; a.UserId == userId);</a:t>
            </a:r>
            <a:br>
              <a:rPr lang="en-US" dirty="0"/>
            </a:br>
            <a:r>
              <a:rPr lang="en-US" dirty="0"/>
              <a:t>dbContext.Entry(usr).Reference(usr =&gt; usr.UserDetails).Load();</a:t>
            </a:r>
          </a:p>
          <a:p>
            <a:pPr marL="274320" lvl="1" indent="0">
              <a:buNone/>
            </a:pPr>
            <a:r>
              <a:rPr lang="en-US" dirty="0"/>
              <a:t>dbContext.Entry(usr). Collection(usr =&gt; usr.UserProjects).Load() 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41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{B4B30FEB-C22D-4B5F-BD33-0EDD8AA043F4}tf78438558_win32</Template>
  <TotalTime>906</TotalTime>
  <Words>794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Century Gothic</vt:lpstr>
      <vt:lpstr>Courier New</vt:lpstr>
      <vt:lpstr>Garamond</vt:lpstr>
      <vt:lpstr>open sans</vt:lpstr>
      <vt:lpstr>SavonVTI</vt:lpstr>
      <vt:lpstr>Eager / Lazy / Explicit Loading</vt:lpstr>
      <vt:lpstr>Three common loading patterns are used within the EF (Entity Framework) Core:</vt:lpstr>
      <vt:lpstr>Lazy Loading – (The previously-defacto Practice from Entity Framework 6.0)</vt:lpstr>
      <vt:lpstr>How to Turn on Lazy Loading? </vt:lpstr>
      <vt:lpstr>How to Turn off Lazy Loading (for specific situations)</vt:lpstr>
      <vt:lpstr>How to Turn off Lazy Loading (for all entities)</vt:lpstr>
      <vt:lpstr>When NOT to use lazy loading?</vt:lpstr>
      <vt:lpstr>Eager Loading</vt:lpstr>
      <vt:lpstr>Explicit Loading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Eager/Lazy/Explicit Loading</dc:title>
  <dc:creator>Ryan, Bonnie (NBCC Moncton)</dc:creator>
  <cp:lastModifiedBy>Murray, Judson (NBCC)</cp:lastModifiedBy>
  <cp:revision>41</cp:revision>
  <dcterms:created xsi:type="dcterms:W3CDTF">2021-11-01T23:24:11Z</dcterms:created>
  <dcterms:modified xsi:type="dcterms:W3CDTF">2023-11-20T13:15:37Z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